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 let the slide sit 5 seconds while the audience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know LLMs discriminate in hiring. But every existing study stops at the output. We wanted to go inside the model and find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Emre's figure: how emotion/concept directions live as geometric vectors in the residual stream — the conceptual bridge between the problem and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ran stories through the model, took internal activations at one layer, and computed the mean difference between conditions. That gives us a direction vector for warmth. We then test whether it generalizes to entirely new topics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probe generalizes to new topics never seen during training. And four models from three companies all agree on which stories are warm or cold — strong evidence this is in the training data, not one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causal test. We inject the warmth direction directly while the model reads a resume. Every single name crosses the decision boundary. At 27B the effect reverses at higher strength — the causal pathway is fragile at larger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HUMAN BENCHMARK FIRST, then model results.
SAY: "None of the models reproduce the human racial discrimination pattern. All favor Black-signalling names — the opposite. At 27B the gap is more than 1 SD. The model is not a faithful copy of human prejudice. It is a differently biased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use if time allows]
SAY: "The model easiest to steer via direct intervention is not the model where the representation naturally governs the decision. Steering measures causal sensitivity to an external push. Mediation measures whether the natural activation propagates to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contribution is methodological as well as empirical. We connected mechanistic interpretability to the correspondence study tradition, and the combination reveals something that neither approach would find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Shape 1"/>
          <p:cNvSpPr/>
          <p:nvPr/>
        </p:nvSpPr>
        <p:spPr>
          <a:xfrm>
            <a:off x="6400800" y="-822960"/>
            <a:ext cx="3840480" cy="3840480"/>
          </a:xfrm>
          <a:prstGeom prst="ellipse">
            <a:avLst/>
          </a:prstGeom>
          <a:solidFill>
            <a:srgbClr val="4A9EBA">
              <a:alpha val="16000"/>
            </a:srgbClr>
          </a:solidFill>
          <a:ln/>
        </p:spPr>
      </p:sp>
      <p:sp>
        <p:nvSpPr>
          <p:cNvPr id="4" name="Shape 2"/>
          <p:cNvSpPr/>
          <p:nvPr/>
        </p:nvSpPr>
        <p:spPr>
          <a:xfrm>
            <a:off x="7223760" y="2377440"/>
            <a:ext cx="2286000" cy="2286000"/>
          </a:xfrm>
          <a:prstGeom prst="ellipse">
            <a:avLst/>
          </a:prstGeom>
          <a:solidFill>
            <a:srgbClr val="E07B54">
              <a:alpha val="13000"/>
            </a:srgbClr>
          </a:solidFill>
          <a:ln/>
        </p:spPr>
      </p:sp>
      <p:sp>
        <p:nvSpPr>
          <p:cNvPr id="5" name="Text 3"/>
          <p:cNvSpPr/>
          <p:nvPr/>
        </p:nvSpPr>
        <p:spPr>
          <a:xfrm>
            <a:off x="502920" y="1005840"/>
            <a:ext cx="6400800" cy="1737360"/>
          </a:xfrm>
          <a:prstGeom prst="rect">
            <a:avLst/>
          </a:prstGeom>
          <a:noFill/>
          <a:ln/>
        </p:spPr>
        <p:txBody>
          <a:bodyPr wrap="square" lIns="0" tIns="0" rIns="0" bIns="0" rtlCol="0" anchor="ctr"/>
          <a:lstStyle/>
          <a:p>
            <a:pPr algn="l" indent="0" marL="0">
              <a:buNone/>
            </a:pPr>
            <a:r>
              <a:rPr lang="en-US" sz="3000" b="1" dirty="0">
                <a:solidFill>
                  <a:srgbClr val="EEF2F7"/>
                </a:solidFill>
                <a:latin typeface="Cambria" pitchFamily="34" charset="0"/>
                <a:ea typeface="Cambria" pitchFamily="34" charset="-122"/>
                <a:cs typeface="Cambria" pitchFamily="34" charset="-120"/>
              </a:rPr>
              <a:t>Probing Warmth and Competence</a:t>
            </a:r>
            <a:endParaRPr lang="en-US" sz="3000" dirty="0"/>
          </a:p>
          <a:p>
            <a:pPr algn="l" indent="0" marL="0">
              <a:buNone/>
            </a:pPr>
            <a:r>
              <a:rPr lang="en-US" sz="3000" b="1" dirty="0">
                <a:solidFill>
                  <a:srgbClr val="EEF2F7"/>
                </a:solidFill>
                <a:latin typeface="Cambria" pitchFamily="34" charset="0"/>
                <a:ea typeface="Cambria" pitchFamily="34" charset="-122"/>
                <a:cs typeface="Cambria" pitchFamily="34" charset="-120"/>
              </a:rPr>
              <a:t>Representations in LLM Hiring Decisions</a:t>
            </a:r>
            <a:endParaRPr lang="en-US" sz="3000" dirty="0"/>
          </a:p>
        </p:txBody>
      </p:sp>
      <p:sp>
        <p:nvSpPr>
          <p:cNvPr id="6" name="Text 4"/>
          <p:cNvSpPr/>
          <p:nvPr/>
        </p:nvSpPr>
        <p:spPr>
          <a:xfrm>
            <a:off x="502920" y="2834640"/>
            <a:ext cx="5486400" cy="365760"/>
          </a:xfrm>
          <a:prstGeom prst="rect">
            <a:avLst/>
          </a:prstGeom>
          <a:noFill/>
          <a:ln/>
        </p:spPr>
        <p:txBody>
          <a:bodyPr wrap="square" lIns="0" tIns="0" rIns="0" bIns="0" rtlCol="0" anchor="ctr"/>
          <a:lstStyle/>
          <a:p>
            <a:pPr algn="l" indent="0" marL="0">
              <a:buNone/>
            </a:pPr>
            <a:r>
              <a:rPr lang="en-US" sz="1500" dirty="0">
                <a:solidFill>
                  <a:srgbClr val="4A9EBA"/>
                </a:solidFill>
                <a:latin typeface="Calibri" pitchFamily="34" charset="0"/>
                <a:ea typeface="Calibri" pitchFamily="34" charset="-122"/>
                <a:cs typeface="Calibri" pitchFamily="34" charset="-120"/>
              </a:rPr>
              <a:t>Emrecan Ulu  ·  Jorge Lastra Cerda</a:t>
            </a:r>
            <a:endParaRPr lang="en-US" sz="1500" dirty="0"/>
          </a:p>
        </p:txBody>
      </p:sp>
      <p:sp>
        <p:nvSpPr>
          <p:cNvPr id="7" name="Text 5"/>
          <p:cNvSpPr/>
          <p:nvPr/>
        </p:nvSpPr>
        <p:spPr>
          <a:xfrm>
            <a:off x="502920" y="3200400"/>
            <a:ext cx="5486400" cy="292608"/>
          </a:xfrm>
          <a:prstGeom prst="rect">
            <a:avLst/>
          </a:prstGeom>
          <a:noFill/>
          <a:ln/>
        </p:spPr>
        <p:txBody>
          <a:bodyPr wrap="square" lIns="0" tIns="0" rIns="0" bIns="0" rtlCol="0" anchor="ctr"/>
          <a:lstStyle/>
          <a:p>
            <a:pPr algn="l" indent="0" marL="0">
              <a:buNone/>
            </a:pPr>
            <a:r>
              <a:rPr lang="en-US" sz="1300" dirty="0">
                <a:solidFill>
                  <a:srgbClr val="8FA5BB"/>
                </a:solidFill>
                <a:latin typeface="Calibri" pitchFamily="34" charset="0"/>
                <a:ea typeface="Calibri" pitchFamily="34" charset="-122"/>
                <a:cs typeface="Calibri" pitchFamily="34" charset="-120"/>
              </a:rPr>
              <a:t>University of Konstanz</a:t>
            </a:r>
            <a:endParaRPr lang="en-US" sz="1300" dirty="0"/>
          </a:p>
        </p:txBody>
      </p:sp>
      <p:sp>
        <p:nvSpPr>
          <p:cNvPr id="8" name="Text 6"/>
          <p:cNvSpPr/>
          <p:nvPr/>
        </p:nvSpPr>
        <p:spPr>
          <a:xfrm>
            <a:off x="502920" y="4663440"/>
            <a:ext cx="8138160" cy="256032"/>
          </a:xfrm>
          <a:prstGeom prst="rect">
            <a:avLst/>
          </a:prstGeom>
          <a:noFill/>
          <a:ln/>
        </p:spPr>
        <p:txBody>
          <a:bodyPr wrap="square" lIns="0" tIns="0" rIns="0" bIns="0" rtlCol="0" anchor="ctr"/>
          <a:lstStyle/>
          <a:p>
            <a:pPr algn="l" indent="0" marL="0">
              <a:buNone/>
            </a:pPr>
            <a:r>
              <a:rPr lang="en-US" sz="1000" dirty="0">
                <a:solidFill>
                  <a:srgbClr val="8FA5BB"/>
                </a:solidFill>
                <a:latin typeface="Calibri" pitchFamily="34" charset="0"/>
                <a:ea typeface="Calibri" pitchFamily="34" charset="-122"/>
                <a:cs typeface="Calibri" pitchFamily="34" charset="-120"/>
              </a:rPr>
              <a:t>Master's Seminar · Fairness and Collective Decision-Making in 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AI is now screening job applications, and it discriminates</a:t>
            </a:r>
            <a:endParaRPr lang="en-US" sz="2300" dirty="0"/>
          </a:p>
        </p:txBody>
      </p:sp>
      <p:sp>
        <p:nvSpPr>
          <p:cNvPr id="4" name="Shape 2"/>
          <p:cNvSpPr/>
          <p:nvPr/>
        </p:nvSpPr>
        <p:spPr>
          <a:xfrm>
            <a:off x="411480" y="1783080"/>
            <a:ext cx="1371600" cy="548640"/>
          </a:xfrm>
          <a:prstGeom prst="roundRect">
            <a:avLst>
              <a:gd name="adj" fmla="val 13333"/>
            </a:avLst>
          </a:prstGeom>
          <a:solidFill>
            <a:srgbClr val="1E2D45"/>
          </a:solidFill>
          <a:ln/>
        </p:spPr>
      </p:sp>
      <p:sp>
        <p:nvSpPr>
          <p:cNvPr id="5" name="Text 3"/>
          <p:cNvSpPr/>
          <p:nvPr/>
        </p:nvSpPr>
        <p:spPr>
          <a:xfrm>
            <a:off x="411480" y="1783080"/>
            <a:ext cx="1371600" cy="548640"/>
          </a:xfrm>
          <a:prstGeom prst="rect">
            <a:avLst/>
          </a:prstGeom>
          <a:noFill/>
          <a:ln/>
        </p:spPr>
        <p:txBody>
          <a:bodyPr wrap="square" lIns="0" tIns="0" rIns="0" bIns="0" rtlCol="0" anchor="ctr"/>
          <a:lstStyle/>
          <a:p>
            <a:pPr algn="ctr" indent="0" marL="0">
              <a:buNone/>
            </a:pPr>
            <a:r>
              <a:rPr lang="en-US" sz="1100" b="1" dirty="0">
                <a:solidFill>
                  <a:srgbClr val="EEF2F7"/>
                </a:solidFill>
                <a:latin typeface="Calibri" pitchFamily="34" charset="0"/>
                <a:ea typeface="Calibri" pitchFamily="34" charset="-122"/>
                <a:cs typeface="Calibri" pitchFamily="34" charset="-120"/>
              </a:rPr>
              <a:t>Applicant</a:t>
            </a:r>
            <a:endParaRPr lang="en-US" sz="1100" dirty="0"/>
          </a:p>
          <a:p>
            <a:pPr algn="ctr" indent="0" marL="0">
              <a:buNone/>
            </a:pPr>
            <a:r>
              <a:rPr lang="en-US" sz="1100" b="1" dirty="0">
                <a:solidFill>
                  <a:srgbClr val="EEF2F7"/>
                </a:solidFill>
                <a:latin typeface="Calibri" pitchFamily="34" charset="0"/>
                <a:ea typeface="Calibri" pitchFamily="34" charset="-122"/>
                <a:cs typeface="Calibri" pitchFamily="34" charset="-120"/>
              </a:rPr>
              <a:t>Name</a:t>
            </a:r>
            <a:endParaRPr lang="en-US" sz="1100" dirty="0"/>
          </a:p>
        </p:txBody>
      </p:sp>
      <p:sp>
        <p:nvSpPr>
          <p:cNvPr id="6" name="Shape 4"/>
          <p:cNvSpPr/>
          <p:nvPr/>
        </p:nvSpPr>
        <p:spPr>
          <a:xfrm>
            <a:off x="1828800" y="2057400"/>
            <a:ext cx="457200" cy="0"/>
          </a:xfrm>
          <a:prstGeom prst="line">
            <a:avLst/>
          </a:prstGeom>
          <a:noFill/>
          <a:ln w="25400">
            <a:solidFill>
              <a:srgbClr val="8FA5BB"/>
            </a:solidFill>
            <a:prstDash val="solid"/>
          </a:ln>
        </p:spPr>
      </p:sp>
      <p:sp>
        <p:nvSpPr>
          <p:cNvPr id="7" name="Shape 5"/>
          <p:cNvSpPr/>
          <p:nvPr/>
        </p:nvSpPr>
        <p:spPr>
          <a:xfrm>
            <a:off x="2331720" y="1627632"/>
            <a:ext cx="1920240" cy="868680"/>
          </a:xfrm>
          <a:prstGeom prst="roundRect">
            <a:avLst>
              <a:gd name="adj" fmla="val 10526"/>
            </a:avLst>
          </a:prstGeom>
          <a:solidFill>
            <a:srgbClr val="4A9EBA">
              <a:alpha val="65000"/>
            </a:srgbClr>
          </a:solidFill>
          <a:ln/>
        </p:spPr>
      </p:sp>
      <p:sp>
        <p:nvSpPr>
          <p:cNvPr id="8" name="Text 6"/>
          <p:cNvSpPr/>
          <p:nvPr/>
        </p:nvSpPr>
        <p:spPr>
          <a:xfrm>
            <a:off x="2331720" y="1627632"/>
            <a:ext cx="192024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LLM   ?</a:t>
            </a:r>
            <a:endParaRPr lang="en-US" sz="2200" dirty="0"/>
          </a:p>
        </p:txBody>
      </p:sp>
      <p:sp>
        <p:nvSpPr>
          <p:cNvPr id="9" name="Shape 7"/>
          <p:cNvSpPr/>
          <p:nvPr/>
        </p:nvSpPr>
        <p:spPr>
          <a:xfrm>
            <a:off x="4297680" y="2057400"/>
            <a:ext cx="457200" cy="0"/>
          </a:xfrm>
          <a:prstGeom prst="line">
            <a:avLst/>
          </a:prstGeom>
          <a:noFill/>
          <a:ln w="25400">
            <a:solidFill>
              <a:srgbClr val="8FA5BB"/>
            </a:solidFill>
            <a:prstDash val="solid"/>
          </a:ln>
        </p:spPr>
      </p:sp>
      <p:sp>
        <p:nvSpPr>
          <p:cNvPr id="10" name="Shape 8"/>
          <p:cNvSpPr/>
          <p:nvPr/>
        </p:nvSpPr>
        <p:spPr>
          <a:xfrm>
            <a:off x="4800600" y="1719072"/>
            <a:ext cx="1508760" cy="685800"/>
          </a:xfrm>
          <a:prstGeom prst="roundRect">
            <a:avLst>
              <a:gd name="adj" fmla="val 10667"/>
            </a:avLst>
          </a:prstGeom>
          <a:solidFill>
            <a:srgbClr val="5BAD8B">
              <a:alpha val="70000"/>
            </a:srgbClr>
          </a:solidFill>
          <a:ln/>
        </p:spPr>
      </p:sp>
      <p:sp>
        <p:nvSpPr>
          <p:cNvPr id="11" name="Text 9"/>
          <p:cNvSpPr/>
          <p:nvPr/>
        </p:nvSpPr>
        <p:spPr>
          <a:xfrm>
            <a:off x="4800600" y="1719072"/>
            <a:ext cx="150876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Callback?</a:t>
            </a:r>
            <a:endParaRPr lang="en-US" sz="1200" dirty="0"/>
          </a:p>
        </p:txBody>
      </p:sp>
      <p:sp>
        <p:nvSpPr>
          <p:cNvPr id="12" name="Text 10"/>
          <p:cNvSpPr/>
          <p:nvPr/>
        </p:nvSpPr>
        <p:spPr>
          <a:xfrm>
            <a:off x="2286000" y="2578608"/>
            <a:ext cx="4754880" cy="292608"/>
          </a:xfrm>
          <a:prstGeom prst="rect">
            <a:avLst/>
          </a:prstGeom>
          <a:noFill/>
          <a:ln/>
        </p:spPr>
        <p:txBody>
          <a:bodyPr wrap="square" lIns="0" tIns="0" rIns="0" bIns="0" rtlCol="0" anchor="ctr"/>
          <a:lstStyle/>
          <a:p>
            <a:pPr algn="l" indent="0" marL="0">
              <a:buNone/>
            </a:pPr>
            <a:r>
              <a:rPr lang="en-US" sz="1100" i="1" dirty="0">
                <a:solidFill>
                  <a:srgbClr val="E07B54"/>
                </a:solidFill>
                <a:latin typeface="Calibri" pitchFamily="34" charset="0"/>
                <a:ea typeface="Calibri" pitchFamily="34" charset="-122"/>
                <a:cs typeface="Calibri" pitchFamily="34" charset="-120"/>
              </a:rPr>
              <a:t>All existing audits stop here: they see the output, not the mechanism</a:t>
            </a:r>
            <a:endParaRPr lang="en-US" sz="1100" dirty="0"/>
          </a:p>
        </p:txBody>
      </p:sp>
      <p:sp>
        <p:nvSpPr>
          <p:cNvPr id="13" name="Shape 11"/>
          <p:cNvSpPr/>
          <p:nvPr/>
        </p:nvSpPr>
        <p:spPr>
          <a:xfrm>
            <a:off x="411480" y="3035808"/>
            <a:ext cx="146304" cy="146304"/>
          </a:xfrm>
          <a:prstGeom prst="ellipse">
            <a:avLst/>
          </a:prstGeom>
          <a:solidFill>
            <a:srgbClr val="4A9EBA"/>
          </a:solidFill>
          <a:ln/>
        </p:spPr>
      </p:sp>
      <p:sp>
        <p:nvSpPr>
          <p:cNvPr id="14" name="Text 12"/>
          <p:cNvSpPr/>
          <p:nvPr/>
        </p:nvSpPr>
        <p:spPr>
          <a:xfrm>
            <a:off x="658368" y="2990088"/>
            <a:ext cx="8046720" cy="402336"/>
          </a:xfrm>
          <a:prstGeom prst="rect">
            <a:avLst/>
          </a:prstGeom>
          <a:noFill/>
          <a:ln/>
        </p:spPr>
        <p:txBody>
          <a:bodyPr wrap="square" lIns="0" tIns="0" rIns="0" bIns="0" rtlCol="0" anchor="ctr"/>
          <a:lstStyle/>
          <a:p>
            <a:pPr algn="l" indent="0" marL="0">
              <a:buNone/>
            </a:pPr>
            <a:r>
              <a:rPr lang="en-US" sz="1300" dirty="0">
                <a:solidFill>
                  <a:srgbClr val="EEF2F7"/>
                </a:solidFill>
                <a:latin typeface="Calibri" pitchFamily="34" charset="0"/>
                <a:ea typeface="Calibri" pitchFamily="34" charset="-122"/>
                <a:cs typeface="Calibri" pitchFamily="34" charset="-120"/>
              </a:rPr>
              <a:t>50% of US organizations use AI in recruiting  (SHRM, 2025)</a:t>
            </a:r>
            <a:endParaRPr lang="en-US" sz="1300" dirty="0"/>
          </a:p>
        </p:txBody>
      </p:sp>
      <p:sp>
        <p:nvSpPr>
          <p:cNvPr id="15" name="Shape 13"/>
          <p:cNvSpPr/>
          <p:nvPr/>
        </p:nvSpPr>
        <p:spPr>
          <a:xfrm>
            <a:off x="411480" y="3538728"/>
            <a:ext cx="146304" cy="146304"/>
          </a:xfrm>
          <a:prstGeom prst="ellipse">
            <a:avLst/>
          </a:prstGeom>
          <a:solidFill>
            <a:srgbClr val="4A9EBA"/>
          </a:solidFill>
          <a:ln/>
        </p:spPr>
      </p:sp>
      <p:sp>
        <p:nvSpPr>
          <p:cNvPr id="16" name="Text 14"/>
          <p:cNvSpPr/>
          <p:nvPr/>
        </p:nvSpPr>
        <p:spPr>
          <a:xfrm>
            <a:off x="658368" y="3493008"/>
            <a:ext cx="8046720" cy="402336"/>
          </a:xfrm>
          <a:prstGeom prst="rect">
            <a:avLst/>
          </a:prstGeom>
          <a:noFill/>
          <a:ln/>
        </p:spPr>
        <p:txBody>
          <a:bodyPr wrap="square" lIns="0" tIns="0" rIns="0" bIns="0" rtlCol="0" anchor="ctr"/>
          <a:lstStyle/>
          <a:p>
            <a:pPr algn="l" indent="0" marL="0">
              <a:buNone/>
            </a:pPr>
            <a:r>
              <a:rPr lang="en-US" sz="1300" dirty="0">
                <a:solidFill>
                  <a:srgbClr val="EEF2F7"/>
                </a:solidFill>
                <a:latin typeface="Calibri" pitchFamily="34" charset="0"/>
                <a:ea typeface="Calibri" pitchFamily="34" charset="-122"/>
                <a:cs typeface="Calibri" pitchFamily="34" charset="-120"/>
              </a:rPr>
              <a:t>Behavioral audits show name-driven disparities across race and gender</a:t>
            </a:r>
            <a:endParaRPr lang="en-US" sz="1300" dirty="0"/>
          </a:p>
        </p:txBody>
      </p:sp>
      <p:sp>
        <p:nvSpPr>
          <p:cNvPr id="17" name="Shape 15"/>
          <p:cNvSpPr/>
          <p:nvPr/>
        </p:nvSpPr>
        <p:spPr>
          <a:xfrm>
            <a:off x="411480" y="4041648"/>
            <a:ext cx="146304" cy="146304"/>
          </a:xfrm>
          <a:prstGeom prst="ellipse">
            <a:avLst/>
          </a:prstGeom>
          <a:solidFill>
            <a:srgbClr val="4A9EBA"/>
          </a:solidFill>
          <a:ln/>
        </p:spPr>
      </p:sp>
      <p:sp>
        <p:nvSpPr>
          <p:cNvPr id="18" name="Text 16"/>
          <p:cNvSpPr/>
          <p:nvPr/>
        </p:nvSpPr>
        <p:spPr>
          <a:xfrm>
            <a:off x="658368" y="3995928"/>
            <a:ext cx="8046720" cy="402336"/>
          </a:xfrm>
          <a:prstGeom prst="rect">
            <a:avLst/>
          </a:prstGeom>
          <a:noFill/>
          <a:ln/>
        </p:spPr>
        <p:txBody>
          <a:bodyPr wrap="square" lIns="0" tIns="0" rIns="0" bIns="0" rtlCol="0" anchor="ctr"/>
          <a:lstStyle/>
          <a:p>
            <a:pPr algn="l" indent="0" marL="0">
              <a:buNone/>
            </a:pPr>
            <a:r>
              <a:rPr lang="en-US" sz="1300" dirty="0">
                <a:solidFill>
                  <a:srgbClr val="EEF2F7"/>
                </a:solidFill>
                <a:latin typeface="Calibri" pitchFamily="34" charset="0"/>
                <a:ea typeface="Calibri" pitchFamily="34" charset="-122"/>
                <a:cs typeface="Calibri" pitchFamily="34" charset="-120"/>
              </a:rPr>
              <a:t>But they treat the model as a black box: that it discriminates, not how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How do concepts live inside a model?</a:t>
            </a:r>
            <a:endParaRPr lang="en-US" sz="2300" dirty="0"/>
          </a:p>
        </p:txBody>
      </p:sp>
      <p:sp>
        <p:nvSpPr>
          <p:cNvPr id="4" name="Shape 2"/>
          <p:cNvSpPr/>
          <p:nvPr/>
        </p:nvSpPr>
        <p:spPr>
          <a:xfrm>
            <a:off x="1188720" y="1005840"/>
            <a:ext cx="6766560" cy="3383280"/>
          </a:xfrm>
          <a:prstGeom prst="roundRect">
            <a:avLst>
              <a:gd name="adj" fmla="val 3784"/>
            </a:avLst>
          </a:prstGeom>
          <a:solidFill>
            <a:srgbClr val="1E2D45"/>
          </a:solidFill>
          <a:ln w="25400">
            <a:solidFill>
              <a:srgbClr val="4A9EBA"/>
            </a:solidFill>
            <a:prstDash val="dash"/>
          </a:ln>
        </p:spPr>
      </p:sp>
      <p:sp>
        <p:nvSpPr>
          <p:cNvPr id="5" name="Text 3"/>
          <p:cNvSpPr/>
          <p:nvPr/>
        </p:nvSpPr>
        <p:spPr>
          <a:xfrm>
            <a:off x="1188720" y="2331720"/>
            <a:ext cx="6766560" cy="502920"/>
          </a:xfrm>
          <a:prstGeom prst="rect">
            <a:avLst/>
          </a:prstGeom>
          <a:noFill/>
          <a:ln/>
        </p:spPr>
        <p:txBody>
          <a:bodyPr wrap="square" lIns="0" tIns="0" rIns="0" bIns="0" rtlCol="0" anchor="ctr"/>
          <a:lstStyle/>
          <a:p>
            <a:pPr algn="ctr" indent="0" marL="0">
              <a:buNone/>
            </a:pPr>
            <a:r>
              <a:rPr lang="en-US" sz="1400" i="1" dirty="0">
                <a:solidFill>
                  <a:srgbClr val="8FA5BB"/>
                </a:solidFill>
                <a:latin typeface="Calibri" pitchFamily="34" charset="0"/>
                <a:ea typeface="Calibri" pitchFamily="34" charset="-122"/>
                <a:cs typeface="Calibri" pitchFamily="34" charset="-120"/>
              </a:rPr>
              <a:t>[Placeholder: Emre will insert the emotion / concept direction schematic]</a:t>
            </a:r>
            <a:endParaRPr lang="en-US" sz="1400" dirty="0"/>
          </a:p>
        </p:txBody>
      </p:sp>
      <p:sp>
        <p:nvSpPr>
          <p:cNvPr id="6" name="Text 4"/>
          <p:cNvSpPr/>
          <p:nvPr/>
        </p:nvSpPr>
        <p:spPr>
          <a:xfrm>
            <a:off x="1188720" y="2926080"/>
            <a:ext cx="6766560" cy="320040"/>
          </a:xfrm>
          <a:prstGeom prst="rect">
            <a:avLst/>
          </a:prstGeom>
          <a:noFill/>
          <a:ln/>
        </p:spPr>
        <p:txBody>
          <a:bodyPr wrap="square" lIns="0" tIns="0" rIns="0" bIns="0" rtlCol="0" anchor="ctr"/>
          <a:lstStyle/>
          <a:p>
            <a:pPr algn="ctr" indent="0" marL="0">
              <a:buNone/>
            </a:pPr>
            <a:r>
              <a:rPr lang="en-US" sz="1200" dirty="0">
                <a:solidFill>
                  <a:srgbClr val="4A9EBA"/>
                </a:solidFill>
                <a:latin typeface="Calibri" pitchFamily="34" charset="0"/>
                <a:ea typeface="Calibri" pitchFamily="34" charset="-122"/>
                <a:cs typeface="Calibri" pitchFamily="34" charset="-120"/>
              </a:rPr>
              <a:t>Slide prepared by Emrecan Ulu</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What if social perception is encoded as geometry inside the model?</a:t>
            </a:r>
            <a:endParaRPr lang="en-US" sz="2300" dirty="0"/>
          </a:p>
        </p:txBody>
      </p:sp>
      <p:sp>
        <p:nvSpPr>
          <p:cNvPr id="4" name="Text 2"/>
          <p:cNvSpPr/>
          <p:nvPr/>
        </p:nvSpPr>
        <p:spPr>
          <a:xfrm>
            <a:off x="411480" y="960120"/>
            <a:ext cx="4023360" cy="365760"/>
          </a:xfrm>
          <a:prstGeom prst="rect">
            <a:avLst/>
          </a:prstGeom>
          <a:noFill/>
          <a:ln/>
        </p:spPr>
        <p:txBody>
          <a:bodyPr wrap="square" lIns="0" tIns="0" rIns="0" bIns="0" rtlCol="0" anchor="ctr"/>
          <a:lstStyle/>
          <a:p>
            <a:pPr algn="l" indent="0" marL="0">
              <a:buNone/>
            </a:pPr>
            <a:r>
              <a:rPr lang="en-US" sz="1300" dirty="0">
                <a:solidFill>
                  <a:srgbClr val="EEF2F7"/>
                </a:solidFill>
                <a:latin typeface="Calibri" pitchFamily="34" charset="0"/>
                <a:ea typeface="Calibri" pitchFamily="34" charset="-122"/>
                <a:cs typeface="Calibri" pitchFamily="34" charset="-120"/>
              </a:rPr>
              <a:t>200 short stories · nameless protagonist · 4 conditions:</a:t>
            </a:r>
            <a:endParaRPr lang="en-US" sz="1300" dirty="0"/>
          </a:p>
        </p:txBody>
      </p:sp>
      <p:sp>
        <p:nvSpPr>
          <p:cNvPr id="5" name="Shape 3"/>
          <p:cNvSpPr/>
          <p:nvPr/>
        </p:nvSpPr>
        <p:spPr>
          <a:xfrm>
            <a:off x="411480" y="1389888"/>
            <a:ext cx="1828800" cy="301752"/>
          </a:xfrm>
          <a:prstGeom prst="roundRect">
            <a:avLst>
              <a:gd name="adj" fmla="val 21212"/>
            </a:avLst>
          </a:prstGeom>
          <a:solidFill>
            <a:srgbClr val="E07B54"/>
          </a:solidFill>
          <a:ln/>
        </p:spPr>
      </p:sp>
      <p:sp>
        <p:nvSpPr>
          <p:cNvPr id="6" name="Text 4"/>
          <p:cNvSpPr/>
          <p:nvPr/>
        </p:nvSpPr>
        <p:spPr>
          <a:xfrm>
            <a:off x="411480" y="1389888"/>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Warmth</a:t>
            </a:r>
            <a:endParaRPr lang="en-US" sz="1100" dirty="0"/>
          </a:p>
        </p:txBody>
      </p:sp>
      <p:sp>
        <p:nvSpPr>
          <p:cNvPr id="7" name="Shape 5"/>
          <p:cNvSpPr/>
          <p:nvPr/>
        </p:nvSpPr>
        <p:spPr>
          <a:xfrm>
            <a:off x="2468880" y="1389888"/>
            <a:ext cx="1828800" cy="301752"/>
          </a:xfrm>
          <a:prstGeom prst="roundRect">
            <a:avLst>
              <a:gd name="adj" fmla="val 21212"/>
            </a:avLst>
          </a:prstGeom>
          <a:solidFill>
            <a:srgbClr val="4A9EBA"/>
          </a:solidFill>
          <a:ln/>
        </p:spPr>
      </p:sp>
      <p:sp>
        <p:nvSpPr>
          <p:cNvPr id="8" name="Text 6"/>
          <p:cNvSpPr/>
          <p:nvPr/>
        </p:nvSpPr>
        <p:spPr>
          <a:xfrm>
            <a:off x="2468880" y="1389888"/>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 Warmth</a:t>
            </a:r>
            <a:endParaRPr lang="en-US" sz="1100" dirty="0"/>
          </a:p>
        </p:txBody>
      </p:sp>
      <p:sp>
        <p:nvSpPr>
          <p:cNvPr id="9" name="Shape 7"/>
          <p:cNvSpPr/>
          <p:nvPr/>
        </p:nvSpPr>
        <p:spPr>
          <a:xfrm>
            <a:off x="411480" y="1792224"/>
            <a:ext cx="1828800" cy="301752"/>
          </a:xfrm>
          <a:prstGeom prst="roundRect">
            <a:avLst>
              <a:gd name="adj" fmla="val 21212"/>
            </a:avLst>
          </a:prstGeom>
          <a:solidFill>
            <a:srgbClr val="5BAD8B"/>
          </a:solidFill>
          <a:ln/>
        </p:spPr>
      </p:sp>
      <p:sp>
        <p:nvSpPr>
          <p:cNvPr id="10" name="Text 8"/>
          <p:cNvSpPr/>
          <p:nvPr/>
        </p:nvSpPr>
        <p:spPr>
          <a:xfrm>
            <a:off x="411480" y="1792224"/>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Competence</a:t>
            </a:r>
            <a:endParaRPr lang="en-US" sz="1100" dirty="0"/>
          </a:p>
        </p:txBody>
      </p:sp>
      <p:sp>
        <p:nvSpPr>
          <p:cNvPr id="11" name="Shape 9"/>
          <p:cNvSpPr/>
          <p:nvPr/>
        </p:nvSpPr>
        <p:spPr>
          <a:xfrm>
            <a:off x="2468880" y="1792224"/>
            <a:ext cx="1828800" cy="301752"/>
          </a:xfrm>
          <a:prstGeom prst="roundRect">
            <a:avLst>
              <a:gd name="adj" fmla="val 21212"/>
            </a:avLst>
          </a:prstGeom>
          <a:solidFill>
            <a:srgbClr val="8FA5BB"/>
          </a:solidFill>
          <a:ln/>
        </p:spPr>
      </p:sp>
      <p:sp>
        <p:nvSpPr>
          <p:cNvPr id="12" name="Text 10"/>
          <p:cNvSpPr/>
          <p:nvPr/>
        </p:nvSpPr>
        <p:spPr>
          <a:xfrm>
            <a:off x="2468880" y="1792224"/>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 Competence</a:t>
            </a:r>
            <a:endParaRPr lang="en-US" sz="1100" dirty="0"/>
          </a:p>
        </p:txBody>
      </p:sp>
      <p:sp>
        <p:nvSpPr>
          <p:cNvPr id="13" name="Text 11"/>
          <p:cNvSpPr/>
          <p:nvPr/>
        </p:nvSpPr>
        <p:spPr>
          <a:xfrm>
            <a:off x="411480" y="2304288"/>
            <a:ext cx="4023360" cy="548640"/>
          </a:xfrm>
          <a:prstGeom prst="rect">
            <a:avLst/>
          </a:prstGeom>
          <a:noFill/>
          <a:ln/>
        </p:spPr>
        <p:txBody>
          <a:bodyPr wrap="square" lIns="0" tIns="0" rIns="0" bIns="0" rtlCol="0" anchor="ctr"/>
          <a:lstStyle/>
          <a:p>
            <a:pPr algn="l" indent="0" marL="0">
              <a:buNone/>
            </a:pPr>
            <a:r>
              <a:rPr lang="en-US" sz="1200" i="1" dirty="0">
                <a:solidFill>
                  <a:srgbClr val="8FA5BB"/>
                </a:solidFill>
                <a:latin typeface="Calibri" pitchFamily="34" charset="0"/>
                <a:ea typeface="Calibri" pitchFamily="34" charset="-122"/>
                <a:cs typeface="Calibri" pitchFamily="34" charset="-120"/>
              </a:rPr>
              <a:t>Nameless, gender-neutral protagonist in every story, so the vector encodes behaviour, not demographic identity.</a:t>
            </a:r>
            <a:endParaRPr lang="en-US" sz="1200" dirty="0"/>
          </a:p>
        </p:txBody>
      </p:sp>
      <p:sp>
        <p:nvSpPr>
          <p:cNvPr id="14" name="Text 12"/>
          <p:cNvSpPr/>
          <p:nvPr/>
        </p:nvSpPr>
        <p:spPr>
          <a:xfrm>
            <a:off x="411480" y="2944368"/>
            <a:ext cx="4023360" cy="402336"/>
          </a:xfrm>
          <a:prstGeom prst="rect">
            <a:avLst/>
          </a:prstGeom>
          <a:noFill/>
          <a:ln/>
        </p:spPr>
        <p:txBody>
          <a:bodyPr wrap="square" lIns="0" tIns="0" rIns="0" bIns="0" rtlCol="0" anchor="ctr"/>
          <a:lstStyle/>
          <a:p>
            <a:pPr algn="l" indent="0" marL="0">
              <a:buNone/>
            </a:pPr>
            <a:r>
              <a:rPr lang="en-US" sz="1300" b="1" dirty="0">
                <a:solidFill>
                  <a:srgbClr val="4A9EBA"/>
                </a:solidFill>
                <a:latin typeface="Calibri" pitchFamily="34" charset="0"/>
                <a:ea typeface="Calibri" pitchFamily="34" charset="-122"/>
                <a:cs typeface="Calibri" pitchFamily="34" charset="-120"/>
              </a:rPr>
              <a:t>Mean difference between high and low conditions gives the direction vector v</a:t>
            </a:r>
            <a:endParaRPr lang="en-US" sz="1300" dirty="0"/>
          </a:p>
        </p:txBody>
      </p:sp>
      <p:sp>
        <p:nvSpPr>
          <p:cNvPr id="15" name="Text 13"/>
          <p:cNvSpPr/>
          <p:nvPr/>
        </p:nvSpPr>
        <p:spPr>
          <a:xfrm>
            <a:off x="411480" y="3429000"/>
            <a:ext cx="4023360" cy="475488"/>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If the direction generalizes to new topics never seen during training, the representation is not an artifact of the training stimuli.</a:t>
            </a:r>
            <a:endParaRPr lang="en-US" sz="1200" dirty="0"/>
          </a:p>
        </p:txBody>
      </p:sp>
      <p:pic>
        <p:nvPicPr>
          <p:cNvPr id="16" name="Image 0" descr="preencoded.png">    </p:cNvPr>
          <p:cNvPicPr>
            <a:picLocks noChangeAspect="1"/>
          </p:cNvPicPr>
          <p:nvPr/>
        </p:nvPicPr>
        <p:blipFill>
          <a:blip r:embed="rId1"/>
          <a:stretch>
            <a:fillRect/>
          </a:stretch>
        </p:blipFill>
        <p:spPr>
          <a:xfrm>
            <a:off x="4572000" y="868680"/>
            <a:ext cx="4297680" cy="3485946"/>
          </a:xfrm>
          <a:prstGeom prst="rect">
            <a:avLst/>
          </a:prstGeom>
        </p:spPr>
      </p:pic>
      <p:sp>
        <p:nvSpPr>
          <p:cNvPr id="17" name="Text 14"/>
          <p:cNvSpPr/>
          <p:nvPr/>
        </p:nvSpPr>
        <p:spPr>
          <a:xfrm>
            <a:off x="4572000" y="4427778"/>
            <a:ext cx="4251960" cy="256032"/>
          </a:xfrm>
          <a:prstGeom prst="rect">
            <a:avLst/>
          </a:prstGeom>
          <a:noFill/>
          <a:ln/>
        </p:spPr>
        <p:txBody>
          <a:bodyPr wrap="square" lIns="0" tIns="0" rIns="0" bIns="0" rtlCol="0" anchor="ctr"/>
          <a:lstStyle/>
          <a:p>
            <a:pPr algn="l" indent="0" marL="0">
              <a:buNone/>
            </a:pPr>
            <a:r>
              <a:rPr lang="en-US" sz="1000" i="1" dirty="0">
                <a:solidFill>
                  <a:srgbClr val="8FA5BB"/>
                </a:solidFill>
                <a:latin typeface="Calibri" pitchFamily="34" charset="0"/>
                <a:ea typeface="Calibri" pitchFamily="34" charset="-122"/>
                <a:cs typeface="Calibri" pitchFamily="34" charset="-120"/>
              </a:rPr>
              <a:t>Fig: Concept direction geometry (schematic)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D45"/>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Finding 1: Warmth and competence are linearly encoded in all four models</a:t>
            </a:r>
            <a:endParaRPr lang="en-US" sz="2300" dirty="0"/>
          </a:p>
        </p:txBody>
      </p:sp>
      <p:sp>
        <p:nvSpPr>
          <p:cNvPr id="4" name="Shape 2"/>
          <p:cNvSpPr/>
          <p:nvPr/>
        </p:nvSpPr>
        <p:spPr>
          <a:xfrm>
            <a:off x="411480" y="960120"/>
            <a:ext cx="1920240" cy="1188720"/>
          </a:xfrm>
          <a:prstGeom prst="roundRect">
            <a:avLst>
              <a:gd name="adj" fmla="val 7692"/>
            </a:avLst>
          </a:prstGeom>
          <a:solidFill>
            <a:srgbClr val="12161F"/>
          </a:solidFill>
          <a:ln/>
        </p:spPr>
      </p:sp>
      <p:sp>
        <p:nvSpPr>
          <p:cNvPr id="5" name="Text 3"/>
          <p:cNvSpPr/>
          <p:nvPr/>
        </p:nvSpPr>
        <p:spPr>
          <a:xfrm>
            <a:off x="411480" y="987552"/>
            <a:ext cx="1920240" cy="594360"/>
          </a:xfrm>
          <a:prstGeom prst="rect">
            <a:avLst/>
          </a:prstGeom>
          <a:noFill/>
          <a:ln/>
        </p:spPr>
        <p:txBody>
          <a:bodyPr wrap="square" lIns="0" tIns="0" rIns="0" bIns="0" rtlCol="0" anchor="ctr"/>
          <a:lstStyle/>
          <a:p>
            <a:pPr algn="ctr" indent="0" marL="0">
              <a:buNone/>
            </a:pPr>
            <a:r>
              <a:rPr lang="en-US" sz="3200" b="1" dirty="0">
                <a:solidFill>
                  <a:srgbClr val="4A9EBA"/>
                </a:solidFill>
                <a:latin typeface="Cambria" pitchFamily="34" charset="0"/>
                <a:ea typeface="Cambria" pitchFamily="34" charset="-122"/>
                <a:cs typeface="Cambria" pitchFamily="34" charset="-120"/>
              </a:rPr>
              <a:t>100%</a:t>
            </a:r>
            <a:endParaRPr lang="en-US" sz="3200" dirty="0"/>
          </a:p>
        </p:txBody>
      </p:sp>
      <p:sp>
        <p:nvSpPr>
          <p:cNvPr id="6" name="Text 4"/>
          <p:cNvSpPr/>
          <p:nvPr/>
        </p:nvSpPr>
        <p:spPr>
          <a:xfrm>
            <a:off x="411480" y="1581912"/>
            <a:ext cx="1920240" cy="502920"/>
          </a:xfrm>
          <a:prstGeom prst="rect">
            <a:avLst/>
          </a:prstGeom>
          <a:noFill/>
          <a:ln/>
        </p:spPr>
        <p:txBody>
          <a:bodyPr wrap="square" lIns="0" tIns="0" rIns="0" bIns="0" rtlCol="0" anchor="ctr"/>
          <a:lstStyle/>
          <a:p>
            <a:pPr algn="ctr" indent="0" marL="0">
              <a:buNone/>
            </a:pPr>
            <a:r>
              <a:rPr lang="en-US" sz="1000" dirty="0">
                <a:solidFill>
                  <a:srgbClr val="8FA5BB"/>
                </a:solidFill>
                <a:latin typeface="Calibri" pitchFamily="34" charset="0"/>
                <a:ea typeface="Calibri" pitchFamily="34" charset="-122"/>
                <a:cs typeface="Calibri" pitchFamily="34" charset="-120"/>
              </a:rPr>
              <a:t>accuracy, including on</a:t>
            </a:r>
            <a:endParaRPr lang="en-US" sz="1000" dirty="0"/>
          </a:p>
          <a:p>
            <a:pPr algn="ctr" indent="0" marL="0">
              <a:buNone/>
            </a:pPr>
            <a:r>
              <a:rPr lang="en-US" sz="1000" dirty="0">
                <a:solidFill>
                  <a:srgbClr val="8FA5BB"/>
                </a:solidFill>
                <a:latin typeface="Calibri" pitchFamily="34" charset="0"/>
                <a:ea typeface="Calibri" pitchFamily="34" charset="-122"/>
                <a:cs typeface="Calibri" pitchFamily="34" charset="-120"/>
              </a:rPr>
              <a:t>entirely new situations</a:t>
            </a:r>
            <a:endParaRPr lang="en-US" sz="1000" dirty="0"/>
          </a:p>
        </p:txBody>
      </p:sp>
      <p:sp>
        <p:nvSpPr>
          <p:cNvPr id="7" name="Shape 5"/>
          <p:cNvSpPr/>
          <p:nvPr/>
        </p:nvSpPr>
        <p:spPr>
          <a:xfrm>
            <a:off x="2468880" y="960120"/>
            <a:ext cx="1920240" cy="1188720"/>
          </a:xfrm>
          <a:prstGeom prst="roundRect">
            <a:avLst>
              <a:gd name="adj" fmla="val 7692"/>
            </a:avLst>
          </a:prstGeom>
          <a:solidFill>
            <a:srgbClr val="12161F"/>
          </a:solidFill>
          <a:ln/>
        </p:spPr>
      </p:sp>
      <p:sp>
        <p:nvSpPr>
          <p:cNvPr id="8" name="Text 6"/>
          <p:cNvSpPr/>
          <p:nvPr/>
        </p:nvSpPr>
        <p:spPr>
          <a:xfrm>
            <a:off x="2468880" y="987552"/>
            <a:ext cx="1920240" cy="594360"/>
          </a:xfrm>
          <a:prstGeom prst="rect">
            <a:avLst/>
          </a:prstGeom>
          <a:noFill/>
          <a:ln/>
        </p:spPr>
        <p:txBody>
          <a:bodyPr wrap="square" lIns="0" tIns="0" rIns="0" bIns="0" rtlCol="0" anchor="ctr"/>
          <a:lstStyle/>
          <a:p>
            <a:pPr algn="ctr" indent="0" marL="0">
              <a:buNone/>
            </a:pPr>
            <a:r>
              <a:rPr lang="en-US" sz="2200" b="1" dirty="0">
                <a:solidFill>
                  <a:srgbClr val="4A9EBA"/>
                </a:solidFill>
                <a:latin typeface="Cambria" pitchFamily="34" charset="0"/>
                <a:ea typeface="Cambria" pitchFamily="34" charset="-122"/>
                <a:cs typeface="Cambria" pitchFamily="34" charset="-120"/>
              </a:rPr>
              <a:t>ρ 0.76–0.99</a:t>
            </a:r>
            <a:endParaRPr lang="en-US" sz="2200" dirty="0"/>
          </a:p>
        </p:txBody>
      </p:sp>
      <p:sp>
        <p:nvSpPr>
          <p:cNvPr id="9" name="Text 7"/>
          <p:cNvSpPr/>
          <p:nvPr/>
        </p:nvSpPr>
        <p:spPr>
          <a:xfrm>
            <a:off x="2468880" y="1581912"/>
            <a:ext cx="1920240" cy="502920"/>
          </a:xfrm>
          <a:prstGeom prst="rect">
            <a:avLst/>
          </a:prstGeom>
          <a:noFill/>
          <a:ln/>
        </p:spPr>
        <p:txBody>
          <a:bodyPr wrap="square" lIns="0" tIns="0" rIns="0" bIns="0" rtlCol="0" anchor="ctr"/>
          <a:lstStyle/>
          <a:p>
            <a:pPr algn="ctr" indent="0" marL="0">
              <a:buNone/>
            </a:pPr>
            <a:r>
              <a:rPr lang="en-US" sz="1000" dirty="0">
                <a:solidFill>
                  <a:srgbClr val="8FA5BB"/>
                </a:solidFill>
                <a:latin typeface="Calibri" pitchFamily="34" charset="0"/>
                <a:ea typeface="Calibri" pitchFamily="34" charset="-122"/>
                <a:cs typeface="Calibri" pitchFamily="34" charset="-120"/>
              </a:rPr>
              <a:t>cross-model story agreement</a:t>
            </a:r>
            <a:endParaRPr lang="en-US" sz="1000" dirty="0"/>
          </a:p>
          <a:p>
            <a:pPr algn="ctr" indent="0" marL="0">
              <a:buNone/>
            </a:pPr>
            <a:r>
              <a:rPr lang="en-US" sz="1000" dirty="0">
                <a:solidFill>
                  <a:srgbClr val="8FA5BB"/>
                </a:solidFill>
                <a:latin typeface="Calibri" pitchFamily="34" charset="0"/>
                <a:ea typeface="Calibri" pitchFamily="34" charset="-122"/>
                <a:cs typeface="Calibri" pitchFamily="34" charset="-120"/>
              </a:rPr>
              <a:t>(4 models, 3 companies)</a:t>
            </a:r>
            <a:endParaRPr lang="en-US" sz="1000" dirty="0"/>
          </a:p>
        </p:txBody>
      </p:sp>
      <p:sp>
        <p:nvSpPr>
          <p:cNvPr id="10" name="Shape 8"/>
          <p:cNvSpPr/>
          <p:nvPr/>
        </p:nvSpPr>
        <p:spPr>
          <a:xfrm>
            <a:off x="411480" y="2331720"/>
            <a:ext cx="1828800" cy="301752"/>
          </a:xfrm>
          <a:prstGeom prst="roundRect">
            <a:avLst>
              <a:gd name="adj" fmla="val 21212"/>
            </a:avLst>
          </a:prstGeom>
          <a:solidFill>
            <a:srgbClr val="253650"/>
          </a:solidFill>
          <a:ln/>
        </p:spPr>
      </p:sp>
      <p:sp>
        <p:nvSpPr>
          <p:cNvPr id="11" name="Text 9"/>
          <p:cNvSpPr/>
          <p:nvPr/>
        </p:nvSpPr>
        <p:spPr>
          <a:xfrm>
            <a:off x="411480" y="2331720"/>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Gemma-3-12B</a:t>
            </a:r>
            <a:endParaRPr lang="en-US" sz="1100" dirty="0"/>
          </a:p>
        </p:txBody>
      </p:sp>
      <p:sp>
        <p:nvSpPr>
          <p:cNvPr id="12" name="Shape 10"/>
          <p:cNvSpPr/>
          <p:nvPr/>
        </p:nvSpPr>
        <p:spPr>
          <a:xfrm>
            <a:off x="2560320" y="2331720"/>
            <a:ext cx="1828800" cy="301752"/>
          </a:xfrm>
          <a:prstGeom prst="roundRect">
            <a:avLst>
              <a:gd name="adj" fmla="val 21212"/>
            </a:avLst>
          </a:prstGeom>
          <a:solidFill>
            <a:srgbClr val="253650"/>
          </a:solidFill>
          <a:ln/>
        </p:spPr>
      </p:sp>
      <p:sp>
        <p:nvSpPr>
          <p:cNvPr id="13" name="Text 11"/>
          <p:cNvSpPr/>
          <p:nvPr/>
        </p:nvSpPr>
        <p:spPr>
          <a:xfrm>
            <a:off x="2560320" y="2331720"/>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Gemma-3-27B</a:t>
            </a:r>
            <a:endParaRPr lang="en-US" sz="1100" dirty="0"/>
          </a:p>
        </p:txBody>
      </p:sp>
      <p:sp>
        <p:nvSpPr>
          <p:cNvPr id="14" name="Shape 12"/>
          <p:cNvSpPr/>
          <p:nvPr/>
        </p:nvSpPr>
        <p:spPr>
          <a:xfrm>
            <a:off x="411480" y="2734056"/>
            <a:ext cx="1828800" cy="301752"/>
          </a:xfrm>
          <a:prstGeom prst="roundRect">
            <a:avLst>
              <a:gd name="adj" fmla="val 21212"/>
            </a:avLst>
          </a:prstGeom>
          <a:solidFill>
            <a:srgbClr val="253650"/>
          </a:solidFill>
          <a:ln/>
        </p:spPr>
      </p:sp>
      <p:sp>
        <p:nvSpPr>
          <p:cNvPr id="15" name="Text 13"/>
          <p:cNvSpPr/>
          <p:nvPr/>
        </p:nvSpPr>
        <p:spPr>
          <a:xfrm>
            <a:off x="411480" y="2734056"/>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Llama-3.1-8B</a:t>
            </a:r>
            <a:endParaRPr lang="en-US" sz="1100" dirty="0"/>
          </a:p>
        </p:txBody>
      </p:sp>
      <p:sp>
        <p:nvSpPr>
          <p:cNvPr id="16" name="Shape 14"/>
          <p:cNvSpPr/>
          <p:nvPr/>
        </p:nvSpPr>
        <p:spPr>
          <a:xfrm>
            <a:off x="2560320" y="2734056"/>
            <a:ext cx="1828800" cy="301752"/>
          </a:xfrm>
          <a:prstGeom prst="roundRect">
            <a:avLst>
              <a:gd name="adj" fmla="val 21212"/>
            </a:avLst>
          </a:prstGeom>
          <a:solidFill>
            <a:srgbClr val="253650"/>
          </a:solidFill>
          <a:ln/>
        </p:spPr>
      </p:sp>
      <p:sp>
        <p:nvSpPr>
          <p:cNvPr id="17" name="Text 15"/>
          <p:cNvSpPr/>
          <p:nvPr/>
        </p:nvSpPr>
        <p:spPr>
          <a:xfrm>
            <a:off x="2560320" y="2734056"/>
            <a:ext cx="18288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Qwen3-14B</a:t>
            </a:r>
            <a:endParaRPr lang="en-US" sz="1100" dirty="0"/>
          </a:p>
        </p:txBody>
      </p:sp>
      <p:sp>
        <p:nvSpPr>
          <p:cNvPr id="18" name="Text 16"/>
          <p:cNvSpPr/>
          <p:nvPr/>
        </p:nvSpPr>
        <p:spPr>
          <a:xfrm>
            <a:off x="411480" y="3218688"/>
            <a:ext cx="4114800" cy="822960"/>
          </a:xfrm>
          <a:prstGeom prst="rect">
            <a:avLst/>
          </a:prstGeom>
          <a:noFill/>
          <a:ln/>
        </p:spPr>
        <p:txBody>
          <a:bodyPr wrap="square" lIns="0" tIns="0" rIns="0" bIns="0" rtlCol="0" anchor="ctr"/>
          <a:lstStyle/>
          <a:p>
            <a:pPr algn="l" indent="0" marL="0">
              <a:buNone/>
            </a:pPr>
            <a:r>
              <a:rPr lang="en-US" sz="1200" i="1" dirty="0">
                <a:solidFill>
                  <a:srgbClr val="8FA5BB"/>
                </a:solidFill>
                <a:latin typeface="Calibri" pitchFamily="34" charset="0"/>
                <a:ea typeface="Calibri" pitchFamily="34" charset="-122"/>
                <a:cs typeface="Calibri" pitchFamily="34" charset="-120"/>
              </a:rPr>
              <a:t>All four models, trained independently at three different organisations, converge on the same warmth/competence ordering of stories. That convergence is strong evidence this reflects the training data, not a quirk of one architecture.</a:t>
            </a:r>
            <a:endParaRPr lang="en-US" sz="1200" dirty="0"/>
          </a:p>
        </p:txBody>
      </p:sp>
      <p:pic>
        <p:nvPicPr>
          <p:cNvPr id="19" name="Image 0" descr="preencoded.png">    </p:cNvPr>
          <p:cNvPicPr>
            <a:picLocks noChangeAspect="1"/>
          </p:cNvPicPr>
          <p:nvPr/>
        </p:nvPicPr>
        <p:blipFill>
          <a:blip r:embed="rId1"/>
          <a:stretch>
            <a:fillRect/>
          </a:stretch>
        </p:blipFill>
        <p:spPr>
          <a:xfrm>
            <a:off x="4572000" y="868680"/>
            <a:ext cx="4343400" cy="1843879"/>
          </a:xfrm>
          <a:prstGeom prst="rect">
            <a:avLst/>
          </a:prstGeom>
        </p:spPr>
      </p:pic>
      <p:sp>
        <p:nvSpPr>
          <p:cNvPr id="20" name="Text 17"/>
          <p:cNvSpPr/>
          <p:nvPr/>
        </p:nvSpPr>
        <p:spPr>
          <a:xfrm>
            <a:off x="4572000" y="2785711"/>
            <a:ext cx="4251960" cy="256032"/>
          </a:xfrm>
          <a:prstGeom prst="rect">
            <a:avLst/>
          </a:prstGeom>
          <a:noFill/>
          <a:ln/>
        </p:spPr>
        <p:txBody>
          <a:bodyPr wrap="square" lIns="0" tIns="0" rIns="0" bIns="0" rtlCol="0" anchor="ctr"/>
          <a:lstStyle/>
          <a:p>
            <a:pPr algn="l" indent="0" marL="0">
              <a:buNone/>
            </a:pPr>
            <a:r>
              <a:rPr lang="en-US" sz="1000" i="1" dirty="0">
                <a:solidFill>
                  <a:srgbClr val="8FA5BB"/>
                </a:solidFill>
                <a:latin typeface="Calibri" pitchFamily="34" charset="0"/>
                <a:ea typeface="Calibri" pitchFamily="34" charset="-122"/>
                <a:cs typeface="Calibri" pitchFamily="34" charset="-120"/>
              </a:rPr>
              <a:t>Fig: Layer emergence, Cohen's d by depth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D45"/>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Finding 2: We can steer these directions and flip hiring decisions</a:t>
            </a:r>
            <a:endParaRPr lang="en-US" sz="2300" dirty="0"/>
          </a:p>
        </p:txBody>
      </p:sp>
      <p:sp>
        <p:nvSpPr>
          <p:cNvPr id="4" name="Shape 2"/>
          <p:cNvSpPr/>
          <p:nvPr/>
        </p:nvSpPr>
        <p:spPr>
          <a:xfrm>
            <a:off x="411480" y="960120"/>
            <a:ext cx="4114800" cy="841248"/>
          </a:xfrm>
          <a:prstGeom prst="roundRect">
            <a:avLst>
              <a:gd name="adj" fmla="val 10870"/>
            </a:avLst>
          </a:prstGeom>
          <a:solidFill>
            <a:srgbClr val="12161F"/>
          </a:solidFill>
          <a:ln/>
        </p:spPr>
      </p:sp>
      <p:sp>
        <p:nvSpPr>
          <p:cNvPr id="5" name="Text 3"/>
          <p:cNvSpPr/>
          <p:nvPr/>
        </p:nvSpPr>
        <p:spPr>
          <a:xfrm>
            <a:off x="502920" y="987552"/>
            <a:ext cx="3931920" cy="786384"/>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Injecting the warmth direction during resume evaluation shifts the callback recommendation, crossing the Yes/No boundary for every name tested.</a:t>
            </a:r>
            <a:endParaRPr lang="en-US" sz="1200" dirty="0"/>
          </a:p>
        </p:txBody>
      </p:sp>
      <p:sp>
        <p:nvSpPr>
          <p:cNvPr id="6" name="Shape 4"/>
          <p:cNvSpPr/>
          <p:nvPr/>
        </p:nvSpPr>
        <p:spPr>
          <a:xfrm>
            <a:off x="411480" y="1920240"/>
            <a:ext cx="3200400" cy="301752"/>
          </a:xfrm>
          <a:prstGeom prst="roundRect">
            <a:avLst>
              <a:gd name="adj" fmla="val 21212"/>
            </a:avLst>
          </a:prstGeom>
          <a:solidFill>
            <a:srgbClr val="E07B54"/>
          </a:solidFill>
          <a:ln/>
        </p:spPr>
      </p:sp>
      <p:sp>
        <p:nvSpPr>
          <p:cNvPr id="7" name="Text 5"/>
          <p:cNvSpPr/>
          <p:nvPr/>
        </p:nvSpPr>
        <p:spPr>
          <a:xfrm>
            <a:off x="411480" y="1920240"/>
            <a:ext cx="320040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Caveat: 12B measurement-limited (bf16)</a:t>
            </a:r>
            <a:endParaRPr lang="en-US" sz="1100" dirty="0"/>
          </a:p>
        </p:txBody>
      </p:sp>
      <p:sp>
        <p:nvSpPr>
          <p:cNvPr id="8" name="Shape 6"/>
          <p:cNvSpPr/>
          <p:nvPr/>
        </p:nvSpPr>
        <p:spPr>
          <a:xfrm>
            <a:off x="411480" y="2468880"/>
            <a:ext cx="146304" cy="146304"/>
          </a:xfrm>
          <a:prstGeom prst="ellipse">
            <a:avLst/>
          </a:prstGeom>
          <a:solidFill>
            <a:srgbClr val="4A9EBA"/>
          </a:solidFill>
          <a:ln/>
        </p:spPr>
      </p:sp>
      <p:sp>
        <p:nvSpPr>
          <p:cNvPr id="9" name="Text 7"/>
          <p:cNvSpPr/>
          <p:nvPr/>
        </p:nvSpPr>
        <p:spPr>
          <a:xfrm>
            <a:off x="658368" y="2423160"/>
            <a:ext cx="3840480" cy="384048"/>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Baseline circle: where each name starts before steering</a:t>
            </a:r>
            <a:endParaRPr lang="en-US" sz="1200" dirty="0"/>
          </a:p>
        </p:txBody>
      </p:sp>
      <p:sp>
        <p:nvSpPr>
          <p:cNvPr id="10" name="Shape 8"/>
          <p:cNvSpPr/>
          <p:nvPr/>
        </p:nvSpPr>
        <p:spPr>
          <a:xfrm>
            <a:off x="411480" y="2944368"/>
            <a:ext cx="146304" cy="146304"/>
          </a:xfrm>
          <a:prstGeom prst="ellipse">
            <a:avLst/>
          </a:prstGeom>
          <a:solidFill>
            <a:srgbClr val="4A9EBA"/>
          </a:solidFill>
          <a:ln/>
        </p:spPr>
      </p:sp>
      <p:sp>
        <p:nvSpPr>
          <p:cNvPr id="11" name="Text 9"/>
          <p:cNvSpPr/>
          <p:nvPr/>
        </p:nvSpPr>
        <p:spPr>
          <a:xfrm>
            <a:off x="658368" y="2898648"/>
            <a:ext cx="3840480" cy="384048"/>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Arrow: how far the decision shifts with each push</a:t>
            </a:r>
            <a:endParaRPr lang="en-US" sz="1200" dirty="0"/>
          </a:p>
        </p:txBody>
      </p:sp>
      <p:sp>
        <p:nvSpPr>
          <p:cNvPr id="12" name="Shape 10"/>
          <p:cNvSpPr/>
          <p:nvPr/>
        </p:nvSpPr>
        <p:spPr>
          <a:xfrm>
            <a:off x="411480" y="3419856"/>
            <a:ext cx="146304" cy="146304"/>
          </a:xfrm>
          <a:prstGeom prst="ellipse">
            <a:avLst/>
          </a:prstGeom>
          <a:solidFill>
            <a:srgbClr val="4A9EBA"/>
          </a:solidFill>
          <a:ln/>
        </p:spPr>
      </p:sp>
      <p:sp>
        <p:nvSpPr>
          <p:cNvPr id="13" name="Text 11"/>
          <p:cNvSpPr/>
          <p:nvPr/>
        </p:nvSpPr>
        <p:spPr>
          <a:xfrm>
            <a:off x="658368" y="3374136"/>
            <a:ext cx="3840480" cy="384048"/>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Dashed line: the Yes / No decision boundary (x = 0)</a:t>
            </a:r>
            <a:endParaRPr lang="en-US" sz="1200" dirty="0"/>
          </a:p>
        </p:txBody>
      </p:sp>
      <p:sp>
        <p:nvSpPr>
          <p:cNvPr id="14" name="Shape 12"/>
          <p:cNvSpPr/>
          <p:nvPr/>
        </p:nvSpPr>
        <p:spPr>
          <a:xfrm>
            <a:off x="411480" y="3895344"/>
            <a:ext cx="146304" cy="146304"/>
          </a:xfrm>
          <a:prstGeom prst="ellipse">
            <a:avLst/>
          </a:prstGeom>
          <a:solidFill>
            <a:srgbClr val="4A9EBA"/>
          </a:solidFill>
          <a:ln/>
        </p:spPr>
      </p:sp>
      <p:sp>
        <p:nvSpPr>
          <p:cNvPr id="15" name="Text 13"/>
          <p:cNvSpPr/>
          <p:nvPr/>
        </p:nvSpPr>
        <p:spPr>
          <a:xfrm>
            <a:off x="658368" y="3849624"/>
            <a:ext cx="3840480" cy="384048"/>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27B: a small push works; a larger push reverses the effect, suggesting a narrow causal window</a:t>
            </a:r>
            <a:endParaRPr lang="en-US" sz="1200" dirty="0"/>
          </a:p>
        </p:txBody>
      </p:sp>
      <p:pic>
        <p:nvPicPr>
          <p:cNvPr id="16" name="Image 0" descr="preencoded.png">    </p:cNvPr>
          <p:cNvPicPr>
            <a:picLocks noChangeAspect="1"/>
          </p:cNvPicPr>
          <p:nvPr/>
        </p:nvPicPr>
        <p:blipFill>
          <a:blip r:embed="rId1"/>
          <a:stretch>
            <a:fillRect/>
          </a:stretch>
        </p:blipFill>
        <p:spPr>
          <a:xfrm>
            <a:off x="4572000" y="868680"/>
            <a:ext cx="4343400" cy="1850545"/>
          </a:xfrm>
          <a:prstGeom prst="rect">
            <a:avLst/>
          </a:prstGeom>
        </p:spPr>
      </p:pic>
      <p:sp>
        <p:nvSpPr>
          <p:cNvPr id="17" name="Text 14"/>
          <p:cNvSpPr/>
          <p:nvPr/>
        </p:nvSpPr>
        <p:spPr>
          <a:xfrm>
            <a:off x="4572000" y="2792377"/>
            <a:ext cx="4251960" cy="256032"/>
          </a:xfrm>
          <a:prstGeom prst="rect">
            <a:avLst/>
          </a:prstGeom>
          <a:noFill/>
          <a:ln/>
        </p:spPr>
        <p:txBody>
          <a:bodyPr wrap="square" lIns="0" tIns="0" rIns="0" bIns="0" rtlCol="0" anchor="ctr"/>
          <a:lstStyle/>
          <a:p>
            <a:pPr algn="l" indent="0" marL="0">
              <a:buNone/>
            </a:pPr>
            <a:r>
              <a:rPr lang="en-US" sz="1000" i="1" dirty="0">
                <a:solidFill>
                  <a:srgbClr val="8FA5BB"/>
                </a:solidFill>
                <a:latin typeface="Calibri" pitchFamily="34" charset="0"/>
                <a:ea typeface="Calibri" pitchFamily="34" charset="-122"/>
                <a:cs typeface="Calibri" pitchFamily="34" charset="-120"/>
              </a:rPr>
              <a:t>Fig: Diverging steering, Gemma-3-12B and 27B</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Finding 3: Model disparities run opposite to the human benchmark</a:t>
            </a:r>
            <a:endParaRPr lang="en-US" sz="2300" dirty="0"/>
          </a:p>
        </p:txBody>
      </p:sp>
      <p:sp>
        <p:nvSpPr>
          <p:cNvPr id="4" name="Shape 2"/>
          <p:cNvSpPr/>
          <p:nvPr/>
        </p:nvSpPr>
        <p:spPr>
          <a:xfrm>
            <a:off x="411480" y="960120"/>
            <a:ext cx="4114800" cy="841248"/>
          </a:xfrm>
          <a:prstGeom prst="roundRect">
            <a:avLst>
              <a:gd name="adj" fmla="val 10870"/>
            </a:avLst>
          </a:prstGeom>
          <a:solidFill>
            <a:srgbClr val="1E2D45"/>
          </a:solidFill>
          <a:ln/>
        </p:spPr>
      </p:sp>
      <p:sp>
        <p:nvSpPr>
          <p:cNvPr id="5" name="Text 3"/>
          <p:cNvSpPr/>
          <p:nvPr/>
        </p:nvSpPr>
        <p:spPr>
          <a:xfrm>
            <a:off x="502920" y="978408"/>
            <a:ext cx="3931920" cy="274320"/>
          </a:xfrm>
          <a:prstGeom prst="rect">
            <a:avLst/>
          </a:prstGeom>
          <a:noFill/>
          <a:ln/>
        </p:spPr>
        <p:txBody>
          <a:bodyPr wrap="square" lIns="0" tIns="0" rIns="0" bIns="0" rtlCol="0" anchor="ctr"/>
          <a:lstStyle/>
          <a:p>
            <a:pPr algn="l" indent="0" marL="0">
              <a:buNone/>
            </a:pPr>
            <a:r>
              <a:rPr lang="en-US" sz="1100" b="1" dirty="0">
                <a:solidFill>
                  <a:srgbClr val="4A9EBA"/>
                </a:solidFill>
                <a:latin typeface="Calibri" pitchFamily="34" charset="0"/>
                <a:ea typeface="Calibri" pitchFamily="34" charset="-122"/>
                <a:cs typeface="Calibri" pitchFamily="34" charset="-120"/>
              </a:rPr>
              <a:t>Human benchmark (Gallo &amp; Hausladen, 2024):</a:t>
            </a:r>
            <a:endParaRPr lang="en-US" sz="1100" dirty="0"/>
          </a:p>
        </p:txBody>
      </p:sp>
      <p:sp>
        <p:nvSpPr>
          <p:cNvPr id="6" name="Text 4"/>
          <p:cNvSpPr/>
          <p:nvPr/>
        </p:nvSpPr>
        <p:spPr>
          <a:xfrm>
            <a:off x="502920" y="1261872"/>
            <a:ext cx="3931920" cy="502920"/>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White names receive more callbacks than Black names</a:t>
            </a:r>
            <a:endParaRPr lang="en-US" sz="1200" dirty="0"/>
          </a:p>
          <a:p>
            <a:pPr algn="l" indent="0" marL="0">
              <a:buNone/>
            </a:pPr>
            <a:r>
              <a:rPr lang="en-US" sz="1200" dirty="0">
                <a:solidFill>
                  <a:srgbClr val="EEF2F7"/>
                </a:solidFill>
                <a:latin typeface="Calibri" pitchFamily="34" charset="0"/>
                <a:ea typeface="Calibri" pitchFamily="34" charset="-122"/>
                <a:cs typeface="Calibri" pitchFamily="34" charset="-120"/>
              </a:rPr>
              <a:t>Males receive slightly more callbacks than females</a:t>
            </a:r>
            <a:endParaRPr lang="en-US" sz="1200" dirty="0"/>
          </a:p>
        </p:txBody>
      </p:sp>
      <p:sp>
        <p:nvSpPr>
          <p:cNvPr id="7" name="Shape 5"/>
          <p:cNvSpPr/>
          <p:nvPr/>
        </p:nvSpPr>
        <p:spPr>
          <a:xfrm>
            <a:off x="411480" y="1920240"/>
            <a:ext cx="4114800" cy="1417320"/>
          </a:xfrm>
          <a:prstGeom prst="roundRect">
            <a:avLst>
              <a:gd name="adj" fmla="val 6452"/>
            </a:avLst>
          </a:prstGeom>
          <a:solidFill>
            <a:srgbClr val="1E0F0F"/>
          </a:solidFill>
          <a:ln/>
        </p:spPr>
      </p:sp>
      <p:sp>
        <p:nvSpPr>
          <p:cNvPr id="8" name="Text 6"/>
          <p:cNvSpPr/>
          <p:nvPr/>
        </p:nvSpPr>
        <p:spPr>
          <a:xfrm>
            <a:off x="502920" y="1947672"/>
            <a:ext cx="3931920" cy="274320"/>
          </a:xfrm>
          <a:prstGeom prst="rect">
            <a:avLst/>
          </a:prstGeom>
          <a:noFill/>
          <a:ln/>
        </p:spPr>
        <p:txBody>
          <a:bodyPr wrap="square" lIns="0" tIns="0" rIns="0" bIns="0" rtlCol="0" anchor="ctr"/>
          <a:lstStyle/>
          <a:p>
            <a:pPr algn="l" indent="0" marL="0">
              <a:buNone/>
            </a:pPr>
            <a:r>
              <a:rPr lang="en-US" sz="1100" b="1" dirty="0">
                <a:solidFill>
                  <a:srgbClr val="E07B54"/>
                </a:solidFill>
                <a:latin typeface="Calibri" pitchFamily="34" charset="0"/>
                <a:ea typeface="Calibri" pitchFamily="34" charset="-122"/>
                <a:cs typeface="Calibri" pitchFamily="34" charset="-120"/>
              </a:rPr>
              <a:t>What the models do:</a:t>
            </a:r>
            <a:endParaRPr lang="en-US" sz="1100" dirty="0"/>
          </a:p>
        </p:txBody>
      </p:sp>
      <p:sp>
        <p:nvSpPr>
          <p:cNvPr id="9" name="Shape 7"/>
          <p:cNvSpPr/>
          <p:nvPr/>
        </p:nvSpPr>
        <p:spPr>
          <a:xfrm>
            <a:off x="502920" y="2304288"/>
            <a:ext cx="146304" cy="146304"/>
          </a:xfrm>
          <a:prstGeom prst="ellipse">
            <a:avLst/>
          </a:prstGeom>
          <a:solidFill>
            <a:srgbClr val="E07B54"/>
          </a:solidFill>
          <a:ln/>
        </p:spPr>
      </p:sp>
      <p:sp>
        <p:nvSpPr>
          <p:cNvPr id="10" name="Text 8"/>
          <p:cNvSpPr/>
          <p:nvPr/>
        </p:nvSpPr>
        <p:spPr>
          <a:xfrm>
            <a:off x="713232" y="2258568"/>
            <a:ext cx="3749040" cy="301752"/>
          </a:xfrm>
          <a:prstGeom prst="rect">
            <a:avLst/>
          </a:prstGeom>
          <a:noFill/>
          <a:ln/>
        </p:spPr>
        <p:txBody>
          <a:bodyPr wrap="square" lIns="0" tIns="0" rIns="0" bIns="0" rtlCol="0" anchor="ctr"/>
          <a:lstStyle/>
          <a:p>
            <a:pPr algn="l" indent="0" marL="0">
              <a:buNone/>
            </a:pPr>
            <a:r>
              <a:rPr lang="en-US" sz="1100" dirty="0">
                <a:solidFill>
                  <a:srgbClr val="EEF2F7"/>
                </a:solidFill>
                <a:latin typeface="Calibri" pitchFamily="34" charset="0"/>
                <a:ea typeface="Calibri" pitchFamily="34" charset="-122"/>
                <a:cs typeface="Calibri" pitchFamily="34" charset="-120"/>
              </a:rPr>
              <a:t>All 3 models with reliable data favor Black-signalling names, opposite the human pattern</a:t>
            </a:r>
            <a:endParaRPr lang="en-US" sz="1100" dirty="0"/>
          </a:p>
        </p:txBody>
      </p:sp>
      <p:sp>
        <p:nvSpPr>
          <p:cNvPr id="11" name="Shape 9"/>
          <p:cNvSpPr/>
          <p:nvPr/>
        </p:nvSpPr>
        <p:spPr>
          <a:xfrm>
            <a:off x="502920" y="2642616"/>
            <a:ext cx="146304" cy="146304"/>
          </a:xfrm>
          <a:prstGeom prst="ellipse">
            <a:avLst/>
          </a:prstGeom>
          <a:solidFill>
            <a:srgbClr val="E07B54"/>
          </a:solidFill>
          <a:ln/>
        </p:spPr>
      </p:sp>
      <p:sp>
        <p:nvSpPr>
          <p:cNvPr id="12" name="Text 10"/>
          <p:cNvSpPr/>
          <p:nvPr/>
        </p:nvSpPr>
        <p:spPr>
          <a:xfrm>
            <a:off x="713232" y="2596896"/>
            <a:ext cx="3749040" cy="301752"/>
          </a:xfrm>
          <a:prstGeom prst="rect">
            <a:avLst/>
          </a:prstGeom>
          <a:noFill/>
          <a:ln/>
        </p:spPr>
        <p:txBody>
          <a:bodyPr wrap="square" lIns="0" tIns="0" rIns="0" bIns="0" rtlCol="0" anchor="ctr"/>
          <a:lstStyle/>
          <a:p>
            <a:pPr algn="l" indent="0" marL="0">
              <a:buNone/>
            </a:pPr>
            <a:r>
              <a:rPr lang="en-US" sz="1100" dirty="0">
                <a:solidFill>
                  <a:srgbClr val="EEF2F7"/>
                </a:solidFill>
                <a:latin typeface="Calibri" pitchFamily="34" charset="0"/>
                <a:ea typeface="Calibri" pitchFamily="34" charset="-122"/>
                <a:cs typeface="Calibri" pitchFamily="34" charset="-120"/>
              </a:rPr>
              <a:t>Gemma-27B: race gap +1.18 SD, more than 1 SD above White names</a:t>
            </a:r>
            <a:endParaRPr lang="en-US" sz="1100" dirty="0"/>
          </a:p>
        </p:txBody>
      </p:sp>
      <p:sp>
        <p:nvSpPr>
          <p:cNvPr id="13" name="Shape 11"/>
          <p:cNvSpPr/>
          <p:nvPr/>
        </p:nvSpPr>
        <p:spPr>
          <a:xfrm>
            <a:off x="502920" y="2980944"/>
            <a:ext cx="146304" cy="146304"/>
          </a:xfrm>
          <a:prstGeom prst="ellipse">
            <a:avLst/>
          </a:prstGeom>
          <a:solidFill>
            <a:srgbClr val="E07B54"/>
          </a:solidFill>
          <a:ln/>
        </p:spPr>
      </p:sp>
      <p:sp>
        <p:nvSpPr>
          <p:cNvPr id="14" name="Text 12"/>
          <p:cNvSpPr/>
          <p:nvPr/>
        </p:nvSpPr>
        <p:spPr>
          <a:xfrm>
            <a:off x="713232" y="2935224"/>
            <a:ext cx="3749040" cy="301752"/>
          </a:xfrm>
          <a:prstGeom prst="rect">
            <a:avLst/>
          </a:prstGeom>
          <a:noFill/>
          <a:ln/>
        </p:spPr>
        <p:txBody>
          <a:bodyPr wrap="square" lIns="0" tIns="0" rIns="0" bIns="0" rtlCol="0" anchor="ctr"/>
          <a:lstStyle/>
          <a:p>
            <a:pPr algn="l" indent="0" marL="0">
              <a:buNone/>
            </a:pPr>
            <a:r>
              <a:rPr lang="en-US" sz="1100" dirty="0">
                <a:solidFill>
                  <a:srgbClr val="EEF2F7"/>
                </a:solidFill>
                <a:latin typeface="Calibri" pitchFamily="34" charset="0"/>
                <a:ea typeface="Calibri" pitchFamily="34" charset="-122"/>
                <a:cs typeface="Calibri" pitchFamily="34" charset="-120"/>
              </a:rPr>
              <a:t>27B matches human gender direction; Llama and Qwen reverse it</a:t>
            </a:r>
            <a:endParaRPr lang="en-US" sz="1100" dirty="0"/>
          </a:p>
        </p:txBody>
      </p:sp>
      <p:sp>
        <p:nvSpPr>
          <p:cNvPr id="15" name="Shape 13"/>
          <p:cNvSpPr/>
          <p:nvPr/>
        </p:nvSpPr>
        <p:spPr>
          <a:xfrm>
            <a:off x="411480" y="3474720"/>
            <a:ext cx="4114800" cy="566928"/>
          </a:xfrm>
          <a:prstGeom prst="roundRect">
            <a:avLst>
              <a:gd name="adj" fmla="val 16129"/>
            </a:avLst>
          </a:prstGeom>
          <a:solidFill>
            <a:srgbClr val="4A9EBA">
              <a:alpha val="22000"/>
            </a:srgbClr>
          </a:solidFill>
          <a:ln/>
        </p:spPr>
      </p:sp>
      <p:sp>
        <p:nvSpPr>
          <p:cNvPr id="16" name="Text 14"/>
          <p:cNvSpPr/>
          <p:nvPr/>
        </p:nvSpPr>
        <p:spPr>
          <a:xfrm>
            <a:off x="502920" y="3502152"/>
            <a:ext cx="3931920" cy="521208"/>
          </a:xfrm>
          <a:prstGeom prst="rect">
            <a:avLst/>
          </a:prstGeom>
          <a:noFill/>
          <a:ln/>
        </p:spPr>
        <p:txBody>
          <a:bodyPr wrap="square" lIns="0" tIns="0" rIns="0" bIns="0" rtlCol="0" anchor="ctr"/>
          <a:lstStyle/>
          <a:p>
            <a:pPr algn="l" indent="0" marL="0">
              <a:buNone/>
            </a:pPr>
            <a:r>
              <a:rPr lang="en-US" sz="1100" i="1" dirty="0">
                <a:solidFill>
                  <a:srgbClr val="EEF2F7"/>
                </a:solidFill>
                <a:latin typeface="Calibri" pitchFamily="34" charset="0"/>
                <a:ea typeface="Calibri" pitchFamily="34" charset="-122"/>
                <a:cs typeface="Calibri" pitchFamily="34" charset="-120"/>
              </a:rPr>
              <a:t>One possible explanation: safety fine-tuning may have overcorrected for racial associations, reversing the gap rather than removing it.</a:t>
            </a:r>
            <a:endParaRPr lang="en-US" sz="1100" dirty="0"/>
          </a:p>
        </p:txBody>
      </p:sp>
      <p:pic>
        <p:nvPicPr>
          <p:cNvPr id="17" name="Image 0" descr="preencoded.png">    </p:cNvPr>
          <p:cNvPicPr>
            <a:picLocks noChangeAspect="1"/>
          </p:cNvPicPr>
          <p:nvPr/>
        </p:nvPicPr>
        <p:blipFill>
          <a:blip r:embed="rId1"/>
          <a:stretch>
            <a:fillRect/>
          </a:stretch>
        </p:blipFill>
        <p:spPr>
          <a:xfrm>
            <a:off x="4572000" y="868680"/>
            <a:ext cx="4343400" cy="1543832"/>
          </a:xfrm>
          <a:prstGeom prst="rect">
            <a:avLst/>
          </a:prstGeom>
        </p:spPr>
      </p:pic>
      <p:sp>
        <p:nvSpPr>
          <p:cNvPr id="18" name="Text 15"/>
          <p:cNvSpPr/>
          <p:nvPr/>
        </p:nvSpPr>
        <p:spPr>
          <a:xfrm>
            <a:off x="4572000" y="2485664"/>
            <a:ext cx="4251960" cy="256032"/>
          </a:xfrm>
          <a:prstGeom prst="rect">
            <a:avLst/>
          </a:prstGeom>
          <a:noFill/>
          <a:ln/>
        </p:spPr>
        <p:txBody>
          <a:bodyPr wrap="square" lIns="0" tIns="0" rIns="0" bIns="0" rtlCol="0" anchor="ctr"/>
          <a:lstStyle/>
          <a:p>
            <a:pPr algn="l" indent="0" marL="0">
              <a:buNone/>
            </a:pPr>
            <a:r>
              <a:rPr lang="en-US" sz="1000" i="1" dirty="0">
                <a:solidFill>
                  <a:srgbClr val="8FA5BB"/>
                </a:solidFill>
                <a:latin typeface="Calibri" pitchFamily="34" charset="0"/>
                <a:ea typeface="Calibri" pitchFamily="34" charset="-122"/>
                <a:cs typeface="Calibri" pitchFamily="34" charset="-120"/>
              </a:rPr>
              <a:t>Fig: Model disparity vs human benchmark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D45"/>
          </a:solidFill>
          <a:ln/>
        </p:spPr>
      </p:sp>
      <p:sp>
        <p:nvSpPr>
          <p:cNvPr id="3" name="Text 1"/>
          <p:cNvSpPr/>
          <p:nvPr/>
        </p:nvSpPr>
        <p:spPr>
          <a:xfrm>
            <a:off x="411480" y="256032"/>
            <a:ext cx="8321040" cy="502920"/>
          </a:xfrm>
          <a:prstGeom prst="rect">
            <a:avLst/>
          </a:prstGeom>
          <a:noFill/>
          <a:ln/>
        </p:spPr>
        <p:txBody>
          <a:bodyPr wrap="square" lIns="0" tIns="0" rIns="0" bIns="0" rtlCol="0" anchor="ctr"/>
          <a:lstStyle/>
          <a:p>
            <a:pPr algn="l" indent="0" marL="0">
              <a:buNone/>
            </a:pPr>
            <a:r>
              <a:rPr lang="en-US" sz="2300" b="1" dirty="0">
                <a:solidFill>
                  <a:srgbClr val="EEF2F7"/>
                </a:solidFill>
                <a:latin typeface="Cambria" pitchFamily="34" charset="0"/>
                <a:ea typeface="Cambria" pitchFamily="34" charset="-122"/>
                <a:cs typeface="Cambria" pitchFamily="34" charset="-120"/>
              </a:rPr>
              <a:t>The representation mediates the decision, but not where you would expect</a:t>
            </a:r>
            <a:endParaRPr lang="en-US" sz="2300" dirty="0"/>
          </a:p>
        </p:txBody>
      </p:sp>
      <p:sp>
        <p:nvSpPr>
          <p:cNvPr id="4" name="Shape 2"/>
          <p:cNvSpPr/>
          <p:nvPr/>
        </p:nvSpPr>
        <p:spPr>
          <a:xfrm>
            <a:off x="411480" y="960120"/>
            <a:ext cx="4114800" cy="1234440"/>
          </a:xfrm>
          <a:prstGeom prst="roundRect">
            <a:avLst>
              <a:gd name="adj" fmla="val 7407"/>
            </a:avLst>
          </a:prstGeom>
          <a:solidFill>
            <a:srgbClr val="12161F"/>
          </a:solidFill>
          <a:ln/>
        </p:spPr>
      </p:sp>
      <p:sp>
        <p:nvSpPr>
          <p:cNvPr id="5" name="Text 3"/>
          <p:cNvSpPr/>
          <p:nvPr/>
        </p:nvSpPr>
        <p:spPr>
          <a:xfrm>
            <a:off x="502920" y="987552"/>
            <a:ext cx="3931920" cy="530352"/>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Does the warmth/competence probe score carry the name-group signal into the callback decision?</a:t>
            </a:r>
            <a:endParaRPr lang="en-US" sz="1200" dirty="0"/>
          </a:p>
        </p:txBody>
      </p:sp>
      <p:sp>
        <p:nvSpPr>
          <p:cNvPr id="6" name="Text 4"/>
          <p:cNvSpPr/>
          <p:nvPr/>
        </p:nvSpPr>
        <p:spPr>
          <a:xfrm>
            <a:off x="502920" y="1536192"/>
            <a:ext cx="3931920" cy="292608"/>
          </a:xfrm>
          <a:prstGeom prst="rect">
            <a:avLst/>
          </a:prstGeom>
          <a:noFill/>
          <a:ln/>
        </p:spPr>
        <p:txBody>
          <a:bodyPr wrap="square" lIns="0" tIns="0" rIns="0" bIns="0" rtlCol="0" anchor="ctr"/>
          <a:lstStyle/>
          <a:p>
            <a:pPr algn="ctr" indent="0" marL="0">
              <a:buNone/>
            </a:pPr>
            <a:r>
              <a:rPr lang="en-US" sz="1300" b="1" dirty="0">
                <a:solidFill>
                  <a:srgbClr val="4A9EBA"/>
                </a:solidFill>
                <a:latin typeface="Calibri" pitchFamily="34" charset="0"/>
                <a:ea typeface="Calibri" pitchFamily="34" charset="-122"/>
                <a:cs typeface="Calibri" pitchFamily="34" charset="-120"/>
              </a:rPr>
              <a:t>name group  →  probe score  →  callback margin</a:t>
            </a:r>
            <a:endParaRPr lang="en-US" sz="1300" dirty="0"/>
          </a:p>
        </p:txBody>
      </p:sp>
      <p:sp>
        <p:nvSpPr>
          <p:cNvPr id="7" name="Text 5"/>
          <p:cNvSpPr/>
          <p:nvPr/>
        </p:nvSpPr>
        <p:spPr>
          <a:xfrm>
            <a:off x="502920" y="1856232"/>
            <a:ext cx="3931920" cy="301752"/>
          </a:xfrm>
          <a:prstGeom prst="rect">
            <a:avLst/>
          </a:prstGeom>
          <a:noFill/>
          <a:ln/>
        </p:spPr>
        <p:txBody>
          <a:bodyPr wrap="square" lIns="0" tIns="0" rIns="0" bIns="0" rtlCol="0" anchor="ctr"/>
          <a:lstStyle/>
          <a:p>
            <a:pPr algn="l" indent="0" marL="0">
              <a:buNone/>
            </a:pPr>
            <a:r>
              <a:rPr lang="en-US" sz="1100" i="1" dirty="0">
                <a:solidFill>
                  <a:srgbClr val="8FA5BB"/>
                </a:solidFill>
                <a:latin typeface="Calibri" pitchFamily="34" charset="0"/>
                <a:ea typeface="Calibri" pitchFamily="34" charset="-122"/>
                <a:cs typeface="Calibri" pitchFamily="34" charset="-120"/>
              </a:rPr>
              <a:t>Significant for Llama (race × warmth). Not significant for Gemma.</a:t>
            </a:r>
            <a:endParaRPr lang="en-US" sz="1100" dirty="0"/>
          </a:p>
        </p:txBody>
      </p:sp>
      <p:sp>
        <p:nvSpPr>
          <p:cNvPr id="8" name="Shape 6"/>
          <p:cNvSpPr/>
          <p:nvPr/>
        </p:nvSpPr>
        <p:spPr>
          <a:xfrm>
            <a:off x="411480" y="2286000"/>
            <a:ext cx="4114800" cy="1417320"/>
          </a:xfrm>
          <a:prstGeom prst="roundRect">
            <a:avLst>
              <a:gd name="adj" fmla="val 6452"/>
            </a:avLst>
          </a:prstGeom>
          <a:solidFill>
            <a:srgbClr val="150D22"/>
          </a:solidFill>
          <a:ln/>
        </p:spPr>
      </p:sp>
      <p:sp>
        <p:nvSpPr>
          <p:cNvPr id="9" name="Text 7"/>
          <p:cNvSpPr/>
          <p:nvPr/>
        </p:nvSpPr>
        <p:spPr>
          <a:xfrm>
            <a:off x="502920" y="2313432"/>
            <a:ext cx="3931920" cy="320040"/>
          </a:xfrm>
          <a:prstGeom prst="rect">
            <a:avLst/>
          </a:prstGeom>
          <a:noFill/>
          <a:ln/>
        </p:spPr>
        <p:txBody>
          <a:bodyPr wrap="square" lIns="0" tIns="0" rIns="0" bIns="0" rtlCol="0" anchor="ctr"/>
          <a:lstStyle/>
          <a:p>
            <a:pPr algn="l" indent="0" marL="0">
              <a:buNone/>
            </a:pPr>
            <a:r>
              <a:rPr lang="en-US" sz="1400" b="1" dirty="0">
                <a:solidFill>
                  <a:srgbClr val="E07B54"/>
                </a:solidFill>
                <a:latin typeface="Cambria" pitchFamily="34" charset="0"/>
                <a:ea typeface="Cambria" pitchFamily="34" charset="-122"/>
                <a:cs typeface="Cambria" pitchFamily="34" charset="-120"/>
              </a:rPr>
              <a:t>Steerability Paradox</a:t>
            </a:r>
            <a:endParaRPr lang="en-US" sz="1400" dirty="0"/>
          </a:p>
        </p:txBody>
      </p:sp>
      <p:sp>
        <p:nvSpPr>
          <p:cNvPr id="10" name="Text 8"/>
          <p:cNvSpPr/>
          <p:nvPr/>
        </p:nvSpPr>
        <p:spPr>
          <a:xfrm>
            <a:off x="502920" y="2651760"/>
            <a:ext cx="3931920" cy="640080"/>
          </a:xfrm>
          <a:prstGeom prst="rect">
            <a:avLst/>
          </a:prstGeom>
          <a:noFill/>
          <a:ln/>
        </p:spPr>
        <p:txBody>
          <a:bodyPr wrap="square" lIns="0" tIns="0" rIns="0" bIns="0" rtlCol="0" anchor="ctr"/>
          <a:lstStyle/>
          <a:p>
            <a:pPr algn="l" indent="0" marL="0">
              <a:buNone/>
            </a:pPr>
            <a:r>
              <a:rPr lang="en-US" sz="1200" dirty="0">
                <a:solidFill>
                  <a:srgbClr val="EEF2F7"/>
                </a:solidFill>
                <a:latin typeface="Calibri" pitchFamily="34" charset="0"/>
                <a:ea typeface="Calibri" pitchFamily="34" charset="-122"/>
                <a:cs typeface="Calibri" pitchFamily="34" charset="-120"/>
              </a:rPr>
              <a:t>Gemma-12B: easiest to steer externally  →  no significant mediation</a:t>
            </a:r>
            <a:endParaRPr lang="en-US" sz="1200" dirty="0"/>
          </a:p>
          <a:p>
            <a:pPr algn="l" indent="0" marL="0">
              <a:buNone/>
            </a:pPr>
            <a:r>
              <a:rPr lang="en-US" sz="1200" dirty="0">
                <a:solidFill>
                  <a:srgbClr val="EEF2F7"/>
                </a:solidFill>
                <a:latin typeface="Calibri" pitchFamily="34" charset="0"/>
                <a:ea typeface="Calibri" pitchFamily="34" charset="-122"/>
                <a:cs typeface="Calibri" pitchFamily="34" charset="-120"/>
              </a:rPr>
              <a:t>Llama-8B: hardest to steer externally  →  strongest mediation effect</a:t>
            </a:r>
            <a:endParaRPr lang="en-US" sz="1200" dirty="0"/>
          </a:p>
        </p:txBody>
      </p:sp>
      <p:sp>
        <p:nvSpPr>
          <p:cNvPr id="11" name="Text 9"/>
          <p:cNvSpPr/>
          <p:nvPr/>
        </p:nvSpPr>
        <p:spPr>
          <a:xfrm>
            <a:off x="411480" y="3794760"/>
            <a:ext cx="4114800" cy="365760"/>
          </a:xfrm>
          <a:prstGeom prst="rect">
            <a:avLst/>
          </a:prstGeom>
          <a:noFill/>
          <a:ln/>
        </p:spPr>
        <p:txBody>
          <a:bodyPr wrap="square" lIns="0" tIns="0" rIns="0" bIns="0" rtlCol="0" anchor="ctr"/>
          <a:lstStyle/>
          <a:p>
            <a:pPr algn="l" indent="0" marL="0">
              <a:buNone/>
            </a:pPr>
            <a:r>
              <a:rPr lang="en-US" sz="1100" i="1" dirty="0">
                <a:solidFill>
                  <a:srgbClr val="8FA5BB"/>
                </a:solidFill>
                <a:latin typeface="Calibri" pitchFamily="34" charset="0"/>
                <a:ea typeface="Calibri" pitchFamily="34" charset="-122"/>
                <a:cs typeface="Calibri" pitchFamily="34" charset="-120"/>
              </a:rPr>
              <a:t>Concept-level steerability and natural causal mediation measure different things.</a:t>
            </a:r>
            <a:endParaRPr lang="en-US" sz="1100" dirty="0"/>
          </a:p>
        </p:txBody>
      </p:sp>
      <p:pic>
        <p:nvPicPr>
          <p:cNvPr id="12" name="Image 0" descr="preencoded.png">    </p:cNvPr>
          <p:cNvPicPr>
            <a:picLocks noChangeAspect="1"/>
          </p:cNvPicPr>
          <p:nvPr/>
        </p:nvPicPr>
        <p:blipFill>
          <a:blip r:embed="rId1"/>
          <a:stretch>
            <a:fillRect/>
          </a:stretch>
        </p:blipFill>
        <p:spPr>
          <a:xfrm>
            <a:off x="4800600" y="822960"/>
            <a:ext cx="3749039" cy="3678329"/>
          </a:xfrm>
          <a:prstGeom prst="rect">
            <a:avLst/>
          </a:prstGeom>
        </p:spPr>
      </p:pic>
      <p:sp>
        <p:nvSpPr>
          <p:cNvPr id="13" name="Text 10"/>
          <p:cNvSpPr/>
          <p:nvPr/>
        </p:nvSpPr>
        <p:spPr>
          <a:xfrm>
            <a:off x="4800600" y="4574441"/>
            <a:ext cx="4251960" cy="256032"/>
          </a:xfrm>
          <a:prstGeom prst="rect">
            <a:avLst/>
          </a:prstGeom>
          <a:noFill/>
          <a:ln/>
        </p:spPr>
        <p:txBody>
          <a:bodyPr wrap="square" lIns="0" tIns="0" rIns="0" bIns="0" rtlCol="0" anchor="ctr"/>
          <a:lstStyle/>
          <a:p>
            <a:pPr algn="l" indent="0" marL="0">
              <a:buNone/>
            </a:pPr>
            <a:r>
              <a:rPr lang="en-US" sz="1000" i="1" dirty="0">
                <a:solidFill>
                  <a:srgbClr val="8FA5BB"/>
                </a:solidFill>
                <a:latin typeface="Calibri" pitchFamily="34" charset="0"/>
                <a:ea typeface="Calibri" pitchFamily="34" charset="-122"/>
                <a:cs typeface="Calibri" pitchFamily="34" charset="-120"/>
              </a:rPr>
              <a:t>Fig: Bootstrap mediation forest plot, indirect effects with 95% CI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61F"/>
          </a:solidFill>
          <a:ln/>
        </p:spPr>
      </p:sp>
      <p:sp>
        <p:nvSpPr>
          <p:cNvPr id="3" name="Shape 1"/>
          <p:cNvSpPr/>
          <p:nvPr/>
        </p:nvSpPr>
        <p:spPr>
          <a:xfrm>
            <a:off x="-1188720" y="3108960"/>
            <a:ext cx="5029200" cy="5029200"/>
          </a:xfrm>
          <a:prstGeom prst="ellipse">
            <a:avLst/>
          </a:prstGeom>
          <a:solidFill>
            <a:srgbClr val="4A9EBA">
              <a:alpha val="12000"/>
            </a:srgbClr>
          </a:solidFill>
          <a:ln/>
        </p:spPr>
      </p:sp>
      <p:sp>
        <p:nvSpPr>
          <p:cNvPr id="4" name="Text 2"/>
          <p:cNvSpPr/>
          <p:nvPr/>
        </p:nvSpPr>
        <p:spPr>
          <a:xfrm>
            <a:off x="502920" y="292608"/>
            <a:ext cx="8138160" cy="566928"/>
          </a:xfrm>
          <a:prstGeom prst="rect">
            <a:avLst/>
          </a:prstGeom>
          <a:noFill/>
          <a:ln/>
        </p:spPr>
        <p:txBody>
          <a:bodyPr wrap="square" lIns="0" tIns="0" rIns="0" bIns="0" rtlCol="0" anchor="ctr"/>
          <a:lstStyle/>
          <a:p>
            <a:pPr algn="l" indent="0" marL="0">
              <a:buNone/>
            </a:pPr>
            <a:r>
              <a:rPr lang="en-US" sz="2800" b="1" dirty="0">
                <a:solidFill>
                  <a:srgbClr val="EEF2F7"/>
                </a:solidFill>
                <a:latin typeface="Cambria" pitchFamily="34" charset="0"/>
                <a:ea typeface="Cambria" pitchFamily="34" charset="-122"/>
                <a:cs typeface="Cambria" pitchFamily="34" charset="-120"/>
              </a:rPr>
              <a:t>What this means</a:t>
            </a:r>
            <a:endParaRPr lang="en-US" sz="2800" dirty="0"/>
          </a:p>
        </p:txBody>
      </p:sp>
      <p:sp>
        <p:nvSpPr>
          <p:cNvPr id="5" name="Shape 3"/>
          <p:cNvSpPr/>
          <p:nvPr/>
        </p:nvSpPr>
        <p:spPr>
          <a:xfrm>
            <a:off x="502920" y="877824"/>
            <a:ext cx="822960" cy="36576"/>
          </a:xfrm>
          <a:prstGeom prst="rect">
            <a:avLst/>
          </a:prstGeom>
          <a:solidFill>
            <a:srgbClr val="4A9EBA"/>
          </a:solidFill>
          <a:ln/>
        </p:spPr>
      </p:sp>
      <p:sp>
        <p:nvSpPr>
          <p:cNvPr id="6" name="Shape 4"/>
          <p:cNvSpPr/>
          <p:nvPr/>
        </p:nvSpPr>
        <p:spPr>
          <a:xfrm>
            <a:off x="502920" y="1005840"/>
            <a:ext cx="8229600" cy="1115568"/>
          </a:xfrm>
          <a:prstGeom prst="roundRect">
            <a:avLst>
              <a:gd name="adj" fmla="val 8197"/>
            </a:avLst>
          </a:prstGeom>
          <a:solidFill>
            <a:srgbClr val="1E2D45"/>
          </a:solidFill>
          <a:ln/>
        </p:spPr>
      </p:sp>
      <p:sp>
        <p:nvSpPr>
          <p:cNvPr id="7" name="Shape 5"/>
          <p:cNvSpPr/>
          <p:nvPr/>
        </p:nvSpPr>
        <p:spPr>
          <a:xfrm>
            <a:off x="502920" y="1005840"/>
            <a:ext cx="457200" cy="1115568"/>
          </a:xfrm>
          <a:prstGeom prst="roundRect">
            <a:avLst>
              <a:gd name="adj" fmla="val 20000"/>
            </a:avLst>
          </a:prstGeom>
          <a:solidFill>
            <a:srgbClr val="4A9EBA"/>
          </a:solidFill>
          <a:ln/>
        </p:spPr>
      </p:sp>
      <p:sp>
        <p:nvSpPr>
          <p:cNvPr id="8" name="Text 6"/>
          <p:cNvSpPr/>
          <p:nvPr/>
        </p:nvSpPr>
        <p:spPr>
          <a:xfrm>
            <a:off x="502920" y="1005840"/>
            <a:ext cx="457200" cy="111556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9" name="Text 7"/>
          <p:cNvSpPr/>
          <p:nvPr/>
        </p:nvSpPr>
        <p:spPr>
          <a:xfrm>
            <a:off x="1042416" y="1097280"/>
            <a:ext cx="7589520" cy="347472"/>
          </a:xfrm>
          <a:prstGeom prst="rect">
            <a:avLst/>
          </a:prstGeom>
          <a:noFill/>
          <a:ln/>
        </p:spPr>
        <p:txBody>
          <a:bodyPr wrap="square" lIns="0" tIns="0" rIns="0" bIns="0" rtlCol="0" anchor="ctr"/>
          <a:lstStyle/>
          <a:p>
            <a:pPr algn="l" indent="0" marL="0">
              <a:buNone/>
            </a:pPr>
            <a:r>
              <a:rPr lang="en-US" sz="1400" b="1" dirty="0">
                <a:solidFill>
                  <a:srgbClr val="EEF2F7"/>
                </a:solidFill>
                <a:latin typeface="Cambria" pitchFamily="34" charset="0"/>
                <a:ea typeface="Cambria" pitchFamily="34" charset="-122"/>
                <a:cs typeface="Cambria" pitchFamily="34" charset="-120"/>
              </a:rPr>
              <a:t>The representations are real</a:t>
            </a:r>
            <a:endParaRPr lang="en-US" sz="1400" dirty="0"/>
          </a:p>
        </p:txBody>
      </p:sp>
      <p:sp>
        <p:nvSpPr>
          <p:cNvPr id="10" name="Text 8"/>
          <p:cNvSpPr/>
          <p:nvPr/>
        </p:nvSpPr>
        <p:spPr>
          <a:xfrm>
            <a:off x="1042416" y="1463040"/>
            <a:ext cx="7589520" cy="594360"/>
          </a:xfrm>
          <a:prstGeom prst="rect">
            <a:avLst/>
          </a:prstGeom>
          <a:noFill/>
          <a:ln/>
        </p:spPr>
        <p:txBody>
          <a:bodyPr wrap="square" lIns="0" tIns="0" rIns="0" bIns="0" rtlCol="0" anchor="ctr"/>
          <a:lstStyle/>
          <a:p>
            <a:pPr algn="l" indent="0" marL="0">
              <a:buNone/>
            </a:pPr>
            <a:r>
              <a:rPr lang="en-US" sz="1200" dirty="0">
                <a:solidFill>
                  <a:srgbClr val="8FA5BB"/>
                </a:solidFill>
                <a:latin typeface="Calibri" pitchFamily="34" charset="0"/>
                <a:ea typeface="Calibri" pitchFamily="34" charset="-122"/>
                <a:cs typeface="Calibri" pitchFamily="34" charset="-120"/>
              </a:rPr>
              <a:t>LLMs encode warmth and competence in a structure consistent with human social perception: linearly separable, causally functional, and consistent across four architectures.</a:t>
            </a:r>
            <a:endParaRPr lang="en-US" sz="1200" dirty="0"/>
          </a:p>
        </p:txBody>
      </p:sp>
      <p:sp>
        <p:nvSpPr>
          <p:cNvPr id="11" name="Shape 9"/>
          <p:cNvSpPr/>
          <p:nvPr/>
        </p:nvSpPr>
        <p:spPr>
          <a:xfrm>
            <a:off x="502920" y="2240280"/>
            <a:ext cx="8229600" cy="1115568"/>
          </a:xfrm>
          <a:prstGeom prst="roundRect">
            <a:avLst>
              <a:gd name="adj" fmla="val 8197"/>
            </a:avLst>
          </a:prstGeom>
          <a:solidFill>
            <a:srgbClr val="1E2D45"/>
          </a:solidFill>
          <a:ln/>
        </p:spPr>
      </p:sp>
      <p:sp>
        <p:nvSpPr>
          <p:cNvPr id="12" name="Shape 10"/>
          <p:cNvSpPr/>
          <p:nvPr/>
        </p:nvSpPr>
        <p:spPr>
          <a:xfrm>
            <a:off x="502920" y="2240280"/>
            <a:ext cx="457200" cy="1115568"/>
          </a:xfrm>
          <a:prstGeom prst="roundRect">
            <a:avLst>
              <a:gd name="adj" fmla="val 20000"/>
            </a:avLst>
          </a:prstGeom>
          <a:solidFill>
            <a:srgbClr val="E07B54"/>
          </a:solidFill>
          <a:ln/>
        </p:spPr>
      </p:sp>
      <p:sp>
        <p:nvSpPr>
          <p:cNvPr id="13" name="Text 11"/>
          <p:cNvSpPr/>
          <p:nvPr/>
        </p:nvSpPr>
        <p:spPr>
          <a:xfrm>
            <a:off x="502920" y="2240280"/>
            <a:ext cx="457200" cy="111556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14" name="Text 12"/>
          <p:cNvSpPr/>
          <p:nvPr/>
        </p:nvSpPr>
        <p:spPr>
          <a:xfrm>
            <a:off x="1042416" y="2331720"/>
            <a:ext cx="7589520" cy="347472"/>
          </a:xfrm>
          <a:prstGeom prst="rect">
            <a:avLst/>
          </a:prstGeom>
          <a:noFill/>
          <a:ln/>
        </p:spPr>
        <p:txBody>
          <a:bodyPr wrap="square" lIns="0" tIns="0" rIns="0" bIns="0" rtlCol="0" anchor="ctr"/>
          <a:lstStyle/>
          <a:p>
            <a:pPr algn="l" indent="0" marL="0">
              <a:buNone/>
            </a:pPr>
            <a:r>
              <a:rPr lang="en-US" sz="1400" b="1" dirty="0">
                <a:solidFill>
                  <a:srgbClr val="EEF2F7"/>
                </a:solidFill>
                <a:latin typeface="Cambria" pitchFamily="34" charset="0"/>
                <a:ea typeface="Cambria" pitchFamily="34" charset="-122"/>
                <a:cs typeface="Cambria" pitchFamily="34" charset="-120"/>
              </a:rPr>
              <a:t>Disparities persist, but point in the opposite direction</a:t>
            </a:r>
            <a:endParaRPr lang="en-US" sz="1400" dirty="0"/>
          </a:p>
        </p:txBody>
      </p:sp>
      <p:sp>
        <p:nvSpPr>
          <p:cNvPr id="15" name="Text 13"/>
          <p:cNvSpPr/>
          <p:nvPr/>
        </p:nvSpPr>
        <p:spPr>
          <a:xfrm>
            <a:off x="1042416" y="2697480"/>
            <a:ext cx="7589520" cy="594360"/>
          </a:xfrm>
          <a:prstGeom prst="rect">
            <a:avLst/>
          </a:prstGeom>
          <a:noFill/>
          <a:ln/>
        </p:spPr>
        <p:txBody>
          <a:bodyPr wrap="square" lIns="0" tIns="0" rIns="0" bIns="0" rtlCol="0" anchor="ctr"/>
          <a:lstStyle/>
          <a:p>
            <a:pPr algn="l" indent="0" marL="0">
              <a:buNone/>
            </a:pPr>
            <a:r>
              <a:rPr lang="en-US" sz="1200" dirty="0">
                <a:solidFill>
                  <a:srgbClr val="8FA5BB"/>
                </a:solidFill>
                <a:latin typeface="Calibri" pitchFamily="34" charset="0"/>
                <a:ea typeface="Calibri" pitchFamily="34" charset="-122"/>
                <a:cs typeface="Calibri" pitchFamily="34" charset="-120"/>
              </a:rPr>
              <a:t>Name-driven hiring disparities remain. Across the models with reliable data, the racial gap reversed direction compared to the human baseline and grew in magnitude.</a:t>
            </a:r>
            <a:endParaRPr lang="en-US" sz="1200" dirty="0"/>
          </a:p>
        </p:txBody>
      </p:sp>
      <p:sp>
        <p:nvSpPr>
          <p:cNvPr id="16" name="Shape 14"/>
          <p:cNvSpPr/>
          <p:nvPr/>
        </p:nvSpPr>
        <p:spPr>
          <a:xfrm>
            <a:off x="502920" y="3474720"/>
            <a:ext cx="8229600" cy="1115568"/>
          </a:xfrm>
          <a:prstGeom prst="roundRect">
            <a:avLst>
              <a:gd name="adj" fmla="val 8197"/>
            </a:avLst>
          </a:prstGeom>
          <a:solidFill>
            <a:srgbClr val="1E2D45"/>
          </a:solidFill>
          <a:ln/>
        </p:spPr>
      </p:sp>
      <p:sp>
        <p:nvSpPr>
          <p:cNvPr id="17" name="Shape 15"/>
          <p:cNvSpPr/>
          <p:nvPr/>
        </p:nvSpPr>
        <p:spPr>
          <a:xfrm>
            <a:off x="502920" y="3474720"/>
            <a:ext cx="457200" cy="1115568"/>
          </a:xfrm>
          <a:prstGeom prst="roundRect">
            <a:avLst>
              <a:gd name="adj" fmla="val 20000"/>
            </a:avLst>
          </a:prstGeom>
          <a:solidFill>
            <a:srgbClr val="5BAD8B"/>
          </a:solidFill>
          <a:ln/>
        </p:spPr>
      </p:sp>
      <p:sp>
        <p:nvSpPr>
          <p:cNvPr id="18" name="Text 16"/>
          <p:cNvSpPr/>
          <p:nvPr/>
        </p:nvSpPr>
        <p:spPr>
          <a:xfrm>
            <a:off x="502920" y="3474720"/>
            <a:ext cx="457200" cy="111556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19" name="Text 17"/>
          <p:cNvSpPr/>
          <p:nvPr/>
        </p:nvSpPr>
        <p:spPr>
          <a:xfrm>
            <a:off x="1042416" y="3566160"/>
            <a:ext cx="7589520" cy="347472"/>
          </a:xfrm>
          <a:prstGeom prst="rect">
            <a:avLst/>
          </a:prstGeom>
          <a:noFill/>
          <a:ln/>
        </p:spPr>
        <p:txBody>
          <a:bodyPr wrap="square" lIns="0" tIns="0" rIns="0" bIns="0" rtlCol="0" anchor="ctr"/>
          <a:lstStyle/>
          <a:p>
            <a:pPr algn="l" indent="0" marL="0">
              <a:buNone/>
            </a:pPr>
            <a:r>
              <a:rPr lang="en-US" sz="1400" b="1" dirty="0">
                <a:solidFill>
                  <a:srgbClr val="EEF2F7"/>
                </a:solidFill>
                <a:latin typeface="Cambria" pitchFamily="34" charset="0"/>
                <a:ea typeface="Cambria" pitchFamily="34" charset="-122"/>
                <a:cs typeface="Cambria" pitchFamily="34" charset="-120"/>
              </a:rPr>
              <a:t>You need both probing and behavioral audits</a:t>
            </a:r>
            <a:endParaRPr lang="en-US" sz="1400" dirty="0"/>
          </a:p>
        </p:txBody>
      </p:sp>
      <p:sp>
        <p:nvSpPr>
          <p:cNvPr id="20" name="Text 18"/>
          <p:cNvSpPr/>
          <p:nvPr/>
        </p:nvSpPr>
        <p:spPr>
          <a:xfrm>
            <a:off x="1042416" y="3931920"/>
            <a:ext cx="7589520" cy="594360"/>
          </a:xfrm>
          <a:prstGeom prst="rect">
            <a:avLst/>
          </a:prstGeom>
          <a:noFill/>
          <a:ln/>
        </p:spPr>
        <p:txBody>
          <a:bodyPr wrap="square" lIns="0" tIns="0" rIns="0" bIns="0" rtlCol="0" anchor="ctr"/>
          <a:lstStyle/>
          <a:p>
            <a:pPr algn="l" indent="0" marL="0">
              <a:buNone/>
            </a:pPr>
            <a:r>
              <a:rPr lang="en-US" sz="1200" dirty="0">
                <a:solidFill>
                  <a:srgbClr val="8FA5BB"/>
                </a:solidFill>
                <a:latin typeface="Calibri" pitchFamily="34" charset="0"/>
                <a:ea typeface="Calibri" pitchFamily="34" charset="-122"/>
                <a:cs typeface="Calibri" pitchFamily="34" charset="-120"/>
              </a:rPr>
              <a:t>Internal representation probing and output-level disparity measurement capture different things. Neither alone is sufficient.</a:t>
            </a:r>
            <a:endParaRPr lang="en-US" sz="1200" dirty="0"/>
          </a:p>
        </p:txBody>
      </p:sp>
      <p:sp>
        <p:nvSpPr>
          <p:cNvPr id="21" name="Text 19"/>
          <p:cNvSpPr/>
          <p:nvPr/>
        </p:nvSpPr>
        <p:spPr>
          <a:xfrm>
            <a:off x="502920" y="4754880"/>
            <a:ext cx="8138160" cy="256032"/>
          </a:xfrm>
          <a:prstGeom prst="rect">
            <a:avLst/>
          </a:prstGeom>
          <a:noFill/>
          <a:ln/>
        </p:spPr>
        <p:txBody>
          <a:bodyPr wrap="square" lIns="0" tIns="0" rIns="0" bIns="0" rtlCol="0" anchor="ctr"/>
          <a:lstStyle/>
          <a:p>
            <a:pPr algn="r" indent="0" marL="0">
              <a:buNone/>
            </a:pPr>
            <a:r>
              <a:rPr lang="en-US" sz="1000" dirty="0">
                <a:solidFill>
                  <a:srgbClr val="8FA5BB"/>
                </a:solidFill>
                <a:latin typeface="Calibri" pitchFamily="34" charset="0"/>
                <a:ea typeface="Calibri" pitchFamily="34" charset="-122"/>
                <a:cs typeface="Calibri" pitchFamily="34" charset="-120"/>
              </a:rPr>
              <a:t>Ulu · Lastra Cerda · University of Konstanz</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2026-07-14T10:27:28Z</dcterms:created>
  <dcterms:modified xsi:type="dcterms:W3CDTF">2026-07-14T10:27:28Z</dcterms:modified>
</cp:coreProperties>
</file>