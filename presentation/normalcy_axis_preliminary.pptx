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14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640080"/>
            <a:ext cx="457200" cy="457200"/>
          </a:xfrm>
          <a:prstGeom prst="ellipse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83880" y="640080"/>
            <a:ext cx="457200" cy="457200"/>
          </a:xfrm>
          <a:prstGeom prst="ellipse">
            <a:avLst/>
          </a:prstGeom>
          <a:solidFill>
            <a:srgbClr val="2F7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08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COLLECTIVE DECISION MAKING IN AI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an AI judge people?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warmth and competence inside a language model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429000"/>
            <a:ext cx="2194560" cy="0"/>
          </a:xfrm>
          <a:prstGeom prst="line">
            <a:avLst/>
          </a:prstGeom>
          <a:noFill/>
          <a:ln w="25400">
            <a:solidFill>
              <a:srgbClr val="2F7D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EB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Lastra and Emre Ulu        June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E0883C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Hiring bias could move inside the machine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74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already use AI to screen job applicants.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Decades of research show that how warm and how competent a name merely sounds predicts who gets a callback. That is documented bias.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AI carries the same warmth and competence machinery, automated hiring could repeat that bias at scale, hidden inside a black box.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897880" y="1554480"/>
            <a:ext cx="2788920" cy="246888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97880" y="1554480"/>
            <a:ext cx="91440" cy="2468880"/>
          </a:xfrm>
          <a:prstGeom prst="rect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8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224028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find that machinery inside the model, and later show it drives the decision?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2F7DB8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model's mind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judge others on two axes: warmth (sincere, trustworthy) and competence (capable, effective). This is the Stereotype Content Model from social psychology.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AI represent these two axes too, as signals we can read?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in plain terms: feed the model a story, pause it partway through its thinking, and read its internal state, which is just a long list of numbers.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2F7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0" y="15544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86600" y="213969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239572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reads it, layer by layer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86600" y="29809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323697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323697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at layer 31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38862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31 is about two thirds through, where abstract ideas are clearest.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2F7DB8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think this is possible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074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recently showed that abstract concepts, even emotions, live inside a model as simple directions that can be read and turned up or down (Sofroniew, Lindsey and colleagues, 2026).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adopt the same method and point it at warmth and competence.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layer 31 we read the roughly 3,840 numbers that make up Gemma's internal state, its neurons at that point, and look for the warmth and competence directions among them.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897880" y="1554480"/>
            <a:ext cx="2788920" cy="27432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897880" y="1554480"/>
            <a:ext cx="91440" cy="2743200"/>
          </a:xfrm>
          <a:prstGeom prst="rect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08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bet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224028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concept is really in there, it shows up as a direction in those numbers. Finding that direction is what makes the whole study possible.</a:t>
            </a:r>
            <a:endParaRPr lang="en-US" sz="16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E0883C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STIMULI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 short stories that show, never tell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kinds: high and low warmth, high and low competence, 50 each (for now).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behaviour is shown, the trait word is not written. Protagonists have no names and no gender, so we measure behaviour, not identity.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situation, two versions: a team meeting under time pressure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3977640" cy="2011680"/>
          </a:xfrm>
          <a:prstGeom prst="rect">
            <a:avLst/>
          </a:prstGeom>
          <a:solidFill>
            <a:srgbClr val="FBEF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91440" cy="2011680"/>
          </a:xfrm>
          <a:prstGeom prst="rect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6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WARMTH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paused to ask what the quiet teammate was seeing. They made sure the quietest intern's worry went on the board. “We decide together or we don't decide well.”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2816352"/>
            <a:ext cx="3977640" cy="2011680"/>
          </a:xfrm>
          <a:prstGeom prst="rect">
            <a:avLst/>
          </a:prstGeom>
          <a:solidFill>
            <a:srgbClr val="E7EE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2816352"/>
            <a:ext cx="91440" cy="2011680"/>
          </a:xfrm>
          <a:prstGeom prst="rect">
            <a:avLst/>
          </a:prstGeom>
          <a:solidFill>
            <a:srgbClr val="8A93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WARMTH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24612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announced they already knew the right call. A colleague raised a risk; they kept scrolling. “I don't need everyone comfortable, I need a decision.”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2F7DB8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stories to a direction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188720" y="1554480"/>
            <a:ext cx="548640" cy="548640"/>
          </a:xfrm>
          <a:prstGeom prst="ellipse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2402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story through Gemma 3 12B and snapshot its internal state at layer 31.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1554480"/>
            <a:ext cx="548640" cy="548640"/>
          </a:xfrm>
          <a:prstGeom prst="ellipse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703320" y="22402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the snapshot into one set of numbers per story.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23760" y="1554480"/>
            <a:ext cx="548640" cy="548640"/>
          </a:xfrm>
          <a:prstGeom prst="ellipse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224028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direction equals average of high warmth minus average of low warmth. Same for competence.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920240" y="1828800"/>
            <a:ext cx="2011680" cy="0"/>
          </a:xfrm>
          <a:prstGeom prst="line">
            <a:avLst/>
          </a:prstGeom>
          <a:noFill/>
          <a:ln w="254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0" y="1828800"/>
            <a:ext cx="2011680" cy="0"/>
          </a:xfrm>
          <a:prstGeom prst="line">
            <a:avLst/>
          </a:prstGeom>
          <a:noFill/>
          <a:ln w="25400">
            <a:solidFill>
              <a:srgbClr val="D6DC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8138160" cy="777240"/>
          </a:xfrm>
          <a:prstGeom prst="rect">
            <a:avLst/>
          </a:prstGeom>
          <a:solidFill>
            <a:srgbClr val="EAF0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91440" cy="777240"/>
          </a:xfrm>
          <a:prstGeom prst="rect">
            <a:avLst/>
          </a:prstGeom>
          <a:solidFill>
            <a:srgbClr val="2F7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39776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F7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 first. 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a small dry run to confirm the pipeline worked, then scaled to the full 200 story set on the cluster.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E0883C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kinds of story, cleanly separated</a:t>
            </a:r>
            <a:endParaRPr lang="en-US" sz="2700" dirty="0"/>
          </a:p>
        </p:txBody>
      </p:sp>
      <p:pic>
        <p:nvPicPr>
          <p:cNvPr id="5" name="Image 0" descr="/sessions/laughing-sleepy-hawking/mnt/normalcy-axis/paper/figures/fig1_joint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3429000" cy="33924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51960" y="1417320"/>
            <a:ext cx="4434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cloud is one kind of story. Warm and cold split left to right; competent and incompetent split top to bottom.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reader told them apart with 100 percent accuracy on stories it had never seen.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diagonal: good behaviour drifts up and right, bad drifts down and left.</a:t>
            </a:r>
            <a:endParaRPr lang="en-US" sz="14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2F7DB8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real signal, not luck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any direction do this? We tried 1000 random ones (grey curve), which all sit near zero.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direction (red line) lands far past every one of them. In a space this large, beating all 1000 means we found something genuine.</a:t>
            </a:r>
            <a:endParaRPr lang="en-US" sz="1450" dirty="0"/>
          </a:p>
        </p:txBody>
      </p:sp>
      <p:pic>
        <p:nvPicPr>
          <p:cNvPr id="6" name="Image 0" descr="/sessions/laughing-sleepy-hawking/mnt/normalcy-axis/paper/figures/fig2_random_bas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514600"/>
            <a:ext cx="6217920" cy="2542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10896"/>
            <a:ext cx="4114800" cy="292608"/>
          </a:xfrm>
          <a:prstGeom prst="rect">
            <a:avLst/>
          </a:prstGeom>
          <a:solidFill>
            <a:srgbClr val="B5631F"/>
          </a:solidFill>
          <a:ln/>
        </p:spPr>
        <p:txBody>
          <a:bodyPr wrap="square" lIns="25400" tIns="101600" rIns="101600" bIns="2540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676656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cannot claim yet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138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Warmth and competence still overlap with plain good versus bad. The simple arrows point about 75 percent the same way.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reader trained on warmth is no better than a coin flip at judging competence, and the reverse. So there is warmth specific information. It is not only positivity.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8138160" cy="1234440"/>
          </a:xfrm>
          <a:prstGeom prst="rect">
            <a:avLst/>
          </a:prstGeom>
          <a:solidFill>
            <a:srgbClr val="1520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91440" cy="1234440"/>
          </a:xfrm>
          <a:prstGeom prst="rect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36393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8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next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subtract the shared good versus bad component so the two axes stand alone. Then the real test: push the warmth dial up or down and see whether the model's hiring decision changes.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11480" cy="411480"/>
          </a:xfrm>
          <a:prstGeom prst="ellipse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640080"/>
            <a:ext cx="411480" cy="411480"/>
          </a:xfrm>
          <a:prstGeom prst="ellipse">
            <a:avLst/>
          </a:prstGeom>
          <a:solidFill>
            <a:srgbClr val="2F7D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machinery of social judgment is inside the model, and we can measure it.</a:t>
            </a:r>
            <a:endParaRPr lang="en-US" sz="18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step one toward spotting and correcting hiring bias before a model is deployed.</a:t>
            </a:r>
            <a:endParaRPr lang="en-US" sz="1800" dirty="0"/>
          </a:p>
          <a:p>
            <a:pPr marL="190500" indent="-190500">
              <a:buSzPct val="100000"/>
              <a:buChar char="•"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step: showing it causally drives the decision.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206240" y="3383280"/>
            <a:ext cx="365760" cy="365760"/>
          </a:xfrm>
          <a:prstGeom prst="ellipse">
            <a:avLst/>
          </a:prstGeom>
          <a:solidFill>
            <a:srgbClr val="E088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617720" y="3383280"/>
            <a:ext cx="365760" cy="365760"/>
          </a:xfrm>
          <a:prstGeom prst="ellipse">
            <a:avLst/>
          </a:prstGeom>
          <a:solidFill>
            <a:srgbClr val="2F7DB8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859</Words>
  <Application>Microsoft Office PowerPoint</Application>
  <PresentationFormat>On-screen Show (16:9)</PresentationFormat>
  <Paragraphs>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warmth and competence inside a language model</dc:title>
  <dc:subject>PptxGenJS Presentation</dc:subject>
  <dc:creator>Jorge Lastra and Emre Ulu</dc:creator>
  <cp:lastModifiedBy>Jorge Lastra Cerda</cp:lastModifiedBy>
  <cp:revision>3</cp:revision>
  <dcterms:created xsi:type="dcterms:W3CDTF">2026-06-17T10:35:40Z</dcterms:created>
  <dcterms:modified xsi:type="dcterms:W3CDTF">2026-06-17T12:27:08Z</dcterms:modified>
</cp:coreProperties>
</file>