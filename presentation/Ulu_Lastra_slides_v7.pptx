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7a419e9a4b4fde" /><Relationship Type="http://schemas.openxmlformats.org/officeDocument/2006/relationships/extended-properties" Target="/docProps/app.xml" Id="Rcf13425be3554b00" /><Relationship Type="http://schemas.openxmlformats.org/officeDocument/2006/relationships/officeDocument" Target="/ppt/presentation.xml" Id="R69a5d965f9cc43e4" /></Relationships>
</file>

<file path=ppt/presentation.xml><?xml version="1.0" encoding="utf-8"?>
<p:presentation xmlns:p="http://schemas.openxmlformats.org/presentationml/2006/main">
  <p:sldMasterIdLst>
    <p:sldMasterId xmlns:r="http://schemas.openxmlformats.org/officeDocument/2006/relationships" id="2147483648" r:id="Re6d07efda6324a15"/>
  </p:sldMasterIdLst>
  <p:notesMasterIdLst>
    <p:notesMasterId xmlns:r="http://schemas.openxmlformats.org/officeDocument/2006/relationships" r:id="R5ed32f7da10f46b1"/>
  </p:notesMasterIdLst>
  <p:sldIdLst>
    <p:sldId xmlns:r="http://schemas.openxmlformats.org/officeDocument/2006/relationships" id="256" r:id="Rfbefb5f61e304891"/>
    <p:sldId xmlns:r="http://schemas.openxmlformats.org/officeDocument/2006/relationships" id="257" r:id="Rcd7243ee3b844e92"/>
    <p:sldId xmlns:r="http://schemas.openxmlformats.org/officeDocument/2006/relationships" id="258" r:id="Re02197049075411a"/>
    <p:sldId xmlns:r="http://schemas.openxmlformats.org/officeDocument/2006/relationships" id="259" r:id="Rb2e88fda252a47c3"/>
    <p:sldId xmlns:r="http://schemas.openxmlformats.org/officeDocument/2006/relationships" id="260" r:id="R194f8156cde04e53"/>
    <p:sldId xmlns:r="http://schemas.openxmlformats.org/officeDocument/2006/relationships" id="261" r:id="R6b5667febf2a467d"/>
    <p:sldId xmlns:r="http://schemas.openxmlformats.org/officeDocument/2006/relationships" id="262" r:id="Rdc399a9f59a44457"/>
    <p:sldId xmlns:r="http://schemas.openxmlformats.org/officeDocument/2006/relationships" id="263" r:id="R460c7776ea7b4133"/>
    <p:sldId xmlns:r="http://schemas.openxmlformats.org/officeDocument/2006/relationships" id="264" r:id="R155f27a534f74bee"/>
    <p:sldId xmlns:r="http://schemas.openxmlformats.org/officeDocument/2006/relationships" id="265" r:id="Rf0f7d363acf245af"/>
    <p:sldId xmlns:r="http://schemas.openxmlformats.org/officeDocument/2006/relationships" id="266" r:id="R2beac85a41014e50"/>
    <p:sldId xmlns:r="http://schemas.openxmlformats.org/officeDocument/2006/relationships" id="267" r:id="Rae45a3f76429433b"/>
    <p:sldId xmlns:r="http://schemas.openxmlformats.org/officeDocument/2006/relationships" id="268" r:id="Rac749b2435a141bc"/>
    <p:sldId xmlns:r="http://schemas.openxmlformats.org/officeDocument/2006/relationships" id="269" r:id="R07064914b7e24b20"/>
    <p:sldId xmlns:r="http://schemas.openxmlformats.org/officeDocument/2006/relationships" id="270" r:id="R82f3a57cdd434bd1"/>
    <p:sldId xmlns:r="http://schemas.openxmlformats.org/officeDocument/2006/relationships" id="271" r:id="R17022e7dd5c54804"/>
  </p:sldIdLst>
  <p:sldSz cx="9144000" cy="51435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_rels/presentation.xml.rels>&#65279;<?xml version="1.0" encoding="utf-8"?><Relationships xmlns="http://schemas.openxmlformats.org/package/2006/relationships"><Relationship Type="http://schemas.openxmlformats.org/officeDocument/2006/relationships/theme" Target="/ppt/theme/theme1.xml" Id="R3cb84d1a8f394638" /><Relationship Type="http://schemas.openxmlformats.org/officeDocument/2006/relationships/slideMaster" Target="/ppt/slideMasters/slideMaster1.xml" Id="Re6d07efda6324a15" /><Relationship Type="http://schemas.openxmlformats.org/officeDocument/2006/relationships/notesMaster" Target="/ppt/notesMasters/notesMaster1.xml" Id="R5ed32f7da10f46b1" /><Relationship Type="http://schemas.openxmlformats.org/officeDocument/2006/relationships/presProps" Target="/ppt/presProps.xml" Id="Ra297e8d685df45f7" /><Relationship Type="http://schemas.openxmlformats.org/officeDocument/2006/relationships/tableStyles" Target="/ppt/tableStyles.xml" Id="R1b1a5eee28db4d82" /><Relationship Type="http://schemas.openxmlformats.org/officeDocument/2006/relationships/slide" Target="/ppt/slides/slide1.xml" Id="Rfbefb5f61e304891" /><Relationship Type="http://schemas.openxmlformats.org/officeDocument/2006/relationships/slide" Target="/ppt/slides/slide2.xml" Id="Rcd7243ee3b844e92" /><Relationship Type="http://schemas.openxmlformats.org/officeDocument/2006/relationships/slide" Target="/ppt/slides/slide3.xml" Id="Re02197049075411a" /><Relationship Type="http://schemas.openxmlformats.org/officeDocument/2006/relationships/slide" Target="/ppt/slides/slide4.xml" Id="Rb2e88fda252a47c3" /><Relationship Type="http://schemas.openxmlformats.org/officeDocument/2006/relationships/slide" Target="/ppt/slides/slide5.xml" Id="R194f8156cde04e53" /><Relationship Type="http://schemas.openxmlformats.org/officeDocument/2006/relationships/slide" Target="/ppt/slides/slide6.xml" Id="R6b5667febf2a467d" /><Relationship Type="http://schemas.openxmlformats.org/officeDocument/2006/relationships/slide" Target="/ppt/slides/slide7.xml" Id="Rdc399a9f59a44457" /><Relationship Type="http://schemas.openxmlformats.org/officeDocument/2006/relationships/slide" Target="/ppt/slides/slide8.xml" Id="R460c7776ea7b4133" /><Relationship Type="http://schemas.openxmlformats.org/officeDocument/2006/relationships/slide" Target="/ppt/slides/slide9.xml" Id="R155f27a534f74bee" /><Relationship Type="http://schemas.openxmlformats.org/officeDocument/2006/relationships/slide" Target="/ppt/slides/slide10.xml" Id="Rf0f7d363acf245af" /><Relationship Type="http://schemas.openxmlformats.org/officeDocument/2006/relationships/slide" Target="/ppt/slides/slide11.xml" Id="R2beac85a41014e50" /><Relationship Type="http://schemas.openxmlformats.org/officeDocument/2006/relationships/slide" Target="/ppt/slides/slide12.xml" Id="Rae45a3f76429433b" /><Relationship Type="http://schemas.openxmlformats.org/officeDocument/2006/relationships/slide" Target="/ppt/slides/slide13.xml" Id="Rac749b2435a141bc" /><Relationship Type="http://schemas.openxmlformats.org/officeDocument/2006/relationships/slide" Target="/ppt/slides/slide14.xml" Id="R07064914b7e24b20" /><Relationship Type="http://schemas.openxmlformats.org/officeDocument/2006/relationships/slide" Target="/ppt/slides/slide15.xml" Id="R82f3a57cdd434bd1" /><Relationship Type="http://schemas.openxmlformats.org/officeDocument/2006/relationships/slide" Target="/ppt/slides/slide16.xml" Id="R17022e7dd5c548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5fd89df51a45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Neue"/>
        <a:ea typeface="Helvetica Neue"/>
        <a:cs typeface="Helvetica Neue"/>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606f479fdf4eb7" /><Relationship Type="http://schemas.openxmlformats.org/officeDocument/2006/relationships/notesMaster" Target="/ppt/notesMasters/notesMaster1.xml" Id="R3959f06759854b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237a62e075425d" /><Relationship Type="http://schemas.openxmlformats.org/officeDocument/2006/relationships/notesMaster" Target="/ppt/notesMasters/notesMaster1.xml" Id="R859abc1560024f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40f7cead794a9c" /><Relationship Type="http://schemas.openxmlformats.org/officeDocument/2006/relationships/notesMaster" Target="/ppt/notesMasters/notesMaster1.xml" Id="Rc7eeef67697d44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eabaccbf374662" /><Relationship Type="http://schemas.openxmlformats.org/officeDocument/2006/relationships/notesMaster" Target="/ppt/notesMasters/notesMaster1.xml" Id="R9c9ff410c34e4c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c2b14e74d94e54" /><Relationship Type="http://schemas.openxmlformats.org/officeDocument/2006/relationships/notesMaster" Target="/ppt/notesMasters/notesMaster1.xml" Id="Rfe9382c001f942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46d22a235d4979" /><Relationship Type="http://schemas.openxmlformats.org/officeDocument/2006/relationships/notesMaster" Target="/ppt/notesMasters/notesMaster1.xml" Id="Rbdb5c1eab6bb4f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38ac9c7a1d4c12" /><Relationship Type="http://schemas.openxmlformats.org/officeDocument/2006/relationships/notesMaster" Target="/ppt/notesMasters/notesMaster1.xml" Id="Rb32384a2089349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e73297917641b9" /><Relationship Type="http://schemas.openxmlformats.org/officeDocument/2006/relationships/notesMaster" Target="/ppt/notesMasters/notesMaster1.xml" Id="R1cbb9f4a11944b65"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08e2507bdb4109" /><Relationship Type="http://schemas.openxmlformats.org/officeDocument/2006/relationships/notesMaster" Target="/ppt/notesMasters/notesMaster1.xml" Id="Ra3619d37714746b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96b23be0fc94933" /><Relationship Type="http://schemas.openxmlformats.org/officeDocument/2006/relationships/notesMaster" Target="/ppt/notesMasters/notesMaster1.xml" Id="R46b140b134164b8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1f9cd1929fb4d6f" /><Relationship Type="http://schemas.openxmlformats.org/officeDocument/2006/relationships/notesMaster" Target="/ppt/notesMasters/notesMaster1.xml" Id="R77328ced986546a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cc173d14a424f5c" /><Relationship Type="http://schemas.openxmlformats.org/officeDocument/2006/relationships/notesMaster" Target="/ppt/notesMasters/notesMaster1.xml" Id="R45c744b9951c44d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e63e97fbccd4fec" /><Relationship Type="http://schemas.openxmlformats.org/officeDocument/2006/relationships/notesMaster" Target="/ppt/notesMasters/notesMaster1.xml" Id="R834aa6f9902b4c4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67e4df33dfd4c08" /><Relationship Type="http://schemas.openxmlformats.org/officeDocument/2006/relationships/notesMaster" Target="/ppt/notesMasters/notesMaster1.xml" Id="Rd163a80e8d9549f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42f4cee22c24816" /><Relationship Type="http://schemas.openxmlformats.org/officeDocument/2006/relationships/notesMaster" Target="/ppt/notesMasters/notesMaster1.xml" Id="R629996412aba4e4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7fc1f9d124047fb" /><Relationship Type="http://schemas.openxmlformats.org/officeDocument/2006/relationships/notesMaster" Target="/ppt/notesMasters/notesMaster1.xml" Id="Rb76d97a61a9948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Say nothing — let the slide sit 5 seconds while the audience settles.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SAY: "We know LLMs discriminate in hiring. But every existing study stops at the output. We wanted to go inside the model and find the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A short story enters the model. Its words are transformed into a high-dimensional activation. We cannot draw thousands of dimensions directly, so we represent that activation as a point and a direction inside an abstract internal 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A short story enters the model. Its words are transformed into a high-dimensional activation. We cannot draw thousands of dimensions directly, so we represent that activation as a point and a direction inside an abstract internal 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A short story enters the model. Its words are transformed into a high-dimensional activation. We cannot draw thousands of dimensions directly, so we represent that activation as a point and a direction inside an abstract internal 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A short story enters the model. Its words are transformed into a high-dimensional activation. We cannot draw thousands of dimensions directly, so we represent that activation as a point and a direction inside an abstract internal 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Anthropic showed that abstract emotion concepts can be recovered as linear directions in this space. We can compare the model’s current activation with directions such as joy, fear, and sadness. In this example, the story aligns most strongly with fear. This does not mean the model feels fear; it means the model represents the concept in a measurable way. If emotions form directions, social concepts such as warmth and competence may form directions too.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Anthropic showed that abstract emotion concepts can be recovered as linear directions in this space. We can compare the model’s current activation with directions such as joy, fear, and sadness. In this example, the story aligns most strongly with fear. This does not mean the model feels fear; it means the model represents the concept in a measurable way. If emotions form directions, social concepts such as warmth and competence may form directions too.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Anthropic showed that abstract emotion concepts can be recovered as linear directions in this space. We can compare the model’s current activation with directions such as joy, fear, and sadness. In this example, the story aligns most strongly with fear. This does not mean the model feels fear; it means the model represents the concept in a measurable way. If emotions form directions, social concepts such as warmth and competence may form directions too.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Anthropic showed that abstract emotion concepts can be recovered as linear directions in this space. We can compare the model’s current activation with directions such as joy, fear, and sadness. In this example, the story aligns most strongly with fear. This does not mean the model feels fear; it means the model represents the concept in a measurable way. If emotions form directions, social concepts such as warmth and competence may form directions too.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SAY: "We ran stories through the model, took internal activations at one layer, and computed the mean difference between conditions. That gives us a direction vector for warmth. We then test whether it generalizes to entirely new topics the model has never seen."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SAY: "The probe generalizes to new topics never seen during training. And four models from three companies all agree on which stories are warm or cold — strong evidence this is in the training data, not one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SAY: "This is the causal test. We inject the warmth direction directly while the model reads a resume. Every single name crosses the decision boundary. At 27B the effect reverses at higher strength — the causal pathway is fragile at larger scale."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REVEAL HUMAN BENCHMARK FIRST, then model results.</a:t>
            </a:r>
          </a:p>
          <a:p xmlns:a="http://schemas.openxmlformats.org/drawingml/2006/main">
            <a:pPr>
              <a:buNone/>
            </a:pPr>
            <a:r>
              <a:t>SAY: "None of the models reproduce the human racial discrimination pattern. All favor Black-signalling names — the opposite. At 27B the gap is more than 1 SD. The model is not a faithful copy of human prejudice. It is a differently biased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[Optional — use if time allows]</a:t>
            </a:r>
          </a:p>
          <a:p xmlns:a="http://schemas.openxmlformats.org/drawingml/2006/main">
            <a:pPr>
              <a:buNone/>
            </a:pPr>
            <a:r>
              <a:t>SAY: "The model easiest to steer via direct intervention is not the model where the representation naturally governs the decision. Steering measures causal sensitivity to an external push. Mediation measures whether the natural activation propagates to the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SAY: "The contribution is methodological as well as empirical. We connected mechanistic interpretability to the correspondence study tradition, and the combination reveals something that neither approach would find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efe409f3f644e3" /></Relationships>
</file>

<file path=ppt/slideLayouts/slideLayout1.xml><?xml version="1.0" encoding="utf-8"?>
<p:sldLayout xmlns:p="http://schemas.openxmlformats.org/presentationml/2006/main" showMasterSp="1" showMasterPhAnim="1">
  <p:cSld name="DEFAULT">
    <p:spTree>
      <p:nvGrpSpPr>
        <p:cNvPr id="1" name=""/>
        <p:cNvGrpSpPr/>
        <p:nvPr/>
      </p:nvGrpSpPr>
      <p:grpSpPr>
        <a:xfrm xmlns:a="http://schemas.openxmlformats.org/drawingml/2006/main"/>
      </p:grpSpPr>
      <p:sp>
        <p:nvSpPr>
          <p:cNvPr id="11" name="Slide Number">
            <a:extLst xmlns:a="http://schemas.openxmlformats.org/drawingml/2006/main">
              <a:ext uri="{FF2B5EF4-FFF2-40B4-BE49-F238E27FC236}">
                <a16:creationId xmlns:a16="http://schemas.microsoft.com/office/drawing/2014/main" id="{8AEF9EEC-73F3-4661-9AF7-E814A5F48EBA}"/>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acdfcfbd784ec9" /><Relationship Type="http://schemas.openxmlformats.org/officeDocument/2006/relationships/slideLayout" Target="/ppt/slideLayouts/slideLayout1.xml" Id="R6cc7a3285fad4438"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Text">
            <a:extLst xmlns:a="http://schemas.openxmlformats.org/drawingml/2006/main">
              <a:ext uri="{FF2B5EF4-FFF2-40B4-BE49-F238E27FC236}">
                <a16:creationId xmlns:a16="http://schemas.microsoft.com/office/drawing/2014/main" id="{7CC42209-ACFA-4CDD-926C-E2665078A6EC}"/>
              </a:ext>
            </a:extLst>
          </p:cNvPr>
          <p:cNvSpPr>
            <a:spLocks xmlns:a="http://schemas.openxmlformats.org/drawingml/2006/main" noGrp="1"/>
          </p:cNvSpPr>
          <p:nvPr>
            <p:ph type="title" idx="0"/>
          </p:nvPr>
        </p:nvSpPr>
        <p:spPr>
          <a:xfrm xmlns:a="http://schemas.openxmlformats.org/drawingml/2006/main">
            <a:off x="457200" y="69056"/>
            <a:ext cx="8229600" cy="1131094"/>
          </a:xfrm>
          <a:prstGeom xmlns:a="http://schemas.openxmlformats.org/drawingml/2006/main" prst="rect">
            <a:avLst/>
          </a:prstGeom>
          <a:ln xmlns:a="http://schemas.openxmlformats.org/drawingml/2006/main" w="12700"/>
        </p:spPr>
        <p:txBody>
          <a:bodyPr xmlns:a="http://schemas.openxmlformats.org/drawingml/2006/main" lIns="45719" rIns="45719" anchor="ctr"/>
          <a:lstStyle xmlns:a="http://schemas.openxmlformats.org/drawingml/2006/main"/>
          <a:p xmlns:a="http://schemas.openxmlformats.org/drawingml/2006/main">
            <a:pPr>
              <a:buNone/>
            </a:pPr>
            <a:r>
              <a:t>Title Text</a:t>
            </a:r>
          </a:p>
        </p:txBody>
      </p:sp>
      <p:sp>
        <p:nvSpPr>
          <p:cNvPr id="3" name="Body Level One…">
            <a:extLst xmlns:a="http://schemas.openxmlformats.org/drawingml/2006/main">
              <a:ext uri="{FF2B5EF4-FFF2-40B4-BE49-F238E27FC236}">
                <a16:creationId xmlns:a16="http://schemas.microsoft.com/office/drawing/2014/main" id="{D6E1D9A2-548A-4C86-AF7F-190673A4DBA6}"/>
              </a:ext>
            </a:extLst>
          </p:cNvPr>
          <p:cNvSpPr>
            <a:spLocks xmlns:a="http://schemas.openxmlformats.org/drawingml/2006/main" noGrp="1"/>
          </p:cNvSpPr>
          <p:nvPr>
            <p:ph type="body" idx="1"/>
          </p:nvPr>
        </p:nvSpPr>
        <p:spPr>
          <a:xfrm xmlns:a="http://schemas.openxmlformats.org/drawingml/2006/main">
            <a:off x="457200" y="1200150"/>
            <a:ext cx="8229600" cy="3943350"/>
          </a:xfrm>
          <a:prstGeom xmlns:a="http://schemas.openxmlformats.org/drawingml/2006/main" prst="rect">
            <a:avLst/>
          </a:prstGeom>
          <a:ln xmlns:a="http://schemas.openxmlformats.org/drawingml/2006/main" w="12700"/>
        </p:spPr>
        <p:txBody>
          <a:bodyPr xmlns:a="http://schemas.openxmlformats.org/drawingml/2006/main" lIns="45719" rIns="45719"/>
          <a:lstStyle xmlns:a="http://schemas.openxmlformats.org/drawingml/2006/main"/>
          <a:p xmlns:a="http://schemas.openxmlformats.org/drawingml/2006/main">
            <a:pPr>
              <a:buNone/>
            </a:pPr>
            <a:r>
              <a:t>Body Level One</a:t>
            </a:r>
          </a:p>
          <a:p xmlns:a="http://schemas.openxmlformats.org/drawingml/2006/main">
            <a:pPr>
              <a:buNone/>
            </a:pPr>
            <a:r>
              <a:t>Body Level Two</a:t>
            </a:r>
          </a:p>
          <a:p xmlns:a="http://schemas.openxmlformats.org/drawingml/2006/main">
            <a:pPr>
              <a:buNone/>
            </a:pPr>
            <a:r>
              <a:t>Body Level Three</a:t>
            </a:r>
          </a:p>
          <a:p xmlns:a="http://schemas.openxmlformats.org/drawingml/2006/main">
            <a:pPr>
              <a:buNone/>
            </a:pPr>
            <a:r>
              <a:t>Body Level Four</a:t>
            </a:r>
          </a:p>
          <a:p xmlns:a="http://schemas.openxmlformats.org/drawingml/2006/main">
            <a:pPr>
              <a:buNone/>
            </a:pPr>
            <a:r>
              <a:t>Body Level Five</a:t>
            </a:r>
          </a:p>
        </p:txBody>
      </p:sp>
      <p:sp>
        <p:nvSpPr>
          <p:cNvPr id="4" name="Slide Number">
            <a:extLst xmlns:a="http://schemas.openxmlformats.org/drawingml/2006/main">
              <a:ext uri="{FF2B5EF4-FFF2-40B4-BE49-F238E27FC236}">
                <a16:creationId xmlns:a16="http://schemas.microsoft.com/office/drawing/2014/main" id="{376B3F1E-E71A-497C-8C80-1B6D71D39D04}"/>
              </a:ext>
            </a:extLst>
          </p:cNvPr>
          <p:cNvSpPr>
            <a:spLocks xmlns:a="http://schemas.openxmlformats.org/drawingml/2006/main" noGrp="1"/>
          </p:cNvSpPr>
          <p:nvPr>
            <p:ph type="sldNum" idx="2"/>
          </p:nvPr>
        </p:nvSpPr>
        <p:spPr>
          <a:xfrm xmlns:a="http://schemas.openxmlformats.org/drawingml/2006/main">
            <a:off x="4419600" y="4627562"/>
            <a:ext cx="2133600" cy="279401"/>
          </a:xfrm>
          <a:prstGeom xmlns:a="http://schemas.openxmlformats.org/drawingml/2006/main" prst="rect">
            <a:avLst/>
          </a:prstGeom>
          <a:ln xmlns:a="http://schemas.openxmlformats.org/drawingml/2006/main" w="12700"/>
        </p:spPr>
        <p:txBody>
          <a:bodyPr xmlns:a="http://schemas.openxmlformats.org/drawingml/2006/main" wrap="none" lIns="45719" rIns="45719" anchor="ctr">
            <a:spAutoFit/>
          </a:bodyPr>
          <a:lstStyle xmlns:a="http://schemas.openxmlformats.org/drawingml/2006/main">
            <a:lvl1pPr algn="r">
              <a:buNone/>
              <a:defRPr sz="1200"/>
            </a:lvl1pPr>
          </a:lstStyle>
          <a:p xmlns:a="http://schemas.openxmlformats.org/drawingml/2006/main">
            <a:pPr>
              <a:buNone/>
            </a:p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c7a3285fad4438"/>
  </p:sldLayoutIdLst>
  <p:txStyles>
    <p:titleStyle>
      <a:lvl1pPr xmlns:a="http://schemas.openxmlformats.org/drawingml/2006/main" marL="0" indent="0" algn="ctr">
        <a:lnSpc>
          <a:spcPct val="100000"/>
        </a:lnSpc>
        <a:spcBef>
          <a:spcPts val="0"/>
        </a:spcBef>
        <a:spcAft>
          <a:spcPts val="0"/>
        </a:spcAft>
        <a:buNone/>
        <a:defRPr sz="4400" b="0" i="0" u="none" cap="none" spc="0">
          <a:solidFill>
            <a:srgbClr val="000000"/>
          </a:solidFill>
          <a:latin typeface="Calibri Light"/>
          <a:ea typeface="Calibri Light"/>
          <a:cs typeface="Calibri Light"/>
        </a:defRPr>
      </a:lvl1pPr>
      <a:lvl2pPr xmlns:a="http://schemas.openxmlformats.org/drawingml/2006/main" marL="0" indent="0" algn="ctr">
        <a:lnSpc>
          <a:spcPct val="100000"/>
        </a:lnSpc>
        <a:spcBef>
          <a:spcPts val="0"/>
        </a:spcBef>
        <a:spcAft>
          <a:spcPts val="0"/>
        </a:spcAft>
        <a:buNone/>
        <a:defRPr sz="4400" b="0" i="0" u="none" cap="none" spc="0">
          <a:solidFill>
            <a:srgbClr val="000000"/>
          </a:solidFill>
          <a:latin typeface="Calibri Light"/>
          <a:ea typeface="Calibri Light"/>
          <a:cs typeface="Calibri Light"/>
        </a:defRPr>
      </a:lvl2pPr>
      <a:lvl3pPr xmlns:a="http://schemas.openxmlformats.org/drawingml/2006/main" marL="0" indent="0" algn="ctr">
        <a:lnSpc>
          <a:spcPct val="100000"/>
        </a:lnSpc>
        <a:spcBef>
          <a:spcPts val="0"/>
        </a:spcBef>
        <a:spcAft>
          <a:spcPts val="0"/>
        </a:spcAft>
        <a:buNone/>
        <a:defRPr sz="4400" b="0" i="0" u="none" cap="none" spc="0">
          <a:solidFill>
            <a:srgbClr val="000000"/>
          </a:solidFill>
          <a:latin typeface="Calibri Light"/>
          <a:ea typeface="Calibri Light"/>
          <a:cs typeface="Calibri Light"/>
        </a:defRPr>
      </a:lvl3pPr>
      <a:lvl4pPr xmlns:a="http://schemas.openxmlformats.org/drawingml/2006/main" marL="0" indent="0" algn="ctr">
        <a:lnSpc>
          <a:spcPct val="100000"/>
        </a:lnSpc>
        <a:spcBef>
          <a:spcPts val="0"/>
        </a:spcBef>
        <a:spcAft>
          <a:spcPts val="0"/>
        </a:spcAft>
        <a:buNone/>
        <a:defRPr sz="4400" b="0" i="0" u="none" cap="none" spc="0">
          <a:solidFill>
            <a:srgbClr val="000000"/>
          </a:solidFill>
          <a:latin typeface="Calibri Light"/>
          <a:ea typeface="Calibri Light"/>
          <a:cs typeface="Calibri Light"/>
        </a:defRPr>
      </a:lvl4pPr>
      <a:lvl5pPr xmlns:a="http://schemas.openxmlformats.org/drawingml/2006/main" marL="0" indent="0" algn="ctr">
        <a:lnSpc>
          <a:spcPct val="100000"/>
        </a:lnSpc>
        <a:spcBef>
          <a:spcPts val="0"/>
        </a:spcBef>
        <a:spcAft>
          <a:spcPts val="0"/>
        </a:spcAft>
        <a:buNone/>
        <a:defRPr sz="4400" b="0" i="0" u="none" cap="none" spc="0">
          <a:solidFill>
            <a:srgbClr val="000000"/>
          </a:solidFill>
          <a:latin typeface="Calibri Light"/>
          <a:ea typeface="Calibri Light"/>
          <a:cs typeface="Calibri Light"/>
        </a:defRPr>
      </a:lvl5pPr>
      <a:lvl6pPr xmlns:a="http://schemas.openxmlformats.org/drawingml/2006/main" marL="0" indent="0" algn="ctr">
        <a:lnSpc>
          <a:spcPct val="100000"/>
        </a:lnSpc>
        <a:spcBef>
          <a:spcPts val="0"/>
        </a:spcBef>
        <a:spcAft>
          <a:spcPts val="0"/>
        </a:spcAft>
        <a:buNone/>
        <a:defRPr sz="4400" b="0" i="0" u="none" cap="none" spc="0">
          <a:solidFill>
            <a:srgbClr val="000000"/>
          </a:solidFill>
          <a:latin typeface="Calibri Light"/>
          <a:ea typeface="Calibri Light"/>
          <a:cs typeface="Calibri Light"/>
        </a:defRPr>
      </a:lvl6pPr>
      <a:lvl7pPr xmlns:a="http://schemas.openxmlformats.org/drawingml/2006/main" marL="0" indent="0" algn="ctr">
        <a:lnSpc>
          <a:spcPct val="100000"/>
        </a:lnSpc>
        <a:spcBef>
          <a:spcPts val="0"/>
        </a:spcBef>
        <a:spcAft>
          <a:spcPts val="0"/>
        </a:spcAft>
        <a:buNone/>
        <a:defRPr sz="4400" b="0" i="0" u="none" cap="none" spc="0">
          <a:solidFill>
            <a:srgbClr val="000000"/>
          </a:solidFill>
          <a:latin typeface="Calibri Light"/>
          <a:ea typeface="Calibri Light"/>
          <a:cs typeface="Calibri Light"/>
        </a:defRPr>
      </a:lvl7pPr>
      <a:lvl8pPr xmlns:a="http://schemas.openxmlformats.org/drawingml/2006/main" marL="0" indent="0" algn="ctr">
        <a:lnSpc>
          <a:spcPct val="100000"/>
        </a:lnSpc>
        <a:spcBef>
          <a:spcPts val="0"/>
        </a:spcBef>
        <a:spcAft>
          <a:spcPts val="0"/>
        </a:spcAft>
        <a:buNone/>
        <a:defRPr sz="4400" b="0" i="0" u="none" cap="none" spc="0">
          <a:solidFill>
            <a:srgbClr val="000000"/>
          </a:solidFill>
          <a:latin typeface="Calibri Light"/>
          <a:ea typeface="Calibri Light"/>
          <a:cs typeface="Calibri Light"/>
        </a:defRPr>
      </a:lvl8pPr>
      <a:lvl9pPr xmlns:a="http://schemas.openxmlformats.org/drawingml/2006/main" marL="0" indent="0" algn="ctr">
        <a:lnSpc>
          <a:spcPct val="100000"/>
        </a:lnSpc>
        <a:spcBef>
          <a:spcPts val="0"/>
        </a:spcBef>
        <a:spcAft>
          <a:spcPts val="0"/>
        </a:spcAft>
        <a:buNone/>
        <a:defRPr sz="4400" b="0" i="0" u="none" cap="none" spc="0">
          <a:solidFill>
            <a:srgbClr val="000000"/>
          </a:solidFill>
          <a:latin typeface="Calibri Light"/>
          <a:ea typeface="Calibri Light"/>
          <a:cs typeface="Calibri Light"/>
        </a:defRPr>
      </a:lvl9pPr>
    </p:titleStyle>
    <p:bodyStyle>
      <a:lvl1pPr xmlns:a="http://schemas.openxmlformats.org/drawingml/2006/main" marL="342900" indent="-342900" algn="l">
        <a:lnSpc>
          <a:spcPct val="100000"/>
        </a:lnSpc>
        <a:spcBef>
          <a:spcPts val="0"/>
        </a:spcBef>
        <a:spcAft>
          <a:spcPts val="0"/>
        </a:spcAft>
        <a:buChar char="•"/>
        <a:defRPr sz="3200" b="0" i="0" u="none" cap="none" spc="0">
          <a:solidFill>
            <a:srgbClr val="000000"/>
          </a:solidFill>
          <a:latin typeface="Calibri"/>
          <a:ea typeface="Calibri"/>
          <a:cs typeface="Calibri"/>
        </a:defRPr>
      </a:lvl1pPr>
      <a:lvl2pPr xmlns:a="http://schemas.openxmlformats.org/drawingml/2006/main" marL="783771" indent="-326571" algn="l">
        <a:lnSpc>
          <a:spcPct val="100000"/>
        </a:lnSpc>
        <a:spcBef>
          <a:spcPts val="0"/>
        </a:spcBef>
        <a:spcAft>
          <a:spcPts val="0"/>
        </a:spcAft>
        <a:buChar char="–"/>
        <a:defRPr sz="3200" b="0" i="0" u="none" cap="none" spc="0">
          <a:solidFill>
            <a:srgbClr val="000000"/>
          </a:solidFill>
          <a:latin typeface="Calibri"/>
          <a:ea typeface="Calibri"/>
          <a:cs typeface="Calibri"/>
        </a:defRPr>
      </a:lvl2pPr>
      <a:lvl3pPr xmlns:a="http://schemas.openxmlformats.org/drawingml/2006/main" marL="1219200" indent="-304800" algn="l">
        <a:lnSpc>
          <a:spcPct val="100000"/>
        </a:lnSpc>
        <a:spcBef>
          <a:spcPts val="0"/>
        </a:spcBef>
        <a:spcAft>
          <a:spcPts val="0"/>
        </a:spcAft>
        <a:buChar char="•"/>
        <a:defRPr sz="3200" b="0" i="0" u="none" cap="none" spc="0">
          <a:solidFill>
            <a:srgbClr val="000000"/>
          </a:solidFill>
          <a:latin typeface="Calibri"/>
          <a:ea typeface="Calibri"/>
          <a:cs typeface="Calibri"/>
        </a:defRPr>
      </a:lvl3pPr>
      <a:lvl4pPr xmlns:a="http://schemas.openxmlformats.org/drawingml/2006/main" marL="1737360" indent="-365760" algn="l">
        <a:lnSpc>
          <a:spcPct val="100000"/>
        </a:lnSpc>
        <a:spcBef>
          <a:spcPts val="0"/>
        </a:spcBef>
        <a:spcAft>
          <a:spcPts val="0"/>
        </a:spcAft>
        <a:buChar char="–"/>
        <a:defRPr sz="3200" b="0" i="0" u="none" cap="none" spc="0">
          <a:solidFill>
            <a:srgbClr val="000000"/>
          </a:solidFill>
          <a:latin typeface="Calibri"/>
          <a:ea typeface="Calibri"/>
          <a:cs typeface="Calibri"/>
        </a:defRPr>
      </a:lvl4pPr>
      <a:lvl5pPr xmlns:a="http://schemas.openxmlformats.org/drawingml/2006/main" marL="2194560" indent="-365760" algn="l">
        <a:lnSpc>
          <a:spcPct val="100000"/>
        </a:lnSpc>
        <a:spcBef>
          <a:spcPts val="0"/>
        </a:spcBef>
        <a:spcAft>
          <a:spcPts val="0"/>
        </a:spcAft>
        <a:buChar char="»"/>
        <a:defRPr sz="3200" b="0" i="0" u="none" cap="none" spc="0">
          <a:solidFill>
            <a:srgbClr val="000000"/>
          </a:solidFill>
          <a:latin typeface="Calibri"/>
          <a:ea typeface="Calibri"/>
          <a:cs typeface="Calibri"/>
        </a:defRPr>
      </a:lvl5pPr>
      <a:lvl6pPr xmlns:a="http://schemas.openxmlformats.org/drawingml/2006/main" marL="2651760" indent="-365760" algn="l">
        <a:lnSpc>
          <a:spcPct val="100000"/>
        </a:lnSpc>
        <a:spcBef>
          <a:spcPts val="0"/>
        </a:spcBef>
        <a:spcAft>
          <a:spcPts val="0"/>
        </a:spcAft>
        <a:buChar char="•"/>
        <a:defRPr sz="3200" b="0" i="0" u="none" cap="none" spc="0">
          <a:solidFill>
            <a:srgbClr val="000000"/>
          </a:solidFill>
          <a:latin typeface="Calibri"/>
          <a:ea typeface="Calibri"/>
          <a:cs typeface="Calibri"/>
        </a:defRPr>
      </a:lvl6pPr>
      <a:lvl7pPr xmlns:a="http://schemas.openxmlformats.org/drawingml/2006/main" marL="3108960" indent="-365760" algn="l">
        <a:lnSpc>
          <a:spcPct val="100000"/>
        </a:lnSpc>
        <a:spcBef>
          <a:spcPts val="0"/>
        </a:spcBef>
        <a:spcAft>
          <a:spcPts val="0"/>
        </a:spcAft>
        <a:buChar char="•"/>
        <a:defRPr sz="3200" b="0" i="0" u="none" cap="none" spc="0">
          <a:solidFill>
            <a:srgbClr val="000000"/>
          </a:solidFill>
          <a:latin typeface="Calibri"/>
          <a:ea typeface="Calibri"/>
          <a:cs typeface="Calibri"/>
        </a:defRPr>
      </a:lvl7pPr>
      <a:lvl8pPr xmlns:a="http://schemas.openxmlformats.org/drawingml/2006/main" marL="3566159" indent="-365759" algn="l">
        <a:lnSpc>
          <a:spcPct val="100000"/>
        </a:lnSpc>
        <a:spcBef>
          <a:spcPts val="0"/>
        </a:spcBef>
        <a:spcAft>
          <a:spcPts val="0"/>
        </a:spcAft>
        <a:buChar char="•"/>
        <a:defRPr sz="3200" b="0" i="0" u="none" cap="none" spc="0">
          <a:solidFill>
            <a:srgbClr val="000000"/>
          </a:solidFill>
          <a:latin typeface="Calibri"/>
          <a:ea typeface="Calibri"/>
          <a:cs typeface="Calibri"/>
        </a:defRPr>
      </a:lvl8pPr>
      <a:lvl9pPr xmlns:a="http://schemas.openxmlformats.org/drawingml/2006/main" marL="4023359" indent="-365759" algn="l">
        <a:lnSpc>
          <a:spcPct val="100000"/>
        </a:lnSpc>
        <a:spcBef>
          <a:spcPts val="0"/>
        </a:spcBef>
        <a:spcAft>
          <a:spcPts val="0"/>
        </a:spcAft>
        <a:buChar char="•"/>
        <a:defRPr sz="3200" b="0" i="0" u="none" cap="none" spc="0">
          <a:solidFill>
            <a:srgbClr val="000000"/>
          </a:solidFill>
          <a:latin typeface="Calibri"/>
          <a:ea typeface="Calibri"/>
          <a:cs typeface="Calibri"/>
        </a:defRPr>
      </a:lvl9pPr>
    </p:bodyStyle>
    <p:otherStyle>
      <a:lvl1pPr xmlns:a="http://schemas.openxmlformats.org/drawingml/2006/main" marL="0" indent="0" algn="r">
        <a:lnSpc>
          <a:spcPct val="100000"/>
        </a:lnSpc>
        <a:spcBef>
          <a:spcPts val="0"/>
        </a:spcBef>
        <a:spcAft>
          <a:spcPts val="0"/>
        </a:spcAft>
        <a:buNone/>
        <a:defRPr sz="1200" b="0" i="0" u="none" cap="none" spc="0">
          <a:solidFill>
            <a:schemeClr val="tx1"/>
          </a:solidFill>
          <a:latin typeface="+mn-lt"/>
          <a:ea typeface="+mn-lt"/>
          <a:cs typeface="+mn-lt"/>
        </a:defRPr>
      </a:lvl1pPr>
      <a:lvl2pPr xmlns:a="http://schemas.openxmlformats.org/drawingml/2006/main" marL="0" indent="457200" algn="r">
        <a:lnSpc>
          <a:spcPct val="100000"/>
        </a:lnSpc>
        <a:spcBef>
          <a:spcPts val="0"/>
        </a:spcBef>
        <a:spcAft>
          <a:spcPts val="0"/>
        </a:spcAft>
        <a:buNone/>
        <a:defRPr sz="1200" b="0" i="0" u="none" cap="none" spc="0">
          <a:solidFill>
            <a:schemeClr val="tx1"/>
          </a:solidFill>
          <a:latin typeface="+mn-lt"/>
          <a:ea typeface="+mn-lt"/>
          <a:cs typeface="+mn-lt"/>
        </a:defRPr>
      </a:lvl2pPr>
      <a:lvl3pPr xmlns:a="http://schemas.openxmlformats.org/drawingml/2006/main" marL="0" indent="914400" algn="r">
        <a:lnSpc>
          <a:spcPct val="100000"/>
        </a:lnSpc>
        <a:spcBef>
          <a:spcPts val="0"/>
        </a:spcBef>
        <a:spcAft>
          <a:spcPts val="0"/>
        </a:spcAft>
        <a:buNone/>
        <a:defRPr sz="1200" b="0" i="0" u="none" cap="none" spc="0">
          <a:solidFill>
            <a:schemeClr val="tx1"/>
          </a:solidFill>
          <a:latin typeface="+mn-lt"/>
          <a:ea typeface="+mn-lt"/>
          <a:cs typeface="+mn-lt"/>
        </a:defRPr>
      </a:lvl3pPr>
      <a:lvl4pPr xmlns:a="http://schemas.openxmlformats.org/drawingml/2006/main" marL="0" indent="1371600" algn="r">
        <a:lnSpc>
          <a:spcPct val="100000"/>
        </a:lnSpc>
        <a:spcBef>
          <a:spcPts val="0"/>
        </a:spcBef>
        <a:spcAft>
          <a:spcPts val="0"/>
        </a:spcAft>
        <a:buNone/>
        <a:defRPr sz="1200" b="0" i="0" u="none" cap="none" spc="0">
          <a:solidFill>
            <a:schemeClr val="tx1"/>
          </a:solidFill>
          <a:latin typeface="+mn-lt"/>
          <a:ea typeface="+mn-lt"/>
          <a:cs typeface="+mn-lt"/>
        </a:defRPr>
      </a:lvl4pPr>
      <a:lvl5pPr xmlns:a="http://schemas.openxmlformats.org/drawingml/2006/main" marL="0" indent="1828800" algn="r">
        <a:lnSpc>
          <a:spcPct val="100000"/>
        </a:lnSpc>
        <a:spcBef>
          <a:spcPts val="0"/>
        </a:spcBef>
        <a:spcAft>
          <a:spcPts val="0"/>
        </a:spcAft>
        <a:buNone/>
        <a:defRPr sz="1200" b="0" i="0" u="none" cap="none" spc="0">
          <a:solidFill>
            <a:schemeClr val="tx1"/>
          </a:solidFill>
          <a:latin typeface="+mn-lt"/>
          <a:ea typeface="+mn-lt"/>
          <a:cs typeface="+mn-lt"/>
        </a:defRPr>
      </a:lvl5pPr>
      <a:lvl6pPr xmlns:a="http://schemas.openxmlformats.org/drawingml/2006/main" marL="0" indent="2286000" algn="r">
        <a:lnSpc>
          <a:spcPct val="100000"/>
        </a:lnSpc>
        <a:spcBef>
          <a:spcPts val="0"/>
        </a:spcBef>
        <a:spcAft>
          <a:spcPts val="0"/>
        </a:spcAft>
        <a:buNone/>
        <a:defRPr sz="1200" b="0" i="0" u="none" cap="none" spc="0">
          <a:solidFill>
            <a:schemeClr val="tx1"/>
          </a:solidFill>
          <a:latin typeface="+mn-lt"/>
          <a:ea typeface="+mn-lt"/>
          <a:cs typeface="+mn-lt"/>
        </a:defRPr>
      </a:lvl6pPr>
      <a:lvl7pPr xmlns:a="http://schemas.openxmlformats.org/drawingml/2006/main" marL="0" indent="2743200" algn="r">
        <a:lnSpc>
          <a:spcPct val="100000"/>
        </a:lnSpc>
        <a:spcBef>
          <a:spcPts val="0"/>
        </a:spcBef>
        <a:spcAft>
          <a:spcPts val="0"/>
        </a:spcAft>
        <a:buNone/>
        <a:defRPr sz="1200" b="0" i="0" u="none" cap="none" spc="0">
          <a:solidFill>
            <a:schemeClr val="tx1"/>
          </a:solidFill>
          <a:latin typeface="+mn-lt"/>
          <a:ea typeface="+mn-lt"/>
          <a:cs typeface="+mn-lt"/>
        </a:defRPr>
      </a:lvl7pPr>
      <a:lvl8pPr xmlns:a="http://schemas.openxmlformats.org/drawingml/2006/main" marL="0" indent="3200400" algn="r">
        <a:lnSpc>
          <a:spcPct val="100000"/>
        </a:lnSpc>
        <a:spcBef>
          <a:spcPts val="0"/>
        </a:spcBef>
        <a:spcAft>
          <a:spcPts val="0"/>
        </a:spcAft>
        <a:buNone/>
        <a:defRPr sz="1200" b="0" i="0" u="none" cap="none" spc="0">
          <a:solidFill>
            <a:schemeClr val="tx1"/>
          </a:solidFill>
          <a:latin typeface="+mn-lt"/>
          <a:ea typeface="+mn-lt"/>
          <a:cs typeface="+mn-lt"/>
        </a:defRPr>
      </a:lvl8pPr>
      <a:lvl9pPr xmlns:a="http://schemas.openxmlformats.org/drawingml/2006/main" marL="0" indent="3657600" algn="r">
        <a:lnSpc>
          <a:spcPct val="100000"/>
        </a:lnSpc>
        <a:spcBef>
          <a:spcPts val="0"/>
        </a:spcBef>
        <a:spcAft>
          <a:spcPts val="0"/>
        </a:spcAft>
        <a:buNone/>
        <a:defRPr sz="1200" b="0" i="0" u="none" cap="none" spc="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Neue"/>
        <a:ea typeface="Helvetica Neue"/>
        <a:cs typeface="Helvetica Neue"/>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2b534f88a734a41" /><Relationship Type="http://schemas.openxmlformats.org/officeDocument/2006/relationships/notesSlide" Target="/ppt/notesSlides/notesSlide1.xml" Id="Ref64ea04f3824d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12d2e6770f4f20" /><Relationship Type="http://schemas.openxmlformats.org/officeDocument/2006/relationships/notesSlide" Target="/ppt/notesSlides/notesSlide2.xml" Id="R9686038617db40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d35c365b3f846a1" /><Relationship Type="http://schemas.openxmlformats.org/officeDocument/2006/relationships/notesSlide" Target="/ppt/notesSlides/notesSlide3.xml" Id="R0982501db65c4d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402a4aeb1054a97" /><Relationship Type="http://schemas.openxmlformats.org/officeDocument/2006/relationships/notesSlide" Target="/ppt/notesSlides/notesSlide4.xml" Id="R20bfe188edab45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91f601343174264" /><Relationship Type="http://schemas.openxmlformats.org/officeDocument/2006/relationships/notesSlide" Target="/ppt/notesSlides/notesSlide5.xml" Id="R08cb8f3713fa4e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b713bebaee24c6e" /><Relationship Type="http://schemas.openxmlformats.org/officeDocument/2006/relationships/notesSlide" Target="/ppt/notesSlides/notesSlide6.xml" Id="Re08c78f6264241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c7b94639c2549e4" /><Relationship Type="http://schemas.openxmlformats.org/officeDocument/2006/relationships/notesSlide" Target="/ppt/notesSlides/notesSlide7.xml" Id="Rde69b0c5d35249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1786e84a9d94f2d" /><Relationship Type="http://schemas.openxmlformats.org/officeDocument/2006/relationships/notesSlide" Target="/ppt/notesSlides/notesSlide8.xml" Id="R27455940562347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b7f46b512ab40da" /><Relationship Type="http://schemas.openxmlformats.org/officeDocument/2006/relationships/notesSlide" Target="/ppt/notesSlides/notesSlide9.xml" Id="R03675aeb058948e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61f112fc580429b" /><Relationship Type="http://schemas.openxmlformats.org/officeDocument/2006/relationships/notesSlide" Target="/ppt/notesSlides/notesSlide10.xml" Id="Rae88d07e6283444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60ea72ba5814813" /><Relationship Type="http://schemas.openxmlformats.org/officeDocument/2006/relationships/image" Target="/ppt/media/image.png" Id="Re9fe2d2156864b73" /><Relationship Type="http://schemas.openxmlformats.org/officeDocument/2006/relationships/notesSlide" Target="/ppt/notesSlides/notesSlide11.xml" Id="R45c7fd9390a14a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220434b35ef40b6" /><Relationship Type="http://schemas.openxmlformats.org/officeDocument/2006/relationships/image" Target="/ppt/media/image2.png" Id="Rb66691492f344d1c" /><Relationship Type="http://schemas.openxmlformats.org/officeDocument/2006/relationships/notesSlide" Target="/ppt/notesSlides/notesSlide12.xml" Id="R8d66365fd14f453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b6efe2679664b11" /><Relationship Type="http://schemas.openxmlformats.org/officeDocument/2006/relationships/image" Target="/ppt/media/image3.png" Id="R15bab6d648854a12" /><Relationship Type="http://schemas.openxmlformats.org/officeDocument/2006/relationships/notesSlide" Target="/ppt/notesSlides/notesSlide13.xml" Id="R264bc16a85af4ff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afdfb92a03e47ac" /><Relationship Type="http://schemas.openxmlformats.org/officeDocument/2006/relationships/image" Target="/ppt/media/image4.png" Id="Ra941012f17a84079" /><Relationship Type="http://schemas.openxmlformats.org/officeDocument/2006/relationships/notesSlide" Target="/ppt/notesSlides/notesSlide14.xml" Id="R75e7b1a15c0646d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c16a0ce40c4490b" /><Relationship Type="http://schemas.openxmlformats.org/officeDocument/2006/relationships/image" Target="/ppt/media/image5.png" Id="R90974483874c4b7f" /><Relationship Type="http://schemas.openxmlformats.org/officeDocument/2006/relationships/notesSlide" Target="/ppt/notesSlides/notesSlide15.xml" Id="R8eac063a768f475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6315c19d71147ac" /><Relationship Type="http://schemas.openxmlformats.org/officeDocument/2006/relationships/notesSlide" Target="/ppt/notesSlides/notesSlide16.xml" Id="R866bab2da0264620" /></Relationships>
</file>

<file path=ppt/slides/slide1.xml><?xml version="1.0" encoding="utf-8"?>
<p:sld xmlns:p="http://schemas.openxmlformats.org/presentationml/2006/main" showMasterSp="1">
  <p:cSld>
    <p:spTree>
      <p:nvGrpSpPr>
        <p:cNvPr id="1" name=""/>
        <p:cNvGrpSpPr/>
        <p:nvPr/>
      </p:nvGrpSpPr>
      <p:grpSpPr>
        <a:xfrm xmlns:a="http://schemas.openxmlformats.org/drawingml/2006/main"/>
      </p:grpSpPr>
      <p:sp>
        <p:nvSpPr>
          <p:cNvPr id="20" name="Shape 0">
            <a:extLst xmlns:a="http://schemas.openxmlformats.org/drawingml/2006/main">
              <a:ext uri="{FF2B5EF4-FFF2-40B4-BE49-F238E27FC236}">
                <a16:creationId xmlns:a16="http://schemas.microsoft.com/office/drawing/2014/main" id="{E45C7EB3-A53D-4541-A2A0-D5956063DD1B}"/>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1" name="Shape 1">
            <a:extLst xmlns:a="http://schemas.openxmlformats.org/drawingml/2006/main">
              <a:ext uri="{FF2B5EF4-FFF2-40B4-BE49-F238E27FC236}">
                <a16:creationId xmlns:a16="http://schemas.microsoft.com/office/drawing/2014/main" id="{1ADE1B42-6254-4650-A02A-2C1C97775A46}"/>
              </a:ext>
            </a:extLst>
          </p:cNvPr>
          <p:cNvSpPr>
            <a:spLocks xmlns:a="http://schemas.openxmlformats.org/drawingml/2006/main" noGrp="1"/>
          </p:cNvSpPr>
          <p:nvPr/>
        </p:nvSpPr>
        <p:spPr>
          <a:xfrm xmlns:a="http://schemas.openxmlformats.org/drawingml/2006/main">
            <a:off x="6400800" y="-822961"/>
            <a:ext cx="3840480" cy="3840481"/>
          </a:xfrm>
          <a:prstGeom xmlns:a="http://schemas.openxmlformats.org/drawingml/2006/main" prst="ellipse">
            <a:avLst/>
          </a:prstGeom>
          <a:solidFill xmlns:a="http://schemas.openxmlformats.org/drawingml/2006/main">
            <a:srgbClr val="4A9EBA">
              <a:alpha val="16000"/>
            </a:srgbClr>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2" name="Shape 2">
            <a:extLst xmlns:a="http://schemas.openxmlformats.org/drawingml/2006/main">
              <a:ext uri="{FF2B5EF4-FFF2-40B4-BE49-F238E27FC236}">
                <a16:creationId xmlns:a16="http://schemas.microsoft.com/office/drawing/2014/main" id="{00D91522-2F90-4FD8-B750-E2C7E3C9B025}"/>
              </a:ext>
            </a:extLst>
          </p:cNvPr>
          <p:cNvSpPr>
            <a:spLocks xmlns:a="http://schemas.openxmlformats.org/drawingml/2006/main" noGrp="1"/>
          </p:cNvSpPr>
          <p:nvPr/>
        </p:nvSpPr>
        <p:spPr>
          <a:xfrm xmlns:a="http://schemas.openxmlformats.org/drawingml/2006/main">
            <a:off x="7223759" y="2377439"/>
            <a:ext cx="2286001" cy="2286001"/>
          </a:xfrm>
          <a:prstGeom xmlns:a="http://schemas.openxmlformats.org/drawingml/2006/main" prst="ellipse">
            <a:avLst/>
          </a:prstGeom>
          <a:solidFill xmlns:a="http://schemas.openxmlformats.org/drawingml/2006/main">
            <a:srgbClr val="E07B54">
              <a:alpha val="13000"/>
            </a:srgbClr>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3" name="Text 3">
            <a:extLst xmlns:a="http://schemas.openxmlformats.org/drawingml/2006/main">
              <a:ext uri="{FF2B5EF4-FFF2-40B4-BE49-F238E27FC236}">
                <a16:creationId xmlns:a16="http://schemas.microsoft.com/office/drawing/2014/main" id="{21751731-E1A2-446B-88F7-6D241CAC51C5}"/>
              </a:ext>
            </a:extLst>
          </p:cNvPr>
          <p:cNvSpPr>
            <a:spLocks xmlns:a="http://schemas.openxmlformats.org/drawingml/2006/main" noGrp="1"/>
          </p:cNvSpPr>
          <p:nvPr/>
        </p:nvSpPr>
        <p:spPr>
          <a:xfrm xmlns:a="http://schemas.openxmlformats.org/drawingml/2006/main">
            <a:off x="502919" y="1188719"/>
            <a:ext cx="6400801" cy="13716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p xmlns:a="http://schemas.openxmlformats.org/drawingml/2006/main">
            <a:pPr>
              <a:buNone/>
              <a:defRPr sz="3000">
                <a:solidFill>
                  <a:srgbClr val="EEF2F7"/>
                </a:solidFill>
                <a:latin typeface="Cambria"/>
                <a:ea typeface="Cambria"/>
                <a:cs typeface="Cambria"/>
              </a:defRPr>
            </a:pPr>
            <a:r>
              <a:t>Probing Warmth and Competence</a:t>
            </a:r>
          </a:p>
          <a:p xmlns:a="http://schemas.openxmlformats.org/drawingml/2006/main">
            <a:pPr>
              <a:buNone/>
              <a:defRPr sz="3000">
                <a:solidFill>
                  <a:srgbClr val="EEF2F7"/>
                </a:solidFill>
                <a:latin typeface="Cambria"/>
                <a:ea typeface="Cambria"/>
                <a:cs typeface="Cambria"/>
              </a:defRPr>
            </a:pPr>
            <a:r>
              <a:t>Representations in LLM Hiring Decisions</a:t>
            </a:r>
          </a:p>
        </p:txBody>
      </p:sp>
      <p:sp>
        <p:nvSpPr>
          <p:cNvPr id="24" name="Text 4">
            <a:extLst xmlns:a="http://schemas.openxmlformats.org/drawingml/2006/main">
              <a:ext uri="{FF2B5EF4-FFF2-40B4-BE49-F238E27FC236}">
                <a16:creationId xmlns:a16="http://schemas.microsoft.com/office/drawing/2014/main" id="{D3616A73-CAF1-4B88-9B1E-AA5BCA9749D9}"/>
              </a:ext>
            </a:extLst>
          </p:cNvPr>
          <p:cNvSpPr>
            <a:spLocks xmlns:a="http://schemas.openxmlformats.org/drawingml/2006/main" noGrp="1"/>
          </p:cNvSpPr>
          <p:nvPr/>
        </p:nvSpPr>
        <p:spPr>
          <a:xfrm xmlns:a="http://schemas.openxmlformats.org/drawingml/2006/main">
            <a:off x="502919" y="2924241"/>
            <a:ext cx="5486401" cy="186557"/>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500">
                <a:solidFill>
                  <a:srgbClr val="4A9EBA"/>
                </a:solidFill>
              </a:defRPr>
            </a:lvl1pPr>
          </a:lstStyle>
          <a:p xmlns:a="http://schemas.openxmlformats.org/drawingml/2006/main">
            <a:pPr>
              <a:buNone/>
            </a:pPr>
            <a:r>
              <a:t>Emrecan Ulu  ·  Jorge Lastra Cerda</a:t>
            </a:r>
          </a:p>
        </p:txBody>
      </p:sp>
      <p:sp>
        <p:nvSpPr>
          <p:cNvPr id="25" name="Text 5">
            <a:extLst xmlns:a="http://schemas.openxmlformats.org/drawingml/2006/main">
              <a:ext uri="{FF2B5EF4-FFF2-40B4-BE49-F238E27FC236}">
                <a16:creationId xmlns:a16="http://schemas.microsoft.com/office/drawing/2014/main" id="{7C7961BD-1718-4664-B85E-FF9B1B89CC18}"/>
              </a:ext>
            </a:extLst>
          </p:cNvPr>
          <p:cNvSpPr>
            <a:spLocks xmlns:a="http://schemas.openxmlformats.org/drawingml/2006/main" noGrp="1"/>
          </p:cNvSpPr>
          <p:nvPr/>
        </p:nvSpPr>
        <p:spPr>
          <a:xfrm xmlns:a="http://schemas.openxmlformats.org/drawingml/2006/main">
            <a:off x="502919" y="3263323"/>
            <a:ext cx="5486401" cy="166762"/>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300">
                <a:solidFill>
                  <a:srgbClr val="8FA5BB"/>
                </a:solidFill>
              </a:defRPr>
            </a:lvl1pPr>
          </a:lstStyle>
          <a:p xmlns:a="http://schemas.openxmlformats.org/drawingml/2006/main">
            <a:pPr>
              <a:buNone/>
            </a:pPr>
            <a:r>
              <a:t>University of Konstanz</a:t>
            </a:r>
          </a:p>
        </p:txBody>
      </p:sp>
      <p:sp>
        <p:nvSpPr>
          <p:cNvPr id="26" name="Text 6">
            <a:extLst xmlns:a="http://schemas.openxmlformats.org/drawingml/2006/main">
              <a:ext uri="{FF2B5EF4-FFF2-40B4-BE49-F238E27FC236}">
                <a16:creationId xmlns:a16="http://schemas.microsoft.com/office/drawing/2014/main" id="{69AE2ECE-3124-4CBA-89F6-FAA935102670}"/>
              </a:ext>
            </a:extLst>
          </p:cNvPr>
          <p:cNvSpPr>
            <a:spLocks xmlns:a="http://schemas.openxmlformats.org/drawingml/2006/main" noGrp="1"/>
          </p:cNvSpPr>
          <p:nvPr/>
        </p:nvSpPr>
        <p:spPr>
          <a:xfrm xmlns:a="http://schemas.openxmlformats.org/drawingml/2006/main">
            <a:off x="502920" y="4722920"/>
            <a:ext cx="8138160" cy="137072"/>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000">
                <a:solidFill>
                  <a:srgbClr val="8FA5BB"/>
                </a:solidFill>
              </a:defRPr>
            </a:lvl1pPr>
          </a:lstStyle>
          <a:p xmlns:a="http://schemas.openxmlformats.org/drawingml/2006/main">
            <a:pPr>
              <a:buNone/>
            </a:pPr>
            <a:r>
              <a:t>Master's Seminar · Fairness and Collective Decision-Making in AI</a:t>
            </a:r>
          </a:p>
        </p:txBody>
      </p:sp>
    </p:spTree>
    <p:extLst>
      <p:ext uri="{BB962C8B-B14F-4D97-AF65-F5344CB8AC3E}">
        <p14:creationId xmlns:p14="http://schemas.microsoft.com/office/powerpoint/2010/main" val="847856286"/>
      </p:ext>
    </p:extLst>
  </p:cSld>
</p:sld>
</file>

<file path=ppt/slides/slide2.xml><?xml version="1.0" encoding="utf-8"?>
<p:sld xmlns:p="http://schemas.openxmlformats.org/presentationml/2006/main" showMasterSp="1">
  <p:cSld>
    <p:spTree>
      <p:nvGrpSpPr>
        <p:cNvPr id="1" name=""/>
        <p:cNvGrpSpPr/>
        <p:nvPr/>
      </p:nvGrpSpPr>
      <p:grpSpPr>
        <a:xfrm xmlns:a="http://schemas.openxmlformats.org/drawingml/2006/main"/>
      </p:grpSpPr>
      <p:sp>
        <p:nvSpPr>
          <p:cNvPr id="30" name="Shape 0">
            <a:extLst xmlns:a="http://schemas.openxmlformats.org/drawingml/2006/main">
              <a:ext uri="{FF2B5EF4-FFF2-40B4-BE49-F238E27FC236}">
                <a16:creationId xmlns:a16="http://schemas.microsoft.com/office/drawing/2014/main" id="{36055025-2C94-4956-BB6B-89951504578A}"/>
              </a:ext>
            </a:extLst>
          </p:cNvPr>
          <p:cNvSpPr>
            <a:spLocks xmlns:a="http://schemas.openxmlformats.org/drawingml/2006/main" noGrp="1"/>
          </p:cNvSpPr>
          <p:nvPr/>
        </p:nvSpPr>
        <p:spPr>
          <a:xfrm xmlns:a="http://schemas.openxmlformats.org/drawingml/2006/main">
            <a:off x="-126462" y="-94655"/>
            <a:ext cx="9396924" cy="5332810"/>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1" name="Text 1">
            <a:extLst xmlns:a="http://schemas.openxmlformats.org/drawingml/2006/main">
              <a:ext uri="{FF2B5EF4-FFF2-40B4-BE49-F238E27FC236}">
                <a16:creationId xmlns:a16="http://schemas.microsoft.com/office/drawing/2014/main" id="{18E3F8CD-011A-4D60-94F2-C3D08359AD2C}"/>
              </a:ext>
            </a:extLst>
          </p:cNvPr>
          <p:cNvSpPr>
            <a:spLocks xmlns:a="http://schemas.openxmlformats.org/drawingml/2006/main" noGrp="1"/>
          </p:cNvSpPr>
          <p:nvPr/>
        </p:nvSpPr>
        <p:spPr>
          <a:xfrm xmlns:a="http://schemas.openxmlformats.org/drawingml/2006/main">
            <a:off x="411479" y="336041"/>
            <a:ext cx="8321042" cy="3429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AI is now screening job applications, and it discriminates</a:t>
            </a:r>
          </a:p>
        </p:txBody>
      </p:sp>
      <p:sp>
        <p:nvSpPr>
          <p:cNvPr id="32" name="Shape 2">
            <a:extLst xmlns:a="http://schemas.openxmlformats.org/drawingml/2006/main">
              <a:ext uri="{FF2B5EF4-FFF2-40B4-BE49-F238E27FC236}">
                <a16:creationId xmlns:a16="http://schemas.microsoft.com/office/drawing/2014/main" id="{73E27866-13A4-4C18-BF87-66FD2C4C0BC3}"/>
              </a:ext>
            </a:extLst>
          </p:cNvPr>
          <p:cNvSpPr>
            <a:spLocks xmlns:a="http://schemas.openxmlformats.org/drawingml/2006/main" noGrp="1"/>
          </p:cNvSpPr>
          <p:nvPr/>
        </p:nvSpPr>
        <p:spPr>
          <a:xfrm xmlns:a="http://schemas.openxmlformats.org/drawingml/2006/main">
            <a:off x="1732787" y="1628716"/>
            <a:ext cx="1371601" cy="548641"/>
          </a:xfrm>
          <a:prstGeom xmlns:a="http://schemas.openxmlformats.org/drawingml/2006/main" prst="roundRect">
            <a:avLst>
              <a:gd name="adj" fmla="val 13333"/>
            </a:avLst>
          </a:prstGeom>
          <a:solidFill xmlns:a="http://schemas.openxmlformats.org/drawingml/2006/main">
            <a:srgbClr val="1E2D45"/>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3" name="Text 3">
            <a:extLst xmlns:a="http://schemas.openxmlformats.org/drawingml/2006/main">
              <a:ext uri="{FF2B5EF4-FFF2-40B4-BE49-F238E27FC236}">
                <a16:creationId xmlns:a16="http://schemas.microsoft.com/office/drawing/2014/main" id="{0E66C16A-59DE-415C-8950-1386236E7FAC}"/>
              </a:ext>
            </a:extLst>
          </p:cNvPr>
          <p:cNvSpPr>
            <a:spLocks xmlns:a="http://schemas.openxmlformats.org/drawingml/2006/main" noGrp="1"/>
          </p:cNvSpPr>
          <p:nvPr/>
        </p:nvSpPr>
        <p:spPr>
          <a:xfrm xmlns:a="http://schemas.openxmlformats.org/drawingml/2006/main">
            <a:off x="1732787" y="1753352"/>
            <a:ext cx="1371601" cy="299369"/>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p xmlns:a="http://schemas.openxmlformats.org/drawingml/2006/main">
            <a:pPr algn="ctr">
              <a:buNone/>
              <a:defRPr sz="1100" b="1">
                <a:solidFill>
                  <a:srgbClr val="EEF2F7"/>
                </a:solidFill>
              </a:defRPr>
            </a:pPr>
            <a:r>
              <a:t>Applicant</a:t>
            </a:r>
          </a:p>
          <a:p xmlns:a="http://schemas.openxmlformats.org/drawingml/2006/main">
            <a:pPr algn="ctr">
              <a:buNone/>
              <a:defRPr sz="1100" b="1">
                <a:solidFill>
                  <a:srgbClr val="EEF2F7"/>
                </a:solidFill>
              </a:defRPr>
            </a:pPr>
            <a:r>
              <a:t>Name</a:t>
            </a:r>
          </a:p>
        </p:txBody>
      </p:sp>
      <p:sp>
        <p:nvSpPr>
          <p:cNvPr id="34" name="Shape 4">
            <a:extLst xmlns:a="http://schemas.openxmlformats.org/drawingml/2006/main">
              <a:ext uri="{FF2B5EF4-FFF2-40B4-BE49-F238E27FC236}">
                <a16:creationId xmlns:a16="http://schemas.microsoft.com/office/drawing/2014/main" id="{ADA4FEF6-B118-4123-AA4A-B7AFF9DC5357}"/>
              </a:ext>
            </a:extLst>
          </p:cNvPr>
          <p:cNvSpPr>
            <a:spLocks xmlns:a="http://schemas.openxmlformats.org/drawingml/2006/main" noGrp="1"/>
          </p:cNvSpPr>
          <p:nvPr/>
        </p:nvSpPr>
        <p:spPr>
          <a:xfrm xmlns:a="http://schemas.openxmlformats.org/drawingml/2006/main">
            <a:off x="3150107" y="1903036"/>
            <a:ext cx="457201" cy="1"/>
          </a:xfrm>
          <a:prstGeom xmlns:a="http://schemas.openxmlformats.org/drawingml/2006/main" prst="line">
            <a:avLst/>
          </a:prstGeom>
          <a:ln xmlns:a="http://schemas.openxmlformats.org/drawingml/2006/main" w="25400">
            <a:solidFill>
              <a:srgbClr val="8FA5BB"/>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5" name="Shape 5">
            <a:extLst xmlns:a="http://schemas.openxmlformats.org/drawingml/2006/main">
              <a:ext uri="{FF2B5EF4-FFF2-40B4-BE49-F238E27FC236}">
                <a16:creationId xmlns:a16="http://schemas.microsoft.com/office/drawing/2014/main" id="{7DC54279-BA4A-4A0C-A680-A11C19184C6D}"/>
              </a:ext>
            </a:extLst>
          </p:cNvPr>
          <p:cNvSpPr>
            <a:spLocks xmlns:a="http://schemas.openxmlformats.org/drawingml/2006/main" noGrp="1"/>
          </p:cNvSpPr>
          <p:nvPr/>
        </p:nvSpPr>
        <p:spPr>
          <a:xfrm xmlns:a="http://schemas.openxmlformats.org/drawingml/2006/main">
            <a:off x="3653027" y="1473268"/>
            <a:ext cx="1920241" cy="868681"/>
          </a:xfrm>
          <a:prstGeom xmlns:a="http://schemas.openxmlformats.org/drawingml/2006/main" prst="roundRect">
            <a:avLst>
              <a:gd name="adj" fmla="val 10526"/>
            </a:avLst>
          </a:prstGeom>
          <a:solidFill xmlns:a="http://schemas.openxmlformats.org/drawingml/2006/main">
            <a:srgbClr val="4A9EBA">
              <a:alpha val="64999"/>
            </a:srgbClr>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6" name="Text 6">
            <a:extLst xmlns:a="http://schemas.openxmlformats.org/drawingml/2006/main">
              <a:ext uri="{FF2B5EF4-FFF2-40B4-BE49-F238E27FC236}">
                <a16:creationId xmlns:a16="http://schemas.microsoft.com/office/drawing/2014/main" id="{E3E31675-735C-409C-A9EF-029B3D78FA1A}"/>
              </a:ext>
            </a:extLst>
          </p:cNvPr>
          <p:cNvSpPr>
            <a:spLocks xmlns:a="http://schemas.openxmlformats.org/drawingml/2006/main" noGrp="1"/>
          </p:cNvSpPr>
          <p:nvPr/>
        </p:nvSpPr>
        <p:spPr>
          <a:xfrm xmlns:a="http://schemas.openxmlformats.org/drawingml/2006/main">
            <a:off x="3653027" y="1742508"/>
            <a:ext cx="1920241" cy="3302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2200">
                <a:solidFill>
                  <a:srgbClr val="FFFFFF"/>
                </a:solidFill>
                <a:latin typeface="Cambria"/>
                <a:ea typeface="Cambria"/>
                <a:cs typeface="Cambria"/>
              </a:defRPr>
            </a:lvl1pPr>
          </a:lstStyle>
          <a:p xmlns:a="http://schemas.openxmlformats.org/drawingml/2006/main">
            <a:pPr>
              <a:buNone/>
            </a:pPr>
            <a:r>
              <a:t>LLM   ?</a:t>
            </a:r>
          </a:p>
        </p:txBody>
      </p:sp>
      <p:sp>
        <p:nvSpPr>
          <p:cNvPr id="37" name="Shape 7">
            <a:extLst xmlns:a="http://schemas.openxmlformats.org/drawingml/2006/main">
              <a:ext uri="{FF2B5EF4-FFF2-40B4-BE49-F238E27FC236}">
                <a16:creationId xmlns:a16="http://schemas.microsoft.com/office/drawing/2014/main" id="{5E03A2DE-49F8-45E8-9F84-098ACC6F4539}"/>
              </a:ext>
            </a:extLst>
          </p:cNvPr>
          <p:cNvSpPr>
            <a:spLocks xmlns:a="http://schemas.openxmlformats.org/drawingml/2006/main" noGrp="1"/>
          </p:cNvSpPr>
          <p:nvPr/>
        </p:nvSpPr>
        <p:spPr>
          <a:xfrm xmlns:a="http://schemas.openxmlformats.org/drawingml/2006/main">
            <a:off x="5618987" y="1903036"/>
            <a:ext cx="457201" cy="1"/>
          </a:xfrm>
          <a:prstGeom xmlns:a="http://schemas.openxmlformats.org/drawingml/2006/main" prst="line">
            <a:avLst/>
          </a:prstGeom>
          <a:ln xmlns:a="http://schemas.openxmlformats.org/drawingml/2006/main" w="25400">
            <a:solidFill>
              <a:srgbClr val="8FA5BB"/>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8" name="Shape 8">
            <a:extLst xmlns:a="http://schemas.openxmlformats.org/drawingml/2006/main">
              <a:ext uri="{FF2B5EF4-FFF2-40B4-BE49-F238E27FC236}">
                <a16:creationId xmlns:a16="http://schemas.microsoft.com/office/drawing/2014/main" id="{673FC93F-EBC3-4AAD-974F-EBE974085655}"/>
              </a:ext>
            </a:extLst>
          </p:cNvPr>
          <p:cNvSpPr>
            <a:spLocks xmlns:a="http://schemas.openxmlformats.org/drawingml/2006/main" noGrp="1"/>
          </p:cNvSpPr>
          <p:nvPr/>
        </p:nvSpPr>
        <p:spPr>
          <a:xfrm xmlns:a="http://schemas.openxmlformats.org/drawingml/2006/main">
            <a:off x="6121907" y="1564708"/>
            <a:ext cx="1508761" cy="685801"/>
          </a:xfrm>
          <a:prstGeom xmlns:a="http://schemas.openxmlformats.org/drawingml/2006/main" prst="roundRect">
            <a:avLst>
              <a:gd name="adj" fmla="val 10667"/>
            </a:avLst>
          </a:prstGeom>
          <a:solidFill xmlns:a="http://schemas.openxmlformats.org/drawingml/2006/main">
            <a:srgbClr val="5BAD8B">
              <a:alpha val="70000"/>
            </a:srgbClr>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9" name="Text 9">
            <a:extLst xmlns:a="http://schemas.openxmlformats.org/drawingml/2006/main">
              <a:ext uri="{FF2B5EF4-FFF2-40B4-BE49-F238E27FC236}">
                <a16:creationId xmlns:a16="http://schemas.microsoft.com/office/drawing/2014/main" id="{AC3DB86E-A2D3-4DBC-8F66-E56EC2FA19C0}"/>
              </a:ext>
            </a:extLst>
          </p:cNvPr>
          <p:cNvSpPr>
            <a:spLocks xmlns:a="http://schemas.openxmlformats.org/drawingml/2006/main" noGrp="1"/>
          </p:cNvSpPr>
          <p:nvPr/>
        </p:nvSpPr>
        <p:spPr>
          <a:xfrm xmlns:a="http://schemas.openxmlformats.org/drawingml/2006/main">
            <a:off x="6121907" y="1829176"/>
            <a:ext cx="1508761" cy="156866"/>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200" b="1">
                <a:solidFill>
                  <a:srgbClr val="FFFFFF"/>
                </a:solidFill>
              </a:defRPr>
            </a:lvl1pPr>
          </a:lstStyle>
          <a:p xmlns:a="http://schemas.openxmlformats.org/drawingml/2006/main">
            <a:pPr>
              <a:buNone/>
            </a:pPr>
            <a:r>
              <a:t>Callback?</a:t>
            </a:r>
          </a:p>
        </p:txBody>
      </p:sp>
      <p:sp>
        <p:nvSpPr>
          <p:cNvPr id="40" name="Text 10">
            <a:extLst xmlns:a="http://schemas.openxmlformats.org/drawingml/2006/main">
              <a:ext uri="{FF2B5EF4-FFF2-40B4-BE49-F238E27FC236}">
                <a16:creationId xmlns:a16="http://schemas.microsoft.com/office/drawing/2014/main" id="{B042DC8B-465A-4845-BC4E-C0948999865A}"/>
              </a:ext>
            </a:extLst>
          </p:cNvPr>
          <p:cNvSpPr>
            <a:spLocks xmlns:a="http://schemas.openxmlformats.org/drawingml/2006/main" noGrp="1"/>
          </p:cNvSpPr>
          <p:nvPr/>
        </p:nvSpPr>
        <p:spPr>
          <a:xfrm xmlns:a="http://schemas.openxmlformats.org/drawingml/2006/main">
            <a:off x="2286000" y="2657778"/>
            <a:ext cx="4754880"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100" i="1">
                <a:solidFill>
                  <a:srgbClr val="E07B54"/>
                </a:solidFill>
              </a:defRPr>
            </a:lvl1pPr>
          </a:lstStyle>
          <a:p xmlns:a="http://schemas.openxmlformats.org/drawingml/2006/main">
            <a:pPr>
              <a:buNone/>
            </a:pPr>
            <a:r>
              <a:t>All existing audits stop here: they see the output, not the mechanism</a:t>
            </a:r>
          </a:p>
        </p:txBody>
      </p:sp>
      <p:sp>
        <p:nvSpPr>
          <p:cNvPr id="41" name="Shape 11">
            <a:extLst xmlns:a="http://schemas.openxmlformats.org/drawingml/2006/main">
              <a:ext uri="{FF2B5EF4-FFF2-40B4-BE49-F238E27FC236}">
                <a16:creationId xmlns:a16="http://schemas.microsoft.com/office/drawing/2014/main" id="{18A97DFD-0175-4749-8C89-C2091BD5CDA2}"/>
              </a:ext>
            </a:extLst>
          </p:cNvPr>
          <p:cNvSpPr>
            <a:spLocks xmlns:a="http://schemas.openxmlformats.org/drawingml/2006/main" noGrp="1"/>
          </p:cNvSpPr>
          <p:nvPr/>
        </p:nvSpPr>
        <p:spPr>
          <a:xfrm xmlns:a="http://schemas.openxmlformats.org/drawingml/2006/main">
            <a:off x="411480" y="3035807"/>
            <a:ext cx="146305" cy="146305"/>
          </a:xfrm>
          <a:prstGeom xmlns:a="http://schemas.openxmlformats.org/drawingml/2006/main" prst="ellipse">
            <a:avLst/>
          </a:prstGeom>
          <a:solidFill xmlns:a="http://schemas.openxmlformats.org/drawingml/2006/main">
            <a:srgbClr val="4A9EBA"/>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2" name="Text 12">
            <a:extLst xmlns:a="http://schemas.openxmlformats.org/drawingml/2006/main">
              <a:ext uri="{FF2B5EF4-FFF2-40B4-BE49-F238E27FC236}">
                <a16:creationId xmlns:a16="http://schemas.microsoft.com/office/drawing/2014/main" id="{F3F310AF-9DB8-495E-9EDD-B9EE83410C86}"/>
              </a:ext>
            </a:extLst>
          </p:cNvPr>
          <p:cNvSpPr>
            <a:spLocks xmlns:a="http://schemas.openxmlformats.org/drawingml/2006/main" noGrp="1"/>
          </p:cNvSpPr>
          <p:nvPr/>
        </p:nvSpPr>
        <p:spPr>
          <a:xfrm xmlns:a="http://schemas.openxmlformats.org/drawingml/2006/main">
            <a:off x="658368" y="3107875"/>
            <a:ext cx="8046719" cy="166762"/>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300">
                <a:solidFill>
                  <a:srgbClr val="EEF2F7"/>
                </a:solidFill>
              </a:defRPr>
            </a:lvl1pPr>
          </a:lstStyle>
          <a:p xmlns:a="http://schemas.openxmlformats.org/drawingml/2006/main">
            <a:pPr>
              <a:buNone/>
            </a:pPr>
            <a:r>
              <a:t>50% of US organizations use AI in recruiting  (SHRM, 2025)</a:t>
            </a:r>
          </a:p>
        </p:txBody>
      </p:sp>
      <p:sp>
        <p:nvSpPr>
          <p:cNvPr id="43" name="Shape 13">
            <a:extLst xmlns:a="http://schemas.openxmlformats.org/drawingml/2006/main">
              <a:ext uri="{FF2B5EF4-FFF2-40B4-BE49-F238E27FC236}">
                <a16:creationId xmlns:a16="http://schemas.microsoft.com/office/drawing/2014/main" id="{2C70A520-5479-40AA-96E6-49AB53704B22}"/>
              </a:ext>
            </a:extLst>
          </p:cNvPr>
          <p:cNvSpPr>
            <a:spLocks xmlns:a="http://schemas.openxmlformats.org/drawingml/2006/main" noGrp="1"/>
          </p:cNvSpPr>
          <p:nvPr/>
        </p:nvSpPr>
        <p:spPr>
          <a:xfrm xmlns:a="http://schemas.openxmlformats.org/drawingml/2006/main">
            <a:off x="411480" y="3538728"/>
            <a:ext cx="146305" cy="146305"/>
          </a:xfrm>
          <a:prstGeom xmlns:a="http://schemas.openxmlformats.org/drawingml/2006/main" prst="ellipse">
            <a:avLst/>
          </a:prstGeom>
          <a:solidFill xmlns:a="http://schemas.openxmlformats.org/drawingml/2006/main">
            <a:srgbClr val="4A9EBA"/>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4" name="Text 14">
            <a:extLst xmlns:a="http://schemas.openxmlformats.org/drawingml/2006/main">
              <a:ext uri="{FF2B5EF4-FFF2-40B4-BE49-F238E27FC236}">
                <a16:creationId xmlns:a16="http://schemas.microsoft.com/office/drawing/2014/main" id="{309F530C-8C80-445C-85F1-923664212D8E}"/>
              </a:ext>
            </a:extLst>
          </p:cNvPr>
          <p:cNvSpPr>
            <a:spLocks xmlns:a="http://schemas.openxmlformats.org/drawingml/2006/main" noGrp="1"/>
          </p:cNvSpPr>
          <p:nvPr/>
        </p:nvSpPr>
        <p:spPr>
          <a:xfrm xmlns:a="http://schemas.openxmlformats.org/drawingml/2006/main">
            <a:off x="658368" y="3610795"/>
            <a:ext cx="8046719" cy="166763"/>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300">
                <a:solidFill>
                  <a:srgbClr val="EEF2F7"/>
                </a:solidFill>
              </a:defRPr>
            </a:lvl1pPr>
          </a:lstStyle>
          <a:p xmlns:a="http://schemas.openxmlformats.org/drawingml/2006/main">
            <a:pPr>
              <a:buNone/>
            </a:pPr>
            <a:r>
              <a:t>Behavioral audits show name-driven disparities across race and gender</a:t>
            </a:r>
          </a:p>
        </p:txBody>
      </p:sp>
      <p:sp>
        <p:nvSpPr>
          <p:cNvPr id="45" name="Shape 15">
            <a:extLst xmlns:a="http://schemas.openxmlformats.org/drawingml/2006/main">
              <a:ext uri="{FF2B5EF4-FFF2-40B4-BE49-F238E27FC236}">
                <a16:creationId xmlns:a16="http://schemas.microsoft.com/office/drawing/2014/main" id="{52D2F557-3BDB-4797-A5B5-B095CE118785}"/>
              </a:ext>
            </a:extLst>
          </p:cNvPr>
          <p:cNvSpPr>
            <a:spLocks xmlns:a="http://schemas.openxmlformats.org/drawingml/2006/main" noGrp="1"/>
          </p:cNvSpPr>
          <p:nvPr/>
        </p:nvSpPr>
        <p:spPr>
          <a:xfrm xmlns:a="http://schemas.openxmlformats.org/drawingml/2006/main">
            <a:off x="411480" y="4041647"/>
            <a:ext cx="146305" cy="146305"/>
          </a:xfrm>
          <a:prstGeom xmlns:a="http://schemas.openxmlformats.org/drawingml/2006/main" prst="ellipse">
            <a:avLst/>
          </a:prstGeom>
          <a:solidFill xmlns:a="http://schemas.openxmlformats.org/drawingml/2006/main">
            <a:srgbClr val="4A9EBA"/>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6" name="Text 16">
            <a:extLst xmlns:a="http://schemas.openxmlformats.org/drawingml/2006/main">
              <a:ext uri="{FF2B5EF4-FFF2-40B4-BE49-F238E27FC236}">
                <a16:creationId xmlns:a16="http://schemas.microsoft.com/office/drawing/2014/main" id="{1352C4EA-5CDD-433E-BBFC-4B447FA587E6}"/>
              </a:ext>
            </a:extLst>
          </p:cNvPr>
          <p:cNvSpPr>
            <a:spLocks xmlns:a="http://schemas.openxmlformats.org/drawingml/2006/main" noGrp="1"/>
          </p:cNvSpPr>
          <p:nvPr/>
        </p:nvSpPr>
        <p:spPr>
          <a:xfrm xmlns:a="http://schemas.openxmlformats.org/drawingml/2006/main">
            <a:off x="658368" y="4113715"/>
            <a:ext cx="8046719" cy="166763"/>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300">
                <a:solidFill>
                  <a:srgbClr val="EEF2F7"/>
                </a:solidFill>
              </a:defRPr>
            </a:lvl1pPr>
          </a:lstStyle>
          <a:p xmlns:a="http://schemas.openxmlformats.org/drawingml/2006/main">
            <a:pPr>
              <a:buNone/>
            </a:pPr>
            <a:r>
              <a:t>But they treat the model as a black box: that it discriminates, not how</a:t>
            </a:r>
          </a:p>
        </p:txBody>
      </p:sp>
    </p:spTree>
    <p:extLst>
      <p:ext uri="{BB962C8B-B14F-4D97-AF65-F5344CB8AC3E}">
        <p14:creationId xmlns:p14="http://schemas.microsoft.com/office/powerpoint/2010/main" val="217256502"/>
      </p:ext>
    </p:extLst>
  </p:cSld>
</p:sld>
</file>

<file path=ppt/slides/slide3.xml><?xml version="1.0" encoding="utf-8"?>
<p:sld xmlns:p="http://schemas.openxmlformats.org/presentationml/2006/main" showMasterSp="1">
  <p:cSld>
    <p:spTree>
      <p:nvGrpSpPr>
        <p:cNvPr id="1" name=""/>
        <p:cNvGrpSpPr/>
        <p:nvPr/>
      </p:nvGrpSpPr>
      <p:grpSpPr>
        <a:xfrm xmlns:a="http://schemas.openxmlformats.org/drawingml/2006/main"/>
      </p:grpSpPr>
      <p:sp>
        <p:nvSpPr>
          <p:cNvPr id="50" name="Shape 0">
            <a:extLst xmlns:a="http://schemas.openxmlformats.org/drawingml/2006/main">
              <a:ext uri="{FF2B5EF4-FFF2-40B4-BE49-F238E27FC236}">
                <a16:creationId xmlns:a16="http://schemas.microsoft.com/office/drawing/2014/main" id="{7EEB8309-F092-48F5-AF10-08BAFE183787}"/>
              </a:ext>
            </a:extLst>
          </p:cNvPr>
          <p:cNvSpPr>
            <a:spLocks xmlns:a="http://schemas.openxmlformats.org/drawingml/2006/main" noGrp="1"/>
          </p:cNvSpPr>
          <p:nvPr/>
        </p:nvSpPr>
        <p:spPr>
          <a:xfrm xmlns:a="http://schemas.openxmlformats.org/drawingml/2006/main">
            <a:off x="-1" y="0"/>
            <a:ext cx="9144001" cy="5143501"/>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51" name="Text 1">
            <a:extLst xmlns:a="http://schemas.openxmlformats.org/drawingml/2006/main">
              <a:ext uri="{FF2B5EF4-FFF2-40B4-BE49-F238E27FC236}">
                <a16:creationId xmlns:a16="http://schemas.microsoft.com/office/drawing/2014/main" id="{AD47184A-7366-476E-8188-0B56077DB5E4}"/>
              </a:ext>
            </a:extLst>
          </p:cNvPr>
          <p:cNvSpPr>
            <a:spLocks xmlns:a="http://schemas.openxmlformats.org/drawingml/2006/main" noGrp="1"/>
          </p:cNvSpPr>
          <p:nvPr/>
        </p:nvSpPr>
        <p:spPr>
          <a:xfrm xmlns:a="http://schemas.openxmlformats.org/drawingml/2006/main">
            <a:off x="411479" y="336041"/>
            <a:ext cx="8321042" cy="3429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A story becomes a hidden activation</a:t>
            </a:r>
          </a:p>
        </p:txBody>
      </p:sp>
      <p:sp>
        <p:nvSpPr>
          <p:cNvPr id="52" name="story-cue">
            <a:extLst xmlns:a="http://schemas.openxmlformats.org/drawingml/2006/main">
              <a:ext uri="{FF2B5EF4-FFF2-40B4-BE49-F238E27FC236}">
                <a16:creationId xmlns:a16="http://schemas.microsoft.com/office/drawing/2014/main" id="{C820BCAA-978C-4FE7-A1D8-0EF36FD2EA0B}"/>
              </a:ext>
            </a:extLst>
          </p:cNvPr>
          <p:cNvSpPr>
            <a:spLocks xmlns:a="http://schemas.openxmlformats.org/drawingml/2006/main" noGrp="1"/>
          </p:cNvSpPr>
          <p:nvPr/>
        </p:nvSpPr>
        <p:spPr>
          <a:xfrm xmlns:a="http://schemas.openxmlformats.org/drawingml/2006/main">
            <a:off x="269081" y="1938337"/>
            <a:ext cx="2190751" cy="876301"/>
          </a:xfrm>
          <a:prstGeom xmlns:a="http://schemas.openxmlformats.org/drawingml/2006/main" prst="roundRect">
            <a:avLst>
              <a:gd name="adj" fmla="val 15217"/>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53" name="story-label">
            <a:extLst xmlns:a="http://schemas.openxmlformats.org/drawingml/2006/main">
              <a:ext uri="{FF2B5EF4-FFF2-40B4-BE49-F238E27FC236}">
                <a16:creationId xmlns:a16="http://schemas.microsoft.com/office/drawing/2014/main" id="{1903CBB1-3F13-4947-8D14-92554187E24A}"/>
              </a:ext>
            </a:extLst>
          </p:cNvPr>
          <p:cNvSpPr>
            <a:spLocks xmlns:a="http://schemas.openxmlformats.org/drawingml/2006/main" noGrp="1"/>
          </p:cNvSpPr>
          <p:nvPr/>
        </p:nvSpPr>
        <p:spPr>
          <a:xfrm xmlns:a="http://schemas.openxmlformats.org/drawingml/2006/main">
            <a:off x="457676" y="1983387"/>
            <a:ext cx="59436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STORY</a:t>
            </a:r>
          </a:p>
        </p:txBody>
      </p:sp>
      <p:sp>
        <p:nvSpPr>
          <p:cNvPr id="54" name="story-copy">
            <a:extLst xmlns:a="http://schemas.openxmlformats.org/drawingml/2006/main">
              <a:ext uri="{FF2B5EF4-FFF2-40B4-BE49-F238E27FC236}">
                <a16:creationId xmlns:a16="http://schemas.microsoft.com/office/drawing/2014/main" id="{BE7D8DFC-EF8F-40E6-9E52-47F06EB1569C}"/>
              </a:ext>
            </a:extLst>
          </p:cNvPr>
          <p:cNvSpPr>
            <a:spLocks xmlns:a="http://schemas.openxmlformats.org/drawingml/2006/main" noGrp="1"/>
          </p:cNvSpPr>
          <p:nvPr/>
        </p:nvSpPr>
        <p:spPr>
          <a:xfrm xmlns:a="http://schemas.openxmlformats.org/drawingml/2006/main">
            <a:off x="457676" y="2209643"/>
            <a:ext cx="1813561" cy="467040"/>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300">
                <a:solidFill>
                  <a:srgbClr val="EEF2F7"/>
                </a:solidFill>
                <a:latin typeface="Arial"/>
                <a:ea typeface="Arial"/>
                <a:cs typeface="Arial"/>
              </a:defRPr>
            </a:lvl1pPr>
          </a:lstStyle>
          <a:p xmlns:a="http://schemas.openxmlformats.org/drawingml/2006/main">
            <a:pPr>
              <a:buNone/>
            </a:pPr>
            <a:r>
              <a:t>“The footsteps behind them grew closer.”</a:t>
            </a:r>
          </a:p>
        </p:txBody>
      </p:sp>
      <p:sp>
        <p:nvSpPr>
          <p:cNvPr id="55" name="llm-gate">
            <a:extLst xmlns:a="http://schemas.openxmlformats.org/drawingml/2006/main">
              <a:ext uri="{FF2B5EF4-FFF2-40B4-BE49-F238E27FC236}">
                <a16:creationId xmlns:a16="http://schemas.microsoft.com/office/drawing/2014/main" id="{0A5B798F-1243-4875-B5F3-B30469380810}"/>
              </a:ext>
            </a:extLst>
          </p:cNvPr>
          <p:cNvSpPr>
            <a:spLocks xmlns:a="http://schemas.openxmlformats.org/drawingml/2006/main" noGrp="1"/>
          </p:cNvSpPr>
          <p:nvPr/>
        </p:nvSpPr>
        <p:spPr>
          <a:xfrm xmlns:a="http://schemas.openxmlformats.org/drawingml/2006/main">
            <a:off x="2857500" y="1504950"/>
            <a:ext cx="1066800" cy="2038350"/>
          </a:xfrm>
          <a:prstGeom xmlns:a="http://schemas.openxmlformats.org/drawingml/2006/main" prst="roundRect">
            <a:avLst>
              <a:gd name="adj" fmla="val 16071"/>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56" name="llm-label">
            <a:extLst xmlns:a="http://schemas.openxmlformats.org/drawingml/2006/main">
              <a:ext uri="{FF2B5EF4-FFF2-40B4-BE49-F238E27FC236}">
                <a16:creationId xmlns:a16="http://schemas.microsoft.com/office/drawing/2014/main" id="{4CF35B1C-2739-4231-9C64-20924F479FA5}"/>
              </a:ext>
            </a:extLst>
          </p:cNvPr>
          <p:cNvSpPr>
            <a:spLocks xmlns:a="http://schemas.openxmlformats.org/drawingml/2006/main" noGrp="1"/>
          </p:cNvSpPr>
          <p:nvPr/>
        </p:nvSpPr>
        <p:spPr>
          <a:xfrm xmlns:a="http://schemas.openxmlformats.org/drawingml/2006/main">
            <a:off x="3055619" y="2085477"/>
            <a:ext cx="670562" cy="36294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900" b="1">
                <a:solidFill>
                  <a:srgbClr val="EEF2F7"/>
                </a:solidFill>
                <a:latin typeface="Arial"/>
                <a:ea typeface="Arial"/>
                <a:cs typeface="Arial"/>
              </a:defRPr>
            </a:lvl1pPr>
          </a:lstStyle>
          <a:p xmlns:a="http://schemas.openxmlformats.org/drawingml/2006/main">
            <a:pPr>
              <a:buNone/>
            </a:pPr>
            <a:r>
              <a:t>LLM</a:t>
            </a:r>
          </a:p>
        </p:txBody>
      </p:sp>
      <p:sp>
        <p:nvSpPr>
          <p:cNvPr id="57" name="llm-subtitle">
            <a:extLst xmlns:a="http://schemas.openxmlformats.org/drawingml/2006/main">
              <a:ext uri="{FF2B5EF4-FFF2-40B4-BE49-F238E27FC236}">
                <a16:creationId xmlns:a16="http://schemas.microsoft.com/office/drawing/2014/main" id="{8F24CCB9-C92B-4D48-B718-319F0446B3F4}"/>
              </a:ext>
            </a:extLst>
          </p:cNvPr>
          <p:cNvSpPr>
            <a:spLocks xmlns:a="http://schemas.openxmlformats.org/drawingml/2006/main" noGrp="1"/>
          </p:cNvSpPr>
          <p:nvPr/>
        </p:nvSpPr>
        <p:spPr>
          <a:xfrm xmlns:a="http://schemas.openxmlformats.org/drawingml/2006/main">
            <a:off x="2998469" y="2540807"/>
            <a:ext cx="784862"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p xmlns:a="http://schemas.openxmlformats.org/drawingml/2006/main">
            <a:pPr algn="ctr">
              <a:buNone/>
              <a:defRPr sz="1000">
                <a:solidFill>
                  <a:srgbClr val="4A9EBA"/>
                </a:solidFill>
                <a:latin typeface="Arial"/>
                <a:ea typeface="Arial"/>
                <a:cs typeface="Arial"/>
              </a:defRPr>
            </a:pPr>
            <a:r>
              <a:t>words leads</a:t>
            </a:r>
          </a:p>
          <a:p xmlns:a="http://schemas.openxmlformats.org/drawingml/2006/main">
            <a:pPr algn="ctr">
              <a:buNone/>
              <a:defRPr sz="1000">
                <a:solidFill>
                  <a:srgbClr val="4A9EBA"/>
                </a:solidFill>
                <a:latin typeface="Arial"/>
                <a:ea typeface="Arial"/>
                <a:cs typeface="Arial"/>
              </a:defRPr>
            </a:pPr>
            <a:r>
              <a:t>activations</a:t>
            </a:r>
          </a:p>
        </p:txBody>
      </p:sp>
      <p:sp>
        <p:nvSpPr>
          <p:cNvPr id="58" name="gate-node-22-24">
            <a:extLst xmlns:a="http://schemas.openxmlformats.org/drawingml/2006/main">
              <a:ext uri="{FF2B5EF4-FFF2-40B4-BE49-F238E27FC236}">
                <a16:creationId xmlns:a16="http://schemas.microsoft.com/office/drawing/2014/main" id="{FAA6897C-B0FE-4EF8-8676-CFED4C36A109}"/>
              </a:ext>
            </a:extLst>
          </p:cNvPr>
          <p:cNvSpPr>
            <a:spLocks xmlns:a="http://schemas.openxmlformats.org/drawingml/2006/main" noGrp="1"/>
          </p:cNvSpPr>
          <p:nvPr/>
        </p:nvSpPr>
        <p:spPr>
          <a:xfrm xmlns:a="http://schemas.openxmlformats.org/drawingml/2006/main">
            <a:off x="3067050" y="173355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59" name="gate-node-55-31">
            <a:extLst xmlns:a="http://schemas.openxmlformats.org/drawingml/2006/main">
              <a:ext uri="{FF2B5EF4-FFF2-40B4-BE49-F238E27FC236}">
                <a16:creationId xmlns:a16="http://schemas.microsoft.com/office/drawing/2014/main" id="{667D88E0-F746-4448-B436-2DC8030F9E58}"/>
              </a:ext>
            </a:extLst>
          </p:cNvPr>
          <p:cNvSpPr>
            <a:spLocks xmlns:a="http://schemas.openxmlformats.org/drawingml/2006/main" noGrp="1"/>
          </p:cNvSpPr>
          <p:nvPr/>
        </p:nvSpPr>
        <p:spPr>
          <a:xfrm xmlns:a="http://schemas.openxmlformats.org/drawingml/2006/main">
            <a:off x="3381375" y="1800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60" name="gate-node-79-63">
            <a:extLst xmlns:a="http://schemas.openxmlformats.org/drawingml/2006/main">
              <a:ext uri="{FF2B5EF4-FFF2-40B4-BE49-F238E27FC236}">
                <a16:creationId xmlns:a16="http://schemas.microsoft.com/office/drawing/2014/main" id="{61C6A7B4-2FF1-4EB9-BAAD-5715CCAE2740}"/>
              </a:ext>
            </a:extLst>
          </p:cNvPr>
          <p:cNvSpPr>
            <a:spLocks xmlns:a="http://schemas.openxmlformats.org/drawingml/2006/main" noGrp="1"/>
          </p:cNvSpPr>
          <p:nvPr/>
        </p:nvSpPr>
        <p:spPr>
          <a:xfrm xmlns:a="http://schemas.openxmlformats.org/drawingml/2006/main">
            <a:off x="3609975" y="21050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61" name="gate-node-28-151">
            <a:extLst xmlns:a="http://schemas.openxmlformats.org/drawingml/2006/main">
              <a:ext uri="{FF2B5EF4-FFF2-40B4-BE49-F238E27FC236}">
                <a16:creationId xmlns:a16="http://schemas.microsoft.com/office/drawing/2014/main" id="{9E9E4215-43AC-44C4-A082-83A9D3FCEC48}"/>
              </a:ext>
            </a:extLst>
          </p:cNvPr>
          <p:cNvSpPr>
            <a:spLocks xmlns:a="http://schemas.openxmlformats.org/drawingml/2006/main" noGrp="1"/>
          </p:cNvSpPr>
          <p:nvPr/>
        </p:nvSpPr>
        <p:spPr>
          <a:xfrm xmlns:a="http://schemas.openxmlformats.org/drawingml/2006/main">
            <a:off x="3124200" y="2943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62" name="gate-node-82-174">
            <a:extLst xmlns:a="http://schemas.openxmlformats.org/drawingml/2006/main">
              <a:ext uri="{FF2B5EF4-FFF2-40B4-BE49-F238E27FC236}">
                <a16:creationId xmlns:a16="http://schemas.microsoft.com/office/drawing/2014/main" id="{E222F5B2-E996-4029-9467-B190ECE2D7E8}"/>
              </a:ext>
            </a:extLst>
          </p:cNvPr>
          <p:cNvSpPr>
            <a:spLocks xmlns:a="http://schemas.openxmlformats.org/drawingml/2006/main" noGrp="1"/>
          </p:cNvSpPr>
          <p:nvPr/>
        </p:nvSpPr>
        <p:spPr>
          <a:xfrm xmlns:a="http://schemas.openxmlformats.org/drawingml/2006/main">
            <a:off x="3638550" y="316230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63" name="activation-space">
            <a:extLst xmlns:a="http://schemas.openxmlformats.org/drawingml/2006/main">
              <a:ext uri="{FF2B5EF4-FFF2-40B4-BE49-F238E27FC236}">
                <a16:creationId xmlns:a16="http://schemas.microsoft.com/office/drawing/2014/main" id="{9AB13406-A4A0-4B8F-890C-8B6175C2DD30}"/>
              </a:ext>
            </a:extLst>
          </p:cNvPr>
          <p:cNvSpPr>
            <a:spLocks xmlns:a="http://schemas.openxmlformats.org/drawingml/2006/main" noGrp="1"/>
          </p:cNvSpPr>
          <p:nvPr/>
        </p:nvSpPr>
        <p:spPr>
          <a:xfrm xmlns:a="http://schemas.openxmlformats.org/drawingml/2006/main">
            <a:off x="4143375" y="1000125"/>
            <a:ext cx="4581525" cy="3333750"/>
          </a:xfrm>
          <a:prstGeom xmlns:a="http://schemas.openxmlformats.org/drawingml/2006/main" prst="roundRect">
            <a:avLst>
              <a:gd name="adj" fmla="val 6286"/>
            </a:avLst>
          </a:prstGeom>
          <a:solidFill xmlns:a="http://schemas.openxmlformats.org/drawingml/2006/main">
            <a:srgbClr val="1E2D45"/>
          </a:solidFill>
          <a:ln xmlns:a="http://schemas.openxmlformats.org/drawingml/2006/main" w="14288">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64" name="space-label">
            <a:extLst xmlns:a="http://schemas.openxmlformats.org/drawingml/2006/main">
              <a:ext uri="{FF2B5EF4-FFF2-40B4-BE49-F238E27FC236}">
                <a16:creationId xmlns:a16="http://schemas.microsoft.com/office/drawing/2014/main" id="{7AB869D7-9793-46B6-9FFE-DA4E014019F0}"/>
              </a:ext>
            </a:extLst>
          </p:cNvPr>
          <p:cNvSpPr>
            <a:spLocks xmlns:a="http://schemas.openxmlformats.org/drawingml/2006/main" noGrp="1"/>
          </p:cNvSpPr>
          <p:nvPr/>
        </p:nvSpPr>
        <p:spPr>
          <a:xfrm xmlns:a="http://schemas.openxmlformats.org/drawingml/2006/main">
            <a:off x="4436744" y="1149949"/>
            <a:ext cx="2289812"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HIDDEN ACTIVATION SPACE</a:t>
            </a:r>
          </a:p>
        </p:txBody>
      </p:sp>
      <p:sp>
        <p:nvSpPr>
          <p:cNvPr id="65" name="space-particle-0">
            <a:extLst xmlns:a="http://schemas.openxmlformats.org/drawingml/2006/main">
              <a:ext uri="{FF2B5EF4-FFF2-40B4-BE49-F238E27FC236}">
                <a16:creationId xmlns:a16="http://schemas.microsoft.com/office/drawing/2014/main" id="{64F5BF4F-9BC1-4D93-B266-CBF35E9D2D22}"/>
              </a:ext>
            </a:extLst>
          </p:cNvPr>
          <p:cNvSpPr>
            <a:spLocks xmlns:a="http://schemas.openxmlformats.org/drawingml/2006/main" noGrp="1"/>
          </p:cNvSpPr>
          <p:nvPr/>
        </p:nvSpPr>
        <p:spPr>
          <a:xfrm xmlns:a="http://schemas.openxmlformats.org/drawingml/2006/main">
            <a:off x="4591050" y="17430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66" name="space-particle-1">
            <a:extLst xmlns:a="http://schemas.openxmlformats.org/drawingml/2006/main">
              <a:ext uri="{FF2B5EF4-FFF2-40B4-BE49-F238E27FC236}">
                <a16:creationId xmlns:a16="http://schemas.microsoft.com/office/drawing/2014/main" id="{C68B9922-E6A0-4E6F-9BAB-AA2777B7E9D1}"/>
              </a:ext>
            </a:extLst>
          </p:cNvPr>
          <p:cNvSpPr>
            <a:spLocks xmlns:a="http://schemas.openxmlformats.org/drawingml/2006/main" noGrp="1"/>
          </p:cNvSpPr>
          <p:nvPr/>
        </p:nvSpPr>
        <p:spPr>
          <a:xfrm xmlns:a="http://schemas.openxmlformats.org/drawingml/2006/main">
            <a:off x="5476875" y="15049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67" name="space-particle-2">
            <a:extLst xmlns:a="http://schemas.openxmlformats.org/drawingml/2006/main">
              <a:ext uri="{FF2B5EF4-FFF2-40B4-BE49-F238E27FC236}">
                <a16:creationId xmlns:a16="http://schemas.microsoft.com/office/drawing/2014/main" id="{6B1B9AC2-0E0B-4F4A-985E-6950DF9C2EE7}"/>
              </a:ext>
            </a:extLst>
          </p:cNvPr>
          <p:cNvSpPr>
            <a:spLocks xmlns:a="http://schemas.openxmlformats.org/drawingml/2006/main" noGrp="1"/>
          </p:cNvSpPr>
          <p:nvPr/>
        </p:nvSpPr>
        <p:spPr>
          <a:xfrm xmlns:a="http://schemas.openxmlformats.org/drawingml/2006/main">
            <a:off x="6486525" y="191452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68" name="space-particle-3">
            <a:extLst xmlns:a="http://schemas.openxmlformats.org/drawingml/2006/main">
              <a:ext uri="{FF2B5EF4-FFF2-40B4-BE49-F238E27FC236}">
                <a16:creationId xmlns:a16="http://schemas.microsoft.com/office/drawing/2014/main" id="{B128D6CC-2516-43F9-83D7-FD9DCF02A580}"/>
              </a:ext>
            </a:extLst>
          </p:cNvPr>
          <p:cNvSpPr>
            <a:spLocks xmlns:a="http://schemas.openxmlformats.org/drawingml/2006/main" noGrp="1"/>
          </p:cNvSpPr>
          <p:nvPr/>
        </p:nvSpPr>
        <p:spPr>
          <a:xfrm xmlns:a="http://schemas.openxmlformats.org/drawingml/2006/main">
            <a:off x="7962900" y="1628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69" name="space-particle-4">
            <a:extLst xmlns:a="http://schemas.openxmlformats.org/drawingml/2006/main">
              <a:ext uri="{FF2B5EF4-FFF2-40B4-BE49-F238E27FC236}">
                <a16:creationId xmlns:a16="http://schemas.microsoft.com/office/drawing/2014/main" id="{636FE41F-0BDF-4BD3-A2FC-0CF8E79B335E}"/>
              </a:ext>
            </a:extLst>
          </p:cNvPr>
          <p:cNvSpPr>
            <a:spLocks xmlns:a="http://schemas.openxmlformats.org/drawingml/2006/main" noGrp="1"/>
          </p:cNvSpPr>
          <p:nvPr/>
        </p:nvSpPr>
        <p:spPr>
          <a:xfrm xmlns:a="http://schemas.openxmlformats.org/drawingml/2006/main">
            <a:off x="4810125" y="33337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70" name="space-particle-5">
            <a:extLst xmlns:a="http://schemas.openxmlformats.org/drawingml/2006/main">
              <a:ext uri="{FF2B5EF4-FFF2-40B4-BE49-F238E27FC236}">
                <a16:creationId xmlns:a16="http://schemas.microsoft.com/office/drawing/2014/main" id="{B98EE6A2-506D-4725-BD36-83DB48CBF917}"/>
              </a:ext>
            </a:extLst>
          </p:cNvPr>
          <p:cNvSpPr>
            <a:spLocks xmlns:a="http://schemas.openxmlformats.org/drawingml/2006/main" noGrp="1"/>
          </p:cNvSpPr>
          <p:nvPr/>
        </p:nvSpPr>
        <p:spPr>
          <a:xfrm xmlns:a="http://schemas.openxmlformats.org/drawingml/2006/main">
            <a:off x="5810250" y="3914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71" name="space-particle-6">
            <a:extLst xmlns:a="http://schemas.openxmlformats.org/drawingml/2006/main">
              <a:ext uri="{FF2B5EF4-FFF2-40B4-BE49-F238E27FC236}">
                <a16:creationId xmlns:a16="http://schemas.microsoft.com/office/drawing/2014/main" id="{36C335FE-E073-4827-A538-E56D584F99B4}"/>
              </a:ext>
            </a:extLst>
          </p:cNvPr>
          <p:cNvSpPr>
            <a:spLocks xmlns:a="http://schemas.openxmlformats.org/drawingml/2006/main" noGrp="1"/>
          </p:cNvSpPr>
          <p:nvPr/>
        </p:nvSpPr>
        <p:spPr>
          <a:xfrm xmlns:a="http://schemas.openxmlformats.org/drawingml/2006/main">
            <a:off x="6924675" y="35623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72" name="space-particle-7">
            <a:extLst xmlns:a="http://schemas.openxmlformats.org/drawingml/2006/main">
              <a:ext uri="{FF2B5EF4-FFF2-40B4-BE49-F238E27FC236}">
                <a16:creationId xmlns:a16="http://schemas.microsoft.com/office/drawing/2014/main" id="{10095367-F091-4480-A877-DE20CD8EF209}"/>
              </a:ext>
            </a:extLst>
          </p:cNvPr>
          <p:cNvSpPr>
            <a:spLocks xmlns:a="http://schemas.openxmlformats.org/drawingml/2006/main" noGrp="1"/>
          </p:cNvSpPr>
          <p:nvPr/>
        </p:nvSpPr>
        <p:spPr>
          <a:xfrm xmlns:a="http://schemas.openxmlformats.org/drawingml/2006/main">
            <a:off x="8248650" y="384810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73" name="space-particle-8">
            <a:extLst xmlns:a="http://schemas.openxmlformats.org/drawingml/2006/main">
              <a:ext uri="{FF2B5EF4-FFF2-40B4-BE49-F238E27FC236}">
                <a16:creationId xmlns:a16="http://schemas.microsoft.com/office/drawing/2014/main" id="{C3400F94-C822-493F-99ED-0AA8E06C4D8F}"/>
              </a:ext>
            </a:extLst>
          </p:cNvPr>
          <p:cNvSpPr>
            <a:spLocks xmlns:a="http://schemas.openxmlformats.org/drawingml/2006/main" noGrp="1"/>
          </p:cNvSpPr>
          <p:nvPr/>
        </p:nvSpPr>
        <p:spPr>
          <a:xfrm xmlns:a="http://schemas.openxmlformats.org/drawingml/2006/main">
            <a:off x="8448675" y="23526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74" name="Line">
            <a:extLst xmlns:a="http://schemas.openxmlformats.org/drawingml/2006/main">
              <a:ext uri="{FF2B5EF4-FFF2-40B4-BE49-F238E27FC236}">
                <a16:creationId xmlns:a16="http://schemas.microsoft.com/office/drawing/2014/main" id="{60F46D0B-A667-4F2B-A66E-0B9B4EC95253}"/>
              </a:ext>
            </a:extLst>
          </p:cNvPr>
          <p:cNvSpPr>
            <a:spLocks xmlns:a="http://schemas.openxmlformats.org/drawingml/2006/main" noGrp="1"/>
          </p:cNvSpPr>
          <p:nvPr/>
        </p:nvSpPr>
        <p:spPr>
          <a:xfrm xmlns:a="http://schemas.openxmlformats.org/drawingml/2006/main">
            <a:off x="2507852" y="2376487"/>
            <a:ext cx="311152" cy="1"/>
          </a:xfrm>
          <a:prstGeom xmlns:a="http://schemas.openxmlformats.org/drawingml/2006/main" prst="line">
            <a:avLst/>
          </a:prstGeom>
          <a:ln xmlns:a="http://schemas.openxmlformats.org/drawingml/2006/main" w="28575">
            <a:solidFill>
              <a:srgbClr val="4A9EBA"/>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75" name="ghost-current-up">
            <a:extLst xmlns:a="http://schemas.openxmlformats.org/drawingml/2006/main">
              <a:ext uri="{FF2B5EF4-FFF2-40B4-BE49-F238E27FC236}">
                <a16:creationId xmlns:a16="http://schemas.microsoft.com/office/drawing/2014/main" id="{9D7A5ADA-2B60-4265-B495-1473F9637F96}"/>
              </a:ext>
            </a:extLst>
          </p:cNvPr>
          <p:cNvSpPr>
            <a:spLocks xmlns:a="http://schemas.openxmlformats.org/drawingml/2006/main" noGrp="1"/>
          </p:cNvSpPr>
          <p:nvPr/>
        </p:nvSpPr>
        <p:spPr>
          <a:xfrm xmlns:a="http://schemas.openxmlformats.org/drawingml/2006/main">
            <a:off x="5357812" y="1639633"/>
            <a:ext cx="2305052" cy="561976"/>
          </a:xfrm>
          <a:prstGeom xmlns:a="http://schemas.openxmlformats.org/drawingml/2006/main" prst="line">
            <a:avLst/>
          </a:prstGeom>
          <a:ln xmlns:a="http://schemas.openxmlformats.org/drawingml/2006/main" w="47625">
            <a:solidFill>
              <a:srgbClr val="2A38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76" name="ghost-current-down">
            <a:extLst xmlns:a="http://schemas.openxmlformats.org/drawingml/2006/main">
              <a:ext uri="{FF2B5EF4-FFF2-40B4-BE49-F238E27FC236}">
                <a16:creationId xmlns:a16="http://schemas.microsoft.com/office/drawing/2014/main" id="{86000179-A77D-495E-9DCB-3D247DF28F39}"/>
              </a:ext>
            </a:extLst>
          </p:cNvPr>
          <p:cNvSpPr>
            <a:spLocks xmlns:a="http://schemas.openxmlformats.org/drawingml/2006/main" noGrp="1"/>
          </p:cNvSpPr>
          <p:nvPr/>
        </p:nvSpPr>
        <p:spPr>
          <a:xfrm xmlns:a="http://schemas.openxmlformats.org/drawingml/2006/main">
            <a:off x="5362574" y="3054167"/>
            <a:ext cx="2143127" cy="581026"/>
          </a:xfrm>
          <a:prstGeom xmlns:a="http://schemas.openxmlformats.org/drawingml/2006/main" prst="line">
            <a:avLst/>
          </a:prstGeom>
          <a:ln xmlns:a="http://schemas.openxmlformats.org/drawingml/2006/main" w="47625">
            <a:solidFill>
              <a:srgbClr val="2A38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77" name="anthropic-citation">
            <a:extLst xmlns:a="http://schemas.openxmlformats.org/drawingml/2006/main">
              <a:ext uri="{FF2B5EF4-FFF2-40B4-BE49-F238E27FC236}">
                <a16:creationId xmlns:a16="http://schemas.microsoft.com/office/drawing/2014/main" id="{1BC1230A-7F9A-4FAB-ADEF-5EC65F05605E}"/>
              </a:ext>
            </a:extLst>
          </p:cNvPr>
          <p:cNvSpPr>
            <a:spLocks xmlns:a="http://schemas.openxmlformats.org/drawingml/2006/main" noGrp="1"/>
          </p:cNvSpPr>
          <p:nvPr/>
        </p:nvSpPr>
        <p:spPr>
          <a:xfrm xmlns:a="http://schemas.openxmlformats.org/drawingml/2006/main">
            <a:off x="5760719" y="4804166"/>
            <a:ext cx="2918462" cy="202418"/>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r">
              <a:buNone/>
              <a:defRPr sz="800">
                <a:solidFill>
                  <a:srgbClr val="8FA5BB"/>
                </a:solidFill>
                <a:latin typeface="Arial"/>
                <a:ea typeface="Arial"/>
                <a:cs typeface="Arial"/>
              </a:defRPr>
            </a:lvl1pPr>
          </a:lstStyle>
          <a:p xmlns:a="http://schemas.openxmlformats.org/drawingml/2006/main">
            <a:pPr>
              <a:buNone/>
            </a:pPr>
            <a:r>
              <a:t>Concept adapted from Sofroniew, Lindsey et al. (2026)</a:t>
            </a:r>
          </a:p>
        </p:txBody>
      </p:sp>
      <p:sp>
        <p:nvSpPr>
          <p:cNvPr id="78" name="origin-node">
            <a:extLst xmlns:a="http://schemas.openxmlformats.org/drawingml/2006/main">
              <a:ext uri="{FF2B5EF4-FFF2-40B4-BE49-F238E27FC236}">
                <a16:creationId xmlns:a16="http://schemas.microsoft.com/office/drawing/2014/main" id="{CB61B971-299C-4339-AA87-610A55CB6BAF}"/>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79" name="origin-node">
            <a:extLst xmlns:a="http://schemas.openxmlformats.org/drawingml/2006/main">
              <a:ext uri="{FF2B5EF4-FFF2-40B4-BE49-F238E27FC236}">
                <a16:creationId xmlns:a16="http://schemas.microsoft.com/office/drawing/2014/main" id="{AEDE12B9-B2D6-478B-9380-66B6F733B961}"/>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80" name="origin-label">
            <a:extLst xmlns:a="http://schemas.openxmlformats.org/drawingml/2006/main">
              <a:ext uri="{FF2B5EF4-FFF2-40B4-BE49-F238E27FC236}">
                <a16:creationId xmlns:a16="http://schemas.microsoft.com/office/drawing/2014/main" id="{0403C557-B492-4E8B-87CA-84905D86E8F3}"/>
              </a:ext>
            </a:extLst>
          </p:cNvPr>
          <p:cNvSpPr>
            <a:spLocks xmlns:a="http://schemas.openxmlformats.org/drawingml/2006/main" noGrp="1"/>
          </p:cNvSpPr>
          <p:nvPr/>
        </p:nvSpPr>
        <p:spPr>
          <a:xfrm xmlns:a="http://schemas.openxmlformats.org/drawingml/2006/main">
            <a:off x="4490720" y="2893024"/>
            <a:ext cx="7277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900">
                <a:solidFill>
                  <a:srgbClr val="8FA5BB"/>
                </a:solidFill>
                <a:latin typeface="Arial"/>
                <a:ea typeface="Arial"/>
                <a:cs typeface="Arial"/>
              </a:defRPr>
            </a:lvl1pPr>
          </a:lstStyle>
          <a:p xmlns:a="http://schemas.openxmlformats.org/drawingml/2006/main">
            <a:pPr>
              <a:buNone/>
            </a:pPr>
            <a:r>
              <a:t>neutral</a:t>
            </a:r>
          </a:p>
        </p:txBody>
      </p:sp>
      <p:sp>
        <p:nvSpPr>
          <p:cNvPr id="81" name="Shape 0">
            <a:extLst xmlns:a="http://schemas.openxmlformats.org/drawingml/2006/main">
              <a:ext uri="{FF2B5EF4-FFF2-40B4-BE49-F238E27FC236}">
                <a16:creationId xmlns:a16="http://schemas.microsoft.com/office/drawing/2014/main" id="{F58F7193-CC80-4CEA-A5AD-F94E29836BEA}"/>
              </a:ext>
            </a:extLst>
          </p:cNvPr>
          <p:cNvSpPr>
            <a:spLocks xmlns:a="http://schemas.openxmlformats.org/drawingml/2006/main" noGrp="1"/>
          </p:cNvSpPr>
          <p:nvPr/>
        </p:nvSpPr>
        <p:spPr>
          <a:xfrm xmlns:a="http://schemas.openxmlformats.org/drawingml/2006/main">
            <a:off x="-1" y="981273"/>
            <a:ext cx="4044271" cy="4162228"/>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231157085"/>
      </p:ext>
    </p:extLst>
  </p:cSld>
</p:sld>
</file>

<file path=ppt/slides/slide4.xml><?xml version="1.0" encoding="utf-8"?>
<p:sld xmlns:p="http://schemas.openxmlformats.org/presentationml/2006/main" showMasterSp="1">
  <p:cSld>
    <p:spTree>
      <p:nvGrpSpPr>
        <p:cNvPr id="1" name=""/>
        <p:cNvGrpSpPr/>
        <p:nvPr/>
      </p:nvGrpSpPr>
      <p:grpSpPr>
        <a:xfrm xmlns:a="http://schemas.openxmlformats.org/drawingml/2006/main"/>
      </p:grpSpPr>
      <p:sp>
        <p:nvSpPr>
          <p:cNvPr id="85" name="Shape 0">
            <a:extLst xmlns:a="http://schemas.openxmlformats.org/drawingml/2006/main">
              <a:ext uri="{FF2B5EF4-FFF2-40B4-BE49-F238E27FC236}">
                <a16:creationId xmlns:a16="http://schemas.microsoft.com/office/drawing/2014/main" id="{A751F5BD-2A88-4A43-A0EC-E51CDEBB6BAC}"/>
              </a:ext>
            </a:extLst>
          </p:cNvPr>
          <p:cNvSpPr>
            <a:spLocks xmlns:a="http://schemas.openxmlformats.org/drawingml/2006/main" noGrp="1"/>
          </p:cNvSpPr>
          <p:nvPr/>
        </p:nvSpPr>
        <p:spPr>
          <a:xfrm xmlns:a="http://schemas.openxmlformats.org/drawingml/2006/main">
            <a:off x="-1" y="0"/>
            <a:ext cx="9144001" cy="5143501"/>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86" name="Text 1">
            <a:extLst xmlns:a="http://schemas.openxmlformats.org/drawingml/2006/main">
              <a:ext uri="{FF2B5EF4-FFF2-40B4-BE49-F238E27FC236}">
                <a16:creationId xmlns:a16="http://schemas.microsoft.com/office/drawing/2014/main" id="{C180DA3B-BC63-4BC0-A315-98E833FBD13C}"/>
              </a:ext>
            </a:extLst>
          </p:cNvPr>
          <p:cNvSpPr>
            <a:spLocks xmlns:a="http://schemas.openxmlformats.org/drawingml/2006/main" noGrp="1"/>
          </p:cNvSpPr>
          <p:nvPr/>
        </p:nvSpPr>
        <p:spPr>
          <a:xfrm xmlns:a="http://schemas.openxmlformats.org/drawingml/2006/main">
            <a:off x="411479" y="336041"/>
            <a:ext cx="8321042" cy="3429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A story becomes a hidden activation</a:t>
            </a:r>
          </a:p>
        </p:txBody>
      </p:sp>
      <p:sp>
        <p:nvSpPr>
          <p:cNvPr id="87" name="story-cue">
            <a:extLst xmlns:a="http://schemas.openxmlformats.org/drawingml/2006/main">
              <a:ext uri="{FF2B5EF4-FFF2-40B4-BE49-F238E27FC236}">
                <a16:creationId xmlns:a16="http://schemas.microsoft.com/office/drawing/2014/main" id="{15505604-2BF1-489F-9E2F-59854713725A}"/>
              </a:ext>
            </a:extLst>
          </p:cNvPr>
          <p:cNvSpPr>
            <a:spLocks xmlns:a="http://schemas.openxmlformats.org/drawingml/2006/main" noGrp="1"/>
          </p:cNvSpPr>
          <p:nvPr/>
        </p:nvSpPr>
        <p:spPr>
          <a:xfrm xmlns:a="http://schemas.openxmlformats.org/drawingml/2006/main">
            <a:off x="269081" y="1938338"/>
            <a:ext cx="2190751" cy="876301"/>
          </a:xfrm>
          <a:prstGeom xmlns:a="http://schemas.openxmlformats.org/drawingml/2006/main" prst="roundRect">
            <a:avLst>
              <a:gd name="adj" fmla="val 15217"/>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88" name="story-label">
            <a:extLst xmlns:a="http://schemas.openxmlformats.org/drawingml/2006/main">
              <a:ext uri="{FF2B5EF4-FFF2-40B4-BE49-F238E27FC236}">
                <a16:creationId xmlns:a16="http://schemas.microsoft.com/office/drawing/2014/main" id="{F1FFBB38-1695-496F-A6CD-9A06AEA04A0B}"/>
              </a:ext>
            </a:extLst>
          </p:cNvPr>
          <p:cNvSpPr>
            <a:spLocks xmlns:a="http://schemas.openxmlformats.org/drawingml/2006/main" noGrp="1"/>
          </p:cNvSpPr>
          <p:nvPr/>
        </p:nvSpPr>
        <p:spPr>
          <a:xfrm xmlns:a="http://schemas.openxmlformats.org/drawingml/2006/main">
            <a:off x="457675" y="1983387"/>
            <a:ext cx="59436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STORY</a:t>
            </a:r>
          </a:p>
        </p:txBody>
      </p:sp>
      <p:sp>
        <p:nvSpPr>
          <p:cNvPr id="89" name="story-copy">
            <a:extLst xmlns:a="http://schemas.openxmlformats.org/drawingml/2006/main">
              <a:ext uri="{FF2B5EF4-FFF2-40B4-BE49-F238E27FC236}">
                <a16:creationId xmlns:a16="http://schemas.microsoft.com/office/drawing/2014/main" id="{725A01C4-0772-4EC4-B340-99217EDCDECA}"/>
              </a:ext>
            </a:extLst>
          </p:cNvPr>
          <p:cNvSpPr>
            <a:spLocks xmlns:a="http://schemas.openxmlformats.org/drawingml/2006/main" noGrp="1"/>
          </p:cNvSpPr>
          <p:nvPr/>
        </p:nvSpPr>
        <p:spPr>
          <a:xfrm xmlns:a="http://schemas.openxmlformats.org/drawingml/2006/main">
            <a:off x="457675" y="2304893"/>
            <a:ext cx="1813562" cy="276540"/>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300">
                <a:solidFill>
                  <a:srgbClr val="EEF2F7"/>
                </a:solidFill>
                <a:latin typeface="Arial"/>
                <a:ea typeface="Arial"/>
                <a:cs typeface="Arial"/>
              </a:defRPr>
            </a:lvl1pPr>
          </a:lstStyle>
          <a:p xmlns:a="http://schemas.openxmlformats.org/drawingml/2006/main">
            <a:pPr>
              <a:buNone/>
            </a:pPr>
            <a:r>
              <a:t>A very scary story.</a:t>
            </a:r>
          </a:p>
        </p:txBody>
      </p:sp>
      <p:sp>
        <p:nvSpPr>
          <p:cNvPr id="90" name="llm-gate">
            <a:extLst xmlns:a="http://schemas.openxmlformats.org/drawingml/2006/main">
              <a:ext uri="{FF2B5EF4-FFF2-40B4-BE49-F238E27FC236}">
                <a16:creationId xmlns:a16="http://schemas.microsoft.com/office/drawing/2014/main" id="{BCDAE161-7DD5-49F8-85C7-C6399B0754F8}"/>
              </a:ext>
            </a:extLst>
          </p:cNvPr>
          <p:cNvSpPr>
            <a:spLocks xmlns:a="http://schemas.openxmlformats.org/drawingml/2006/main" noGrp="1"/>
          </p:cNvSpPr>
          <p:nvPr/>
        </p:nvSpPr>
        <p:spPr>
          <a:xfrm xmlns:a="http://schemas.openxmlformats.org/drawingml/2006/main">
            <a:off x="2857500" y="1504950"/>
            <a:ext cx="1066800" cy="2038350"/>
          </a:xfrm>
          <a:prstGeom xmlns:a="http://schemas.openxmlformats.org/drawingml/2006/main" prst="roundRect">
            <a:avLst>
              <a:gd name="adj" fmla="val 16071"/>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91" name="llm-label">
            <a:extLst xmlns:a="http://schemas.openxmlformats.org/drawingml/2006/main">
              <a:ext uri="{FF2B5EF4-FFF2-40B4-BE49-F238E27FC236}">
                <a16:creationId xmlns:a16="http://schemas.microsoft.com/office/drawing/2014/main" id="{5BB5DB10-5578-4448-A654-7BE3898D6663}"/>
              </a:ext>
            </a:extLst>
          </p:cNvPr>
          <p:cNvSpPr>
            <a:spLocks xmlns:a="http://schemas.openxmlformats.org/drawingml/2006/main" noGrp="1"/>
          </p:cNvSpPr>
          <p:nvPr/>
        </p:nvSpPr>
        <p:spPr>
          <a:xfrm xmlns:a="http://schemas.openxmlformats.org/drawingml/2006/main">
            <a:off x="3055620" y="2085477"/>
            <a:ext cx="670561" cy="36294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900" b="1">
                <a:solidFill>
                  <a:srgbClr val="EEF2F7"/>
                </a:solidFill>
                <a:latin typeface="Arial"/>
                <a:ea typeface="Arial"/>
                <a:cs typeface="Arial"/>
              </a:defRPr>
            </a:lvl1pPr>
          </a:lstStyle>
          <a:p xmlns:a="http://schemas.openxmlformats.org/drawingml/2006/main">
            <a:pPr>
              <a:buNone/>
            </a:pPr>
            <a:r>
              <a:t>LLM</a:t>
            </a:r>
          </a:p>
        </p:txBody>
      </p:sp>
      <p:sp>
        <p:nvSpPr>
          <p:cNvPr id="92" name="llm-subtitle">
            <a:extLst xmlns:a="http://schemas.openxmlformats.org/drawingml/2006/main">
              <a:ext uri="{FF2B5EF4-FFF2-40B4-BE49-F238E27FC236}">
                <a16:creationId xmlns:a16="http://schemas.microsoft.com/office/drawing/2014/main" id="{26FB078E-60E6-4136-889A-1649B5D50DDC}"/>
              </a:ext>
            </a:extLst>
          </p:cNvPr>
          <p:cNvSpPr>
            <a:spLocks xmlns:a="http://schemas.openxmlformats.org/drawingml/2006/main" noGrp="1"/>
          </p:cNvSpPr>
          <p:nvPr/>
        </p:nvSpPr>
        <p:spPr>
          <a:xfrm xmlns:a="http://schemas.openxmlformats.org/drawingml/2006/main">
            <a:off x="2998470" y="2540807"/>
            <a:ext cx="784861"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p xmlns:a="http://schemas.openxmlformats.org/drawingml/2006/main">
            <a:pPr algn="ctr">
              <a:buNone/>
              <a:defRPr sz="1000">
                <a:solidFill>
                  <a:srgbClr val="4A9EBA"/>
                </a:solidFill>
                <a:latin typeface="Arial"/>
                <a:ea typeface="Arial"/>
                <a:cs typeface="Arial"/>
              </a:defRPr>
            </a:pPr>
            <a:r>
              <a:t>words leads</a:t>
            </a:r>
          </a:p>
          <a:p xmlns:a="http://schemas.openxmlformats.org/drawingml/2006/main">
            <a:pPr algn="ctr">
              <a:buNone/>
              <a:defRPr sz="1000">
                <a:solidFill>
                  <a:srgbClr val="4A9EBA"/>
                </a:solidFill>
                <a:latin typeface="Arial"/>
                <a:ea typeface="Arial"/>
                <a:cs typeface="Arial"/>
              </a:defRPr>
            </a:pPr>
            <a:r>
              <a:t>activations</a:t>
            </a:r>
          </a:p>
        </p:txBody>
      </p:sp>
      <p:sp>
        <p:nvSpPr>
          <p:cNvPr id="93" name="gate-node-22-24">
            <a:extLst xmlns:a="http://schemas.openxmlformats.org/drawingml/2006/main">
              <a:ext uri="{FF2B5EF4-FFF2-40B4-BE49-F238E27FC236}">
                <a16:creationId xmlns:a16="http://schemas.microsoft.com/office/drawing/2014/main" id="{34A1E09C-C5E5-41B1-ACDE-207D48626DA7}"/>
              </a:ext>
            </a:extLst>
          </p:cNvPr>
          <p:cNvSpPr>
            <a:spLocks xmlns:a="http://schemas.openxmlformats.org/drawingml/2006/main" noGrp="1"/>
          </p:cNvSpPr>
          <p:nvPr/>
        </p:nvSpPr>
        <p:spPr>
          <a:xfrm xmlns:a="http://schemas.openxmlformats.org/drawingml/2006/main">
            <a:off x="3067050" y="173355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94" name="gate-node-55-31">
            <a:extLst xmlns:a="http://schemas.openxmlformats.org/drawingml/2006/main">
              <a:ext uri="{FF2B5EF4-FFF2-40B4-BE49-F238E27FC236}">
                <a16:creationId xmlns:a16="http://schemas.microsoft.com/office/drawing/2014/main" id="{3F105B50-8B9E-4B97-AD5A-AF59C441F7E3}"/>
              </a:ext>
            </a:extLst>
          </p:cNvPr>
          <p:cNvSpPr>
            <a:spLocks xmlns:a="http://schemas.openxmlformats.org/drawingml/2006/main" noGrp="1"/>
          </p:cNvSpPr>
          <p:nvPr/>
        </p:nvSpPr>
        <p:spPr>
          <a:xfrm xmlns:a="http://schemas.openxmlformats.org/drawingml/2006/main">
            <a:off x="3381375" y="1800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95" name="gate-node-79-63">
            <a:extLst xmlns:a="http://schemas.openxmlformats.org/drawingml/2006/main">
              <a:ext uri="{FF2B5EF4-FFF2-40B4-BE49-F238E27FC236}">
                <a16:creationId xmlns:a16="http://schemas.microsoft.com/office/drawing/2014/main" id="{65C2192D-F449-4DE3-9C7E-E1AEDC9164D8}"/>
              </a:ext>
            </a:extLst>
          </p:cNvPr>
          <p:cNvSpPr>
            <a:spLocks xmlns:a="http://schemas.openxmlformats.org/drawingml/2006/main" noGrp="1"/>
          </p:cNvSpPr>
          <p:nvPr/>
        </p:nvSpPr>
        <p:spPr>
          <a:xfrm xmlns:a="http://schemas.openxmlformats.org/drawingml/2006/main">
            <a:off x="3609975" y="21050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96" name="gate-node-28-151">
            <a:extLst xmlns:a="http://schemas.openxmlformats.org/drawingml/2006/main">
              <a:ext uri="{FF2B5EF4-FFF2-40B4-BE49-F238E27FC236}">
                <a16:creationId xmlns:a16="http://schemas.microsoft.com/office/drawing/2014/main" id="{2ECA02E5-D35F-4AB5-A108-D392FE745ABD}"/>
              </a:ext>
            </a:extLst>
          </p:cNvPr>
          <p:cNvSpPr>
            <a:spLocks xmlns:a="http://schemas.openxmlformats.org/drawingml/2006/main" noGrp="1"/>
          </p:cNvSpPr>
          <p:nvPr/>
        </p:nvSpPr>
        <p:spPr>
          <a:xfrm xmlns:a="http://schemas.openxmlformats.org/drawingml/2006/main">
            <a:off x="3124200" y="2943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97" name="gate-node-82-174">
            <a:extLst xmlns:a="http://schemas.openxmlformats.org/drawingml/2006/main">
              <a:ext uri="{FF2B5EF4-FFF2-40B4-BE49-F238E27FC236}">
                <a16:creationId xmlns:a16="http://schemas.microsoft.com/office/drawing/2014/main" id="{BB5E19DC-B501-4D02-8E01-33B0ED4E2770}"/>
              </a:ext>
            </a:extLst>
          </p:cNvPr>
          <p:cNvSpPr>
            <a:spLocks xmlns:a="http://schemas.openxmlformats.org/drawingml/2006/main" noGrp="1"/>
          </p:cNvSpPr>
          <p:nvPr/>
        </p:nvSpPr>
        <p:spPr>
          <a:xfrm xmlns:a="http://schemas.openxmlformats.org/drawingml/2006/main">
            <a:off x="3638550" y="316230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98" name="activation-space">
            <a:extLst xmlns:a="http://schemas.openxmlformats.org/drawingml/2006/main">
              <a:ext uri="{FF2B5EF4-FFF2-40B4-BE49-F238E27FC236}">
                <a16:creationId xmlns:a16="http://schemas.microsoft.com/office/drawing/2014/main" id="{8F5CAE24-47C1-466C-8688-E46F21C21E85}"/>
              </a:ext>
            </a:extLst>
          </p:cNvPr>
          <p:cNvSpPr>
            <a:spLocks xmlns:a="http://schemas.openxmlformats.org/drawingml/2006/main" noGrp="1"/>
          </p:cNvSpPr>
          <p:nvPr/>
        </p:nvSpPr>
        <p:spPr>
          <a:xfrm xmlns:a="http://schemas.openxmlformats.org/drawingml/2006/main">
            <a:off x="4143375" y="1000125"/>
            <a:ext cx="4581525" cy="3333750"/>
          </a:xfrm>
          <a:prstGeom xmlns:a="http://schemas.openxmlformats.org/drawingml/2006/main" prst="roundRect">
            <a:avLst>
              <a:gd name="adj" fmla="val 6286"/>
            </a:avLst>
          </a:prstGeom>
          <a:solidFill xmlns:a="http://schemas.openxmlformats.org/drawingml/2006/main">
            <a:srgbClr val="1E2D45"/>
          </a:solidFill>
          <a:ln xmlns:a="http://schemas.openxmlformats.org/drawingml/2006/main" w="14288">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99" name="space-label">
            <a:extLst xmlns:a="http://schemas.openxmlformats.org/drawingml/2006/main">
              <a:ext uri="{FF2B5EF4-FFF2-40B4-BE49-F238E27FC236}">
                <a16:creationId xmlns:a16="http://schemas.microsoft.com/office/drawing/2014/main" id="{0AC0D877-1A40-47E6-BDDD-D57A8B3C7F18}"/>
              </a:ext>
            </a:extLst>
          </p:cNvPr>
          <p:cNvSpPr>
            <a:spLocks xmlns:a="http://schemas.openxmlformats.org/drawingml/2006/main" noGrp="1"/>
          </p:cNvSpPr>
          <p:nvPr/>
        </p:nvSpPr>
        <p:spPr>
          <a:xfrm xmlns:a="http://schemas.openxmlformats.org/drawingml/2006/main">
            <a:off x="4436745" y="1149949"/>
            <a:ext cx="22898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HIDDEN ACTIVATION SPACE</a:t>
            </a:r>
          </a:p>
        </p:txBody>
      </p:sp>
      <p:sp>
        <p:nvSpPr>
          <p:cNvPr id="100" name="space-particle-0">
            <a:extLst xmlns:a="http://schemas.openxmlformats.org/drawingml/2006/main">
              <a:ext uri="{FF2B5EF4-FFF2-40B4-BE49-F238E27FC236}">
                <a16:creationId xmlns:a16="http://schemas.microsoft.com/office/drawing/2014/main" id="{8B41A057-42FB-4076-855F-0D880336441A}"/>
              </a:ext>
            </a:extLst>
          </p:cNvPr>
          <p:cNvSpPr>
            <a:spLocks xmlns:a="http://schemas.openxmlformats.org/drawingml/2006/main" noGrp="1"/>
          </p:cNvSpPr>
          <p:nvPr/>
        </p:nvSpPr>
        <p:spPr>
          <a:xfrm xmlns:a="http://schemas.openxmlformats.org/drawingml/2006/main">
            <a:off x="4591050" y="17430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01" name="space-particle-1">
            <a:extLst xmlns:a="http://schemas.openxmlformats.org/drawingml/2006/main">
              <a:ext uri="{FF2B5EF4-FFF2-40B4-BE49-F238E27FC236}">
                <a16:creationId xmlns:a16="http://schemas.microsoft.com/office/drawing/2014/main" id="{3CFE2739-8DB3-454A-93EB-B2DE17325032}"/>
              </a:ext>
            </a:extLst>
          </p:cNvPr>
          <p:cNvSpPr>
            <a:spLocks xmlns:a="http://schemas.openxmlformats.org/drawingml/2006/main" noGrp="1"/>
          </p:cNvSpPr>
          <p:nvPr/>
        </p:nvSpPr>
        <p:spPr>
          <a:xfrm xmlns:a="http://schemas.openxmlformats.org/drawingml/2006/main">
            <a:off x="5476875" y="15049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02" name="space-particle-2">
            <a:extLst xmlns:a="http://schemas.openxmlformats.org/drawingml/2006/main">
              <a:ext uri="{FF2B5EF4-FFF2-40B4-BE49-F238E27FC236}">
                <a16:creationId xmlns:a16="http://schemas.microsoft.com/office/drawing/2014/main" id="{6C5B5073-0092-42EA-ADBD-A329ED9F69C2}"/>
              </a:ext>
            </a:extLst>
          </p:cNvPr>
          <p:cNvSpPr>
            <a:spLocks xmlns:a="http://schemas.openxmlformats.org/drawingml/2006/main" noGrp="1"/>
          </p:cNvSpPr>
          <p:nvPr/>
        </p:nvSpPr>
        <p:spPr>
          <a:xfrm xmlns:a="http://schemas.openxmlformats.org/drawingml/2006/main">
            <a:off x="6486525" y="191452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03" name="space-particle-3">
            <a:extLst xmlns:a="http://schemas.openxmlformats.org/drawingml/2006/main">
              <a:ext uri="{FF2B5EF4-FFF2-40B4-BE49-F238E27FC236}">
                <a16:creationId xmlns:a16="http://schemas.microsoft.com/office/drawing/2014/main" id="{4CB860D4-E251-4866-B7EE-B2073493B0F3}"/>
              </a:ext>
            </a:extLst>
          </p:cNvPr>
          <p:cNvSpPr>
            <a:spLocks xmlns:a="http://schemas.openxmlformats.org/drawingml/2006/main" noGrp="1"/>
          </p:cNvSpPr>
          <p:nvPr/>
        </p:nvSpPr>
        <p:spPr>
          <a:xfrm xmlns:a="http://schemas.openxmlformats.org/drawingml/2006/main">
            <a:off x="7962900" y="1628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04" name="space-particle-4">
            <a:extLst xmlns:a="http://schemas.openxmlformats.org/drawingml/2006/main">
              <a:ext uri="{FF2B5EF4-FFF2-40B4-BE49-F238E27FC236}">
                <a16:creationId xmlns:a16="http://schemas.microsoft.com/office/drawing/2014/main" id="{98C31061-177A-4187-802D-F7D7CD2D2204}"/>
              </a:ext>
            </a:extLst>
          </p:cNvPr>
          <p:cNvSpPr>
            <a:spLocks xmlns:a="http://schemas.openxmlformats.org/drawingml/2006/main" noGrp="1"/>
          </p:cNvSpPr>
          <p:nvPr/>
        </p:nvSpPr>
        <p:spPr>
          <a:xfrm xmlns:a="http://schemas.openxmlformats.org/drawingml/2006/main">
            <a:off x="4810125" y="33337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05" name="space-particle-5">
            <a:extLst xmlns:a="http://schemas.openxmlformats.org/drawingml/2006/main">
              <a:ext uri="{FF2B5EF4-FFF2-40B4-BE49-F238E27FC236}">
                <a16:creationId xmlns:a16="http://schemas.microsoft.com/office/drawing/2014/main" id="{06348A10-F306-4C77-8613-6A2A4FE94470}"/>
              </a:ext>
            </a:extLst>
          </p:cNvPr>
          <p:cNvSpPr>
            <a:spLocks xmlns:a="http://schemas.openxmlformats.org/drawingml/2006/main" noGrp="1"/>
          </p:cNvSpPr>
          <p:nvPr/>
        </p:nvSpPr>
        <p:spPr>
          <a:xfrm xmlns:a="http://schemas.openxmlformats.org/drawingml/2006/main">
            <a:off x="5810250" y="3914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06" name="space-particle-6">
            <a:extLst xmlns:a="http://schemas.openxmlformats.org/drawingml/2006/main">
              <a:ext uri="{FF2B5EF4-FFF2-40B4-BE49-F238E27FC236}">
                <a16:creationId xmlns:a16="http://schemas.microsoft.com/office/drawing/2014/main" id="{66434E6D-3D5A-489D-82D9-AE3C9FB3E5B0}"/>
              </a:ext>
            </a:extLst>
          </p:cNvPr>
          <p:cNvSpPr>
            <a:spLocks xmlns:a="http://schemas.openxmlformats.org/drawingml/2006/main" noGrp="1"/>
          </p:cNvSpPr>
          <p:nvPr/>
        </p:nvSpPr>
        <p:spPr>
          <a:xfrm xmlns:a="http://schemas.openxmlformats.org/drawingml/2006/main">
            <a:off x="6924675" y="35623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07" name="space-particle-7">
            <a:extLst xmlns:a="http://schemas.openxmlformats.org/drawingml/2006/main">
              <a:ext uri="{FF2B5EF4-FFF2-40B4-BE49-F238E27FC236}">
                <a16:creationId xmlns:a16="http://schemas.microsoft.com/office/drawing/2014/main" id="{EC5941EC-0759-4094-84FD-FC2B4C848220}"/>
              </a:ext>
            </a:extLst>
          </p:cNvPr>
          <p:cNvSpPr>
            <a:spLocks xmlns:a="http://schemas.openxmlformats.org/drawingml/2006/main" noGrp="1"/>
          </p:cNvSpPr>
          <p:nvPr/>
        </p:nvSpPr>
        <p:spPr>
          <a:xfrm xmlns:a="http://schemas.openxmlformats.org/drawingml/2006/main">
            <a:off x="8248650" y="384810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08" name="space-particle-8">
            <a:extLst xmlns:a="http://schemas.openxmlformats.org/drawingml/2006/main">
              <a:ext uri="{FF2B5EF4-FFF2-40B4-BE49-F238E27FC236}">
                <a16:creationId xmlns:a16="http://schemas.microsoft.com/office/drawing/2014/main" id="{647FB90C-6412-4281-B0CA-6173DC39D63A}"/>
              </a:ext>
            </a:extLst>
          </p:cNvPr>
          <p:cNvSpPr>
            <a:spLocks xmlns:a="http://schemas.openxmlformats.org/drawingml/2006/main" noGrp="1"/>
          </p:cNvSpPr>
          <p:nvPr/>
        </p:nvSpPr>
        <p:spPr>
          <a:xfrm xmlns:a="http://schemas.openxmlformats.org/drawingml/2006/main">
            <a:off x="8448675" y="23526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09" name="Line">
            <a:extLst xmlns:a="http://schemas.openxmlformats.org/drawingml/2006/main">
              <a:ext uri="{FF2B5EF4-FFF2-40B4-BE49-F238E27FC236}">
                <a16:creationId xmlns:a16="http://schemas.microsoft.com/office/drawing/2014/main" id="{465E3949-7F67-4711-AB60-95D139ACF774}"/>
              </a:ext>
            </a:extLst>
          </p:cNvPr>
          <p:cNvSpPr>
            <a:spLocks xmlns:a="http://schemas.openxmlformats.org/drawingml/2006/main" noGrp="1"/>
          </p:cNvSpPr>
          <p:nvPr/>
        </p:nvSpPr>
        <p:spPr>
          <a:xfrm xmlns:a="http://schemas.openxmlformats.org/drawingml/2006/main">
            <a:off x="2507852" y="2376488"/>
            <a:ext cx="311151" cy="1"/>
          </a:xfrm>
          <a:prstGeom xmlns:a="http://schemas.openxmlformats.org/drawingml/2006/main" prst="line">
            <a:avLst/>
          </a:prstGeom>
          <a:ln xmlns:a="http://schemas.openxmlformats.org/drawingml/2006/main" w="28575">
            <a:solidFill>
              <a:srgbClr val="4A9EBA"/>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110" name="ghost-current-up">
            <a:extLst xmlns:a="http://schemas.openxmlformats.org/drawingml/2006/main">
              <a:ext uri="{FF2B5EF4-FFF2-40B4-BE49-F238E27FC236}">
                <a16:creationId xmlns:a16="http://schemas.microsoft.com/office/drawing/2014/main" id="{A11EB003-1B49-4F34-9BBE-051BB679D6A9}"/>
              </a:ext>
            </a:extLst>
          </p:cNvPr>
          <p:cNvSpPr>
            <a:spLocks xmlns:a="http://schemas.openxmlformats.org/drawingml/2006/main" noGrp="1"/>
          </p:cNvSpPr>
          <p:nvPr/>
        </p:nvSpPr>
        <p:spPr>
          <a:xfrm xmlns:a="http://schemas.openxmlformats.org/drawingml/2006/main">
            <a:off x="5357813" y="1639633"/>
            <a:ext cx="2305051" cy="561976"/>
          </a:xfrm>
          <a:prstGeom xmlns:a="http://schemas.openxmlformats.org/drawingml/2006/main" prst="line">
            <a:avLst/>
          </a:prstGeom>
          <a:ln xmlns:a="http://schemas.openxmlformats.org/drawingml/2006/main" w="47625">
            <a:solidFill>
              <a:srgbClr val="2A38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11" name="ghost-current-down">
            <a:extLst xmlns:a="http://schemas.openxmlformats.org/drawingml/2006/main">
              <a:ext uri="{FF2B5EF4-FFF2-40B4-BE49-F238E27FC236}">
                <a16:creationId xmlns:a16="http://schemas.microsoft.com/office/drawing/2014/main" id="{BC43CCCF-BD75-460C-A2E3-53E469635C25}"/>
              </a:ext>
            </a:extLst>
          </p:cNvPr>
          <p:cNvSpPr>
            <a:spLocks xmlns:a="http://schemas.openxmlformats.org/drawingml/2006/main" noGrp="1"/>
          </p:cNvSpPr>
          <p:nvPr/>
        </p:nvSpPr>
        <p:spPr>
          <a:xfrm xmlns:a="http://schemas.openxmlformats.org/drawingml/2006/main">
            <a:off x="5362574" y="3054168"/>
            <a:ext cx="2143126" cy="581025"/>
          </a:xfrm>
          <a:prstGeom xmlns:a="http://schemas.openxmlformats.org/drawingml/2006/main" prst="line">
            <a:avLst/>
          </a:prstGeom>
          <a:ln xmlns:a="http://schemas.openxmlformats.org/drawingml/2006/main" w="47625">
            <a:solidFill>
              <a:srgbClr val="2A38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12" name="anthropic-citation">
            <a:extLst xmlns:a="http://schemas.openxmlformats.org/drawingml/2006/main">
              <a:ext uri="{FF2B5EF4-FFF2-40B4-BE49-F238E27FC236}">
                <a16:creationId xmlns:a16="http://schemas.microsoft.com/office/drawing/2014/main" id="{3481CC38-4296-4CA0-AB01-1A0E6D46D46C}"/>
              </a:ext>
            </a:extLst>
          </p:cNvPr>
          <p:cNvSpPr>
            <a:spLocks xmlns:a="http://schemas.openxmlformats.org/drawingml/2006/main" noGrp="1"/>
          </p:cNvSpPr>
          <p:nvPr/>
        </p:nvSpPr>
        <p:spPr>
          <a:xfrm xmlns:a="http://schemas.openxmlformats.org/drawingml/2006/main">
            <a:off x="5760720" y="4804166"/>
            <a:ext cx="2918461" cy="202418"/>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r">
              <a:buNone/>
              <a:defRPr sz="800">
                <a:solidFill>
                  <a:srgbClr val="8FA5BB"/>
                </a:solidFill>
                <a:latin typeface="Arial"/>
                <a:ea typeface="Arial"/>
                <a:cs typeface="Arial"/>
              </a:defRPr>
            </a:lvl1pPr>
          </a:lstStyle>
          <a:p xmlns:a="http://schemas.openxmlformats.org/drawingml/2006/main">
            <a:pPr>
              <a:buNone/>
            </a:pPr>
            <a:r>
              <a:t>Concept adapted from Sofroniew, Lindsey et al. (2026)</a:t>
            </a:r>
          </a:p>
        </p:txBody>
      </p:sp>
      <p:sp>
        <p:nvSpPr>
          <p:cNvPr id="113" name="origin-node">
            <a:extLst xmlns:a="http://schemas.openxmlformats.org/drawingml/2006/main">
              <a:ext uri="{FF2B5EF4-FFF2-40B4-BE49-F238E27FC236}">
                <a16:creationId xmlns:a16="http://schemas.microsoft.com/office/drawing/2014/main" id="{9DD0C92B-D682-4372-8E1E-67D0BF9D81CA}"/>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14" name="origin-node">
            <a:extLst xmlns:a="http://schemas.openxmlformats.org/drawingml/2006/main">
              <a:ext uri="{FF2B5EF4-FFF2-40B4-BE49-F238E27FC236}">
                <a16:creationId xmlns:a16="http://schemas.microsoft.com/office/drawing/2014/main" id="{DCB21C4C-F18F-4A53-BB6A-42381EC3655F}"/>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15" name="origin-label">
            <a:extLst xmlns:a="http://schemas.openxmlformats.org/drawingml/2006/main">
              <a:ext uri="{FF2B5EF4-FFF2-40B4-BE49-F238E27FC236}">
                <a16:creationId xmlns:a16="http://schemas.microsoft.com/office/drawing/2014/main" id="{58EAA08F-2731-45F5-AD07-312F062606F1}"/>
              </a:ext>
            </a:extLst>
          </p:cNvPr>
          <p:cNvSpPr>
            <a:spLocks xmlns:a="http://schemas.openxmlformats.org/drawingml/2006/main" noGrp="1"/>
          </p:cNvSpPr>
          <p:nvPr/>
        </p:nvSpPr>
        <p:spPr>
          <a:xfrm xmlns:a="http://schemas.openxmlformats.org/drawingml/2006/main">
            <a:off x="4490720" y="2893024"/>
            <a:ext cx="7277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900">
                <a:solidFill>
                  <a:srgbClr val="8FA5BB"/>
                </a:solidFill>
                <a:latin typeface="Arial"/>
                <a:ea typeface="Arial"/>
                <a:cs typeface="Arial"/>
              </a:defRPr>
            </a:lvl1pPr>
          </a:lstStyle>
          <a:p xmlns:a="http://schemas.openxmlformats.org/drawingml/2006/main">
            <a:pPr>
              <a:buNone/>
            </a:pPr>
            <a:r>
              <a:t>neutral</a:t>
            </a:r>
          </a:p>
        </p:txBody>
      </p:sp>
      <p:sp>
        <p:nvSpPr>
          <p:cNvPr id="116" name="Shape 0">
            <a:extLst xmlns:a="http://schemas.openxmlformats.org/drawingml/2006/main">
              <a:ext uri="{FF2B5EF4-FFF2-40B4-BE49-F238E27FC236}">
                <a16:creationId xmlns:a16="http://schemas.microsoft.com/office/drawing/2014/main" id="{034E99F1-3800-4143-BC40-0422F7D54E52}"/>
              </a:ext>
            </a:extLst>
          </p:cNvPr>
          <p:cNvSpPr>
            <a:spLocks xmlns:a="http://schemas.openxmlformats.org/drawingml/2006/main" noGrp="1"/>
          </p:cNvSpPr>
          <p:nvPr/>
        </p:nvSpPr>
        <p:spPr>
          <a:xfrm xmlns:a="http://schemas.openxmlformats.org/drawingml/2006/main">
            <a:off x="2507852" y="981273"/>
            <a:ext cx="1536418" cy="4162227"/>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165606669"/>
      </p:ext>
    </p:extLst>
  </p:cSld>
</p:sld>
</file>

<file path=ppt/slides/slide5.xml><?xml version="1.0" encoding="utf-8"?>
<p:sld xmlns:p="http://schemas.openxmlformats.org/presentationml/2006/main" showMasterSp="1">
  <p:cSld>
    <p:spTree>
      <p:nvGrpSpPr>
        <p:cNvPr id="1" name=""/>
        <p:cNvGrpSpPr/>
        <p:nvPr/>
      </p:nvGrpSpPr>
      <p:grpSpPr>
        <a:xfrm xmlns:a="http://schemas.openxmlformats.org/drawingml/2006/main"/>
      </p:grpSpPr>
      <p:sp>
        <p:nvSpPr>
          <p:cNvPr id="120" name="Shape 0">
            <a:extLst xmlns:a="http://schemas.openxmlformats.org/drawingml/2006/main">
              <a:ext uri="{FF2B5EF4-FFF2-40B4-BE49-F238E27FC236}">
                <a16:creationId xmlns:a16="http://schemas.microsoft.com/office/drawing/2014/main" id="{B7AF17BF-0E3F-4C54-B2A5-1702C912109F}"/>
              </a:ext>
            </a:extLst>
          </p:cNvPr>
          <p:cNvSpPr>
            <a:spLocks xmlns:a="http://schemas.openxmlformats.org/drawingml/2006/main" noGrp="1"/>
          </p:cNvSpPr>
          <p:nvPr/>
        </p:nvSpPr>
        <p:spPr>
          <a:xfrm xmlns:a="http://schemas.openxmlformats.org/drawingml/2006/main">
            <a:off x="-1" y="0"/>
            <a:ext cx="9144001" cy="5143501"/>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21" name="Text 1">
            <a:extLst xmlns:a="http://schemas.openxmlformats.org/drawingml/2006/main">
              <a:ext uri="{FF2B5EF4-FFF2-40B4-BE49-F238E27FC236}">
                <a16:creationId xmlns:a16="http://schemas.microsoft.com/office/drawing/2014/main" id="{A53177D9-E304-47FE-87BF-E9449DD32510}"/>
              </a:ext>
            </a:extLst>
          </p:cNvPr>
          <p:cNvSpPr>
            <a:spLocks xmlns:a="http://schemas.openxmlformats.org/drawingml/2006/main" noGrp="1"/>
          </p:cNvSpPr>
          <p:nvPr/>
        </p:nvSpPr>
        <p:spPr>
          <a:xfrm xmlns:a="http://schemas.openxmlformats.org/drawingml/2006/main">
            <a:off x="411479" y="336041"/>
            <a:ext cx="8321042" cy="3429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A story becomes a hidden activation</a:t>
            </a:r>
          </a:p>
        </p:txBody>
      </p:sp>
      <p:sp>
        <p:nvSpPr>
          <p:cNvPr id="122" name="story-cue">
            <a:extLst xmlns:a="http://schemas.openxmlformats.org/drawingml/2006/main">
              <a:ext uri="{FF2B5EF4-FFF2-40B4-BE49-F238E27FC236}">
                <a16:creationId xmlns:a16="http://schemas.microsoft.com/office/drawing/2014/main" id="{1EADDB16-505C-4DE0-AB52-CF3DB191AFB9}"/>
              </a:ext>
            </a:extLst>
          </p:cNvPr>
          <p:cNvSpPr>
            <a:spLocks xmlns:a="http://schemas.openxmlformats.org/drawingml/2006/main" noGrp="1"/>
          </p:cNvSpPr>
          <p:nvPr/>
        </p:nvSpPr>
        <p:spPr>
          <a:xfrm xmlns:a="http://schemas.openxmlformats.org/drawingml/2006/main">
            <a:off x="269081" y="1938338"/>
            <a:ext cx="2190751" cy="876301"/>
          </a:xfrm>
          <a:prstGeom xmlns:a="http://schemas.openxmlformats.org/drawingml/2006/main" prst="roundRect">
            <a:avLst>
              <a:gd name="adj" fmla="val 15217"/>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23" name="story-label">
            <a:extLst xmlns:a="http://schemas.openxmlformats.org/drawingml/2006/main">
              <a:ext uri="{FF2B5EF4-FFF2-40B4-BE49-F238E27FC236}">
                <a16:creationId xmlns:a16="http://schemas.microsoft.com/office/drawing/2014/main" id="{D4611109-FF75-40F1-AFF3-8946D9352E02}"/>
              </a:ext>
            </a:extLst>
          </p:cNvPr>
          <p:cNvSpPr>
            <a:spLocks xmlns:a="http://schemas.openxmlformats.org/drawingml/2006/main" noGrp="1"/>
          </p:cNvSpPr>
          <p:nvPr/>
        </p:nvSpPr>
        <p:spPr>
          <a:xfrm xmlns:a="http://schemas.openxmlformats.org/drawingml/2006/main">
            <a:off x="457675" y="1983387"/>
            <a:ext cx="59436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STORY</a:t>
            </a:r>
          </a:p>
        </p:txBody>
      </p:sp>
      <p:sp>
        <p:nvSpPr>
          <p:cNvPr id="124" name="llm-gate">
            <a:extLst xmlns:a="http://schemas.openxmlformats.org/drawingml/2006/main">
              <a:ext uri="{FF2B5EF4-FFF2-40B4-BE49-F238E27FC236}">
                <a16:creationId xmlns:a16="http://schemas.microsoft.com/office/drawing/2014/main" id="{4C066697-940D-4B3C-A353-D92BB5267432}"/>
              </a:ext>
            </a:extLst>
          </p:cNvPr>
          <p:cNvSpPr>
            <a:spLocks xmlns:a="http://schemas.openxmlformats.org/drawingml/2006/main" noGrp="1"/>
          </p:cNvSpPr>
          <p:nvPr/>
        </p:nvSpPr>
        <p:spPr>
          <a:xfrm xmlns:a="http://schemas.openxmlformats.org/drawingml/2006/main">
            <a:off x="2857500" y="1504950"/>
            <a:ext cx="1066800" cy="2038350"/>
          </a:xfrm>
          <a:prstGeom xmlns:a="http://schemas.openxmlformats.org/drawingml/2006/main" prst="roundRect">
            <a:avLst>
              <a:gd name="adj" fmla="val 16071"/>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25" name="llm-label">
            <a:extLst xmlns:a="http://schemas.openxmlformats.org/drawingml/2006/main">
              <a:ext uri="{FF2B5EF4-FFF2-40B4-BE49-F238E27FC236}">
                <a16:creationId xmlns:a16="http://schemas.microsoft.com/office/drawing/2014/main" id="{A802BB49-CB95-4E55-87F1-327E75FE35FB}"/>
              </a:ext>
            </a:extLst>
          </p:cNvPr>
          <p:cNvSpPr>
            <a:spLocks xmlns:a="http://schemas.openxmlformats.org/drawingml/2006/main" noGrp="1"/>
          </p:cNvSpPr>
          <p:nvPr/>
        </p:nvSpPr>
        <p:spPr>
          <a:xfrm xmlns:a="http://schemas.openxmlformats.org/drawingml/2006/main">
            <a:off x="3055620" y="2085477"/>
            <a:ext cx="670561" cy="36294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900" b="1">
                <a:solidFill>
                  <a:srgbClr val="EEF2F7"/>
                </a:solidFill>
                <a:latin typeface="Arial"/>
                <a:ea typeface="Arial"/>
                <a:cs typeface="Arial"/>
              </a:defRPr>
            </a:lvl1pPr>
          </a:lstStyle>
          <a:p xmlns:a="http://schemas.openxmlformats.org/drawingml/2006/main">
            <a:pPr>
              <a:buNone/>
            </a:pPr>
            <a:r>
              <a:t>LLM</a:t>
            </a:r>
          </a:p>
        </p:txBody>
      </p:sp>
      <p:sp>
        <p:nvSpPr>
          <p:cNvPr id="126" name="llm-subtitle">
            <a:extLst xmlns:a="http://schemas.openxmlformats.org/drawingml/2006/main">
              <a:ext uri="{FF2B5EF4-FFF2-40B4-BE49-F238E27FC236}">
                <a16:creationId xmlns:a16="http://schemas.microsoft.com/office/drawing/2014/main" id="{7045716D-81B6-4C25-A99E-6F9C37A26671}"/>
              </a:ext>
            </a:extLst>
          </p:cNvPr>
          <p:cNvSpPr>
            <a:spLocks xmlns:a="http://schemas.openxmlformats.org/drawingml/2006/main" noGrp="1"/>
          </p:cNvSpPr>
          <p:nvPr/>
        </p:nvSpPr>
        <p:spPr>
          <a:xfrm xmlns:a="http://schemas.openxmlformats.org/drawingml/2006/main">
            <a:off x="2998470" y="2540807"/>
            <a:ext cx="784861"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p xmlns:a="http://schemas.openxmlformats.org/drawingml/2006/main">
            <a:pPr algn="ctr">
              <a:buNone/>
              <a:defRPr sz="1000">
                <a:solidFill>
                  <a:srgbClr val="4A9EBA"/>
                </a:solidFill>
                <a:latin typeface="Arial"/>
                <a:ea typeface="Arial"/>
                <a:cs typeface="Arial"/>
              </a:defRPr>
            </a:pPr>
            <a:r>
              <a:t>words leads</a:t>
            </a:r>
          </a:p>
          <a:p xmlns:a="http://schemas.openxmlformats.org/drawingml/2006/main">
            <a:pPr algn="ctr">
              <a:buNone/>
              <a:defRPr sz="1000">
                <a:solidFill>
                  <a:srgbClr val="4A9EBA"/>
                </a:solidFill>
                <a:latin typeface="Arial"/>
                <a:ea typeface="Arial"/>
                <a:cs typeface="Arial"/>
              </a:defRPr>
            </a:pPr>
            <a:r>
              <a:t>activations</a:t>
            </a:r>
          </a:p>
        </p:txBody>
      </p:sp>
      <p:sp>
        <p:nvSpPr>
          <p:cNvPr id="127" name="gate-node-22-24">
            <a:extLst xmlns:a="http://schemas.openxmlformats.org/drawingml/2006/main">
              <a:ext uri="{FF2B5EF4-FFF2-40B4-BE49-F238E27FC236}">
                <a16:creationId xmlns:a16="http://schemas.microsoft.com/office/drawing/2014/main" id="{5FFDDA09-DC13-4A44-B4B2-12EFF2D583C8}"/>
              </a:ext>
            </a:extLst>
          </p:cNvPr>
          <p:cNvSpPr>
            <a:spLocks xmlns:a="http://schemas.openxmlformats.org/drawingml/2006/main" noGrp="1"/>
          </p:cNvSpPr>
          <p:nvPr/>
        </p:nvSpPr>
        <p:spPr>
          <a:xfrm xmlns:a="http://schemas.openxmlformats.org/drawingml/2006/main">
            <a:off x="3067050" y="173355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28" name="gate-node-55-31">
            <a:extLst xmlns:a="http://schemas.openxmlformats.org/drawingml/2006/main">
              <a:ext uri="{FF2B5EF4-FFF2-40B4-BE49-F238E27FC236}">
                <a16:creationId xmlns:a16="http://schemas.microsoft.com/office/drawing/2014/main" id="{04116FEC-A1A3-4435-8BB0-F70FC838B0FF}"/>
              </a:ext>
            </a:extLst>
          </p:cNvPr>
          <p:cNvSpPr>
            <a:spLocks xmlns:a="http://schemas.openxmlformats.org/drawingml/2006/main" noGrp="1"/>
          </p:cNvSpPr>
          <p:nvPr/>
        </p:nvSpPr>
        <p:spPr>
          <a:xfrm xmlns:a="http://schemas.openxmlformats.org/drawingml/2006/main">
            <a:off x="3381375" y="1800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29" name="gate-node-79-63">
            <a:extLst xmlns:a="http://schemas.openxmlformats.org/drawingml/2006/main">
              <a:ext uri="{FF2B5EF4-FFF2-40B4-BE49-F238E27FC236}">
                <a16:creationId xmlns:a16="http://schemas.microsoft.com/office/drawing/2014/main" id="{4946FEC5-360C-4EBA-A1FE-FDA58F3AE679}"/>
              </a:ext>
            </a:extLst>
          </p:cNvPr>
          <p:cNvSpPr>
            <a:spLocks xmlns:a="http://schemas.openxmlformats.org/drawingml/2006/main" noGrp="1"/>
          </p:cNvSpPr>
          <p:nvPr/>
        </p:nvSpPr>
        <p:spPr>
          <a:xfrm xmlns:a="http://schemas.openxmlformats.org/drawingml/2006/main">
            <a:off x="3609975" y="21050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30" name="gate-node-28-151">
            <a:extLst xmlns:a="http://schemas.openxmlformats.org/drawingml/2006/main">
              <a:ext uri="{FF2B5EF4-FFF2-40B4-BE49-F238E27FC236}">
                <a16:creationId xmlns:a16="http://schemas.microsoft.com/office/drawing/2014/main" id="{14006A8E-69DA-4E45-B1B6-39B3F6A5141B}"/>
              </a:ext>
            </a:extLst>
          </p:cNvPr>
          <p:cNvSpPr>
            <a:spLocks xmlns:a="http://schemas.openxmlformats.org/drawingml/2006/main" noGrp="1"/>
          </p:cNvSpPr>
          <p:nvPr/>
        </p:nvSpPr>
        <p:spPr>
          <a:xfrm xmlns:a="http://schemas.openxmlformats.org/drawingml/2006/main">
            <a:off x="3124200" y="2943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31" name="gate-node-82-174">
            <a:extLst xmlns:a="http://schemas.openxmlformats.org/drawingml/2006/main">
              <a:ext uri="{FF2B5EF4-FFF2-40B4-BE49-F238E27FC236}">
                <a16:creationId xmlns:a16="http://schemas.microsoft.com/office/drawing/2014/main" id="{1773A510-7E42-4650-8262-C43038E148AC}"/>
              </a:ext>
            </a:extLst>
          </p:cNvPr>
          <p:cNvSpPr>
            <a:spLocks xmlns:a="http://schemas.openxmlformats.org/drawingml/2006/main" noGrp="1"/>
          </p:cNvSpPr>
          <p:nvPr/>
        </p:nvSpPr>
        <p:spPr>
          <a:xfrm xmlns:a="http://schemas.openxmlformats.org/drawingml/2006/main">
            <a:off x="3638550" y="316230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32" name="activation-space">
            <a:extLst xmlns:a="http://schemas.openxmlformats.org/drawingml/2006/main">
              <a:ext uri="{FF2B5EF4-FFF2-40B4-BE49-F238E27FC236}">
                <a16:creationId xmlns:a16="http://schemas.microsoft.com/office/drawing/2014/main" id="{BA0E0C07-5890-44A3-92BD-4C4CACB30879}"/>
              </a:ext>
            </a:extLst>
          </p:cNvPr>
          <p:cNvSpPr>
            <a:spLocks xmlns:a="http://schemas.openxmlformats.org/drawingml/2006/main" noGrp="1"/>
          </p:cNvSpPr>
          <p:nvPr/>
        </p:nvSpPr>
        <p:spPr>
          <a:xfrm xmlns:a="http://schemas.openxmlformats.org/drawingml/2006/main">
            <a:off x="4143375" y="1000125"/>
            <a:ext cx="4581525" cy="3333750"/>
          </a:xfrm>
          <a:prstGeom xmlns:a="http://schemas.openxmlformats.org/drawingml/2006/main" prst="roundRect">
            <a:avLst>
              <a:gd name="adj" fmla="val 6286"/>
            </a:avLst>
          </a:prstGeom>
          <a:solidFill xmlns:a="http://schemas.openxmlformats.org/drawingml/2006/main">
            <a:srgbClr val="1E2D45"/>
          </a:solidFill>
          <a:ln xmlns:a="http://schemas.openxmlformats.org/drawingml/2006/main" w="14288">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33" name="space-label">
            <a:extLst xmlns:a="http://schemas.openxmlformats.org/drawingml/2006/main">
              <a:ext uri="{FF2B5EF4-FFF2-40B4-BE49-F238E27FC236}">
                <a16:creationId xmlns:a16="http://schemas.microsoft.com/office/drawing/2014/main" id="{3EFCAEF3-E72A-4D17-A80A-FD4BE2C8171E}"/>
              </a:ext>
            </a:extLst>
          </p:cNvPr>
          <p:cNvSpPr>
            <a:spLocks xmlns:a="http://schemas.openxmlformats.org/drawingml/2006/main" noGrp="1"/>
          </p:cNvSpPr>
          <p:nvPr/>
        </p:nvSpPr>
        <p:spPr>
          <a:xfrm xmlns:a="http://schemas.openxmlformats.org/drawingml/2006/main">
            <a:off x="4436745" y="1149949"/>
            <a:ext cx="22898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HIDDEN ACTIVATION SPACE</a:t>
            </a:r>
          </a:p>
        </p:txBody>
      </p:sp>
      <p:sp>
        <p:nvSpPr>
          <p:cNvPr id="134" name="space-particle-0">
            <a:extLst xmlns:a="http://schemas.openxmlformats.org/drawingml/2006/main">
              <a:ext uri="{FF2B5EF4-FFF2-40B4-BE49-F238E27FC236}">
                <a16:creationId xmlns:a16="http://schemas.microsoft.com/office/drawing/2014/main" id="{1F0CCAC7-4BD4-40A6-AA4A-3AA658231FCD}"/>
              </a:ext>
            </a:extLst>
          </p:cNvPr>
          <p:cNvSpPr>
            <a:spLocks xmlns:a="http://schemas.openxmlformats.org/drawingml/2006/main" noGrp="1"/>
          </p:cNvSpPr>
          <p:nvPr/>
        </p:nvSpPr>
        <p:spPr>
          <a:xfrm xmlns:a="http://schemas.openxmlformats.org/drawingml/2006/main">
            <a:off x="4591050" y="17430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35" name="space-particle-1">
            <a:extLst xmlns:a="http://schemas.openxmlformats.org/drawingml/2006/main">
              <a:ext uri="{FF2B5EF4-FFF2-40B4-BE49-F238E27FC236}">
                <a16:creationId xmlns:a16="http://schemas.microsoft.com/office/drawing/2014/main" id="{1D964FFA-A11E-4C7A-B4E2-A7226EAD2F04}"/>
              </a:ext>
            </a:extLst>
          </p:cNvPr>
          <p:cNvSpPr>
            <a:spLocks xmlns:a="http://schemas.openxmlformats.org/drawingml/2006/main" noGrp="1"/>
          </p:cNvSpPr>
          <p:nvPr/>
        </p:nvSpPr>
        <p:spPr>
          <a:xfrm xmlns:a="http://schemas.openxmlformats.org/drawingml/2006/main">
            <a:off x="5476875" y="15049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36" name="space-particle-2">
            <a:extLst xmlns:a="http://schemas.openxmlformats.org/drawingml/2006/main">
              <a:ext uri="{FF2B5EF4-FFF2-40B4-BE49-F238E27FC236}">
                <a16:creationId xmlns:a16="http://schemas.microsoft.com/office/drawing/2014/main" id="{3CE87E7B-EA80-41AC-B238-1F5279E79FBD}"/>
              </a:ext>
            </a:extLst>
          </p:cNvPr>
          <p:cNvSpPr>
            <a:spLocks xmlns:a="http://schemas.openxmlformats.org/drawingml/2006/main" noGrp="1"/>
          </p:cNvSpPr>
          <p:nvPr/>
        </p:nvSpPr>
        <p:spPr>
          <a:xfrm xmlns:a="http://schemas.openxmlformats.org/drawingml/2006/main">
            <a:off x="6486525" y="191452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37" name="space-particle-3">
            <a:extLst xmlns:a="http://schemas.openxmlformats.org/drawingml/2006/main">
              <a:ext uri="{FF2B5EF4-FFF2-40B4-BE49-F238E27FC236}">
                <a16:creationId xmlns:a16="http://schemas.microsoft.com/office/drawing/2014/main" id="{EA600C0B-A3D9-4896-8CD7-F43DBB5F57B2}"/>
              </a:ext>
            </a:extLst>
          </p:cNvPr>
          <p:cNvSpPr>
            <a:spLocks xmlns:a="http://schemas.openxmlformats.org/drawingml/2006/main" noGrp="1"/>
          </p:cNvSpPr>
          <p:nvPr/>
        </p:nvSpPr>
        <p:spPr>
          <a:xfrm xmlns:a="http://schemas.openxmlformats.org/drawingml/2006/main">
            <a:off x="7962900" y="1628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38" name="space-particle-4">
            <a:extLst xmlns:a="http://schemas.openxmlformats.org/drawingml/2006/main">
              <a:ext uri="{FF2B5EF4-FFF2-40B4-BE49-F238E27FC236}">
                <a16:creationId xmlns:a16="http://schemas.microsoft.com/office/drawing/2014/main" id="{FBCC849B-443A-4EFB-B51C-350C3CFBE5DF}"/>
              </a:ext>
            </a:extLst>
          </p:cNvPr>
          <p:cNvSpPr>
            <a:spLocks xmlns:a="http://schemas.openxmlformats.org/drawingml/2006/main" noGrp="1"/>
          </p:cNvSpPr>
          <p:nvPr/>
        </p:nvSpPr>
        <p:spPr>
          <a:xfrm xmlns:a="http://schemas.openxmlformats.org/drawingml/2006/main">
            <a:off x="4810125" y="33337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39" name="space-particle-5">
            <a:extLst xmlns:a="http://schemas.openxmlformats.org/drawingml/2006/main">
              <a:ext uri="{FF2B5EF4-FFF2-40B4-BE49-F238E27FC236}">
                <a16:creationId xmlns:a16="http://schemas.microsoft.com/office/drawing/2014/main" id="{CD5DE1B7-8B8A-4984-AC9A-26E71B7E184B}"/>
              </a:ext>
            </a:extLst>
          </p:cNvPr>
          <p:cNvSpPr>
            <a:spLocks xmlns:a="http://schemas.openxmlformats.org/drawingml/2006/main" noGrp="1"/>
          </p:cNvSpPr>
          <p:nvPr/>
        </p:nvSpPr>
        <p:spPr>
          <a:xfrm xmlns:a="http://schemas.openxmlformats.org/drawingml/2006/main">
            <a:off x="5810250" y="3914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40" name="space-particle-6">
            <a:extLst xmlns:a="http://schemas.openxmlformats.org/drawingml/2006/main">
              <a:ext uri="{FF2B5EF4-FFF2-40B4-BE49-F238E27FC236}">
                <a16:creationId xmlns:a16="http://schemas.microsoft.com/office/drawing/2014/main" id="{747F4785-D8AD-4B41-B644-19625D7F773C}"/>
              </a:ext>
            </a:extLst>
          </p:cNvPr>
          <p:cNvSpPr>
            <a:spLocks xmlns:a="http://schemas.openxmlformats.org/drawingml/2006/main" noGrp="1"/>
          </p:cNvSpPr>
          <p:nvPr/>
        </p:nvSpPr>
        <p:spPr>
          <a:xfrm xmlns:a="http://schemas.openxmlformats.org/drawingml/2006/main">
            <a:off x="6924675" y="35623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41" name="space-particle-7">
            <a:extLst xmlns:a="http://schemas.openxmlformats.org/drawingml/2006/main">
              <a:ext uri="{FF2B5EF4-FFF2-40B4-BE49-F238E27FC236}">
                <a16:creationId xmlns:a16="http://schemas.microsoft.com/office/drawing/2014/main" id="{362B8A02-E906-4C54-9584-45262683A76F}"/>
              </a:ext>
            </a:extLst>
          </p:cNvPr>
          <p:cNvSpPr>
            <a:spLocks xmlns:a="http://schemas.openxmlformats.org/drawingml/2006/main" noGrp="1"/>
          </p:cNvSpPr>
          <p:nvPr/>
        </p:nvSpPr>
        <p:spPr>
          <a:xfrm xmlns:a="http://schemas.openxmlformats.org/drawingml/2006/main">
            <a:off x="8248650" y="384810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42" name="space-particle-8">
            <a:extLst xmlns:a="http://schemas.openxmlformats.org/drawingml/2006/main">
              <a:ext uri="{FF2B5EF4-FFF2-40B4-BE49-F238E27FC236}">
                <a16:creationId xmlns:a16="http://schemas.microsoft.com/office/drawing/2014/main" id="{C84D4D10-DB59-40AC-85E6-D9D3E33CB556}"/>
              </a:ext>
            </a:extLst>
          </p:cNvPr>
          <p:cNvSpPr>
            <a:spLocks xmlns:a="http://schemas.openxmlformats.org/drawingml/2006/main" noGrp="1"/>
          </p:cNvSpPr>
          <p:nvPr/>
        </p:nvSpPr>
        <p:spPr>
          <a:xfrm xmlns:a="http://schemas.openxmlformats.org/drawingml/2006/main">
            <a:off x="8448675" y="23526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43" name="Line">
            <a:extLst xmlns:a="http://schemas.openxmlformats.org/drawingml/2006/main">
              <a:ext uri="{FF2B5EF4-FFF2-40B4-BE49-F238E27FC236}">
                <a16:creationId xmlns:a16="http://schemas.microsoft.com/office/drawing/2014/main" id="{10F3D277-A984-4C1A-82C3-D40AD1290F32}"/>
              </a:ext>
            </a:extLst>
          </p:cNvPr>
          <p:cNvSpPr>
            <a:spLocks xmlns:a="http://schemas.openxmlformats.org/drawingml/2006/main" noGrp="1"/>
          </p:cNvSpPr>
          <p:nvPr/>
        </p:nvSpPr>
        <p:spPr>
          <a:xfrm xmlns:a="http://schemas.openxmlformats.org/drawingml/2006/main">
            <a:off x="2507852" y="2376488"/>
            <a:ext cx="311151" cy="1"/>
          </a:xfrm>
          <a:prstGeom xmlns:a="http://schemas.openxmlformats.org/drawingml/2006/main" prst="line">
            <a:avLst/>
          </a:prstGeom>
          <a:ln xmlns:a="http://schemas.openxmlformats.org/drawingml/2006/main" w="28575">
            <a:solidFill>
              <a:srgbClr val="4A9EBA"/>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144" name="ghost-current-up">
            <a:extLst xmlns:a="http://schemas.openxmlformats.org/drawingml/2006/main">
              <a:ext uri="{FF2B5EF4-FFF2-40B4-BE49-F238E27FC236}">
                <a16:creationId xmlns:a16="http://schemas.microsoft.com/office/drawing/2014/main" id="{5DEFFB01-3542-47C8-B86E-3442C06D9A22}"/>
              </a:ext>
            </a:extLst>
          </p:cNvPr>
          <p:cNvSpPr>
            <a:spLocks xmlns:a="http://schemas.openxmlformats.org/drawingml/2006/main" noGrp="1"/>
          </p:cNvSpPr>
          <p:nvPr/>
        </p:nvSpPr>
        <p:spPr>
          <a:xfrm xmlns:a="http://schemas.openxmlformats.org/drawingml/2006/main">
            <a:off x="5357813" y="1639633"/>
            <a:ext cx="2305051" cy="561976"/>
          </a:xfrm>
          <a:prstGeom xmlns:a="http://schemas.openxmlformats.org/drawingml/2006/main" prst="line">
            <a:avLst/>
          </a:prstGeom>
          <a:ln xmlns:a="http://schemas.openxmlformats.org/drawingml/2006/main" w="47625">
            <a:solidFill>
              <a:srgbClr val="2A38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45" name="ghost-current-down">
            <a:extLst xmlns:a="http://schemas.openxmlformats.org/drawingml/2006/main">
              <a:ext uri="{FF2B5EF4-FFF2-40B4-BE49-F238E27FC236}">
                <a16:creationId xmlns:a16="http://schemas.microsoft.com/office/drawing/2014/main" id="{9F3A0A6E-0189-49DC-A8FE-E32938BEF299}"/>
              </a:ext>
            </a:extLst>
          </p:cNvPr>
          <p:cNvSpPr>
            <a:spLocks xmlns:a="http://schemas.openxmlformats.org/drawingml/2006/main" noGrp="1"/>
          </p:cNvSpPr>
          <p:nvPr/>
        </p:nvSpPr>
        <p:spPr>
          <a:xfrm xmlns:a="http://schemas.openxmlformats.org/drawingml/2006/main">
            <a:off x="5362574" y="3054168"/>
            <a:ext cx="2143126" cy="581025"/>
          </a:xfrm>
          <a:prstGeom xmlns:a="http://schemas.openxmlformats.org/drawingml/2006/main" prst="line">
            <a:avLst/>
          </a:prstGeom>
          <a:ln xmlns:a="http://schemas.openxmlformats.org/drawingml/2006/main" w="47625">
            <a:solidFill>
              <a:srgbClr val="2A38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46" name="anthropic-citation">
            <a:extLst xmlns:a="http://schemas.openxmlformats.org/drawingml/2006/main">
              <a:ext uri="{FF2B5EF4-FFF2-40B4-BE49-F238E27FC236}">
                <a16:creationId xmlns:a16="http://schemas.microsoft.com/office/drawing/2014/main" id="{9696FBA6-F26D-4677-AE51-71BBC49A6445}"/>
              </a:ext>
            </a:extLst>
          </p:cNvPr>
          <p:cNvSpPr>
            <a:spLocks xmlns:a="http://schemas.openxmlformats.org/drawingml/2006/main" noGrp="1"/>
          </p:cNvSpPr>
          <p:nvPr/>
        </p:nvSpPr>
        <p:spPr>
          <a:xfrm xmlns:a="http://schemas.openxmlformats.org/drawingml/2006/main">
            <a:off x="5760720" y="4804166"/>
            <a:ext cx="2918461" cy="202418"/>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r">
              <a:buNone/>
              <a:defRPr sz="800">
                <a:solidFill>
                  <a:srgbClr val="8FA5BB"/>
                </a:solidFill>
                <a:latin typeface="Arial"/>
                <a:ea typeface="Arial"/>
                <a:cs typeface="Arial"/>
              </a:defRPr>
            </a:lvl1pPr>
          </a:lstStyle>
          <a:p xmlns:a="http://schemas.openxmlformats.org/drawingml/2006/main">
            <a:pPr>
              <a:buNone/>
            </a:pPr>
            <a:r>
              <a:t>Concept adapted from Sofroniew, Lindsey et al. (2026)</a:t>
            </a:r>
          </a:p>
        </p:txBody>
      </p:sp>
      <p:sp>
        <p:nvSpPr>
          <p:cNvPr id="147" name="origin-node">
            <a:extLst xmlns:a="http://schemas.openxmlformats.org/drawingml/2006/main">
              <a:ext uri="{FF2B5EF4-FFF2-40B4-BE49-F238E27FC236}">
                <a16:creationId xmlns:a16="http://schemas.microsoft.com/office/drawing/2014/main" id="{184D8809-5DE1-43ED-9B19-DA0BADE64229}"/>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48" name="origin-node">
            <a:extLst xmlns:a="http://schemas.openxmlformats.org/drawingml/2006/main">
              <a:ext uri="{FF2B5EF4-FFF2-40B4-BE49-F238E27FC236}">
                <a16:creationId xmlns:a16="http://schemas.microsoft.com/office/drawing/2014/main" id="{940DBFCF-CF33-4CC4-8E6D-82D327BF6592}"/>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49" name="origin-label">
            <a:extLst xmlns:a="http://schemas.openxmlformats.org/drawingml/2006/main">
              <a:ext uri="{FF2B5EF4-FFF2-40B4-BE49-F238E27FC236}">
                <a16:creationId xmlns:a16="http://schemas.microsoft.com/office/drawing/2014/main" id="{FCB37192-61D6-44F4-BC01-6C2BBA5878CB}"/>
              </a:ext>
            </a:extLst>
          </p:cNvPr>
          <p:cNvSpPr>
            <a:spLocks xmlns:a="http://schemas.openxmlformats.org/drawingml/2006/main" noGrp="1"/>
          </p:cNvSpPr>
          <p:nvPr/>
        </p:nvSpPr>
        <p:spPr>
          <a:xfrm xmlns:a="http://schemas.openxmlformats.org/drawingml/2006/main">
            <a:off x="4490720" y="2893024"/>
            <a:ext cx="7277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900">
                <a:solidFill>
                  <a:srgbClr val="8FA5BB"/>
                </a:solidFill>
                <a:latin typeface="Arial"/>
                <a:ea typeface="Arial"/>
                <a:cs typeface="Arial"/>
              </a:defRPr>
            </a:lvl1pPr>
          </a:lstStyle>
          <a:p xmlns:a="http://schemas.openxmlformats.org/drawingml/2006/main">
            <a:pPr>
              <a:buNone/>
            </a:pPr>
            <a:r>
              <a:t>neutral</a:t>
            </a:r>
          </a:p>
        </p:txBody>
      </p:sp>
      <p:sp>
        <p:nvSpPr>
          <p:cNvPr id="150" name="story-copy">
            <a:extLst xmlns:a="http://schemas.openxmlformats.org/drawingml/2006/main">
              <a:ext uri="{FF2B5EF4-FFF2-40B4-BE49-F238E27FC236}">
                <a16:creationId xmlns:a16="http://schemas.microsoft.com/office/drawing/2014/main" id="{ACE83884-9344-48F4-8109-A8228153270D}"/>
              </a:ext>
            </a:extLst>
          </p:cNvPr>
          <p:cNvSpPr>
            <a:spLocks xmlns:a="http://schemas.openxmlformats.org/drawingml/2006/main" noGrp="1"/>
          </p:cNvSpPr>
          <p:nvPr/>
        </p:nvSpPr>
        <p:spPr>
          <a:xfrm xmlns:a="http://schemas.openxmlformats.org/drawingml/2006/main">
            <a:off x="457675" y="2304893"/>
            <a:ext cx="1813562" cy="276540"/>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300">
                <a:solidFill>
                  <a:srgbClr val="EEF2F7"/>
                </a:solidFill>
                <a:latin typeface="Arial"/>
                <a:ea typeface="Arial"/>
                <a:cs typeface="Arial"/>
              </a:defRPr>
            </a:lvl1pPr>
          </a:lstStyle>
          <a:p xmlns:a="http://schemas.openxmlformats.org/drawingml/2006/main">
            <a:pPr>
              <a:buNone/>
            </a:pPr>
            <a:r>
              <a:t>A very scary story.</a:t>
            </a:r>
          </a:p>
        </p:txBody>
      </p:sp>
    </p:spTree>
    <p:extLst>
      <p:ext uri="{BB962C8B-B14F-4D97-AF65-F5344CB8AC3E}">
        <p14:creationId xmlns:p14="http://schemas.microsoft.com/office/powerpoint/2010/main" val="1829859869"/>
      </p:ext>
    </p:extLst>
  </p:cSld>
</p:sld>
</file>

<file path=ppt/slides/slide6.xml><?xml version="1.0" encoding="utf-8"?>
<p:sld xmlns:p="http://schemas.openxmlformats.org/presentationml/2006/main" showMasterSp="1">
  <p:cSld>
    <p:spTree>
      <p:nvGrpSpPr>
        <p:cNvPr id="1" name=""/>
        <p:cNvGrpSpPr/>
        <p:nvPr/>
      </p:nvGrpSpPr>
      <p:grpSpPr>
        <a:xfrm xmlns:a="http://schemas.openxmlformats.org/drawingml/2006/main"/>
      </p:grpSpPr>
      <p:sp>
        <p:nvSpPr>
          <p:cNvPr id="154" name="Shape 0">
            <a:extLst xmlns:a="http://schemas.openxmlformats.org/drawingml/2006/main">
              <a:ext uri="{FF2B5EF4-FFF2-40B4-BE49-F238E27FC236}">
                <a16:creationId xmlns:a16="http://schemas.microsoft.com/office/drawing/2014/main" id="{0CF5EEFA-B146-4B16-BD03-6313B6B5B0AC}"/>
              </a:ext>
            </a:extLst>
          </p:cNvPr>
          <p:cNvSpPr>
            <a:spLocks xmlns:a="http://schemas.openxmlformats.org/drawingml/2006/main" noGrp="1"/>
          </p:cNvSpPr>
          <p:nvPr/>
        </p:nvSpPr>
        <p:spPr>
          <a:xfrm xmlns:a="http://schemas.openxmlformats.org/drawingml/2006/main">
            <a:off x="-1" y="0"/>
            <a:ext cx="9144001" cy="5143501"/>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55" name="Text 1">
            <a:extLst xmlns:a="http://schemas.openxmlformats.org/drawingml/2006/main">
              <a:ext uri="{FF2B5EF4-FFF2-40B4-BE49-F238E27FC236}">
                <a16:creationId xmlns:a16="http://schemas.microsoft.com/office/drawing/2014/main" id="{9DB35E10-A1B4-42A2-B246-CB50BA04907E}"/>
              </a:ext>
            </a:extLst>
          </p:cNvPr>
          <p:cNvSpPr>
            <a:spLocks xmlns:a="http://schemas.openxmlformats.org/drawingml/2006/main" noGrp="1"/>
          </p:cNvSpPr>
          <p:nvPr/>
        </p:nvSpPr>
        <p:spPr>
          <a:xfrm xmlns:a="http://schemas.openxmlformats.org/drawingml/2006/main">
            <a:off x="411479" y="336041"/>
            <a:ext cx="8321042" cy="3429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A story becomes a hidden activation</a:t>
            </a:r>
          </a:p>
        </p:txBody>
      </p:sp>
      <p:sp>
        <p:nvSpPr>
          <p:cNvPr id="156" name="story-cue">
            <a:extLst xmlns:a="http://schemas.openxmlformats.org/drawingml/2006/main">
              <a:ext uri="{FF2B5EF4-FFF2-40B4-BE49-F238E27FC236}">
                <a16:creationId xmlns:a16="http://schemas.microsoft.com/office/drawing/2014/main" id="{5037854A-2B1F-4321-BEDD-392AA2858F8D}"/>
              </a:ext>
            </a:extLst>
          </p:cNvPr>
          <p:cNvSpPr>
            <a:spLocks xmlns:a="http://schemas.openxmlformats.org/drawingml/2006/main" noGrp="1"/>
          </p:cNvSpPr>
          <p:nvPr/>
        </p:nvSpPr>
        <p:spPr>
          <a:xfrm xmlns:a="http://schemas.openxmlformats.org/drawingml/2006/main">
            <a:off x="269081" y="1938338"/>
            <a:ext cx="2190751" cy="876301"/>
          </a:xfrm>
          <a:prstGeom xmlns:a="http://schemas.openxmlformats.org/drawingml/2006/main" prst="roundRect">
            <a:avLst>
              <a:gd name="adj" fmla="val 15217"/>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57" name="story-label">
            <a:extLst xmlns:a="http://schemas.openxmlformats.org/drawingml/2006/main">
              <a:ext uri="{FF2B5EF4-FFF2-40B4-BE49-F238E27FC236}">
                <a16:creationId xmlns:a16="http://schemas.microsoft.com/office/drawing/2014/main" id="{9008A345-C880-4C2B-9955-1E034B2E3379}"/>
              </a:ext>
            </a:extLst>
          </p:cNvPr>
          <p:cNvSpPr>
            <a:spLocks xmlns:a="http://schemas.openxmlformats.org/drawingml/2006/main" noGrp="1"/>
          </p:cNvSpPr>
          <p:nvPr/>
        </p:nvSpPr>
        <p:spPr>
          <a:xfrm xmlns:a="http://schemas.openxmlformats.org/drawingml/2006/main">
            <a:off x="457675" y="1983387"/>
            <a:ext cx="59436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STORY</a:t>
            </a:r>
          </a:p>
        </p:txBody>
      </p:sp>
      <p:sp>
        <p:nvSpPr>
          <p:cNvPr id="158" name="llm-gate">
            <a:extLst xmlns:a="http://schemas.openxmlformats.org/drawingml/2006/main">
              <a:ext uri="{FF2B5EF4-FFF2-40B4-BE49-F238E27FC236}">
                <a16:creationId xmlns:a16="http://schemas.microsoft.com/office/drawing/2014/main" id="{B1AE98C3-81C4-48D8-B964-0EE154B7CA81}"/>
              </a:ext>
            </a:extLst>
          </p:cNvPr>
          <p:cNvSpPr>
            <a:spLocks xmlns:a="http://schemas.openxmlformats.org/drawingml/2006/main" noGrp="1"/>
          </p:cNvSpPr>
          <p:nvPr/>
        </p:nvSpPr>
        <p:spPr>
          <a:xfrm xmlns:a="http://schemas.openxmlformats.org/drawingml/2006/main">
            <a:off x="2857500" y="1504950"/>
            <a:ext cx="1066800" cy="2038350"/>
          </a:xfrm>
          <a:prstGeom xmlns:a="http://schemas.openxmlformats.org/drawingml/2006/main" prst="roundRect">
            <a:avLst>
              <a:gd name="adj" fmla="val 16071"/>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59" name="llm-label">
            <a:extLst xmlns:a="http://schemas.openxmlformats.org/drawingml/2006/main">
              <a:ext uri="{FF2B5EF4-FFF2-40B4-BE49-F238E27FC236}">
                <a16:creationId xmlns:a16="http://schemas.microsoft.com/office/drawing/2014/main" id="{9B4AA835-D229-42CF-B60B-8AD36EA88BB6}"/>
              </a:ext>
            </a:extLst>
          </p:cNvPr>
          <p:cNvSpPr>
            <a:spLocks xmlns:a="http://schemas.openxmlformats.org/drawingml/2006/main" noGrp="1"/>
          </p:cNvSpPr>
          <p:nvPr/>
        </p:nvSpPr>
        <p:spPr>
          <a:xfrm xmlns:a="http://schemas.openxmlformats.org/drawingml/2006/main">
            <a:off x="3055620" y="2085477"/>
            <a:ext cx="670561" cy="36294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900" b="1">
                <a:solidFill>
                  <a:srgbClr val="EEF2F7"/>
                </a:solidFill>
                <a:latin typeface="Arial"/>
                <a:ea typeface="Arial"/>
                <a:cs typeface="Arial"/>
              </a:defRPr>
            </a:lvl1pPr>
          </a:lstStyle>
          <a:p xmlns:a="http://schemas.openxmlformats.org/drawingml/2006/main">
            <a:pPr>
              <a:buNone/>
            </a:pPr>
            <a:r>
              <a:t>LLM</a:t>
            </a:r>
          </a:p>
        </p:txBody>
      </p:sp>
      <p:sp>
        <p:nvSpPr>
          <p:cNvPr id="160" name="llm-subtitle">
            <a:extLst xmlns:a="http://schemas.openxmlformats.org/drawingml/2006/main">
              <a:ext uri="{FF2B5EF4-FFF2-40B4-BE49-F238E27FC236}">
                <a16:creationId xmlns:a16="http://schemas.microsoft.com/office/drawing/2014/main" id="{BB8A19E5-5A8A-41D6-820D-49C344302F74}"/>
              </a:ext>
            </a:extLst>
          </p:cNvPr>
          <p:cNvSpPr>
            <a:spLocks xmlns:a="http://schemas.openxmlformats.org/drawingml/2006/main" noGrp="1"/>
          </p:cNvSpPr>
          <p:nvPr/>
        </p:nvSpPr>
        <p:spPr>
          <a:xfrm xmlns:a="http://schemas.openxmlformats.org/drawingml/2006/main">
            <a:off x="2998470" y="2540807"/>
            <a:ext cx="784861"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p xmlns:a="http://schemas.openxmlformats.org/drawingml/2006/main">
            <a:pPr algn="ctr">
              <a:buNone/>
              <a:defRPr sz="1000">
                <a:solidFill>
                  <a:srgbClr val="4A9EBA"/>
                </a:solidFill>
                <a:latin typeface="Arial"/>
                <a:ea typeface="Arial"/>
                <a:cs typeface="Arial"/>
              </a:defRPr>
            </a:pPr>
            <a:r>
              <a:t>words leads</a:t>
            </a:r>
          </a:p>
          <a:p xmlns:a="http://schemas.openxmlformats.org/drawingml/2006/main">
            <a:pPr algn="ctr">
              <a:buNone/>
              <a:defRPr sz="1000">
                <a:solidFill>
                  <a:srgbClr val="4A9EBA"/>
                </a:solidFill>
                <a:latin typeface="Arial"/>
                <a:ea typeface="Arial"/>
                <a:cs typeface="Arial"/>
              </a:defRPr>
            </a:pPr>
            <a:r>
              <a:t>activations</a:t>
            </a:r>
          </a:p>
        </p:txBody>
      </p:sp>
      <p:sp>
        <p:nvSpPr>
          <p:cNvPr id="161" name="gate-node-22-24">
            <a:extLst xmlns:a="http://schemas.openxmlformats.org/drawingml/2006/main">
              <a:ext uri="{FF2B5EF4-FFF2-40B4-BE49-F238E27FC236}">
                <a16:creationId xmlns:a16="http://schemas.microsoft.com/office/drawing/2014/main" id="{5D2EAD04-98A3-4D8B-9214-2BCA150C33A6}"/>
              </a:ext>
            </a:extLst>
          </p:cNvPr>
          <p:cNvSpPr>
            <a:spLocks xmlns:a="http://schemas.openxmlformats.org/drawingml/2006/main" noGrp="1"/>
          </p:cNvSpPr>
          <p:nvPr/>
        </p:nvSpPr>
        <p:spPr>
          <a:xfrm xmlns:a="http://schemas.openxmlformats.org/drawingml/2006/main">
            <a:off x="3067050" y="173355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62" name="gate-node-55-31">
            <a:extLst xmlns:a="http://schemas.openxmlformats.org/drawingml/2006/main">
              <a:ext uri="{FF2B5EF4-FFF2-40B4-BE49-F238E27FC236}">
                <a16:creationId xmlns:a16="http://schemas.microsoft.com/office/drawing/2014/main" id="{441C612A-4F22-4381-A3EB-45542010B6D0}"/>
              </a:ext>
            </a:extLst>
          </p:cNvPr>
          <p:cNvSpPr>
            <a:spLocks xmlns:a="http://schemas.openxmlformats.org/drawingml/2006/main" noGrp="1"/>
          </p:cNvSpPr>
          <p:nvPr/>
        </p:nvSpPr>
        <p:spPr>
          <a:xfrm xmlns:a="http://schemas.openxmlformats.org/drawingml/2006/main">
            <a:off x="3381375" y="1800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63" name="gate-node-79-63">
            <a:extLst xmlns:a="http://schemas.openxmlformats.org/drawingml/2006/main">
              <a:ext uri="{FF2B5EF4-FFF2-40B4-BE49-F238E27FC236}">
                <a16:creationId xmlns:a16="http://schemas.microsoft.com/office/drawing/2014/main" id="{D472A76F-72A1-456D-95BB-1170C4BA5A31}"/>
              </a:ext>
            </a:extLst>
          </p:cNvPr>
          <p:cNvSpPr>
            <a:spLocks xmlns:a="http://schemas.openxmlformats.org/drawingml/2006/main" noGrp="1"/>
          </p:cNvSpPr>
          <p:nvPr/>
        </p:nvSpPr>
        <p:spPr>
          <a:xfrm xmlns:a="http://schemas.openxmlformats.org/drawingml/2006/main">
            <a:off x="3609975" y="21050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64" name="gate-node-28-151">
            <a:extLst xmlns:a="http://schemas.openxmlformats.org/drawingml/2006/main">
              <a:ext uri="{FF2B5EF4-FFF2-40B4-BE49-F238E27FC236}">
                <a16:creationId xmlns:a16="http://schemas.microsoft.com/office/drawing/2014/main" id="{90D5E39C-C2DA-4607-8985-058325D09580}"/>
              </a:ext>
            </a:extLst>
          </p:cNvPr>
          <p:cNvSpPr>
            <a:spLocks xmlns:a="http://schemas.openxmlformats.org/drawingml/2006/main" noGrp="1"/>
          </p:cNvSpPr>
          <p:nvPr/>
        </p:nvSpPr>
        <p:spPr>
          <a:xfrm xmlns:a="http://schemas.openxmlformats.org/drawingml/2006/main">
            <a:off x="3124200" y="2943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65" name="gate-node-82-174">
            <a:extLst xmlns:a="http://schemas.openxmlformats.org/drawingml/2006/main">
              <a:ext uri="{FF2B5EF4-FFF2-40B4-BE49-F238E27FC236}">
                <a16:creationId xmlns:a16="http://schemas.microsoft.com/office/drawing/2014/main" id="{9ED2DB88-4004-4484-926A-B4C8CB89F2B0}"/>
              </a:ext>
            </a:extLst>
          </p:cNvPr>
          <p:cNvSpPr>
            <a:spLocks xmlns:a="http://schemas.openxmlformats.org/drawingml/2006/main" noGrp="1"/>
          </p:cNvSpPr>
          <p:nvPr/>
        </p:nvSpPr>
        <p:spPr>
          <a:xfrm xmlns:a="http://schemas.openxmlformats.org/drawingml/2006/main">
            <a:off x="3638550" y="316230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66" name="activation-space">
            <a:extLst xmlns:a="http://schemas.openxmlformats.org/drawingml/2006/main">
              <a:ext uri="{FF2B5EF4-FFF2-40B4-BE49-F238E27FC236}">
                <a16:creationId xmlns:a16="http://schemas.microsoft.com/office/drawing/2014/main" id="{0CC577D3-0B6E-4F07-8443-FB3A42675F76}"/>
              </a:ext>
            </a:extLst>
          </p:cNvPr>
          <p:cNvSpPr>
            <a:spLocks xmlns:a="http://schemas.openxmlformats.org/drawingml/2006/main" noGrp="1"/>
          </p:cNvSpPr>
          <p:nvPr/>
        </p:nvSpPr>
        <p:spPr>
          <a:xfrm xmlns:a="http://schemas.openxmlformats.org/drawingml/2006/main">
            <a:off x="4143375" y="1000125"/>
            <a:ext cx="4581525" cy="3333750"/>
          </a:xfrm>
          <a:prstGeom xmlns:a="http://schemas.openxmlformats.org/drawingml/2006/main" prst="roundRect">
            <a:avLst>
              <a:gd name="adj" fmla="val 6286"/>
            </a:avLst>
          </a:prstGeom>
          <a:solidFill xmlns:a="http://schemas.openxmlformats.org/drawingml/2006/main">
            <a:srgbClr val="1E2D45"/>
          </a:solidFill>
          <a:ln xmlns:a="http://schemas.openxmlformats.org/drawingml/2006/main" w="14288">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67" name="space-label">
            <a:extLst xmlns:a="http://schemas.openxmlformats.org/drawingml/2006/main">
              <a:ext uri="{FF2B5EF4-FFF2-40B4-BE49-F238E27FC236}">
                <a16:creationId xmlns:a16="http://schemas.microsoft.com/office/drawing/2014/main" id="{33E1D025-6C33-48D7-8275-393E5DADB7D9}"/>
              </a:ext>
            </a:extLst>
          </p:cNvPr>
          <p:cNvSpPr>
            <a:spLocks xmlns:a="http://schemas.openxmlformats.org/drawingml/2006/main" noGrp="1"/>
          </p:cNvSpPr>
          <p:nvPr/>
        </p:nvSpPr>
        <p:spPr>
          <a:xfrm xmlns:a="http://schemas.openxmlformats.org/drawingml/2006/main">
            <a:off x="4436745" y="1149949"/>
            <a:ext cx="22898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HIDDEN ACTIVATION SPACE</a:t>
            </a:r>
          </a:p>
        </p:txBody>
      </p:sp>
      <p:sp>
        <p:nvSpPr>
          <p:cNvPr id="168" name="space-particle-0">
            <a:extLst xmlns:a="http://schemas.openxmlformats.org/drawingml/2006/main">
              <a:ext uri="{FF2B5EF4-FFF2-40B4-BE49-F238E27FC236}">
                <a16:creationId xmlns:a16="http://schemas.microsoft.com/office/drawing/2014/main" id="{0A209273-30A0-4953-804D-B8B32AE7AA63}"/>
              </a:ext>
            </a:extLst>
          </p:cNvPr>
          <p:cNvSpPr>
            <a:spLocks xmlns:a="http://schemas.openxmlformats.org/drawingml/2006/main" noGrp="1"/>
          </p:cNvSpPr>
          <p:nvPr/>
        </p:nvSpPr>
        <p:spPr>
          <a:xfrm xmlns:a="http://schemas.openxmlformats.org/drawingml/2006/main">
            <a:off x="4591050" y="17430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69" name="space-particle-1">
            <a:extLst xmlns:a="http://schemas.openxmlformats.org/drawingml/2006/main">
              <a:ext uri="{FF2B5EF4-FFF2-40B4-BE49-F238E27FC236}">
                <a16:creationId xmlns:a16="http://schemas.microsoft.com/office/drawing/2014/main" id="{B62292F1-4CF5-48AD-B76C-85096ED532F8}"/>
              </a:ext>
            </a:extLst>
          </p:cNvPr>
          <p:cNvSpPr>
            <a:spLocks xmlns:a="http://schemas.openxmlformats.org/drawingml/2006/main" noGrp="1"/>
          </p:cNvSpPr>
          <p:nvPr/>
        </p:nvSpPr>
        <p:spPr>
          <a:xfrm xmlns:a="http://schemas.openxmlformats.org/drawingml/2006/main">
            <a:off x="5476875" y="15049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70" name="space-particle-2">
            <a:extLst xmlns:a="http://schemas.openxmlformats.org/drawingml/2006/main">
              <a:ext uri="{FF2B5EF4-FFF2-40B4-BE49-F238E27FC236}">
                <a16:creationId xmlns:a16="http://schemas.microsoft.com/office/drawing/2014/main" id="{52662624-372A-4F87-AE63-BBE2BB3C3947}"/>
              </a:ext>
            </a:extLst>
          </p:cNvPr>
          <p:cNvSpPr>
            <a:spLocks xmlns:a="http://schemas.openxmlformats.org/drawingml/2006/main" noGrp="1"/>
          </p:cNvSpPr>
          <p:nvPr/>
        </p:nvSpPr>
        <p:spPr>
          <a:xfrm xmlns:a="http://schemas.openxmlformats.org/drawingml/2006/main">
            <a:off x="6486525" y="191452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71" name="space-particle-3">
            <a:extLst xmlns:a="http://schemas.openxmlformats.org/drawingml/2006/main">
              <a:ext uri="{FF2B5EF4-FFF2-40B4-BE49-F238E27FC236}">
                <a16:creationId xmlns:a16="http://schemas.microsoft.com/office/drawing/2014/main" id="{B167BFBF-3303-4B71-8367-0B6068A00AEC}"/>
              </a:ext>
            </a:extLst>
          </p:cNvPr>
          <p:cNvSpPr>
            <a:spLocks xmlns:a="http://schemas.openxmlformats.org/drawingml/2006/main" noGrp="1"/>
          </p:cNvSpPr>
          <p:nvPr/>
        </p:nvSpPr>
        <p:spPr>
          <a:xfrm xmlns:a="http://schemas.openxmlformats.org/drawingml/2006/main">
            <a:off x="7962900" y="1628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72" name="space-particle-4">
            <a:extLst xmlns:a="http://schemas.openxmlformats.org/drawingml/2006/main">
              <a:ext uri="{FF2B5EF4-FFF2-40B4-BE49-F238E27FC236}">
                <a16:creationId xmlns:a16="http://schemas.microsoft.com/office/drawing/2014/main" id="{26E2F470-04CE-4FD0-9300-687981053544}"/>
              </a:ext>
            </a:extLst>
          </p:cNvPr>
          <p:cNvSpPr>
            <a:spLocks xmlns:a="http://schemas.openxmlformats.org/drawingml/2006/main" noGrp="1"/>
          </p:cNvSpPr>
          <p:nvPr/>
        </p:nvSpPr>
        <p:spPr>
          <a:xfrm xmlns:a="http://schemas.openxmlformats.org/drawingml/2006/main">
            <a:off x="4810125" y="33337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73" name="space-particle-5">
            <a:extLst xmlns:a="http://schemas.openxmlformats.org/drawingml/2006/main">
              <a:ext uri="{FF2B5EF4-FFF2-40B4-BE49-F238E27FC236}">
                <a16:creationId xmlns:a16="http://schemas.microsoft.com/office/drawing/2014/main" id="{2D42FC55-D8D2-46AD-A0B9-F377C1FC71DF}"/>
              </a:ext>
            </a:extLst>
          </p:cNvPr>
          <p:cNvSpPr>
            <a:spLocks xmlns:a="http://schemas.openxmlformats.org/drawingml/2006/main" noGrp="1"/>
          </p:cNvSpPr>
          <p:nvPr/>
        </p:nvSpPr>
        <p:spPr>
          <a:xfrm xmlns:a="http://schemas.openxmlformats.org/drawingml/2006/main">
            <a:off x="5810250" y="3914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74" name="space-particle-6">
            <a:extLst xmlns:a="http://schemas.openxmlformats.org/drawingml/2006/main">
              <a:ext uri="{FF2B5EF4-FFF2-40B4-BE49-F238E27FC236}">
                <a16:creationId xmlns:a16="http://schemas.microsoft.com/office/drawing/2014/main" id="{E2B2F7B4-225B-4845-9FCB-32F172C0C354}"/>
              </a:ext>
            </a:extLst>
          </p:cNvPr>
          <p:cNvSpPr>
            <a:spLocks xmlns:a="http://schemas.openxmlformats.org/drawingml/2006/main" noGrp="1"/>
          </p:cNvSpPr>
          <p:nvPr/>
        </p:nvSpPr>
        <p:spPr>
          <a:xfrm xmlns:a="http://schemas.openxmlformats.org/drawingml/2006/main">
            <a:off x="6924675" y="35623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75" name="space-particle-7">
            <a:extLst xmlns:a="http://schemas.openxmlformats.org/drawingml/2006/main">
              <a:ext uri="{FF2B5EF4-FFF2-40B4-BE49-F238E27FC236}">
                <a16:creationId xmlns:a16="http://schemas.microsoft.com/office/drawing/2014/main" id="{7D7451BD-CFC2-4F54-9193-5C327418936E}"/>
              </a:ext>
            </a:extLst>
          </p:cNvPr>
          <p:cNvSpPr>
            <a:spLocks xmlns:a="http://schemas.openxmlformats.org/drawingml/2006/main" noGrp="1"/>
          </p:cNvSpPr>
          <p:nvPr/>
        </p:nvSpPr>
        <p:spPr>
          <a:xfrm xmlns:a="http://schemas.openxmlformats.org/drawingml/2006/main">
            <a:off x="8248650" y="384810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76" name="space-particle-8">
            <a:extLst xmlns:a="http://schemas.openxmlformats.org/drawingml/2006/main">
              <a:ext uri="{FF2B5EF4-FFF2-40B4-BE49-F238E27FC236}">
                <a16:creationId xmlns:a16="http://schemas.microsoft.com/office/drawing/2014/main" id="{A813560C-A2A3-45A6-9B37-E6689E91F6D5}"/>
              </a:ext>
            </a:extLst>
          </p:cNvPr>
          <p:cNvSpPr>
            <a:spLocks xmlns:a="http://schemas.openxmlformats.org/drawingml/2006/main" noGrp="1"/>
          </p:cNvSpPr>
          <p:nvPr/>
        </p:nvSpPr>
        <p:spPr>
          <a:xfrm xmlns:a="http://schemas.openxmlformats.org/drawingml/2006/main">
            <a:off x="8448675" y="23526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77" name="Line">
            <a:extLst xmlns:a="http://schemas.openxmlformats.org/drawingml/2006/main">
              <a:ext uri="{FF2B5EF4-FFF2-40B4-BE49-F238E27FC236}">
                <a16:creationId xmlns:a16="http://schemas.microsoft.com/office/drawing/2014/main" id="{CB01C91E-2FDC-4C1B-9609-07E0F3813C12}"/>
              </a:ext>
            </a:extLst>
          </p:cNvPr>
          <p:cNvSpPr>
            <a:spLocks xmlns:a="http://schemas.openxmlformats.org/drawingml/2006/main" noGrp="1"/>
          </p:cNvSpPr>
          <p:nvPr/>
        </p:nvSpPr>
        <p:spPr>
          <a:xfrm xmlns:a="http://schemas.openxmlformats.org/drawingml/2006/main">
            <a:off x="2507852" y="2376488"/>
            <a:ext cx="311151" cy="1"/>
          </a:xfrm>
          <a:prstGeom xmlns:a="http://schemas.openxmlformats.org/drawingml/2006/main" prst="line">
            <a:avLst/>
          </a:prstGeom>
          <a:ln xmlns:a="http://schemas.openxmlformats.org/drawingml/2006/main" w="28575">
            <a:solidFill>
              <a:srgbClr val="4A9EBA"/>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178" name="Line">
            <a:extLst xmlns:a="http://schemas.openxmlformats.org/drawingml/2006/main">
              <a:ext uri="{FF2B5EF4-FFF2-40B4-BE49-F238E27FC236}">
                <a16:creationId xmlns:a16="http://schemas.microsoft.com/office/drawing/2014/main" id="{F238E4F9-E6A2-4B90-9C3B-028CD3877A57}"/>
              </a:ext>
            </a:extLst>
          </p:cNvPr>
          <p:cNvSpPr>
            <a:spLocks xmlns:a="http://schemas.openxmlformats.org/drawingml/2006/main" noGrp="1"/>
          </p:cNvSpPr>
          <p:nvPr/>
        </p:nvSpPr>
        <p:spPr>
          <a:xfrm xmlns:a="http://schemas.openxmlformats.org/drawingml/2006/main">
            <a:off x="3943350" y="2524125"/>
            <a:ext cx="2476501" cy="200025"/>
          </a:xfrm>
          <a:prstGeom xmlns:a="http://schemas.openxmlformats.org/drawingml/2006/main" prst="line">
            <a:avLst/>
          </a:prstGeom>
          <a:ln xmlns:a="http://schemas.openxmlformats.org/drawingml/2006/main" w="28575">
            <a:solidFill>
              <a:srgbClr val="4A9EBA"/>
            </a:solidFill>
            <a:prstDash val="dash"/>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179" name="ghost-current-up">
            <a:extLst xmlns:a="http://schemas.openxmlformats.org/drawingml/2006/main">
              <a:ext uri="{FF2B5EF4-FFF2-40B4-BE49-F238E27FC236}">
                <a16:creationId xmlns:a16="http://schemas.microsoft.com/office/drawing/2014/main" id="{86034F40-0F76-46B9-850B-B2D45987BEE5}"/>
              </a:ext>
            </a:extLst>
          </p:cNvPr>
          <p:cNvSpPr>
            <a:spLocks xmlns:a="http://schemas.openxmlformats.org/drawingml/2006/main" noGrp="1"/>
          </p:cNvSpPr>
          <p:nvPr/>
        </p:nvSpPr>
        <p:spPr>
          <a:xfrm xmlns:a="http://schemas.openxmlformats.org/drawingml/2006/main">
            <a:off x="5357813" y="1639633"/>
            <a:ext cx="2305051" cy="561976"/>
          </a:xfrm>
          <a:prstGeom xmlns:a="http://schemas.openxmlformats.org/drawingml/2006/main" prst="line">
            <a:avLst/>
          </a:prstGeom>
          <a:ln xmlns:a="http://schemas.openxmlformats.org/drawingml/2006/main" w="47625">
            <a:solidFill>
              <a:srgbClr val="2A38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80" name="ghost-current-down">
            <a:extLst xmlns:a="http://schemas.openxmlformats.org/drawingml/2006/main">
              <a:ext uri="{FF2B5EF4-FFF2-40B4-BE49-F238E27FC236}">
                <a16:creationId xmlns:a16="http://schemas.microsoft.com/office/drawing/2014/main" id="{2D032D29-29B4-42E0-AF24-3D1FA7915883}"/>
              </a:ext>
            </a:extLst>
          </p:cNvPr>
          <p:cNvSpPr>
            <a:spLocks xmlns:a="http://schemas.openxmlformats.org/drawingml/2006/main" noGrp="1"/>
          </p:cNvSpPr>
          <p:nvPr/>
        </p:nvSpPr>
        <p:spPr>
          <a:xfrm xmlns:a="http://schemas.openxmlformats.org/drawingml/2006/main">
            <a:off x="5362574" y="3054168"/>
            <a:ext cx="2143126" cy="581025"/>
          </a:xfrm>
          <a:prstGeom xmlns:a="http://schemas.openxmlformats.org/drawingml/2006/main" prst="line">
            <a:avLst/>
          </a:prstGeom>
          <a:ln xmlns:a="http://schemas.openxmlformats.org/drawingml/2006/main" w="47625">
            <a:solidFill>
              <a:srgbClr val="2A38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81" name="activation-halo-outer">
            <a:extLst xmlns:a="http://schemas.openxmlformats.org/drawingml/2006/main">
              <a:ext uri="{FF2B5EF4-FFF2-40B4-BE49-F238E27FC236}">
                <a16:creationId xmlns:a16="http://schemas.microsoft.com/office/drawing/2014/main" id="{C73793A3-E3B1-464A-B5EC-3391BD651A94}"/>
              </a:ext>
            </a:extLst>
          </p:cNvPr>
          <p:cNvSpPr>
            <a:spLocks xmlns:a="http://schemas.openxmlformats.org/drawingml/2006/main" noGrp="1"/>
          </p:cNvSpPr>
          <p:nvPr/>
        </p:nvSpPr>
        <p:spPr>
          <a:xfrm xmlns:a="http://schemas.openxmlformats.org/drawingml/2006/main">
            <a:off x="6191250" y="2476500"/>
            <a:ext cx="495300" cy="495300"/>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82" name="activation-halo-inner">
            <a:extLst xmlns:a="http://schemas.openxmlformats.org/drawingml/2006/main">
              <a:ext uri="{FF2B5EF4-FFF2-40B4-BE49-F238E27FC236}">
                <a16:creationId xmlns:a16="http://schemas.microsoft.com/office/drawing/2014/main" id="{59E39955-6A37-4D47-8766-93A155E46ED5}"/>
              </a:ext>
            </a:extLst>
          </p:cNvPr>
          <p:cNvSpPr>
            <a:spLocks xmlns:a="http://schemas.openxmlformats.org/drawingml/2006/main" noGrp="1"/>
          </p:cNvSpPr>
          <p:nvPr/>
        </p:nvSpPr>
        <p:spPr>
          <a:xfrm xmlns:a="http://schemas.openxmlformats.org/drawingml/2006/main">
            <a:off x="6286500" y="2571750"/>
            <a:ext cx="304800" cy="304800"/>
          </a:xfrm>
          <a:prstGeom xmlns:a="http://schemas.openxmlformats.org/drawingml/2006/main" prst="ellipse">
            <a:avLst/>
          </a:prstGeom>
          <a:solidFill xmlns:a="http://schemas.openxmlformats.org/drawingml/2006/main">
            <a:srgbClr val="4A9EBA"/>
          </a:solidFill>
          <a:ln xmlns:a="http://schemas.openxmlformats.org/drawingml/2006/main" w="28575">
            <a:solidFill>
              <a:srgbClr val="FFFFFF"/>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83" name="activation-core">
            <a:extLst xmlns:a="http://schemas.openxmlformats.org/drawingml/2006/main">
              <a:ext uri="{FF2B5EF4-FFF2-40B4-BE49-F238E27FC236}">
                <a16:creationId xmlns:a16="http://schemas.microsoft.com/office/drawing/2014/main" id="{EEC06322-465A-4666-9EC6-861C35EC9297}"/>
              </a:ext>
            </a:extLst>
          </p:cNvPr>
          <p:cNvSpPr>
            <a:spLocks xmlns:a="http://schemas.openxmlformats.org/drawingml/2006/main" noGrp="1"/>
          </p:cNvSpPr>
          <p:nvPr/>
        </p:nvSpPr>
        <p:spPr>
          <a:xfrm xmlns:a="http://schemas.openxmlformats.org/drawingml/2006/main">
            <a:off x="6372225" y="2657475"/>
            <a:ext cx="133350" cy="133350"/>
          </a:xfrm>
          <a:prstGeom xmlns:a="http://schemas.openxmlformats.org/drawingml/2006/main" prst="ellipse">
            <a:avLst/>
          </a:prstGeom>
          <a:solidFill xmlns:a="http://schemas.openxmlformats.org/drawingml/2006/main">
            <a:srgbClr val="FFFFF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84" name="activation-label">
            <a:extLst xmlns:a="http://schemas.openxmlformats.org/drawingml/2006/main">
              <a:ext uri="{FF2B5EF4-FFF2-40B4-BE49-F238E27FC236}">
                <a16:creationId xmlns:a16="http://schemas.microsoft.com/office/drawing/2014/main" id="{5646B3F3-9D28-48BE-8C2D-32FC7AEFA0AA}"/>
              </a:ext>
            </a:extLst>
          </p:cNvPr>
          <p:cNvSpPr>
            <a:spLocks xmlns:a="http://schemas.openxmlformats.org/drawingml/2006/main" noGrp="1"/>
          </p:cNvSpPr>
          <p:nvPr/>
        </p:nvSpPr>
        <p:spPr>
          <a:xfrm xmlns:a="http://schemas.openxmlformats.org/drawingml/2006/main">
            <a:off x="6808469" y="2592022"/>
            <a:ext cx="1489711" cy="26425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200" b="1">
                <a:solidFill>
                  <a:srgbClr val="EEF2F7"/>
                </a:solidFill>
                <a:latin typeface="Arial"/>
                <a:ea typeface="Arial"/>
                <a:cs typeface="Arial"/>
              </a:defRPr>
            </a:lvl1pPr>
          </a:lstStyle>
          <a:p xmlns:a="http://schemas.openxmlformats.org/drawingml/2006/main">
            <a:pPr>
              <a:buNone/>
            </a:pPr>
            <a:r>
              <a:t>hidden activation</a:t>
            </a:r>
          </a:p>
        </p:txBody>
      </p:sp>
      <p:sp>
        <p:nvSpPr>
          <p:cNvPr id="185" name="activation-explainer">
            <a:extLst xmlns:a="http://schemas.openxmlformats.org/drawingml/2006/main">
              <a:ext uri="{FF2B5EF4-FFF2-40B4-BE49-F238E27FC236}">
                <a16:creationId xmlns:a16="http://schemas.microsoft.com/office/drawing/2014/main" id="{55A07628-0963-4F36-8EE0-DB23D752FCBB}"/>
              </a:ext>
            </a:extLst>
          </p:cNvPr>
          <p:cNvSpPr>
            <a:spLocks xmlns:a="http://schemas.openxmlformats.org/drawingml/2006/main" noGrp="1"/>
          </p:cNvSpPr>
          <p:nvPr/>
        </p:nvSpPr>
        <p:spPr>
          <a:xfrm xmlns:a="http://schemas.openxmlformats.org/drawingml/2006/main">
            <a:off x="5051107" y="3717560"/>
            <a:ext cx="2766061" cy="44205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200">
                <a:solidFill>
                  <a:srgbClr val="8FA5BB"/>
                </a:solidFill>
                <a:latin typeface="Arial"/>
                <a:ea typeface="Arial"/>
                <a:cs typeface="Arial"/>
              </a:defRPr>
            </a:lvl1pPr>
          </a:lstStyle>
          <a:p xmlns:a="http://schemas.openxmlformats.org/drawingml/2006/main">
            <a:pPr>
              <a:buNone/>
            </a:pPr>
            <a:r>
              <a:t>Text becomes a location in the model’s internal space.</a:t>
            </a:r>
          </a:p>
        </p:txBody>
      </p:sp>
      <p:sp>
        <p:nvSpPr>
          <p:cNvPr id="186" name="anthropic-citation">
            <a:extLst xmlns:a="http://schemas.openxmlformats.org/drawingml/2006/main">
              <a:ext uri="{FF2B5EF4-FFF2-40B4-BE49-F238E27FC236}">
                <a16:creationId xmlns:a16="http://schemas.microsoft.com/office/drawing/2014/main" id="{33CEECF4-42F1-4075-82A7-526CA23D0F36}"/>
              </a:ext>
            </a:extLst>
          </p:cNvPr>
          <p:cNvSpPr>
            <a:spLocks xmlns:a="http://schemas.openxmlformats.org/drawingml/2006/main" noGrp="1"/>
          </p:cNvSpPr>
          <p:nvPr/>
        </p:nvSpPr>
        <p:spPr>
          <a:xfrm xmlns:a="http://schemas.openxmlformats.org/drawingml/2006/main">
            <a:off x="5760720" y="4804166"/>
            <a:ext cx="2918461" cy="202418"/>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r">
              <a:buNone/>
              <a:defRPr sz="800">
                <a:solidFill>
                  <a:srgbClr val="8FA5BB"/>
                </a:solidFill>
                <a:latin typeface="Arial"/>
                <a:ea typeface="Arial"/>
                <a:cs typeface="Arial"/>
              </a:defRPr>
            </a:lvl1pPr>
          </a:lstStyle>
          <a:p xmlns:a="http://schemas.openxmlformats.org/drawingml/2006/main">
            <a:pPr>
              <a:buNone/>
            </a:pPr>
            <a:r>
              <a:t>Concept adapted from Sofroniew, Lindsey et al. (2026)</a:t>
            </a:r>
          </a:p>
        </p:txBody>
      </p:sp>
      <p:sp>
        <p:nvSpPr>
          <p:cNvPr id="187" name="origin-node">
            <a:extLst xmlns:a="http://schemas.openxmlformats.org/drawingml/2006/main">
              <a:ext uri="{FF2B5EF4-FFF2-40B4-BE49-F238E27FC236}">
                <a16:creationId xmlns:a16="http://schemas.microsoft.com/office/drawing/2014/main" id="{A74C6718-24AD-4801-B8ED-CAA81BC7B7D4}"/>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88" name="Line">
            <a:extLst xmlns:a="http://schemas.openxmlformats.org/drawingml/2006/main">
              <a:ext uri="{FF2B5EF4-FFF2-40B4-BE49-F238E27FC236}">
                <a16:creationId xmlns:a16="http://schemas.microsoft.com/office/drawing/2014/main" id="{F2492CD4-EC92-4952-B73B-AC62F65886CB}"/>
              </a:ext>
            </a:extLst>
          </p:cNvPr>
          <p:cNvSpPr>
            <a:spLocks xmlns:a="http://schemas.openxmlformats.org/drawingml/2006/main" noGrp="1"/>
          </p:cNvSpPr>
          <p:nvPr/>
        </p:nvSpPr>
        <p:spPr>
          <a:xfrm xmlns:a="http://schemas.openxmlformats.org/drawingml/2006/main">
            <a:off x="4873625" y="2781300"/>
            <a:ext cx="1254127" cy="0"/>
          </a:xfrm>
          <a:prstGeom xmlns:a="http://schemas.openxmlformats.org/drawingml/2006/main" prst="line">
            <a:avLst/>
          </a:prstGeom>
          <a:ln xmlns:a="http://schemas.openxmlformats.org/drawingml/2006/main" w="28575">
            <a:solidFill>
              <a:srgbClr val="FFFFFF"/>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189" name="origin-node">
            <a:extLst xmlns:a="http://schemas.openxmlformats.org/drawingml/2006/main">
              <a:ext uri="{FF2B5EF4-FFF2-40B4-BE49-F238E27FC236}">
                <a16:creationId xmlns:a16="http://schemas.microsoft.com/office/drawing/2014/main" id="{46AC9CEE-A3FC-46C8-BF71-54CD2762B501}"/>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90" name="origin-label">
            <a:extLst xmlns:a="http://schemas.openxmlformats.org/drawingml/2006/main">
              <a:ext uri="{FF2B5EF4-FFF2-40B4-BE49-F238E27FC236}">
                <a16:creationId xmlns:a16="http://schemas.microsoft.com/office/drawing/2014/main" id="{DAF0D585-2A1E-485C-97B0-951BF7FB7C47}"/>
              </a:ext>
            </a:extLst>
          </p:cNvPr>
          <p:cNvSpPr>
            <a:spLocks xmlns:a="http://schemas.openxmlformats.org/drawingml/2006/main" noGrp="1"/>
          </p:cNvSpPr>
          <p:nvPr/>
        </p:nvSpPr>
        <p:spPr>
          <a:xfrm xmlns:a="http://schemas.openxmlformats.org/drawingml/2006/main">
            <a:off x="4490720" y="2893024"/>
            <a:ext cx="7277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900">
                <a:solidFill>
                  <a:srgbClr val="8FA5BB"/>
                </a:solidFill>
                <a:latin typeface="Arial"/>
                <a:ea typeface="Arial"/>
                <a:cs typeface="Arial"/>
              </a:defRPr>
            </a:lvl1pPr>
          </a:lstStyle>
          <a:p xmlns:a="http://schemas.openxmlformats.org/drawingml/2006/main">
            <a:pPr>
              <a:buNone/>
            </a:pPr>
            <a:r>
              <a:t>neutral</a:t>
            </a:r>
          </a:p>
        </p:txBody>
      </p:sp>
      <p:sp>
        <p:nvSpPr>
          <p:cNvPr id="191" name="story-copy">
            <a:extLst xmlns:a="http://schemas.openxmlformats.org/drawingml/2006/main">
              <a:ext uri="{FF2B5EF4-FFF2-40B4-BE49-F238E27FC236}">
                <a16:creationId xmlns:a16="http://schemas.microsoft.com/office/drawing/2014/main" id="{8B24B283-04BC-4B7F-AB9F-F7D2B526C7F7}"/>
              </a:ext>
            </a:extLst>
          </p:cNvPr>
          <p:cNvSpPr>
            <a:spLocks xmlns:a="http://schemas.openxmlformats.org/drawingml/2006/main" noGrp="1"/>
          </p:cNvSpPr>
          <p:nvPr/>
        </p:nvSpPr>
        <p:spPr>
          <a:xfrm xmlns:a="http://schemas.openxmlformats.org/drawingml/2006/main">
            <a:off x="457675" y="2304893"/>
            <a:ext cx="1813562" cy="276540"/>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300">
                <a:solidFill>
                  <a:srgbClr val="EEF2F7"/>
                </a:solidFill>
                <a:latin typeface="Arial"/>
                <a:ea typeface="Arial"/>
                <a:cs typeface="Arial"/>
              </a:defRPr>
            </a:lvl1pPr>
          </a:lstStyle>
          <a:p xmlns:a="http://schemas.openxmlformats.org/drawingml/2006/main">
            <a:pPr>
              <a:buNone/>
            </a:pPr>
            <a:r>
              <a:t>A very scary story.</a:t>
            </a:r>
          </a:p>
        </p:txBody>
      </p:sp>
    </p:spTree>
    <p:extLst>
      <p:ext uri="{BB962C8B-B14F-4D97-AF65-F5344CB8AC3E}">
        <p14:creationId xmlns:p14="http://schemas.microsoft.com/office/powerpoint/2010/main" val="833118667"/>
      </p:ext>
    </p:extLst>
  </p:cSld>
</p:sld>
</file>

<file path=ppt/slides/slide7.xml><?xml version="1.0" encoding="utf-8"?>
<p:sld xmlns:p="http://schemas.openxmlformats.org/presentationml/2006/main" showMasterSp="1">
  <p:cSld>
    <p:spTree>
      <p:nvGrpSpPr>
        <p:cNvPr id="1" name=""/>
        <p:cNvGrpSpPr/>
        <p:nvPr/>
      </p:nvGrpSpPr>
      <p:grpSpPr>
        <a:xfrm xmlns:a="http://schemas.openxmlformats.org/drawingml/2006/main"/>
      </p:grpSpPr>
      <p:sp>
        <p:nvSpPr>
          <p:cNvPr id="195" name="Shape 0">
            <a:extLst xmlns:a="http://schemas.openxmlformats.org/drawingml/2006/main">
              <a:ext uri="{FF2B5EF4-FFF2-40B4-BE49-F238E27FC236}">
                <a16:creationId xmlns:a16="http://schemas.microsoft.com/office/drawing/2014/main" id="{D888DDEC-453B-45CE-8F1C-20F7F99E5C97}"/>
              </a:ext>
            </a:extLst>
          </p:cNvPr>
          <p:cNvSpPr>
            <a:spLocks xmlns:a="http://schemas.openxmlformats.org/drawingml/2006/main" noGrp="1"/>
          </p:cNvSpPr>
          <p:nvPr/>
        </p:nvSpPr>
        <p:spPr>
          <a:xfrm xmlns:a="http://schemas.openxmlformats.org/drawingml/2006/main">
            <a:off x="0" y="-1"/>
            <a:ext cx="9144001" cy="5143501"/>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96" name="Text 1">
            <a:extLst xmlns:a="http://schemas.openxmlformats.org/drawingml/2006/main">
              <a:ext uri="{FF2B5EF4-FFF2-40B4-BE49-F238E27FC236}">
                <a16:creationId xmlns:a16="http://schemas.microsoft.com/office/drawing/2014/main" id="{68529B5B-538A-411C-ACD3-1A798CE010FA}"/>
              </a:ext>
            </a:extLst>
          </p:cNvPr>
          <p:cNvSpPr>
            <a:spLocks xmlns:a="http://schemas.openxmlformats.org/drawingml/2006/main" noGrp="1"/>
          </p:cNvSpPr>
          <p:nvPr/>
        </p:nvSpPr>
        <p:spPr>
          <a:xfrm xmlns:a="http://schemas.openxmlformats.org/drawingml/2006/main">
            <a:off x="411479" y="336041"/>
            <a:ext cx="8321042" cy="3429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Emotion concepts become directions</a:t>
            </a:r>
          </a:p>
        </p:txBody>
      </p:sp>
      <p:sp>
        <p:nvSpPr>
          <p:cNvPr id="197" name="activation-space">
            <a:extLst xmlns:a="http://schemas.openxmlformats.org/drawingml/2006/main">
              <a:ext uri="{FF2B5EF4-FFF2-40B4-BE49-F238E27FC236}">
                <a16:creationId xmlns:a16="http://schemas.microsoft.com/office/drawing/2014/main" id="{A8ADDF31-384C-48FB-A446-155D25C801A5}"/>
              </a:ext>
            </a:extLst>
          </p:cNvPr>
          <p:cNvSpPr>
            <a:spLocks xmlns:a="http://schemas.openxmlformats.org/drawingml/2006/main" noGrp="1"/>
          </p:cNvSpPr>
          <p:nvPr/>
        </p:nvSpPr>
        <p:spPr>
          <a:xfrm xmlns:a="http://schemas.openxmlformats.org/drawingml/2006/main">
            <a:off x="4143375" y="1000125"/>
            <a:ext cx="4581525" cy="3333750"/>
          </a:xfrm>
          <a:prstGeom xmlns:a="http://schemas.openxmlformats.org/drawingml/2006/main" prst="roundRect">
            <a:avLst>
              <a:gd name="adj" fmla="val 6286"/>
            </a:avLst>
          </a:prstGeom>
          <a:solidFill xmlns:a="http://schemas.openxmlformats.org/drawingml/2006/main">
            <a:srgbClr val="1E2D45"/>
          </a:solidFill>
          <a:ln xmlns:a="http://schemas.openxmlformats.org/drawingml/2006/main" w="14288">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98" name="space-label">
            <a:extLst xmlns:a="http://schemas.openxmlformats.org/drawingml/2006/main">
              <a:ext uri="{FF2B5EF4-FFF2-40B4-BE49-F238E27FC236}">
                <a16:creationId xmlns:a16="http://schemas.microsoft.com/office/drawing/2014/main" id="{47E9A9D1-8289-4BDA-B51D-EDE40367EDF3}"/>
              </a:ext>
            </a:extLst>
          </p:cNvPr>
          <p:cNvSpPr>
            <a:spLocks xmlns:a="http://schemas.openxmlformats.org/drawingml/2006/main" noGrp="1"/>
          </p:cNvSpPr>
          <p:nvPr/>
        </p:nvSpPr>
        <p:spPr>
          <a:xfrm xmlns:a="http://schemas.openxmlformats.org/drawingml/2006/main">
            <a:off x="4195445" y="1149949"/>
            <a:ext cx="22898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HIDDEN ACTIVATION SPACE</a:t>
            </a:r>
          </a:p>
        </p:txBody>
      </p:sp>
      <p:sp>
        <p:nvSpPr>
          <p:cNvPr id="199" name="space-particle-0">
            <a:extLst xmlns:a="http://schemas.openxmlformats.org/drawingml/2006/main">
              <a:ext uri="{FF2B5EF4-FFF2-40B4-BE49-F238E27FC236}">
                <a16:creationId xmlns:a16="http://schemas.microsoft.com/office/drawing/2014/main" id="{4D1D2852-8DD3-40AB-A2B9-AAFD0F1CF0DC}"/>
              </a:ext>
            </a:extLst>
          </p:cNvPr>
          <p:cNvSpPr>
            <a:spLocks xmlns:a="http://schemas.openxmlformats.org/drawingml/2006/main" noGrp="1"/>
          </p:cNvSpPr>
          <p:nvPr/>
        </p:nvSpPr>
        <p:spPr>
          <a:xfrm xmlns:a="http://schemas.openxmlformats.org/drawingml/2006/main">
            <a:off x="4591050" y="17430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00" name="space-particle-1">
            <a:extLst xmlns:a="http://schemas.openxmlformats.org/drawingml/2006/main">
              <a:ext uri="{FF2B5EF4-FFF2-40B4-BE49-F238E27FC236}">
                <a16:creationId xmlns:a16="http://schemas.microsoft.com/office/drawing/2014/main" id="{609C87AF-F7B5-4334-94C8-43E801B6E89E}"/>
              </a:ext>
            </a:extLst>
          </p:cNvPr>
          <p:cNvSpPr>
            <a:spLocks xmlns:a="http://schemas.openxmlformats.org/drawingml/2006/main" noGrp="1"/>
          </p:cNvSpPr>
          <p:nvPr/>
        </p:nvSpPr>
        <p:spPr>
          <a:xfrm xmlns:a="http://schemas.openxmlformats.org/drawingml/2006/main">
            <a:off x="5235575" y="15049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01" name="space-particle-2">
            <a:extLst xmlns:a="http://schemas.openxmlformats.org/drawingml/2006/main">
              <a:ext uri="{FF2B5EF4-FFF2-40B4-BE49-F238E27FC236}">
                <a16:creationId xmlns:a16="http://schemas.microsoft.com/office/drawing/2014/main" id="{CA41EDE5-2B79-438F-B272-99775D67F5B9}"/>
              </a:ext>
            </a:extLst>
          </p:cNvPr>
          <p:cNvSpPr>
            <a:spLocks xmlns:a="http://schemas.openxmlformats.org/drawingml/2006/main" noGrp="1"/>
          </p:cNvSpPr>
          <p:nvPr/>
        </p:nvSpPr>
        <p:spPr>
          <a:xfrm xmlns:a="http://schemas.openxmlformats.org/drawingml/2006/main">
            <a:off x="6245225" y="191452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02" name="space-particle-3">
            <a:extLst xmlns:a="http://schemas.openxmlformats.org/drawingml/2006/main">
              <a:ext uri="{FF2B5EF4-FFF2-40B4-BE49-F238E27FC236}">
                <a16:creationId xmlns:a16="http://schemas.microsoft.com/office/drawing/2014/main" id="{570A6816-6CED-4A06-ADB2-117F1F3B3450}"/>
              </a:ext>
            </a:extLst>
          </p:cNvPr>
          <p:cNvSpPr>
            <a:spLocks xmlns:a="http://schemas.openxmlformats.org/drawingml/2006/main" noGrp="1"/>
          </p:cNvSpPr>
          <p:nvPr/>
        </p:nvSpPr>
        <p:spPr>
          <a:xfrm xmlns:a="http://schemas.openxmlformats.org/drawingml/2006/main">
            <a:off x="7721600" y="1628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03" name="space-particle-4">
            <a:extLst xmlns:a="http://schemas.openxmlformats.org/drawingml/2006/main">
              <a:ext uri="{FF2B5EF4-FFF2-40B4-BE49-F238E27FC236}">
                <a16:creationId xmlns:a16="http://schemas.microsoft.com/office/drawing/2014/main" id="{213B463A-04C7-4644-861E-28FF8186310F}"/>
              </a:ext>
            </a:extLst>
          </p:cNvPr>
          <p:cNvSpPr>
            <a:spLocks xmlns:a="http://schemas.openxmlformats.org/drawingml/2006/main" noGrp="1"/>
          </p:cNvSpPr>
          <p:nvPr/>
        </p:nvSpPr>
        <p:spPr>
          <a:xfrm xmlns:a="http://schemas.openxmlformats.org/drawingml/2006/main">
            <a:off x="4568825" y="33337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04" name="space-particle-5">
            <a:extLst xmlns:a="http://schemas.openxmlformats.org/drawingml/2006/main">
              <a:ext uri="{FF2B5EF4-FFF2-40B4-BE49-F238E27FC236}">
                <a16:creationId xmlns:a16="http://schemas.microsoft.com/office/drawing/2014/main" id="{E594A10E-44E0-4D1A-8BFB-D545F643C49D}"/>
              </a:ext>
            </a:extLst>
          </p:cNvPr>
          <p:cNvSpPr>
            <a:spLocks xmlns:a="http://schemas.openxmlformats.org/drawingml/2006/main" noGrp="1"/>
          </p:cNvSpPr>
          <p:nvPr/>
        </p:nvSpPr>
        <p:spPr>
          <a:xfrm xmlns:a="http://schemas.openxmlformats.org/drawingml/2006/main">
            <a:off x="5810250" y="3914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05" name="space-particle-6">
            <a:extLst xmlns:a="http://schemas.openxmlformats.org/drawingml/2006/main">
              <a:ext uri="{FF2B5EF4-FFF2-40B4-BE49-F238E27FC236}">
                <a16:creationId xmlns:a16="http://schemas.microsoft.com/office/drawing/2014/main" id="{5A087D1F-4465-4AF8-BCE0-67ED5F98FFB5}"/>
              </a:ext>
            </a:extLst>
          </p:cNvPr>
          <p:cNvSpPr>
            <a:spLocks xmlns:a="http://schemas.openxmlformats.org/drawingml/2006/main" noGrp="1"/>
          </p:cNvSpPr>
          <p:nvPr/>
        </p:nvSpPr>
        <p:spPr>
          <a:xfrm xmlns:a="http://schemas.openxmlformats.org/drawingml/2006/main">
            <a:off x="6683375" y="35623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06" name="space-particle-7">
            <a:extLst xmlns:a="http://schemas.openxmlformats.org/drawingml/2006/main">
              <a:ext uri="{FF2B5EF4-FFF2-40B4-BE49-F238E27FC236}">
                <a16:creationId xmlns:a16="http://schemas.microsoft.com/office/drawing/2014/main" id="{73239F10-5E08-42D6-82EB-8934E0039F30}"/>
              </a:ext>
            </a:extLst>
          </p:cNvPr>
          <p:cNvSpPr>
            <a:spLocks xmlns:a="http://schemas.openxmlformats.org/drawingml/2006/main" noGrp="1"/>
          </p:cNvSpPr>
          <p:nvPr/>
        </p:nvSpPr>
        <p:spPr>
          <a:xfrm xmlns:a="http://schemas.openxmlformats.org/drawingml/2006/main">
            <a:off x="8248650" y="384810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07" name="space-particle-8">
            <a:extLst xmlns:a="http://schemas.openxmlformats.org/drawingml/2006/main">
              <a:ext uri="{FF2B5EF4-FFF2-40B4-BE49-F238E27FC236}">
                <a16:creationId xmlns:a16="http://schemas.microsoft.com/office/drawing/2014/main" id="{A9B45434-AC22-4711-984E-875763A2FF0B}"/>
              </a:ext>
            </a:extLst>
          </p:cNvPr>
          <p:cNvSpPr>
            <a:spLocks xmlns:a="http://schemas.openxmlformats.org/drawingml/2006/main" noGrp="1"/>
          </p:cNvSpPr>
          <p:nvPr/>
        </p:nvSpPr>
        <p:spPr>
          <a:xfrm xmlns:a="http://schemas.openxmlformats.org/drawingml/2006/main">
            <a:off x="8207375" y="23526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08" name="Line">
            <a:extLst xmlns:a="http://schemas.openxmlformats.org/drawingml/2006/main">
              <a:ext uri="{FF2B5EF4-FFF2-40B4-BE49-F238E27FC236}">
                <a16:creationId xmlns:a16="http://schemas.microsoft.com/office/drawing/2014/main" id="{B8689D37-486E-4341-848D-AB666D63E1FA}"/>
              </a:ext>
            </a:extLst>
          </p:cNvPr>
          <p:cNvSpPr>
            <a:spLocks xmlns:a="http://schemas.openxmlformats.org/drawingml/2006/main" noGrp="1"/>
          </p:cNvSpPr>
          <p:nvPr/>
        </p:nvSpPr>
        <p:spPr>
          <a:xfrm xmlns:a="http://schemas.openxmlformats.org/drawingml/2006/main">
            <a:off x="4873625" y="2781300"/>
            <a:ext cx="1666875" cy="0"/>
          </a:xfrm>
          <a:prstGeom xmlns:a="http://schemas.openxmlformats.org/drawingml/2006/main" prst="line">
            <a:avLst/>
          </a:prstGeom>
          <a:ln xmlns:a="http://schemas.openxmlformats.org/drawingml/2006/main" w="28575">
            <a:solidFill>
              <a:srgbClr val="FFFFFF"/>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209" name="origin-node">
            <a:extLst xmlns:a="http://schemas.openxmlformats.org/drawingml/2006/main">
              <a:ext uri="{FF2B5EF4-FFF2-40B4-BE49-F238E27FC236}">
                <a16:creationId xmlns:a16="http://schemas.microsoft.com/office/drawing/2014/main" id="{F4FE098F-3322-4986-A5D7-DFC6E2837460}"/>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10" name="origin-label">
            <a:extLst xmlns:a="http://schemas.openxmlformats.org/drawingml/2006/main">
              <a:ext uri="{FF2B5EF4-FFF2-40B4-BE49-F238E27FC236}">
                <a16:creationId xmlns:a16="http://schemas.microsoft.com/office/drawing/2014/main" id="{1E1ED8D7-73E0-4F23-92FF-ED1828D94366}"/>
              </a:ext>
            </a:extLst>
          </p:cNvPr>
          <p:cNvSpPr>
            <a:spLocks xmlns:a="http://schemas.openxmlformats.org/drawingml/2006/main" noGrp="1"/>
          </p:cNvSpPr>
          <p:nvPr/>
        </p:nvSpPr>
        <p:spPr>
          <a:xfrm xmlns:a="http://schemas.openxmlformats.org/drawingml/2006/main">
            <a:off x="4490720" y="2893024"/>
            <a:ext cx="7277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900">
                <a:solidFill>
                  <a:srgbClr val="8FA5BB"/>
                </a:solidFill>
                <a:latin typeface="Arial"/>
                <a:ea typeface="Arial"/>
                <a:cs typeface="Arial"/>
              </a:defRPr>
            </a:lvl1pPr>
          </a:lstStyle>
          <a:p xmlns:a="http://schemas.openxmlformats.org/drawingml/2006/main">
            <a:pPr>
              <a:buNone/>
            </a:pPr>
            <a:r>
              <a:t>neutral</a:t>
            </a:r>
          </a:p>
        </p:txBody>
      </p:sp>
      <p:sp>
        <p:nvSpPr>
          <p:cNvPr id="211" name="hidden-halo">
            <a:extLst xmlns:a="http://schemas.openxmlformats.org/drawingml/2006/main">
              <a:ext uri="{FF2B5EF4-FFF2-40B4-BE49-F238E27FC236}">
                <a16:creationId xmlns:a16="http://schemas.microsoft.com/office/drawing/2014/main" id="{A562CC75-A8D2-4592-8514-410973CE2670}"/>
              </a:ext>
            </a:extLst>
          </p:cNvPr>
          <p:cNvSpPr>
            <a:spLocks xmlns:a="http://schemas.openxmlformats.org/drawingml/2006/main" noGrp="1"/>
          </p:cNvSpPr>
          <p:nvPr/>
        </p:nvSpPr>
        <p:spPr>
          <a:xfrm xmlns:a="http://schemas.openxmlformats.org/drawingml/2006/main">
            <a:off x="6359525" y="2581275"/>
            <a:ext cx="400050" cy="400050"/>
          </a:xfrm>
          <a:prstGeom xmlns:a="http://schemas.openxmlformats.org/drawingml/2006/main" prst="ellipse">
            <a:avLst/>
          </a:prstGeom>
          <a:solidFill xmlns:a="http://schemas.openxmlformats.org/drawingml/2006/main">
            <a:srgbClr val="8E3F2D"/>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12" name="hidden-state">
            <a:extLst xmlns:a="http://schemas.openxmlformats.org/drawingml/2006/main">
              <a:ext uri="{FF2B5EF4-FFF2-40B4-BE49-F238E27FC236}">
                <a16:creationId xmlns:a16="http://schemas.microsoft.com/office/drawing/2014/main" id="{22EF93C0-92C0-4AF3-8898-3342F339DDDE}"/>
              </a:ext>
            </a:extLst>
          </p:cNvPr>
          <p:cNvSpPr>
            <a:spLocks xmlns:a="http://schemas.openxmlformats.org/drawingml/2006/main" noGrp="1"/>
          </p:cNvSpPr>
          <p:nvPr/>
        </p:nvSpPr>
        <p:spPr>
          <a:xfrm xmlns:a="http://schemas.openxmlformats.org/drawingml/2006/main">
            <a:off x="6464300" y="2686050"/>
            <a:ext cx="190500" cy="1905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97C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13" name="hidden-state-label">
            <a:extLst xmlns:a="http://schemas.openxmlformats.org/drawingml/2006/main">
              <a:ext uri="{FF2B5EF4-FFF2-40B4-BE49-F238E27FC236}">
                <a16:creationId xmlns:a16="http://schemas.microsoft.com/office/drawing/2014/main" id="{D4D57361-48F8-470D-96B4-EE3A191ABBA9}"/>
              </a:ext>
            </a:extLst>
          </p:cNvPr>
          <p:cNvSpPr>
            <a:spLocks xmlns:a="http://schemas.openxmlformats.org/drawingml/2006/main" noGrp="1"/>
          </p:cNvSpPr>
          <p:nvPr/>
        </p:nvSpPr>
        <p:spPr>
          <a:xfrm xmlns:a="http://schemas.openxmlformats.org/drawingml/2006/main">
            <a:off x="6005195" y="2998007"/>
            <a:ext cx="1108711"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000" b="1">
                <a:solidFill>
                  <a:srgbClr val="EEF2F7"/>
                </a:solidFill>
                <a:latin typeface="Arial"/>
                <a:ea typeface="Arial"/>
                <a:cs typeface="Arial"/>
              </a:defRPr>
            </a:lvl1pPr>
          </a:lstStyle>
          <a:p xmlns:a="http://schemas.openxmlformats.org/drawingml/2006/main">
            <a:pPr>
              <a:buNone/>
            </a:pPr>
            <a:r>
              <a:t>hidden activation</a:t>
            </a:r>
          </a:p>
        </p:txBody>
      </p:sp>
      <p:sp>
        <p:nvSpPr>
          <p:cNvPr id="214" name="fear-projection-mark">
            <a:extLst xmlns:a="http://schemas.openxmlformats.org/drawingml/2006/main">
              <a:ext uri="{FF2B5EF4-FFF2-40B4-BE49-F238E27FC236}">
                <a16:creationId xmlns:a16="http://schemas.microsoft.com/office/drawing/2014/main" id="{E26C5B1C-0893-4CF9-9B24-54D6090EB5D8}"/>
              </a:ext>
            </a:extLst>
          </p:cNvPr>
          <p:cNvSpPr>
            <a:spLocks xmlns:a="http://schemas.openxmlformats.org/drawingml/2006/main" noGrp="1"/>
          </p:cNvSpPr>
          <p:nvPr/>
        </p:nvSpPr>
        <p:spPr>
          <a:xfrm xmlns:a="http://schemas.openxmlformats.org/drawingml/2006/main">
            <a:off x="6416675" y="2638425"/>
            <a:ext cx="285750" cy="285750"/>
          </a:xfrm>
          <a:prstGeom xmlns:a="http://schemas.openxmlformats.org/drawingml/2006/main" prst="ellipse">
            <a:avLst/>
          </a:prstGeom>
          <a:ln xmlns:a="http://schemas.openxmlformats.org/drawingml/2006/main" w="28575">
            <a:solidFill>
              <a:srgbClr val="E97C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15" name="projection-label">
            <a:extLst xmlns:a="http://schemas.openxmlformats.org/drawingml/2006/main">
              <a:ext uri="{FF2B5EF4-FFF2-40B4-BE49-F238E27FC236}">
                <a16:creationId xmlns:a16="http://schemas.microsoft.com/office/drawing/2014/main" id="{719A9BAF-3BA4-485B-896E-171EF14E337E}"/>
              </a:ext>
            </a:extLst>
          </p:cNvPr>
          <p:cNvSpPr>
            <a:spLocks xmlns:a="http://schemas.openxmlformats.org/drawingml/2006/main" noGrp="1"/>
          </p:cNvSpPr>
          <p:nvPr/>
        </p:nvSpPr>
        <p:spPr>
          <a:xfrm xmlns:a="http://schemas.openxmlformats.org/drawingml/2006/main">
            <a:off x="4300220" y="1778599"/>
            <a:ext cx="12611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a:solidFill>
                  <a:srgbClr val="8FA5BB"/>
                </a:solidFill>
                <a:latin typeface="Arial"/>
                <a:ea typeface="Arial"/>
                <a:cs typeface="Arial"/>
              </a:defRPr>
            </a:lvl1pPr>
          </a:lstStyle>
          <a:p xmlns:a="http://schemas.openxmlformats.org/drawingml/2006/main">
            <a:pPr>
              <a:buNone/>
            </a:pPr>
            <a:r>
              <a:t>projection marks</a:t>
            </a:r>
          </a:p>
        </p:txBody>
      </p:sp>
      <p:sp>
        <p:nvSpPr>
          <p:cNvPr id="216" name="alignment-label">
            <a:extLst xmlns:a="http://schemas.openxmlformats.org/drawingml/2006/main">
              <a:ext uri="{FF2B5EF4-FFF2-40B4-BE49-F238E27FC236}">
                <a16:creationId xmlns:a16="http://schemas.microsoft.com/office/drawing/2014/main" id="{F0907810-8CB3-4942-B2A9-9E6A311AC869}"/>
              </a:ext>
            </a:extLst>
          </p:cNvPr>
          <p:cNvSpPr>
            <a:spLocks xmlns:a="http://schemas.openxmlformats.org/drawingml/2006/main" noGrp="1"/>
          </p:cNvSpPr>
          <p:nvPr/>
        </p:nvSpPr>
        <p:spPr>
          <a:xfrm xmlns:a="http://schemas.openxmlformats.org/drawingml/2006/main">
            <a:off x="5976620" y="2363007"/>
            <a:ext cx="1470661" cy="2269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000" b="1">
                <a:solidFill>
                  <a:srgbClr val="E97C50"/>
                </a:solidFill>
                <a:latin typeface="Arial"/>
                <a:ea typeface="Arial"/>
                <a:cs typeface="Arial"/>
              </a:defRPr>
            </a:lvl1pPr>
          </a:lstStyle>
          <a:p xmlns:a="http://schemas.openxmlformats.org/drawingml/2006/main">
            <a:pPr>
              <a:buNone/>
            </a:pPr>
            <a:r>
              <a:t>strong alignment</a:t>
            </a:r>
          </a:p>
        </p:txBody>
      </p:sp>
      <p:sp>
        <p:nvSpPr>
          <p:cNvPr id="217" name="anthropic-citation">
            <a:extLst xmlns:a="http://schemas.openxmlformats.org/drawingml/2006/main">
              <a:ext uri="{FF2B5EF4-FFF2-40B4-BE49-F238E27FC236}">
                <a16:creationId xmlns:a16="http://schemas.microsoft.com/office/drawing/2014/main" id="{5F81CC11-800C-49E0-8D14-4A1F591BA4E1}"/>
              </a:ext>
            </a:extLst>
          </p:cNvPr>
          <p:cNvSpPr>
            <a:spLocks xmlns:a="http://schemas.openxmlformats.org/drawingml/2006/main" noGrp="1"/>
          </p:cNvSpPr>
          <p:nvPr/>
        </p:nvSpPr>
        <p:spPr>
          <a:xfrm xmlns:a="http://schemas.openxmlformats.org/drawingml/2006/main">
            <a:off x="5760720" y="4804166"/>
            <a:ext cx="2918461" cy="202418"/>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r">
              <a:buNone/>
              <a:defRPr sz="800">
                <a:solidFill>
                  <a:srgbClr val="8FA5BB"/>
                </a:solidFill>
                <a:latin typeface="Arial"/>
                <a:ea typeface="Arial"/>
                <a:cs typeface="Arial"/>
              </a:defRPr>
            </a:lvl1pPr>
          </a:lstStyle>
          <a:p xmlns:a="http://schemas.openxmlformats.org/drawingml/2006/main">
            <a:pPr>
              <a:buNone/>
            </a:pPr>
            <a:r>
              <a:t>Concept adapted from Sofroniew, Lindsey et al. (2026)</a:t>
            </a:r>
          </a:p>
        </p:txBody>
      </p:sp>
      <p:sp>
        <p:nvSpPr>
          <p:cNvPr id="218" name="story-cue">
            <a:extLst xmlns:a="http://schemas.openxmlformats.org/drawingml/2006/main">
              <a:ext uri="{FF2B5EF4-FFF2-40B4-BE49-F238E27FC236}">
                <a16:creationId xmlns:a16="http://schemas.microsoft.com/office/drawing/2014/main" id="{7B81F09D-E4C8-4C5B-97BD-1A93E858698D}"/>
              </a:ext>
            </a:extLst>
          </p:cNvPr>
          <p:cNvSpPr>
            <a:spLocks xmlns:a="http://schemas.openxmlformats.org/drawingml/2006/main" noGrp="1"/>
          </p:cNvSpPr>
          <p:nvPr/>
        </p:nvSpPr>
        <p:spPr>
          <a:xfrm xmlns:a="http://schemas.openxmlformats.org/drawingml/2006/main">
            <a:off x="269081" y="1938338"/>
            <a:ext cx="2190751" cy="876301"/>
          </a:xfrm>
          <a:prstGeom xmlns:a="http://schemas.openxmlformats.org/drawingml/2006/main" prst="roundRect">
            <a:avLst>
              <a:gd name="adj" fmla="val 15217"/>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19" name="story-label">
            <a:extLst xmlns:a="http://schemas.openxmlformats.org/drawingml/2006/main">
              <a:ext uri="{FF2B5EF4-FFF2-40B4-BE49-F238E27FC236}">
                <a16:creationId xmlns:a16="http://schemas.microsoft.com/office/drawing/2014/main" id="{CC7C5F3A-E26E-45AA-B041-D8BBE423A8F9}"/>
              </a:ext>
            </a:extLst>
          </p:cNvPr>
          <p:cNvSpPr>
            <a:spLocks xmlns:a="http://schemas.openxmlformats.org/drawingml/2006/main" noGrp="1"/>
          </p:cNvSpPr>
          <p:nvPr/>
        </p:nvSpPr>
        <p:spPr>
          <a:xfrm xmlns:a="http://schemas.openxmlformats.org/drawingml/2006/main">
            <a:off x="457675" y="1983387"/>
            <a:ext cx="59436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STORY</a:t>
            </a:r>
          </a:p>
        </p:txBody>
      </p:sp>
      <p:sp>
        <p:nvSpPr>
          <p:cNvPr id="220" name="llm-gate">
            <a:extLst xmlns:a="http://schemas.openxmlformats.org/drawingml/2006/main">
              <a:ext uri="{FF2B5EF4-FFF2-40B4-BE49-F238E27FC236}">
                <a16:creationId xmlns:a16="http://schemas.microsoft.com/office/drawing/2014/main" id="{950857E1-DD96-46CA-A640-289E7AB221E8}"/>
              </a:ext>
            </a:extLst>
          </p:cNvPr>
          <p:cNvSpPr>
            <a:spLocks xmlns:a="http://schemas.openxmlformats.org/drawingml/2006/main" noGrp="1"/>
          </p:cNvSpPr>
          <p:nvPr/>
        </p:nvSpPr>
        <p:spPr>
          <a:xfrm xmlns:a="http://schemas.openxmlformats.org/drawingml/2006/main">
            <a:off x="2857500" y="1504950"/>
            <a:ext cx="1066800" cy="2038350"/>
          </a:xfrm>
          <a:prstGeom xmlns:a="http://schemas.openxmlformats.org/drawingml/2006/main" prst="roundRect">
            <a:avLst>
              <a:gd name="adj" fmla="val 16071"/>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21" name="llm-label">
            <a:extLst xmlns:a="http://schemas.openxmlformats.org/drawingml/2006/main">
              <a:ext uri="{FF2B5EF4-FFF2-40B4-BE49-F238E27FC236}">
                <a16:creationId xmlns:a16="http://schemas.microsoft.com/office/drawing/2014/main" id="{CF4C6EDF-FE51-4471-9BFB-B7A1FBC374F3}"/>
              </a:ext>
            </a:extLst>
          </p:cNvPr>
          <p:cNvSpPr>
            <a:spLocks xmlns:a="http://schemas.openxmlformats.org/drawingml/2006/main" noGrp="1"/>
          </p:cNvSpPr>
          <p:nvPr/>
        </p:nvSpPr>
        <p:spPr>
          <a:xfrm xmlns:a="http://schemas.openxmlformats.org/drawingml/2006/main">
            <a:off x="3055620" y="2085477"/>
            <a:ext cx="670561" cy="36294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900" b="1">
                <a:solidFill>
                  <a:srgbClr val="EEF2F7"/>
                </a:solidFill>
                <a:latin typeface="Arial"/>
                <a:ea typeface="Arial"/>
                <a:cs typeface="Arial"/>
              </a:defRPr>
            </a:lvl1pPr>
          </a:lstStyle>
          <a:p xmlns:a="http://schemas.openxmlformats.org/drawingml/2006/main">
            <a:pPr>
              <a:buNone/>
            </a:pPr>
            <a:r>
              <a:t>LLM</a:t>
            </a:r>
          </a:p>
        </p:txBody>
      </p:sp>
      <p:sp>
        <p:nvSpPr>
          <p:cNvPr id="222" name="llm-subtitle">
            <a:extLst xmlns:a="http://schemas.openxmlformats.org/drawingml/2006/main">
              <a:ext uri="{FF2B5EF4-FFF2-40B4-BE49-F238E27FC236}">
                <a16:creationId xmlns:a16="http://schemas.microsoft.com/office/drawing/2014/main" id="{918FD362-1DCF-4AA1-8226-E275A7F57311}"/>
              </a:ext>
            </a:extLst>
          </p:cNvPr>
          <p:cNvSpPr>
            <a:spLocks xmlns:a="http://schemas.openxmlformats.org/drawingml/2006/main" noGrp="1"/>
          </p:cNvSpPr>
          <p:nvPr/>
        </p:nvSpPr>
        <p:spPr>
          <a:xfrm xmlns:a="http://schemas.openxmlformats.org/drawingml/2006/main">
            <a:off x="2998470" y="2540807"/>
            <a:ext cx="784861"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p xmlns:a="http://schemas.openxmlformats.org/drawingml/2006/main">
            <a:pPr algn="ctr">
              <a:buNone/>
              <a:defRPr sz="1000">
                <a:solidFill>
                  <a:srgbClr val="4A9EBA"/>
                </a:solidFill>
                <a:latin typeface="Arial"/>
                <a:ea typeface="Arial"/>
                <a:cs typeface="Arial"/>
              </a:defRPr>
            </a:pPr>
            <a:r>
              <a:t>words leads</a:t>
            </a:r>
          </a:p>
          <a:p xmlns:a="http://schemas.openxmlformats.org/drawingml/2006/main">
            <a:pPr algn="ctr">
              <a:buNone/>
              <a:defRPr sz="1000">
                <a:solidFill>
                  <a:srgbClr val="4A9EBA"/>
                </a:solidFill>
                <a:latin typeface="Arial"/>
                <a:ea typeface="Arial"/>
                <a:cs typeface="Arial"/>
              </a:defRPr>
            </a:pPr>
            <a:r>
              <a:t>activations</a:t>
            </a:r>
          </a:p>
        </p:txBody>
      </p:sp>
      <p:sp>
        <p:nvSpPr>
          <p:cNvPr id="223" name="gate-node-22-24">
            <a:extLst xmlns:a="http://schemas.openxmlformats.org/drawingml/2006/main">
              <a:ext uri="{FF2B5EF4-FFF2-40B4-BE49-F238E27FC236}">
                <a16:creationId xmlns:a16="http://schemas.microsoft.com/office/drawing/2014/main" id="{62753EDF-1F12-448D-BB8C-4FCA9548E2ED}"/>
              </a:ext>
            </a:extLst>
          </p:cNvPr>
          <p:cNvSpPr>
            <a:spLocks xmlns:a="http://schemas.openxmlformats.org/drawingml/2006/main" noGrp="1"/>
          </p:cNvSpPr>
          <p:nvPr/>
        </p:nvSpPr>
        <p:spPr>
          <a:xfrm xmlns:a="http://schemas.openxmlformats.org/drawingml/2006/main">
            <a:off x="3067050" y="173355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24" name="gate-node-55-31">
            <a:extLst xmlns:a="http://schemas.openxmlformats.org/drawingml/2006/main">
              <a:ext uri="{FF2B5EF4-FFF2-40B4-BE49-F238E27FC236}">
                <a16:creationId xmlns:a16="http://schemas.microsoft.com/office/drawing/2014/main" id="{FE9906D7-9FF4-42E1-BE34-8DEC10DB839A}"/>
              </a:ext>
            </a:extLst>
          </p:cNvPr>
          <p:cNvSpPr>
            <a:spLocks xmlns:a="http://schemas.openxmlformats.org/drawingml/2006/main" noGrp="1"/>
          </p:cNvSpPr>
          <p:nvPr/>
        </p:nvSpPr>
        <p:spPr>
          <a:xfrm xmlns:a="http://schemas.openxmlformats.org/drawingml/2006/main">
            <a:off x="3381375" y="1800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25" name="gate-node-79-63">
            <a:extLst xmlns:a="http://schemas.openxmlformats.org/drawingml/2006/main">
              <a:ext uri="{FF2B5EF4-FFF2-40B4-BE49-F238E27FC236}">
                <a16:creationId xmlns:a16="http://schemas.microsoft.com/office/drawing/2014/main" id="{EA741F11-3443-44FE-A949-D0C3066AE345}"/>
              </a:ext>
            </a:extLst>
          </p:cNvPr>
          <p:cNvSpPr>
            <a:spLocks xmlns:a="http://schemas.openxmlformats.org/drawingml/2006/main" noGrp="1"/>
          </p:cNvSpPr>
          <p:nvPr/>
        </p:nvSpPr>
        <p:spPr>
          <a:xfrm xmlns:a="http://schemas.openxmlformats.org/drawingml/2006/main">
            <a:off x="3609975" y="21050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26" name="gate-node-28-151">
            <a:extLst xmlns:a="http://schemas.openxmlformats.org/drawingml/2006/main">
              <a:ext uri="{FF2B5EF4-FFF2-40B4-BE49-F238E27FC236}">
                <a16:creationId xmlns:a16="http://schemas.microsoft.com/office/drawing/2014/main" id="{773C82A8-470A-4BFD-99B4-C2559F39F23A}"/>
              </a:ext>
            </a:extLst>
          </p:cNvPr>
          <p:cNvSpPr>
            <a:spLocks xmlns:a="http://schemas.openxmlformats.org/drawingml/2006/main" noGrp="1"/>
          </p:cNvSpPr>
          <p:nvPr/>
        </p:nvSpPr>
        <p:spPr>
          <a:xfrm xmlns:a="http://schemas.openxmlformats.org/drawingml/2006/main">
            <a:off x="3124200" y="2943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27" name="gate-node-82-174">
            <a:extLst xmlns:a="http://schemas.openxmlformats.org/drawingml/2006/main">
              <a:ext uri="{FF2B5EF4-FFF2-40B4-BE49-F238E27FC236}">
                <a16:creationId xmlns:a16="http://schemas.microsoft.com/office/drawing/2014/main" id="{FEF96C3B-63F3-4ED9-8298-8DE9931279A9}"/>
              </a:ext>
            </a:extLst>
          </p:cNvPr>
          <p:cNvSpPr>
            <a:spLocks xmlns:a="http://schemas.openxmlformats.org/drawingml/2006/main" noGrp="1"/>
          </p:cNvSpPr>
          <p:nvPr/>
        </p:nvSpPr>
        <p:spPr>
          <a:xfrm xmlns:a="http://schemas.openxmlformats.org/drawingml/2006/main">
            <a:off x="3638550" y="316230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28" name="Line">
            <a:extLst xmlns:a="http://schemas.openxmlformats.org/drawingml/2006/main">
              <a:ext uri="{FF2B5EF4-FFF2-40B4-BE49-F238E27FC236}">
                <a16:creationId xmlns:a16="http://schemas.microsoft.com/office/drawing/2014/main" id="{88227000-8187-4751-BDB9-E1213A76C4BC}"/>
              </a:ext>
            </a:extLst>
          </p:cNvPr>
          <p:cNvSpPr>
            <a:spLocks xmlns:a="http://schemas.openxmlformats.org/drawingml/2006/main" noGrp="1"/>
          </p:cNvSpPr>
          <p:nvPr/>
        </p:nvSpPr>
        <p:spPr>
          <a:xfrm xmlns:a="http://schemas.openxmlformats.org/drawingml/2006/main">
            <a:off x="2507852" y="2376488"/>
            <a:ext cx="311151" cy="1"/>
          </a:xfrm>
          <a:prstGeom xmlns:a="http://schemas.openxmlformats.org/drawingml/2006/main" prst="line">
            <a:avLst/>
          </a:prstGeom>
          <a:ln xmlns:a="http://schemas.openxmlformats.org/drawingml/2006/main" w="28575">
            <a:solidFill>
              <a:srgbClr val="4A9EBA"/>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229" name="story-copy">
            <a:extLst xmlns:a="http://schemas.openxmlformats.org/drawingml/2006/main">
              <a:ext uri="{FF2B5EF4-FFF2-40B4-BE49-F238E27FC236}">
                <a16:creationId xmlns:a16="http://schemas.microsoft.com/office/drawing/2014/main" id="{EC94762B-D75D-4190-B635-3C815D123514}"/>
              </a:ext>
            </a:extLst>
          </p:cNvPr>
          <p:cNvSpPr>
            <a:spLocks xmlns:a="http://schemas.openxmlformats.org/drawingml/2006/main" noGrp="1"/>
          </p:cNvSpPr>
          <p:nvPr/>
        </p:nvSpPr>
        <p:spPr>
          <a:xfrm xmlns:a="http://schemas.openxmlformats.org/drawingml/2006/main">
            <a:off x="457675" y="2304893"/>
            <a:ext cx="1813562" cy="276540"/>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300">
                <a:solidFill>
                  <a:srgbClr val="EEF2F7"/>
                </a:solidFill>
                <a:latin typeface="Arial"/>
                <a:ea typeface="Arial"/>
                <a:cs typeface="Arial"/>
              </a:defRPr>
            </a:lvl1pPr>
          </a:lstStyle>
          <a:p xmlns:a="http://schemas.openxmlformats.org/drawingml/2006/main">
            <a:pPr>
              <a:buNone/>
            </a:pPr>
            <a:r>
              <a:t>A very scary story.</a:t>
            </a:r>
          </a:p>
        </p:txBody>
      </p:sp>
    </p:spTree>
    <p:extLst>
      <p:ext uri="{BB962C8B-B14F-4D97-AF65-F5344CB8AC3E}">
        <p14:creationId xmlns:p14="http://schemas.microsoft.com/office/powerpoint/2010/main" val="816196775"/>
      </p:ext>
    </p:extLst>
  </p:cSld>
</p:sld>
</file>

<file path=ppt/slides/slide8.xml><?xml version="1.0" encoding="utf-8"?>
<p:sld xmlns:p="http://schemas.openxmlformats.org/presentationml/2006/main" showMasterSp="1">
  <p:cSld>
    <p:spTree>
      <p:nvGrpSpPr>
        <p:cNvPr id="1" name=""/>
        <p:cNvGrpSpPr/>
        <p:nvPr/>
      </p:nvGrpSpPr>
      <p:grpSpPr>
        <a:xfrm xmlns:a="http://schemas.openxmlformats.org/drawingml/2006/main"/>
      </p:grpSpPr>
      <p:sp>
        <p:nvSpPr>
          <p:cNvPr id="233" name="Shape 0">
            <a:extLst xmlns:a="http://schemas.openxmlformats.org/drawingml/2006/main">
              <a:ext uri="{FF2B5EF4-FFF2-40B4-BE49-F238E27FC236}">
                <a16:creationId xmlns:a16="http://schemas.microsoft.com/office/drawing/2014/main" id="{A6C4CC53-4E23-4E59-8FB3-A54593F26A0B}"/>
              </a:ext>
            </a:extLst>
          </p:cNvPr>
          <p:cNvSpPr>
            <a:spLocks xmlns:a="http://schemas.openxmlformats.org/drawingml/2006/main" noGrp="1"/>
          </p:cNvSpPr>
          <p:nvPr/>
        </p:nvSpPr>
        <p:spPr>
          <a:xfrm xmlns:a="http://schemas.openxmlformats.org/drawingml/2006/main">
            <a:off x="0" y="-1"/>
            <a:ext cx="9144001" cy="5143501"/>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34" name="Text 1">
            <a:extLst xmlns:a="http://schemas.openxmlformats.org/drawingml/2006/main">
              <a:ext uri="{FF2B5EF4-FFF2-40B4-BE49-F238E27FC236}">
                <a16:creationId xmlns:a16="http://schemas.microsoft.com/office/drawing/2014/main" id="{76AFCDD1-4676-4A08-9BC2-8052E65079CA}"/>
              </a:ext>
            </a:extLst>
          </p:cNvPr>
          <p:cNvSpPr>
            <a:spLocks xmlns:a="http://schemas.openxmlformats.org/drawingml/2006/main" noGrp="1"/>
          </p:cNvSpPr>
          <p:nvPr/>
        </p:nvSpPr>
        <p:spPr>
          <a:xfrm xmlns:a="http://schemas.openxmlformats.org/drawingml/2006/main">
            <a:off x="411479" y="336041"/>
            <a:ext cx="8321042" cy="3429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Emotion concepts become directions</a:t>
            </a:r>
          </a:p>
        </p:txBody>
      </p:sp>
      <p:sp>
        <p:nvSpPr>
          <p:cNvPr id="235" name="activation-space">
            <a:extLst xmlns:a="http://schemas.openxmlformats.org/drawingml/2006/main">
              <a:ext uri="{FF2B5EF4-FFF2-40B4-BE49-F238E27FC236}">
                <a16:creationId xmlns:a16="http://schemas.microsoft.com/office/drawing/2014/main" id="{73FD9F6E-6769-448F-A9E2-C6DF208BA472}"/>
              </a:ext>
            </a:extLst>
          </p:cNvPr>
          <p:cNvSpPr>
            <a:spLocks xmlns:a="http://schemas.openxmlformats.org/drawingml/2006/main" noGrp="1"/>
          </p:cNvSpPr>
          <p:nvPr/>
        </p:nvSpPr>
        <p:spPr>
          <a:xfrm xmlns:a="http://schemas.openxmlformats.org/drawingml/2006/main">
            <a:off x="4143375" y="1000125"/>
            <a:ext cx="4581525" cy="3333750"/>
          </a:xfrm>
          <a:prstGeom xmlns:a="http://schemas.openxmlformats.org/drawingml/2006/main" prst="roundRect">
            <a:avLst>
              <a:gd name="adj" fmla="val 6286"/>
            </a:avLst>
          </a:prstGeom>
          <a:solidFill xmlns:a="http://schemas.openxmlformats.org/drawingml/2006/main">
            <a:srgbClr val="1E2D45"/>
          </a:solidFill>
          <a:ln xmlns:a="http://schemas.openxmlformats.org/drawingml/2006/main" w="14288">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36" name="space-label">
            <a:extLst xmlns:a="http://schemas.openxmlformats.org/drawingml/2006/main">
              <a:ext uri="{FF2B5EF4-FFF2-40B4-BE49-F238E27FC236}">
                <a16:creationId xmlns:a16="http://schemas.microsoft.com/office/drawing/2014/main" id="{B9F7C66C-84AB-4CF4-B029-6655113A8326}"/>
              </a:ext>
            </a:extLst>
          </p:cNvPr>
          <p:cNvSpPr>
            <a:spLocks xmlns:a="http://schemas.openxmlformats.org/drawingml/2006/main" noGrp="1"/>
          </p:cNvSpPr>
          <p:nvPr/>
        </p:nvSpPr>
        <p:spPr>
          <a:xfrm xmlns:a="http://schemas.openxmlformats.org/drawingml/2006/main">
            <a:off x="4195445" y="1149949"/>
            <a:ext cx="22898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HIDDEN ACTIVATION SPACE</a:t>
            </a:r>
          </a:p>
        </p:txBody>
      </p:sp>
      <p:sp>
        <p:nvSpPr>
          <p:cNvPr id="237" name="space-particle-0">
            <a:extLst xmlns:a="http://schemas.openxmlformats.org/drawingml/2006/main">
              <a:ext uri="{FF2B5EF4-FFF2-40B4-BE49-F238E27FC236}">
                <a16:creationId xmlns:a16="http://schemas.microsoft.com/office/drawing/2014/main" id="{71746907-1916-4F87-8581-81C3C106BD18}"/>
              </a:ext>
            </a:extLst>
          </p:cNvPr>
          <p:cNvSpPr>
            <a:spLocks xmlns:a="http://schemas.openxmlformats.org/drawingml/2006/main" noGrp="1"/>
          </p:cNvSpPr>
          <p:nvPr/>
        </p:nvSpPr>
        <p:spPr>
          <a:xfrm xmlns:a="http://schemas.openxmlformats.org/drawingml/2006/main">
            <a:off x="4591050" y="17430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38" name="space-particle-1">
            <a:extLst xmlns:a="http://schemas.openxmlformats.org/drawingml/2006/main">
              <a:ext uri="{FF2B5EF4-FFF2-40B4-BE49-F238E27FC236}">
                <a16:creationId xmlns:a16="http://schemas.microsoft.com/office/drawing/2014/main" id="{3C5F83E3-CB71-44D7-A5C2-10EAF6AA7812}"/>
              </a:ext>
            </a:extLst>
          </p:cNvPr>
          <p:cNvSpPr>
            <a:spLocks xmlns:a="http://schemas.openxmlformats.org/drawingml/2006/main" noGrp="1"/>
          </p:cNvSpPr>
          <p:nvPr/>
        </p:nvSpPr>
        <p:spPr>
          <a:xfrm xmlns:a="http://schemas.openxmlformats.org/drawingml/2006/main">
            <a:off x="5235575" y="15049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39" name="space-particle-2">
            <a:extLst xmlns:a="http://schemas.openxmlformats.org/drawingml/2006/main">
              <a:ext uri="{FF2B5EF4-FFF2-40B4-BE49-F238E27FC236}">
                <a16:creationId xmlns:a16="http://schemas.microsoft.com/office/drawing/2014/main" id="{F7B87387-F48F-4E49-9C92-F6448DCD56B2}"/>
              </a:ext>
            </a:extLst>
          </p:cNvPr>
          <p:cNvSpPr>
            <a:spLocks xmlns:a="http://schemas.openxmlformats.org/drawingml/2006/main" noGrp="1"/>
          </p:cNvSpPr>
          <p:nvPr/>
        </p:nvSpPr>
        <p:spPr>
          <a:xfrm xmlns:a="http://schemas.openxmlformats.org/drawingml/2006/main">
            <a:off x="6245225" y="191452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40" name="space-particle-3">
            <a:extLst xmlns:a="http://schemas.openxmlformats.org/drawingml/2006/main">
              <a:ext uri="{FF2B5EF4-FFF2-40B4-BE49-F238E27FC236}">
                <a16:creationId xmlns:a16="http://schemas.microsoft.com/office/drawing/2014/main" id="{54BE9B0E-E7D5-4D01-AAB3-5AFF5DF41D9C}"/>
              </a:ext>
            </a:extLst>
          </p:cNvPr>
          <p:cNvSpPr>
            <a:spLocks xmlns:a="http://schemas.openxmlformats.org/drawingml/2006/main" noGrp="1"/>
          </p:cNvSpPr>
          <p:nvPr/>
        </p:nvSpPr>
        <p:spPr>
          <a:xfrm xmlns:a="http://schemas.openxmlformats.org/drawingml/2006/main">
            <a:off x="7721600" y="1628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41" name="space-particle-4">
            <a:extLst xmlns:a="http://schemas.openxmlformats.org/drawingml/2006/main">
              <a:ext uri="{FF2B5EF4-FFF2-40B4-BE49-F238E27FC236}">
                <a16:creationId xmlns:a16="http://schemas.microsoft.com/office/drawing/2014/main" id="{8213BACF-1EEE-42D5-8840-8890F8FFB71D}"/>
              </a:ext>
            </a:extLst>
          </p:cNvPr>
          <p:cNvSpPr>
            <a:spLocks xmlns:a="http://schemas.openxmlformats.org/drawingml/2006/main" noGrp="1"/>
          </p:cNvSpPr>
          <p:nvPr/>
        </p:nvSpPr>
        <p:spPr>
          <a:xfrm xmlns:a="http://schemas.openxmlformats.org/drawingml/2006/main">
            <a:off x="4568825" y="33337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42" name="space-particle-5">
            <a:extLst xmlns:a="http://schemas.openxmlformats.org/drawingml/2006/main">
              <a:ext uri="{FF2B5EF4-FFF2-40B4-BE49-F238E27FC236}">
                <a16:creationId xmlns:a16="http://schemas.microsoft.com/office/drawing/2014/main" id="{11FCB80F-FCD1-4E22-8B1B-1C21C4AEFF76}"/>
              </a:ext>
            </a:extLst>
          </p:cNvPr>
          <p:cNvSpPr>
            <a:spLocks xmlns:a="http://schemas.openxmlformats.org/drawingml/2006/main" noGrp="1"/>
          </p:cNvSpPr>
          <p:nvPr/>
        </p:nvSpPr>
        <p:spPr>
          <a:xfrm xmlns:a="http://schemas.openxmlformats.org/drawingml/2006/main">
            <a:off x="5810250" y="3914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43" name="space-particle-6">
            <a:extLst xmlns:a="http://schemas.openxmlformats.org/drawingml/2006/main">
              <a:ext uri="{FF2B5EF4-FFF2-40B4-BE49-F238E27FC236}">
                <a16:creationId xmlns:a16="http://schemas.microsoft.com/office/drawing/2014/main" id="{F7AC67D5-5A79-4784-A013-7E5C332C39B5}"/>
              </a:ext>
            </a:extLst>
          </p:cNvPr>
          <p:cNvSpPr>
            <a:spLocks xmlns:a="http://schemas.openxmlformats.org/drawingml/2006/main" noGrp="1"/>
          </p:cNvSpPr>
          <p:nvPr/>
        </p:nvSpPr>
        <p:spPr>
          <a:xfrm xmlns:a="http://schemas.openxmlformats.org/drawingml/2006/main">
            <a:off x="6683375" y="35623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44" name="space-particle-7">
            <a:extLst xmlns:a="http://schemas.openxmlformats.org/drawingml/2006/main">
              <a:ext uri="{FF2B5EF4-FFF2-40B4-BE49-F238E27FC236}">
                <a16:creationId xmlns:a16="http://schemas.microsoft.com/office/drawing/2014/main" id="{2EB5217C-1717-4430-AB4F-F94C50482073}"/>
              </a:ext>
            </a:extLst>
          </p:cNvPr>
          <p:cNvSpPr>
            <a:spLocks xmlns:a="http://schemas.openxmlformats.org/drawingml/2006/main" noGrp="1"/>
          </p:cNvSpPr>
          <p:nvPr/>
        </p:nvSpPr>
        <p:spPr>
          <a:xfrm xmlns:a="http://schemas.openxmlformats.org/drawingml/2006/main">
            <a:off x="8248650" y="384810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45" name="space-particle-8">
            <a:extLst xmlns:a="http://schemas.openxmlformats.org/drawingml/2006/main">
              <a:ext uri="{FF2B5EF4-FFF2-40B4-BE49-F238E27FC236}">
                <a16:creationId xmlns:a16="http://schemas.microsoft.com/office/drawing/2014/main" id="{350901E3-D6D4-4752-90C4-1DECFC84F224}"/>
              </a:ext>
            </a:extLst>
          </p:cNvPr>
          <p:cNvSpPr>
            <a:spLocks xmlns:a="http://schemas.openxmlformats.org/drawingml/2006/main" noGrp="1"/>
          </p:cNvSpPr>
          <p:nvPr/>
        </p:nvSpPr>
        <p:spPr>
          <a:xfrm xmlns:a="http://schemas.openxmlformats.org/drawingml/2006/main">
            <a:off x="8207375" y="23526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46" name="Line">
            <a:extLst xmlns:a="http://schemas.openxmlformats.org/drawingml/2006/main">
              <a:ext uri="{FF2B5EF4-FFF2-40B4-BE49-F238E27FC236}">
                <a16:creationId xmlns:a16="http://schemas.microsoft.com/office/drawing/2014/main" id="{CA1FC303-E8BD-4378-8653-77AE11F9BD5A}"/>
              </a:ext>
            </a:extLst>
          </p:cNvPr>
          <p:cNvSpPr>
            <a:spLocks xmlns:a="http://schemas.openxmlformats.org/drawingml/2006/main" noGrp="1"/>
          </p:cNvSpPr>
          <p:nvPr/>
        </p:nvSpPr>
        <p:spPr>
          <a:xfrm xmlns:a="http://schemas.openxmlformats.org/drawingml/2006/main">
            <a:off x="4873625" y="2781300"/>
            <a:ext cx="2981325" cy="0"/>
          </a:xfrm>
          <a:prstGeom xmlns:a="http://schemas.openxmlformats.org/drawingml/2006/main" prst="line">
            <a:avLst/>
          </a:prstGeom>
          <a:ln xmlns:a="http://schemas.openxmlformats.org/drawingml/2006/main" w="171450">
            <a:solidFill>
              <a:srgbClr val="8E3F2D"/>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47" name="Line">
            <a:extLst xmlns:a="http://schemas.openxmlformats.org/drawingml/2006/main">
              <a:ext uri="{FF2B5EF4-FFF2-40B4-BE49-F238E27FC236}">
                <a16:creationId xmlns:a16="http://schemas.microsoft.com/office/drawing/2014/main" id="{E77E37F9-0F79-4FC1-AFF0-3F975F715582}"/>
              </a:ext>
            </a:extLst>
          </p:cNvPr>
          <p:cNvSpPr>
            <a:spLocks xmlns:a="http://schemas.openxmlformats.org/drawingml/2006/main" noGrp="1"/>
          </p:cNvSpPr>
          <p:nvPr/>
        </p:nvSpPr>
        <p:spPr>
          <a:xfrm xmlns:a="http://schemas.openxmlformats.org/drawingml/2006/main">
            <a:off x="4873625" y="2781300"/>
            <a:ext cx="2981325" cy="0"/>
          </a:xfrm>
          <a:prstGeom xmlns:a="http://schemas.openxmlformats.org/drawingml/2006/main" prst="line">
            <a:avLst/>
          </a:prstGeom>
          <a:ln xmlns:a="http://schemas.openxmlformats.org/drawingml/2006/main" w="57150">
            <a:solidFill>
              <a:srgbClr val="E97C50"/>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248" name="Line">
            <a:extLst xmlns:a="http://schemas.openxmlformats.org/drawingml/2006/main">
              <a:ext uri="{FF2B5EF4-FFF2-40B4-BE49-F238E27FC236}">
                <a16:creationId xmlns:a16="http://schemas.microsoft.com/office/drawing/2014/main" id="{3B773C3B-5E2A-4224-9674-3DFDFE8752CF}"/>
              </a:ext>
            </a:extLst>
          </p:cNvPr>
          <p:cNvSpPr>
            <a:spLocks xmlns:a="http://schemas.openxmlformats.org/drawingml/2006/main" noGrp="1"/>
          </p:cNvSpPr>
          <p:nvPr/>
        </p:nvSpPr>
        <p:spPr>
          <a:xfrm xmlns:a="http://schemas.openxmlformats.org/drawingml/2006/main">
            <a:off x="4873625" y="2781300"/>
            <a:ext cx="1666875" cy="0"/>
          </a:xfrm>
          <a:prstGeom xmlns:a="http://schemas.openxmlformats.org/drawingml/2006/main" prst="line">
            <a:avLst/>
          </a:prstGeom>
          <a:ln xmlns:a="http://schemas.openxmlformats.org/drawingml/2006/main" w="28575">
            <a:solidFill>
              <a:srgbClr val="FFFFFF"/>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249" name="Line">
            <a:extLst xmlns:a="http://schemas.openxmlformats.org/drawingml/2006/main">
              <a:ext uri="{FF2B5EF4-FFF2-40B4-BE49-F238E27FC236}">
                <a16:creationId xmlns:a16="http://schemas.microsoft.com/office/drawing/2014/main" id="{EEEA932F-F686-4894-BA83-9FF8EE004F27}"/>
              </a:ext>
            </a:extLst>
          </p:cNvPr>
          <p:cNvSpPr>
            <a:spLocks xmlns:a="http://schemas.openxmlformats.org/drawingml/2006/main" noGrp="1"/>
          </p:cNvSpPr>
          <p:nvPr/>
        </p:nvSpPr>
        <p:spPr>
          <a:xfrm xmlns:a="http://schemas.openxmlformats.org/drawingml/2006/main" flipH="1">
            <a:off x="5635624" y="2781300"/>
            <a:ext cx="904876" cy="323850"/>
          </a:xfrm>
          <a:prstGeom xmlns:a="http://schemas.openxmlformats.org/drawingml/2006/main" prst="line">
            <a:avLst/>
          </a:prstGeom>
          <a:ln xmlns:a="http://schemas.openxmlformats.org/drawingml/2006/main" w="14288">
            <a:solidFill>
              <a:srgbClr val="8FA5BB"/>
            </a:solidFill>
            <a:prstDash val="dash"/>
          </a:ln>
        </p:spPr>
        <p:txBody>
          <a:bodyPr xmlns:a="http://schemas.openxmlformats.org/drawingml/2006/main" lIns="0" tIns="0" rIns="0" bIns="0"/>
          <a:lstStyle xmlns:a="http://schemas.openxmlformats.org/drawingml/2006/main"/>
          <a:p xmlns:a="http://schemas.openxmlformats.org/drawingml/2006/main">
            <a:pPr>
              <a:buNone/>
            </a:pPr>
          </a:p>
        </p:txBody>
      </p:sp>
      <p:sp>
        <p:nvSpPr>
          <p:cNvPr id="250" name="origin-node">
            <a:extLst xmlns:a="http://schemas.openxmlformats.org/drawingml/2006/main">
              <a:ext uri="{FF2B5EF4-FFF2-40B4-BE49-F238E27FC236}">
                <a16:creationId xmlns:a16="http://schemas.microsoft.com/office/drawing/2014/main" id="{054FBBCC-D0EC-44B8-85F5-7DCAC3A4FA8F}"/>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51" name="origin-label">
            <a:extLst xmlns:a="http://schemas.openxmlformats.org/drawingml/2006/main">
              <a:ext uri="{FF2B5EF4-FFF2-40B4-BE49-F238E27FC236}">
                <a16:creationId xmlns:a16="http://schemas.microsoft.com/office/drawing/2014/main" id="{5F05B55C-1E7E-4DB7-B548-B17731B98917}"/>
              </a:ext>
            </a:extLst>
          </p:cNvPr>
          <p:cNvSpPr>
            <a:spLocks xmlns:a="http://schemas.openxmlformats.org/drawingml/2006/main" noGrp="1"/>
          </p:cNvSpPr>
          <p:nvPr/>
        </p:nvSpPr>
        <p:spPr>
          <a:xfrm xmlns:a="http://schemas.openxmlformats.org/drawingml/2006/main">
            <a:off x="4490720" y="2893024"/>
            <a:ext cx="7277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900">
                <a:solidFill>
                  <a:srgbClr val="8FA5BB"/>
                </a:solidFill>
                <a:latin typeface="Arial"/>
                <a:ea typeface="Arial"/>
                <a:cs typeface="Arial"/>
              </a:defRPr>
            </a:lvl1pPr>
          </a:lstStyle>
          <a:p xmlns:a="http://schemas.openxmlformats.org/drawingml/2006/main">
            <a:pPr>
              <a:buNone/>
            </a:pPr>
            <a:r>
              <a:t>neutral</a:t>
            </a:r>
          </a:p>
        </p:txBody>
      </p:sp>
      <p:sp>
        <p:nvSpPr>
          <p:cNvPr id="252" name="fear-node">
            <a:extLst xmlns:a="http://schemas.openxmlformats.org/drawingml/2006/main">
              <a:ext uri="{FF2B5EF4-FFF2-40B4-BE49-F238E27FC236}">
                <a16:creationId xmlns:a16="http://schemas.microsoft.com/office/drawing/2014/main" id="{CD5341FA-067C-4760-8326-F3F83AF85E0F}"/>
              </a:ext>
            </a:extLst>
          </p:cNvPr>
          <p:cNvSpPr>
            <a:spLocks xmlns:a="http://schemas.openxmlformats.org/drawingml/2006/main" noGrp="1"/>
          </p:cNvSpPr>
          <p:nvPr/>
        </p:nvSpPr>
        <p:spPr>
          <a:xfrm xmlns:a="http://schemas.openxmlformats.org/drawingml/2006/main">
            <a:off x="7731125" y="2638425"/>
            <a:ext cx="285750" cy="285750"/>
          </a:xfrm>
          <a:prstGeom xmlns:a="http://schemas.openxmlformats.org/drawingml/2006/main" prst="diamond">
            <a:avLst/>
          </a:prstGeom>
          <a:solidFill xmlns:a="http://schemas.openxmlformats.org/drawingml/2006/main">
            <a:srgbClr val="E97C50"/>
          </a:solidFill>
          <a:ln xmlns:a="http://schemas.openxmlformats.org/drawingml/2006/main" w="19050">
            <a:solidFill>
              <a:srgbClr val="FFFFFF"/>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53" name="fear-label">
            <a:extLst xmlns:a="http://schemas.openxmlformats.org/drawingml/2006/main">
              <a:ext uri="{FF2B5EF4-FFF2-40B4-BE49-F238E27FC236}">
                <a16:creationId xmlns:a16="http://schemas.microsoft.com/office/drawing/2014/main" id="{64C7CFC7-68BD-474F-ABA2-70847C230476}"/>
              </a:ext>
            </a:extLst>
          </p:cNvPr>
          <p:cNvSpPr>
            <a:spLocks xmlns:a="http://schemas.openxmlformats.org/drawingml/2006/main" noGrp="1"/>
          </p:cNvSpPr>
          <p:nvPr/>
        </p:nvSpPr>
        <p:spPr>
          <a:xfrm xmlns:a="http://schemas.openxmlformats.org/drawingml/2006/main">
            <a:off x="8081644" y="2630746"/>
            <a:ext cx="632461" cy="301108"/>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500" b="1" i="1">
                <a:solidFill>
                  <a:srgbClr val="E97C50"/>
                </a:solidFill>
                <a:latin typeface="Arial"/>
                <a:ea typeface="Arial"/>
                <a:cs typeface="Arial"/>
              </a:defRPr>
            </a:lvl1pPr>
          </a:lstStyle>
          <a:p xmlns:a="http://schemas.openxmlformats.org/drawingml/2006/main">
            <a:pPr>
              <a:buNone/>
            </a:pPr>
            <a:r>
              <a:t>fear</a:t>
            </a:r>
          </a:p>
        </p:txBody>
      </p:sp>
      <p:sp>
        <p:nvSpPr>
          <p:cNvPr id="254" name="hidden-halo">
            <a:extLst xmlns:a="http://schemas.openxmlformats.org/drawingml/2006/main">
              <a:ext uri="{FF2B5EF4-FFF2-40B4-BE49-F238E27FC236}">
                <a16:creationId xmlns:a16="http://schemas.microsoft.com/office/drawing/2014/main" id="{5B968F54-37A8-4DAA-B84C-D20A4BBC4112}"/>
              </a:ext>
            </a:extLst>
          </p:cNvPr>
          <p:cNvSpPr>
            <a:spLocks xmlns:a="http://schemas.openxmlformats.org/drawingml/2006/main" noGrp="1"/>
          </p:cNvSpPr>
          <p:nvPr/>
        </p:nvSpPr>
        <p:spPr>
          <a:xfrm xmlns:a="http://schemas.openxmlformats.org/drawingml/2006/main">
            <a:off x="6359525" y="2581275"/>
            <a:ext cx="400050" cy="400050"/>
          </a:xfrm>
          <a:prstGeom xmlns:a="http://schemas.openxmlformats.org/drawingml/2006/main" prst="ellipse">
            <a:avLst/>
          </a:prstGeom>
          <a:solidFill xmlns:a="http://schemas.openxmlformats.org/drawingml/2006/main">
            <a:srgbClr val="8E3F2D"/>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55" name="hidden-state">
            <a:extLst xmlns:a="http://schemas.openxmlformats.org/drawingml/2006/main">
              <a:ext uri="{FF2B5EF4-FFF2-40B4-BE49-F238E27FC236}">
                <a16:creationId xmlns:a16="http://schemas.microsoft.com/office/drawing/2014/main" id="{0D496274-CB44-4781-899E-AD5BEE702B28}"/>
              </a:ext>
            </a:extLst>
          </p:cNvPr>
          <p:cNvSpPr>
            <a:spLocks xmlns:a="http://schemas.openxmlformats.org/drawingml/2006/main" noGrp="1"/>
          </p:cNvSpPr>
          <p:nvPr/>
        </p:nvSpPr>
        <p:spPr>
          <a:xfrm xmlns:a="http://schemas.openxmlformats.org/drawingml/2006/main">
            <a:off x="6464300" y="2686050"/>
            <a:ext cx="190500" cy="1905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97C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56" name="hidden-state-label">
            <a:extLst xmlns:a="http://schemas.openxmlformats.org/drawingml/2006/main">
              <a:ext uri="{FF2B5EF4-FFF2-40B4-BE49-F238E27FC236}">
                <a16:creationId xmlns:a16="http://schemas.microsoft.com/office/drawing/2014/main" id="{E56CBB05-7FE1-4EA4-A796-4A6D2AB73FE9}"/>
              </a:ext>
            </a:extLst>
          </p:cNvPr>
          <p:cNvSpPr>
            <a:spLocks xmlns:a="http://schemas.openxmlformats.org/drawingml/2006/main" noGrp="1"/>
          </p:cNvSpPr>
          <p:nvPr/>
        </p:nvSpPr>
        <p:spPr>
          <a:xfrm xmlns:a="http://schemas.openxmlformats.org/drawingml/2006/main">
            <a:off x="6005195" y="2998007"/>
            <a:ext cx="1108711"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000" b="1">
                <a:solidFill>
                  <a:srgbClr val="EEF2F7"/>
                </a:solidFill>
                <a:latin typeface="Arial"/>
                <a:ea typeface="Arial"/>
                <a:cs typeface="Arial"/>
              </a:defRPr>
            </a:lvl1pPr>
          </a:lstStyle>
          <a:p xmlns:a="http://schemas.openxmlformats.org/drawingml/2006/main">
            <a:pPr>
              <a:buNone/>
            </a:pPr>
            <a:r>
              <a:t>hidden activation</a:t>
            </a:r>
          </a:p>
        </p:txBody>
      </p:sp>
      <p:sp>
        <p:nvSpPr>
          <p:cNvPr id="257" name="fear-projection-mark">
            <a:extLst xmlns:a="http://schemas.openxmlformats.org/drawingml/2006/main">
              <a:ext uri="{FF2B5EF4-FFF2-40B4-BE49-F238E27FC236}">
                <a16:creationId xmlns:a16="http://schemas.microsoft.com/office/drawing/2014/main" id="{5BED9774-4FC0-446E-92DF-A48A0AC6D1A6}"/>
              </a:ext>
            </a:extLst>
          </p:cNvPr>
          <p:cNvSpPr>
            <a:spLocks xmlns:a="http://schemas.openxmlformats.org/drawingml/2006/main" noGrp="1"/>
          </p:cNvSpPr>
          <p:nvPr/>
        </p:nvSpPr>
        <p:spPr>
          <a:xfrm xmlns:a="http://schemas.openxmlformats.org/drawingml/2006/main">
            <a:off x="6416675" y="2638425"/>
            <a:ext cx="285750" cy="285750"/>
          </a:xfrm>
          <a:prstGeom xmlns:a="http://schemas.openxmlformats.org/drawingml/2006/main" prst="ellipse">
            <a:avLst/>
          </a:prstGeom>
          <a:ln xmlns:a="http://schemas.openxmlformats.org/drawingml/2006/main" w="28575">
            <a:solidFill>
              <a:srgbClr val="E97C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58" name="projection-label">
            <a:extLst xmlns:a="http://schemas.openxmlformats.org/drawingml/2006/main">
              <a:ext uri="{FF2B5EF4-FFF2-40B4-BE49-F238E27FC236}">
                <a16:creationId xmlns:a16="http://schemas.microsoft.com/office/drawing/2014/main" id="{1ACDBE62-80A8-44C6-BD70-A09055FEA19C}"/>
              </a:ext>
            </a:extLst>
          </p:cNvPr>
          <p:cNvSpPr>
            <a:spLocks xmlns:a="http://schemas.openxmlformats.org/drawingml/2006/main" noGrp="1"/>
          </p:cNvSpPr>
          <p:nvPr/>
        </p:nvSpPr>
        <p:spPr>
          <a:xfrm xmlns:a="http://schemas.openxmlformats.org/drawingml/2006/main">
            <a:off x="4300220" y="1778599"/>
            <a:ext cx="12611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a:solidFill>
                  <a:srgbClr val="8FA5BB"/>
                </a:solidFill>
                <a:latin typeface="Arial"/>
                <a:ea typeface="Arial"/>
                <a:cs typeface="Arial"/>
              </a:defRPr>
            </a:lvl1pPr>
          </a:lstStyle>
          <a:p xmlns:a="http://schemas.openxmlformats.org/drawingml/2006/main">
            <a:pPr>
              <a:buNone/>
            </a:pPr>
            <a:r>
              <a:t>projection marks</a:t>
            </a:r>
          </a:p>
        </p:txBody>
      </p:sp>
      <p:sp>
        <p:nvSpPr>
          <p:cNvPr id="259" name="alignment-label">
            <a:extLst xmlns:a="http://schemas.openxmlformats.org/drawingml/2006/main">
              <a:ext uri="{FF2B5EF4-FFF2-40B4-BE49-F238E27FC236}">
                <a16:creationId xmlns:a16="http://schemas.microsoft.com/office/drawing/2014/main" id="{36FC5EE9-85E5-4E3F-8F8A-4B606F33A3CB}"/>
              </a:ext>
            </a:extLst>
          </p:cNvPr>
          <p:cNvSpPr>
            <a:spLocks xmlns:a="http://schemas.openxmlformats.org/drawingml/2006/main" noGrp="1"/>
          </p:cNvSpPr>
          <p:nvPr/>
        </p:nvSpPr>
        <p:spPr>
          <a:xfrm xmlns:a="http://schemas.openxmlformats.org/drawingml/2006/main">
            <a:off x="5976620" y="2363007"/>
            <a:ext cx="1470661" cy="2269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000" b="1">
                <a:solidFill>
                  <a:srgbClr val="E97C50"/>
                </a:solidFill>
                <a:latin typeface="Arial"/>
                <a:ea typeface="Arial"/>
                <a:cs typeface="Arial"/>
              </a:defRPr>
            </a:lvl1pPr>
          </a:lstStyle>
          <a:p xmlns:a="http://schemas.openxmlformats.org/drawingml/2006/main">
            <a:pPr>
              <a:buNone/>
            </a:pPr>
            <a:r>
              <a:t>strong alignment</a:t>
            </a:r>
          </a:p>
        </p:txBody>
      </p:sp>
      <p:sp>
        <p:nvSpPr>
          <p:cNvPr id="260" name="anthropic-citation">
            <a:extLst xmlns:a="http://schemas.openxmlformats.org/drawingml/2006/main">
              <a:ext uri="{FF2B5EF4-FFF2-40B4-BE49-F238E27FC236}">
                <a16:creationId xmlns:a16="http://schemas.microsoft.com/office/drawing/2014/main" id="{B5A4C024-66E1-47E7-8596-F1FA6638C98D}"/>
              </a:ext>
            </a:extLst>
          </p:cNvPr>
          <p:cNvSpPr>
            <a:spLocks xmlns:a="http://schemas.openxmlformats.org/drawingml/2006/main" noGrp="1"/>
          </p:cNvSpPr>
          <p:nvPr/>
        </p:nvSpPr>
        <p:spPr>
          <a:xfrm xmlns:a="http://schemas.openxmlformats.org/drawingml/2006/main">
            <a:off x="5760720" y="4804166"/>
            <a:ext cx="2918461" cy="202418"/>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r">
              <a:buNone/>
              <a:defRPr sz="800">
                <a:solidFill>
                  <a:srgbClr val="8FA5BB"/>
                </a:solidFill>
                <a:latin typeface="Arial"/>
                <a:ea typeface="Arial"/>
                <a:cs typeface="Arial"/>
              </a:defRPr>
            </a:lvl1pPr>
          </a:lstStyle>
          <a:p xmlns:a="http://schemas.openxmlformats.org/drawingml/2006/main">
            <a:pPr>
              <a:buNone/>
            </a:pPr>
            <a:r>
              <a:t>Concept adapted from Sofroniew, Lindsey et al. (2026)</a:t>
            </a:r>
          </a:p>
        </p:txBody>
      </p:sp>
      <p:sp>
        <p:nvSpPr>
          <p:cNvPr id="261" name="story-cue">
            <a:extLst xmlns:a="http://schemas.openxmlformats.org/drawingml/2006/main">
              <a:ext uri="{FF2B5EF4-FFF2-40B4-BE49-F238E27FC236}">
                <a16:creationId xmlns:a16="http://schemas.microsoft.com/office/drawing/2014/main" id="{5550DD9F-F798-4BB7-BC1B-13D376143348}"/>
              </a:ext>
            </a:extLst>
          </p:cNvPr>
          <p:cNvSpPr>
            <a:spLocks xmlns:a="http://schemas.openxmlformats.org/drawingml/2006/main" noGrp="1"/>
          </p:cNvSpPr>
          <p:nvPr/>
        </p:nvSpPr>
        <p:spPr>
          <a:xfrm xmlns:a="http://schemas.openxmlformats.org/drawingml/2006/main">
            <a:off x="269081" y="1938338"/>
            <a:ext cx="2190751" cy="876301"/>
          </a:xfrm>
          <a:prstGeom xmlns:a="http://schemas.openxmlformats.org/drawingml/2006/main" prst="roundRect">
            <a:avLst>
              <a:gd name="adj" fmla="val 15217"/>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62" name="story-label">
            <a:extLst xmlns:a="http://schemas.openxmlformats.org/drawingml/2006/main">
              <a:ext uri="{FF2B5EF4-FFF2-40B4-BE49-F238E27FC236}">
                <a16:creationId xmlns:a16="http://schemas.microsoft.com/office/drawing/2014/main" id="{F15603F5-A4F5-450E-A3DF-B446B5A89C42}"/>
              </a:ext>
            </a:extLst>
          </p:cNvPr>
          <p:cNvSpPr>
            <a:spLocks xmlns:a="http://schemas.openxmlformats.org/drawingml/2006/main" noGrp="1"/>
          </p:cNvSpPr>
          <p:nvPr/>
        </p:nvSpPr>
        <p:spPr>
          <a:xfrm xmlns:a="http://schemas.openxmlformats.org/drawingml/2006/main">
            <a:off x="457675" y="1983387"/>
            <a:ext cx="59436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STORY</a:t>
            </a:r>
          </a:p>
        </p:txBody>
      </p:sp>
      <p:sp>
        <p:nvSpPr>
          <p:cNvPr id="263" name="llm-gate">
            <a:extLst xmlns:a="http://schemas.openxmlformats.org/drawingml/2006/main">
              <a:ext uri="{FF2B5EF4-FFF2-40B4-BE49-F238E27FC236}">
                <a16:creationId xmlns:a16="http://schemas.microsoft.com/office/drawing/2014/main" id="{DC53FF0A-E67B-45D1-8268-0052A2046CE6}"/>
              </a:ext>
            </a:extLst>
          </p:cNvPr>
          <p:cNvSpPr>
            <a:spLocks xmlns:a="http://schemas.openxmlformats.org/drawingml/2006/main" noGrp="1"/>
          </p:cNvSpPr>
          <p:nvPr/>
        </p:nvSpPr>
        <p:spPr>
          <a:xfrm xmlns:a="http://schemas.openxmlformats.org/drawingml/2006/main">
            <a:off x="2857500" y="1504950"/>
            <a:ext cx="1066800" cy="2038350"/>
          </a:xfrm>
          <a:prstGeom xmlns:a="http://schemas.openxmlformats.org/drawingml/2006/main" prst="roundRect">
            <a:avLst>
              <a:gd name="adj" fmla="val 16071"/>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64" name="llm-label">
            <a:extLst xmlns:a="http://schemas.openxmlformats.org/drawingml/2006/main">
              <a:ext uri="{FF2B5EF4-FFF2-40B4-BE49-F238E27FC236}">
                <a16:creationId xmlns:a16="http://schemas.microsoft.com/office/drawing/2014/main" id="{00CD2811-A4FD-42B1-9980-DACDA37F7D86}"/>
              </a:ext>
            </a:extLst>
          </p:cNvPr>
          <p:cNvSpPr>
            <a:spLocks xmlns:a="http://schemas.openxmlformats.org/drawingml/2006/main" noGrp="1"/>
          </p:cNvSpPr>
          <p:nvPr/>
        </p:nvSpPr>
        <p:spPr>
          <a:xfrm xmlns:a="http://schemas.openxmlformats.org/drawingml/2006/main">
            <a:off x="3055620" y="2085477"/>
            <a:ext cx="670561" cy="36294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900" b="1">
                <a:solidFill>
                  <a:srgbClr val="EEF2F7"/>
                </a:solidFill>
                <a:latin typeface="Arial"/>
                <a:ea typeface="Arial"/>
                <a:cs typeface="Arial"/>
              </a:defRPr>
            </a:lvl1pPr>
          </a:lstStyle>
          <a:p xmlns:a="http://schemas.openxmlformats.org/drawingml/2006/main">
            <a:pPr>
              <a:buNone/>
            </a:pPr>
            <a:r>
              <a:t>LLM</a:t>
            </a:r>
          </a:p>
        </p:txBody>
      </p:sp>
      <p:sp>
        <p:nvSpPr>
          <p:cNvPr id="265" name="llm-subtitle">
            <a:extLst xmlns:a="http://schemas.openxmlformats.org/drawingml/2006/main">
              <a:ext uri="{FF2B5EF4-FFF2-40B4-BE49-F238E27FC236}">
                <a16:creationId xmlns:a16="http://schemas.microsoft.com/office/drawing/2014/main" id="{EB934164-DB90-44F4-887E-7CC30EE981A3}"/>
              </a:ext>
            </a:extLst>
          </p:cNvPr>
          <p:cNvSpPr>
            <a:spLocks xmlns:a="http://schemas.openxmlformats.org/drawingml/2006/main" noGrp="1"/>
          </p:cNvSpPr>
          <p:nvPr/>
        </p:nvSpPr>
        <p:spPr>
          <a:xfrm xmlns:a="http://schemas.openxmlformats.org/drawingml/2006/main">
            <a:off x="2998470" y="2540807"/>
            <a:ext cx="784861"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p xmlns:a="http://schemas.openxmlformats.org/drawingml/2006/main">
            <a:pPr algn="ctr">
              <a:buNone/>
              <a:defRPr sz="1000">
                <a:solidFill>
                  <a:srgbClr val="4A9EBA"/>
                </a:solidFill>
                <a:latin typeface="Arial"/>
                <a:ea typeface="Arial"/>
                <a:cs typeface="Arial"/>
              </a:defRPr>
            </a:pPr>
            <a:r>
              <a:t>words leads</a:t>
            </a:r>
          </a:p>
          <a:p xmlns:a="http://schemas.openxmlformats.org/drawingml/2006/main">
            <a:pPr algn="ctr">
              <a:buNone/>
              <a:defRPr sz="1000">
                <a:solidFill>
                  <a:srgbClr val="4A9EBA"/>
                </a:solidFill>
                <a:latin typeface="Arial"/>
                <a:ea typeface="Arial"/>
                <a:cs typeface="Arial"/>
              </a:defRPr>
            </a:pPr>
            <a:r>
              <a:t>activations</a:t>
            </a:r>
          </a:p>
        </p:txBody>
      </p:sp>
      <p:sp>
        <p:nvSpPr>
          <p:cNvPr id="266" name="gate-node-22-24">
            <a:extLst xmlns:a="http://schemas.openxmlformats.org/drawingml/2006/main">
              <a:ext uri="{FF2B5EF4-FFF2-40B4-BE49-F238E27FC236}">
                <a16:creationId xmlns:a16="http://schemas.microsoft.com/office/drawing/2014/main" id="{35E29AEA-2769-4E9E-AB06-3C61FAE6EC5D}"/>
              </a:ext>
            </a:extLst>
          </p:cNvPr>
          <p:cNvSpPr>
            <a:spLocks xmlns:a="http://schemas.openxmlformats.org/drawingml/2006/main" noGrp="1"/>
          </p:cNvSpPr>
          <p:nvPr/>
        </p:nvSpPr>
        <p:spPr>
          <a:xfrm xmlns:a="http://schemas.openxmlformats.org/drawingml/2006/main">
            <a:off x="3067050" y="173355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67" name="gate-node-55-31">
            <a:extLst xmlns:a="http://schemas.openxmlformats.org/drawingml/2006/main">
              <a:ext uri="{FF2B5EF4-FFF2-40B4-BE49-F238E27FC236}">
                <a16:creationId xmlns:a16="http://schemas.microsoft.com/office/drawing/2014/main" id="{C5EDF305-A55E-4D4E-A168-318516233B91}"/>
              </a:ext>
            </a:extLst>
          </p:cNvPr>
          <p:cNvSpPr>
            <a:spLocks xmlns:a="http://schemas.openxmlformats.org/drawingml/2006/main" noGrp="1"/>
          </p:cNvSpPr>
          <p:nvPr/>
        </p:nvSpPr>
        <p:spPr>
          <a:xfrm xmlns:a="http://schemas.openxmlformats.org/drawingml/2006/main">
            <a:off x="3381375" y="1800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68" name="gate-node-79-63">
            <a:extLst xmlns:a="http://schemas.openxmlformats.org/drawingml/2006/main">
              <a:ext uri="{FF2B5EF4-FFF2-40B4-BE49-F238E27FC236}">
                <a16:creationId xmlns:a16="http://schemas.microsoft.com/office/drawing/2014/main" id="{91527125-0D44-4204-AC62-74EB51A0F6A7}"/>
              </a:ext>
            </a:extLst>
          </p:cNvPr>
          <p:cNvSpPr>
            <a:spLocks xmlns:a="http://schemas.openxmlformats.org/drawingml/2006/main" noGrp="1"/>
          </p:cNvSpPr>
          <p:nvPr/>
        </p:nvSpPr>
        <p:spPr>
          <a:xfrm xmlns:a="http://schemas.openxmlformats.org/drawingml/2006/main">
            <a:off x="3609975" y="21050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69" name="gate-node-28-151">
            <a:extLst xmlns:a="http://schemas.openxmlformats.org/drawingml/2006/main">
              <a:ext uri="{FF2B5EF4-FFF2-40B4-BE49-F238E27FC236}">
                <a16:creationId xmlns:a16="http://schemas.microsoft.com/office/drawing/2014/main" id="{4630D94B-BC8B-4C84-82D8-0B0608CFD678}"/>
              </a:ext>
            </a:extLst>
          </p:cNvPr>
          <p:cNvSpPr>
            <a:spLocks xmlns:a="http://schemas.openxmlformats.org/drawingml/2006/main" noGrp="1"/>
          </p:cNvSpPr>
          <p:nvPr/>
        </p:nvSpPr>
        <p:spPr>
          <a:xfrm xmlns:a="http://schemas.openxmlformats.org/drawingml/2006/main">
            <a:off x="3124200" y="2943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70" name="gate-node-82-174">
            <a:extLst xmlns:a="http://schemas.openxmlformats.org/drawingml/2006/main">
              <a:ext uri="{FF2B5EF4-FFF2-40B4-BE49-F238E27FC236}">
                <a16:creationId xmlns:a16="http://schemas.microsoft.com/office/drawing/2014/main" id="{CC509E0E-E74E-4FE3-9E07-1DE1E8E70E5D}"/>
              </a:ext>
            </a:extLst>
          </p:cNvPr>
          <p:cNvSpPr>
            <a:spLocks xmlns:a="http://schemas.openxmlformats.org/drawingml/2006/main" noGrp="1"/>
          </p:cNvSpPr>
          <p:nvPr/>
        </p:nvSpPr>
        <p:spPr>
          <a:xfrm xmlns:a="http://schemas.openxmlformats.org/drawingml/2006/main">
            <a:off x="3638550" y="316230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71" name="Line">
            <a:extLst xmlns:a="http://schemas.openxmlformats.org/drawingml/2006/main">
              <a:ext uri="{FF2B5EF4-FFF2-40B4-BE49-F238E27FC236}">
                <a16:creationId xmlns:a16="http://schemas.microsoft.com/office/drawing/2014/main" id="{30804A2B-7420-46E1-8F5B-A433C3ACB5AC}"/>
              </a:ext>
            </a:extLst>
          </p:cNvPr>
          <p:cNvSpPr>
            <a:spLocks xmlns:a="http://schemas.openxmlformats.org/drawingml/2006/main" noGrp="1"/>
          </p:cNvSpPr>
          <p:nvPr/>
        </p:nvSpPr>
        <p:spPr>
          <a:xfrm xmlns:a="http://schemas.openxmlformats.org/drawingml/2006/main">
            <a:off x="2507852" y="2376488"/>
            <a:ext cx="311151" cy="1"/>
          </a:xfrm>
          <a:prstGeom xmlns:a="http://schemas.openxmlformats.org/drawingml/2006/main" prst="line">
            <a:avLst/>
          </a:prstGeom>
          <a:ln xmlns:a="http://schemas.openxmlformats.org/drawingml/2006/main" w="28575">
            <a:solidFill>
              <a:srgbClr val="4A9EBA"/>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272" name="Line">
            <a:extLst xmlns:a="http://schemas.openxmlformats.org/drawingml/2006/main">
              <a:ext uri="{FF2B5EF4-FFF2-40B4-BE49-F238E27FC236}">
                <a16:creationId xmlns:a16="http://schemas.microsoft.com/office/drawing/2014/main" id="{C5472D36-7B15-4EF9-B107-F37956358971}"/>
              </a:ext>
            </a:extLst>
          </p:cNvPr>
          <p:cNvSpPr>
            <a:spLocks xmlns:a="http://schemas.openxmlformats.org/drawingml/2006/main" noGrp="1"/>
          </p:cNvSpPr>
          <p:nvPr/>
        </p:nvSpPr>
        <p:spPr>
          <a:xfrm xmlns:a="http://schemas.openxmlformats.org/drawingml/2006/main">
            <a:off x="3889959" y="2532307"/>
            <a:ext cx="2288591" cy="191844"/>
          </a:xfrm>
          <a:prstGeom xmlns:a="http://schemas.openxmlformats.org/drawingml/2006/main" prst="line">
            <a:avLst/>
          </a:prstGeom>
          <a:ln xmlns:a="http://schemas.openxmlformats.org/drawingml/2006/main" w="28575">
            <a:solidFill>
              <a:srgbClr val="4A9EBA"/>
            </a:solidFill>
            <a:prstDash val="dash"/>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273" name="story-copy">
            <a:extLst xmlns:a="http://schemas.openxmlformats.org/drawingml/2006/main">
              <a:ext uri="{FF2B5EF4-FFF2-40B4-BE49-F238E27FC236}">
                <a16:creationId xmlns:a16="http://schemas.microsoft.com/office/drawing/2014/main" id="{06B3400B-B1A6-4269-B597-69DC1CE32B50}"/>
              </a:ext>
            </a:extLst>
          </p:cNvPr>
          <p:cNvSpPr>
            <a:spLocks xmlns:a="http://schemas.openxmlformats.org/drawingml/2006/main" noGrp="1"/>
          </p:cNvSpPr>
          <p:nvPr/>
        </p:nvSpPr>
        <p:spPr>
          <a:xfrm xmlns:a="http://schemas.openxmlformats.org/drawingml/2006/main">
            <a:off x="457675" y="2304893"/>
            <a:ext cx="1813562" cy="276540"/>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300">
                <a:solidFill>
                  <a:srgbClr val="EEF2F7"/>
                </a:solidFill>
                <a:latin typeface="Arial"/>
                <a:ea typeface="Arial"/>
                <a:cs typeface="Arial"/>
              </a:defRPr>
            </a:lvl1pPr>
          </a:lstStyle>
          <a:p xmlns:a="http://schemas.openxmlformats.org/drawingml/2006/main">
            <a:pPr>
              <a:buNone/>
            </a:pPr>
            <a:r>
              <a:t>A very scary story.</a:t>
            </a:r>
          </a:p>
        </p:txBody>
      </p:sp>
    </p:spTree>
    <p:extLst>
      <p:ext uri="{BB962C8B-B14F-4D97-AF65-F5344CB8AC3E}">
        <p14:creationId xmlns:p14="http://schemas.microsoft.com/office/powerpoint/2010/main" val="1305154465"/>
      </p:ext>
    </p:extLst>
  </p:cSld>
</p:sld>
</file>

<file path=ppt/slides/slide9.xml><?xml version="1.0" encoding="utf-8"?>
<p:sld xmlns:p="http://schemas.openxmlformats.org/presentationml/2006/main" showMasterSp="1">
  <p:cSld>
    <p:spTree>
      <p:nvGrpSpPr>
        <p:cNvPr id="1" name=""/>
        <p:cNvGrpSpPr/>
        <p:nvPr/>
      </p:nvGrpSpPr>
      <p:grpSpPr>
        <a:xfrm xmlns:a="http://schemas.openxmlformats.org/drawingml/2006/main"/>
      </p:grpSpPr>
      <p:sp>
        <p:nvSpPr>
          <p:cNvPr id="277" name="Shape 0">
            <a:extLst xmlns:a="http://schemas.openxmlformats.org/drawingml/2006/main">
              <a:ext uri="{FF2B5EF4-FFF2-40B4-BE49-F238E27FC236}">
                <a16:creationId xmlns:a16="http://schemas.microsoft.com/office/drawing/2014/main" id="{29322D46-946D-417C-A5A6-1C37000665E4}"/>
              </a:ext>
            </a:extLst>
          </p:cNvPr>
          <p:cNvSpPr>
            <a:spLocks xmlns:a="http://schemas.openxmlformats.org/drawingml/2006/main" noGrp="1"/>
          </p:cNvSpPr>
          <p:nvPr/>
        </p:nvSpPr>
        <p:spPr>
          <a:xfrm xmlns:a="http://schemas.openxmlformats.org/drawingml/2006/main">
            <a:off x="0" y="-1"/>
            <a:ext cx="9144001" cy="5143501"/>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78" name="Text 1">
            <a:extLst xmlns:a="http://schemas.openxmlformats.org/drawingml/2006/main">
              <a:ext uri="{FF2B5EF4-FFF2-40B4-BE49-F238E27FC236}">
                <a16:creationId xmlns:a16="http://schemas.microsoft.com/office/drawing/2014/main" id="{14D56A65-2624-4003-B808-E0CD84114ADF}"/>
              </a:ext>
            </a:extLst>
          </p:cNvPr>
          <p:cNvSpPr>
            <a:spLocks xmlns:a="http://schemas.openxmlformats.org/drawingml/2006/main" noGrp="1"/>
          </p:cNvSpPr>
          <p:nvPr/>
        </p:nvSpPr>
        <p:spPr>
          <a:xfrm xmlns:a="http://schemas.openxmlformats.org/drawingml/2006/main">
            <a:off x="411479" y="336041"/>
            <a:ext cx="8321042" cy="3429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Emotion concepts become directions</a:t>
            </a:r>
          </a:p>
        </p:txBody>
      </p:sp>
      <p:sp>
        <p:nvSpPr>
          <p:cNvPr id="279" name="activation-space">
            <a:extLst xmlns:a="http://schemas.openxmlformats.org/drawingml/2006/main">
              <a:ext uri="{FF2B5EF4-FFF2-40B4-BE49-F238E27FC236}">
                <a16:creationId xmlns:a16="http://schemas.microsoft.com/office/drawing/2014/main" id="{A052D5E0-EB8B-4876-B9E0-596AD463242B}"/>
              </a:ext>
            </a:extLst>
          </p:cNvPr>
          <p:cNvSpPr>
            <a:spLocks xmlns:a="http://schemas.openxmlformats.org/drawingml/2006/main" noGrp="1"/>
          </p:cNvSpPr>
          <p:nvPr/>
        </p:nvSpPr>
        <p:spPr>
          <a:xfrm xmlns:a="http://schemas.openxmlformats.org/drawingml/2006/main">
            <a:off x="4143375" y="1000125"/>
            <a:ext cx="4581525" cy="3333750"/>
          </a:xfrm>
          <a:prstGeom xmlns:a="http://schemas.openxmlformats.org/drawingml/2006/main" prst="roundRect">
            <a:avLst>
              <a:gd name="adj" fmla="val 6286"/>
            </a:avLst>
          </a:prstGeom>
          <a:solidFill xmlns:a="http://schemas.openxmlformats.org/drawingml/2006/main">
            <a:srgbClr val="1E2D45"/>
          </a:solidFill>
          <a:ln xmlns:a="http://schemas.openxmlformats.org/drawingml/2006/main" w="14288">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80" name="space-label">
            <a:extLst xmlns:a="http://schemas.openxmlformats.org/drawingml/2006/main">
              <a:ext uri="{FF2B5EF4-FFF2-40B4-BE49-F238E27FC236}">
                <a16:creationId xmlns:a16="http://schemas.microsoft.com/office/drawing/2014/main" id="{AD153BF7-9521-4B5D-AEAD-837DC91C7A90}"/>
              </a:ext>
            </a:extLst>
          </p:cNvPr>
          <p:cNvSpPr>
            <a:spLocks xmlns:a="http://schemas.openxmlformats.org/drawingml/2006/main" noGrp="1"/>
          </p:cNvSpPr>
          <p:nvPr/>
        </p:nvSpPr>
        <p:spPr>
          <a:xfrm xmlns:a="http://schemas.openxmlformats.org/drawingml/2006/main">
            <a:off x="4195444" y="1149949"/>
            <a:ext cx="2289812"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HIDDEN ACTIVATION SPACE</a:t>
            </a:r>
          </a:p>
        </p:txBody>
      </p:sp>
      <p:sp>
        <p:nvSpPr>
          <p:cNvPr id="281" name="space-particle-0">
            <a:extLst xmlns:a="http://schemas.openxmlformats.org/drawingml/2006/main">
              <a:ext uri="{FF2B5EF4-FFF2-40B4-BE49-F238E27FC236}">
                <a16:creationId xmlns:a16="http://schemas.microsoft.com/office/drawing/2014/main" id="{FCEFFC1C-4AC1-4D5E-9A70-5B0F8D6080DB}"/>
              </a:ext>
            </a:extLst>
          </p:cNvPr>
          <p:cNvSpPr>
            <a:spLocks xmlns:a="http://schemas.openxmlformats.org/drawingml/2006/main" noGrp="1"/>
          </p:cNvSpPr>
          <p:nvPr/>
        </p:nvSpPr>
        <p:spPr>
          <a:xfrm xmlns:a="http://schemas.openxmlformats.org/drawingml/2006/main">
            <a:off x="4591050" y="17430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82" name="space-particle-1">
            <a:extLst xmlns:a="http://schemas.openxmlformats.org/drawingml/2006/main">
              <a:ext uri="{FF2B5EF4-FFF2-40B4-BE49-F238E27FC236}">
                <a16:creationId xmlns:a16="http://schemas.microsoft.com/office/drawing/2014/main" id="{7744D9E8-84C5-45E9-9D6E-93F9084F9F82}"/>
              </a:ext>
            </a:extLst>
          </p:cNvPr>
          <p:cNvSpPr>
            <a:spLocks xmlns:a="http://schemas.openxmlformats.org/drawingml/2006/main" noGrp="1"/>
          </p:cNvSpPr>
          <p:nvPr/>
        </p:nvSpPr>
        <p:spPr>
          <a:xfrm xmlns:a="http://schemas.openxmlformats.org/drawingml/2006/main">
            <a:off x="5235575" y="15049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83" name="space-particle-2">
            <a:extLst xmlns:a="http://schemas.openxmlformats.org/drawingml/2006/main">
              <a:ext uri="{FF2B5EF4-FFF2-40B4-BE49-F238E27FC236}">
                <a16:creationId xmlns:a16="http://schemas.microsoft.com/office/drawing/2014/main" id="{84E169D7-F969-4400-A459-EE4949004C76}"/>
              </a:ext>
            </a:extLst>
          </p:cNvPr>
          <p:cNvSpPr>
            <a:spLocks xmlns:a="http://schemas.openxmlformats.org/drawingml/2006/main" noGrp="1"/>
          </p:cNvSpPr>
          <p:nvPr/>
        </p:nvSpPr>
        <p:spPr>
          <a:xfrm xmlns:a="http://schemas.openxmlformats.org/drawingml/2006/main">
            <a:off x="6245225" y="191452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84" name="space-particle-3">
            <a:extLst xmlns:a="http://schemas.openxmlformats.org/drawingml/2006/main">
              <a:ext uri="{FF2B5EF4-FFF2-40B4-BE49-F238E27FC236}">
                <a16:creationId xmlns:a16="http://schemas.microsoft.com/office/drawing/2014/main" id="{2E7C261D-3A86-4739-A978-759A3D37055E}"/>
              </a:ext>
            </a:extLst>
          </p:cNvPr>
          <p:cNvSpPr>
            <a:spLocks xmlns:a="http://schemas.openxmlformats.org/drawingml/2006/main" noGrp="1"/>
          </p:cNvSpPr>
          <p:nvPr/>
        </p:nvSpPr>
        <p:spPr>
          <a:xfrm xmlns:a="http://schemas.openxmlformats.org/drawingml/2006/main">
            <a:off x="7721600" y="1628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85" name="space-particle-4">
            <a:extLst xmlns:a="http://schemas.openxmlformats.org/drawingml/2006/main">
              <a:ext uri="{FF2B5EF4-FFF2-40B4-BE49-F238E27FC236}">
                <a16:creationId xmlns:a16="http://schemas.microsoft.com/office/drawing/2014/main" id="{6F8A8F43-9A8B-4DA2-8C08-1F56F7A7B178}"/>
              </a:ext>
            </a:extLst>
          </p:cNvPr>
          <p:cNvSpPr>
            <a:spLocks xmlns:a="http://schemas.openxmlformats.org/drawingml/2006/main" noGrp="1"/>
          </p:cNvSpPr>
          <p:nvPr/>
        </p:nvSpPr>
        <p:spPr>
          <a:xfrm xmlns:a="http://schemas.openxmlformats.org/drawingml/2006/main">
            <a:off x="4568825" y="33337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86" name="space-particle-5">
            <a:extLst xmlns:a="http://schemas.openxmlformats.org/drawingml/2006/main">
              <a:ext uri="{FF2B5EF4-FFF2-40B4-BE49-F238E27FC236}">
                <a16:creationId xmlns:a16="http://schemas.microsoft.com/office/drawing/2014/main" id="{CFCC02FB-ACF8-46D4-B38B-FDA2A113D463}"/>
              </a:ext>
            </a:extLst>
          </p:cNvPr>
          <p:cNvSpPr>
            <a:spLocks xmlns:a="http://schemas.openxmlformats.org/drawingml/2006/main" noGrp="1"/>
          </p:cNvSpPr>
          <p:nvPr/>
        </p:nvSpPr>
        <p:spPr>
          <a:xfrm xmlns:a="http://schemas.openxmlformats.org/drawingml/2006/main">
            <a:off x="5810250" y="3914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87" name="space-particle-6">
            <a:extLst xmlns:a="http://schemas.openxmlformats.org/drawingml/2006/main">
              <a:ext uri="{FF2B5EF4-FFF2-40B4-BE49-F238E27FC236}">
                <a16:creationId xmlns:a16="http://schemas.microsoft.com/office/drawing/2014/main" id="{82165716-4E42-42DD-9EBE-8C9DE9C136F2}"/>
              </a:ext>
            </a:extLst>
          </p:cNvPr>
          <p:cNvSpPr>
            <a:spLocks xmlns:a="http://schemas.openxmlformats.org/drawingml/2006/main" noGrp="1"/>
          </p:cNvSpPr>
          <p:nvPr/>
        </p:nvSpPr>
        <p:spPr>
          <a:xfrm xmlns:a="http://schemas.openxmlformats.org/drawingml/2006/main">
            <a:off x="6683375" y="35623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88" name="space-particle-7">
            <a:extLst xmlns:a="http://schemas.openxmlformats.org/drawingml/2006/main">
              <a:ext uri="{FF2B5EF4-FFF2-40B4-BE49-F238E27FC236}">
                <a16:creationId xmlns:a16="http://schemas.microsoft.com/office/drawing/2014/main" id="{843321DB-372D-40BD-9B7E-1834AC6006EE}"/>
              </a:ext>
            </a:extLst>
          </p:cNvPr>
          <p:cNvSpPr>
            <a:spLocks xmlns:a="http://schemas.openxmlformats.org/drawingml/2006/main" noGrp="1"/>
          </p:cNvSpPr>
          <p:nvPr/>
        </p:nvSpPr>
        <p:spPr>
          <a:xfrm xmlns:a="http://schemas.openxmlformats.org/drawingml/2006/main">
            <a:off x="8248650" y="384810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89" name="space-particle-8">
            <a:extLst xmlns:a="http://schemas.openxmlformats.org/drawingml/2006/main">
              <a:ext uri="{FF2B5EF4-FFF2-40B4-BE49-F238E27FC236}">
                <a16:creationId xmlns:a16="http://schemas.microsoft.com/office/drawing/2014/main" id="{4A19827E-EFDC-414F-9552-A74338BB2730}"/>
              </a:ext>
            </a:extLst>
          </p:cNvPr>
          <p:cNvSpPr>
            <a:spLocks xmlns:a="http://schemas.openxmlformats.org/drawingml/2006/main" noGrp="1"/>
          </p:cNvSpPr>
          <p:nvPr/>
        </p:nvSpPr>
        <p:spPr>
          <a:xfrm xmlns:a="http://schemas.openxmlformats.org/drawingml/2006/main">
            <a:off x="8207375" y="23526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90" name="Line">
            <a:extLst xmlns:a="http://schemas.openxmlformats.org/drawingml/2006/main">
              <a:ext uri="{FF2B5EF4-FFF2-40B4-BE49-F238E27FC236}">
                <a16:creationId xmlns:a16="http://schemas.microsoft.com/office/drawing/2014/main" id="{55C47D43-73B5-4A78-A8CE-E10E26565D8A}"/>
              </a:ext>
            </a:extLst>
          </p:cNvPr>
          <p:cNvSpPr>
            <a:spLocks xmlns:a="http://schemas.openxmlformats.org/drawingml/2006/main" noGrp="1"/>
          </p:cNvSpPr>
          <p:nvPr/>
        </p:nvSpPr>
        <p:spPr>
          <a:xfrm xmlns:a="http://schemas.openxmlformats.org/drawingml/2006/main" flipV="1">
            <a:off x="4868045" y="1670819"/>
            <a:ext cx="2659110" cy="1097010"/>
          </a:xfrm>
          <a:prstGeom xmlns:a="http://schemas.openxmlformats.org/drawingml/2006/main" prst="line">
            <a:avLst/>
          </a:prstGeom>
          <a:ln xmlns:a="http://schemas.openxmlformats.org/drawingml/2006/main" w="114300">
            <a:solidFill>
              <a:srgbClr val="2F6E58"/>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91" name="Line">
            <a:extLst xmlns:a="http://schemas.openxmlformats.org/drawingml/2006/main">
              <a:ext uri="{FF2B5EF4-FFF2-40B4-BE49-F238E27FC236}">
                <a16:creationId xmlns:a16="http://schemas.microsoft.com/office/drawing/2014/main" id="{56FABA9B-EE6A-492F-AE41-BE3CA413DBE5}"/>
              </a:ext>
            </a:extLst>
          </p:cNvPr>
          <p:cNvSpPr>
            <a:spLocks xmlns:a="http://schemas.openxmlformats.org/drawingml/2006/main" noGrp="1"/>
          </p:cNvSpPr>
          <p:nvPr/>
        </p:nvSpPr>
        <p:spPr>
          <a:xfrm xmlns:a="http://schemas.openxmlformats.org/drawingml/2006/main" flipV="1">
            <a:off x="4868045" y="1670819"/>
            <a:ext cx="2659110" cy="1097010"/>
          </a:xfrm>
          <a:prstGeom xmlns:a="http://schemas.openxmlformats.org/drawingml/2006/main" prst="line">
            <a:avLst/>
          </a:prstGeom>
          <a:ln xmlns:a="http://schemas.openxmlformats.org/drawingml/2006/main" w="38100">
            <a:solidFill>
              <a:srgbClr val="5FB58E"/>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292" name="Line">
            <a:extLst xmlns:a="http://schemas.openxmlformats.org/drawingml/2006/main">
              <a:ext uri="{FF2B5EF4-FFF2-40B4-BE49-F238E27FC236}">
                <a16:creationId xmlns:a16="http://schemas.microsoft.com/office/drawing/2014/main" id="{BBFCA131-04E4-4A83-B4B9-0CFADD76FD7F}"/>
              </a:ext>
            </a:extLst>
          </p:cNvPr>
          <p:cNvSpPr>
            <a:spLocks xmlns:a="http://schemas.openxmlformats.org/drawingml/2006/main" noGrp="1"/>
          </p:cNvSpPr>
          <p:nvPr/>
        </p:nvSpPr>
        <p:spPr>
          <a:xfrm xmlns:a="http://schemas.openxmlformats.org/drawingml/2006/main">
            <a:off x="4873625" y="2781300"/>
            <a:ext cx="2981326" cy="0"/>
          </a:xfrm>
          <a:prstGeom xmlns:a="http://schemas.openxmlformats.org/drawingml/2006/main" prst="line">
            <a:avLst/>
          </a:prstGeom>
          <a:ln xmlns:a="http://schemas.openxmlformats.org/drawingml/2006/main" w="171450">
            <a:solidFill>
              <a:srgbClr val="8E3F2D"/>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93" name="Line">
            <a:extLst xmlns:a="http://schemas.openxmlformats.org/drawingml/2006/main">
              <a:ext uri="{FF2B5EF4-FFF2-40B4-BE49-F238E27FC236}">
                <a16:creationId xmlns:a16="http://schemas.microsoft.com/office/drawing/2014/main" id="{845F825E-A9E0-4657-8024-459CD9EB638A}"/>
              </a:ext>
            </a:extLst>
          </p:cNvPr>
          <p:cNvSpPr>
            <a:spLocks xmlns:a="http://schemas.openxmlformats.org/drawingml/2006/main" noGrp="1"/>
          </p:cNvSpPr>
          <p:nvPr/>
        </p:nvSpPr>
        <p:spPr>
          <a:xfrm xmlns:a="http://schemas.openxmlformats.org/drawingml/2006/main">
            <a:off x="4873625" y="2781300"/>
            <a:ext cx="2981326" cy="0"/>
          </a:xfrm>
          <a:prstGeom xmlns:a="http://schemas.openxmlformats.org/drawingml/2006/main" prst="line">
            <a:avLst/>
          </a:prstGeom>
          <a:ln xmlns:a="http://schemas.openxmlformats.org/drawingml/2006/main" w="57150">
            <a:solidFill>
              <a:srgbClr val="E97C50"/>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294" name="Line">
            <a:extLst xmlns:a="http://schemas.openxmlformats.org/drawingml/2006/main">
              <a:ext uri="{FF2B5EF4-FFF2-40B4-BE49-F238E27FC236}">
                <a16:creationId xmlns:a16="http://schemas.microsoft.com/office/drawing/2014/main" id="{109E581C-1DC4-4505-A962-C55C1D28F772}"/>
              </a:ext>
            </a:extLst>
          </p:cNvPr>
          <p:cNvSpPr>
            <a:spLocks xmlns:a="http://schemas.openxmlformats.org/drawingml/2006/main" noGrp="1"/>
          </p:cNvSpPr>
          <p:nvPr/>
        </p:nvSpPr>
        <p:spPr>
          <a:xfrm xmlns:a="http://schemas.openxmlformats.org/drawingml/2006/main">
            <a:off x="4873625" y="2781300"/>
            <a:ext cx="1666876" cy="0"/>
          </a:xfrm>
          <a:prstGeom xmlns:a="http://schemas.openxmlformats.org/drawingml/2006/main" prst="line">
            <a:avLst/>
          </a:prstGeom>
          <a:ln xmlns:a="http://schemas.openxmlformats.org/drawingml/2006/main" w="28575">
            <a:solidFill>
              <a:srgbClr val="FFFFFF"/>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295" name="Line">
            <a:extLst xmlns:a="http://schemas.openxmlformats.org/drawingml/2006/main">
              <a:ext uri="{FF2B5EF4-FFF2-40B4-BE49-F238E27FC236}">
                <a16:creationId xmlns:a16="http://schemas.microsoft.com/office/drawing/2014/main" id="{A35D2ADD-CD8C-4607-B4A5-C238A30D6ECC}"/>
              </a:ext>
            </a:extLst>
          </p:cNvPr>
          <p:cNvSpPr>
            <a:spLocks xmlns:a="http://schemas.openxmlformats.org/drawingml/2006/main" noGrp="1"/>
          </p:cNvSpPr>
          <p:nvPr/>
        </p:nvSpPr>
        <p:spPr>
          <a:xfrm xmlns:a="http://schemas.openxmlformats.org/drawingml/2006/main" flipH="1" flipV="1">
            <a:off x="5683249" y="2438399"/>
            <a:ext cx="857251" cy="342901"/>
          </a:xfrm>
          <a:prstGeom xmlns:a="http://schemas.openxmlformats.org/drawingml/2006/main" prst="line">
            <a:avLst/>
          </a:prstGeom>
          <a:ln xmlns:a="http://schemas.openxmlformats.org/drawingml/2006/main" w="14288">
            <a:solidFill>
              <a:srgbClr val="8FA5BB"/>
            </a:solidFill>
            <a:prstDash val="dash"/>
          </a:ln>
        </p:spPr>
        <p:txBody>
          <a:bodyPr xmlns:a="http://schemas.openxmlformats.org/drawingml/2006/main" lIns="0" tIns="0" rIns="0" bIns="0"/>
          <a:lstStyle xmlns:a="http://schemas.openxmlformats.org/drawingml/2006/main"/>
          <a:p xmlns:a="http://schemas.openxmlformats.org/drawingml/2006/main">
            <a:pPr>
              <a:buNone/>
            </a:pPr>
          </a:p>
        </p:txBody>
      </p:sp>
      <p:sp>
        <p:nvSpPr>
          <p:cNvPr id="296" name="origin-node">
            <a:extLst xmlns:a="http://schemas.openxmlformats.org/drawingml/2006/main">
              <a:ext uri="{FF2B5EF4-FFF2-40B4-BE49-F238E27FC236}">
                <a16:creationId xmlns:a16="http://schemas.microsoft.com/office/drawing/2014/main" id="{A7AECD51-6A31-4CC4-8672-7EA8E7D5A08F}"/>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97" name="origin-label">
            <a:extLst xmlns:a="http://schemas.openxmlformats.org/drawingml/2006/main">
              <a:ext uri="{FF2B5EF4-FFF2-40B4-BE49-F238E27FC236}">
                <a16:creationId xmlns:a16="http://schemas.microsoft.com/office/drawing/2014/main" id="{B7BA6AE6-9245-4D40-8418-1B74B4883559}"/>
              </a:ext>
            </a:extLst>
          </p:cNvPr>
          <p:cNvSpPr>
            <a:spLocks xmlns:a="http://schemas.openxmlformats.org/drawingml/2006/main" noGrp="1"/>
          </p:cNvSpPr>
          <p:nvPr/>
        </p:nvSpPr>
        <p:spPr>
          <a:xfrm xmlns:a="http://schemas.openxmlformats.org/drawingml/2006/main">
            <a:off x="4490719" y="2893024"/>
            <a:ext cx="727712"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900">
                <a:solidFill>
                  <a:srgbClr val="8FA5BB"/>
                </a:solidFill>
                <a:latin typeface="Arial"/>
                <a:ea typeface="Arial"/>
                <a:cs typeface="Arial"/>
              </a:defRPr>
            </a:lvl1pPr>
          </a:lstStyle>
          <a:p xmlns:a="http://schemas.openxmlformats.org/drawingml/2006/main">
            <a:pPr>
              <a:buNone/>
            </a:pPr>
            <a:r>
              <a:t>neutral</a:t>
            </a:r>
          </a:p>
        </p:txBody>
      </p:sp>
      <p:sp>
        <p:nvSpPr>
          <p:cNvPr id="298" name="joy-node">
            <a:extLst xmlns:a="http://schemas.openxmlformats.org/drawingml/2006/main">
              <a:ext uri="{FF2B5EF4-FFF2-40B4-BE49-F238E27FC236}">
                <a16:creationId xmlns:a16="http://schemas.microsoft.com/office/drawing/2014/main" id="{62DB6143-0636-43E1-8EAD-EBC1733CE40F}"/>
              </a:ext>
            </a:extLst>
          </p:cNvPr>
          <p:cNvSpPr>
            <a:spLocks xmlns:a="http://schemas.openxmlformats.org/drawingml/2006/main" noGrp="1"/>
          </p:cNvSpPr>
          <p:nvPr/>
        </p:nvSpPr>
        <p:spPr>
          <a:xfrm xmlns:a="http://schemas.openxmlformats.org/drawingml/2006/main">
            <a:off x="7426325" y="1543050"/>
            <a:ext cx="228600" cy="228600"/>
          </a:xfrm>
          <a:prstGeom xmlns:a="http://schemas.openxmlformats.org/drawingml/2006/main" prst="ellipse">
            <a:avLst/>
          </a:prstGeom>
          <a:solidFill xmlns:a="http://schemas.openxmlformats.org/drawingml/2006/main">
            <a:srgbClr val="5FB58E"/>
          </a:solidFill>
          <a:ln xmlns:a="http://schemas.openxmlformats.org/drawingml/2006/main" w="19050">
            <a:solidFill>
              <a:srgbClr val="FFFFFF"/>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99" name="joy-label">
            <a:extLst xmlns:a="http://schemas.openxmlformats.org/drawingml/2006/main">
              <a:ext uri="{FF2B5EF4-FFF2-40B4-BE49-F238E27FC236}">
                <a16:creationId xmlns:a16="http://schemas.microsoft.com/office/drawing/2014/main" id="{BD437CED-6B0E-4A31-8870-00A6DF6585AC}"/>
              </a:ext>
            </a:extLst>
          </p:cNvPr>
          <p:cNvSpPr>
            <a:spLocks xmlns:a="http://schemas.openxmlformats.org/drawingml/2006/main" noGrp="1"/>
          </p:cNvSpPr>
          <p:nvPr/>
        </p:nvSpPr>
        <p:spPr>
          <a:xfrm xmlns:a="http://schemas.openxmlformats.org/drawingml/2006/main">
            <a:off x="7776844" y="1512938"/>
            <a:ext cx="441962" cy="288824"/>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400" b="1" i="1">
                <a:solidFill>
                  <a:srgbClr val="5FB58E"/>
                </a:solidFill>
                <a:latin typeface="Arial"/>
                <a:ea typeface="Arial"/>
                <a:cs typeface="Arial"/>
              </a:defRPr>
            </a:lvl1pPr>
          </a:lstStyle>
          <a:p xmlns:a="http://schemas.openxmlformats.org/drawingml/2006/main">
            <a:pPr>
              <a:buNone/>
            </a:pPr>
            <a:r>
              <a:t>joy</a:t>
            </a:r>
          </a:p>
        </p:txBody>
      </p:sp>
      <p:sp>
        <p:nvSpPr>
          <p:cNvPr id="300" name="fear-node">
            <a:extLst xmlns:a="http://schemas.openxmlformats.org/drawingml/2006/main">
              <a:ext uri="{FF2B5EF4-FFF2-40B4-BE49-F238E27FC236}">
                <a16:creationId xmlns:a16="http://schemas.microsoft.com/office/drawing/2014/main" id="{F38B6813-5599-43E3-843A-D13BDB8BA47C}"/>
              </a:ext>
            </a:extLst>
          </p:cNvPr>
          <p:cNvSpPr>
            <a:spLocks xmlns:a="http://schemas.openxmlformats.org/drawingml/2006/main" noGrp="1"/>
          </p:cNvSpPr>
          <p:nvPr/>
        </p:nvSpPr>
        <p:spPr>
          <a:xfrm xmlns:a="http://schemas.openxmlformats.org/drawingml/2006/main">
            <a:off x="7731125" y="2638425"/>
            <a:ext cx="285750" cy="285750"/>
          </a:xfrm>
          <a:prstGeom xmlns:a="http://schemas.openxmlformats.org/drawingml/2006/main" prst="diamond">
            <a:avLst/>
          </a:prstGeom>
          <a:solidFill xmlns:a="http://schemas.openxmlformats.org/drawingml/2006/main">
            <a:srgbClr val="E97C50"/>
          </a:solidFill>
          <a:ln xmlns:a="http://schemas.openxmlformats.org/drawingml/2006/main" w="19050">
            <a:solidFill>
              <a:srgbClr val="FFFFFF"/>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01" name="fear-label">
            <a:extLst xmlns:a="http://schemas.openxmlformats.org/drawingml/2006/main">
              <a:ext uri="{FF2B5EF4-FFF2-40B4-BE49-F238E27FC236}">
                <a16:creationId xmlns:a16="http://schemas.microsoft.com/office/drawing/2014/main" id="{C01311D9-6892-4F7B-A0C3-579117DCFD5F}"/>
              </a:ext>
            </a:extLst>
          </p:cNvPr>
          <p:cNvSpPr>
            <a:spLocks xmlns:a="http://schemas.openxmlformats.org/drawingml/2006/main" noGrp="1"/>
          </p:cNvSpPr>
          <p:nvPr/>
        </p:nvSpPr>
        <p:spPr>
          <a:xfrm xmlns:a="http://schemas.openxmlformats.org/drawingml/2006/main">
            <a:off x="8081644" y="2630746"/>
            <a:ext cx="632462" cy="301108"/>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500" b="1" i="1">
                <a:solidFill>
                  <a:srgbClr val="E97C50"/>
                </a:solidFill>
                <a:latin typeface="Arial"/>
                <a:ea typeface="Arial"/>
                <a:cs typeface="Arial"/>
              </a:defRPr>
            </a:lvl1pPr>
          </a:lstStyle>
          <a:p xmlns:a="http://schemas.openxmlformats.org/drawingml/2006/main">
            <a:pPr>
              <a:buNone/>
            </a:pPr>
            <a:r>
              <a:t>fear</a:t>
            </a:r>
          </a:p>
        </p:txBody>
      </p:sp>
      <p:sp>
        <p:nvSpPr>
          <p:cNvPr id="302" name="hidden-halo">
            <a:extLst xmlns:a="http://schemas.openxmlformats.org/drawingml/2006/main">
              <a:ext uri="{FF2B5EF4-FFF2-40B4-BE49-F238E27FC236}">
                <a16:creationId xmlns:a16="http://schemas.microsoft.com/office/drawing/2014/main" id="{9E5F0934-EE25-418F-9D81-B24DEB1F01AC}"/>
              </a:ext>
            </a:extLst>
          </p:cNvPr>
          <p:cNvSpPr>
            <a:spLocks xmlns:a="http://schemas.openxmlformats.org/drawingml/2006/main" noGrp="1"/>
          </p:cNvSpPr>
          <p:nvPr/>
        </p:nvSpPr>
        <p:spPr>
          <a:xfrm xmlns:a="http://schemas.openxmlformats.org/drawingml/2006/main">
            <a:off x="6359525" y="2581275"/>
            <a:ext cx="400050" cy="400050"/>
          </a:xfrm>
          <a:prstGeom xmlns:a="http://schemas.openxmlformats.org/drawingml/2006/main" prst="ellipse">
            <a:avLst/>
          </a:prstGeom>
          <a:solidFill xmlns:a="http://schemas.openxmlformats.org/drawingml/2006/main">
            <a:srgbClr val="8E3F2D"/>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03" name="hidden-state">
            <a:extLst xmlns:a="http://schemas.openxmlformats.org/drawingml/2006/main">
              <a:ext uri="{FF2B5EF4-FFF2-40B4-BE49-F238E27FC236}">
                <a16:creationId xmlns:a16="http://schemas.microsoft.com/office/drawing/2014/main" id="{A42DF9C4-5C76-440E-934B-F904609F7FA8}"/>
              </a:ext>
            </a:extLst>
          </p:cNvPr>
          <p:cNvSpPr>
            <a:spLocks xmlns:a="http://schemas.openxmlformats.org/drawingml/2006/main" noGrp="1"/>
          </p:cNvSpPr>
          <p:nvPr/>
        </p:nvSpPr>
        <p:spPr>
          <a:xfrm xmlns:a="http://schemas.openxmlformats.org/drawingml/2006/main">
            <a:off x="6464300" y="2686050"/>
            <a:ext cx="190500" cy="1905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97C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04" name="hidden-state-label">
            <a:extLst xmlns:a="http://schemas.openxmlformats.org/drawingml/2006/main">
              <a:ext uri="{FF2B5EF4-FFF2-40B4-BE49-F238E27FC236}">
                <a16:creationId xmlns:a16="http://schemas.microsoft.com/office/drawing/2014/main" id="{5A595B84-7473-49FA-A3AC-4911013D29FB}"/>
              </a:ext>
            </a:extLst>
          </p:cNvPr>
          <p:cNvSpPr>
            <a:spLocks xmlns:a="http://schemas.openxmlformats.org/drawingml/2006/main" noGrp="1"/>
          </p:cNvSpPr>
          <p:nvPr/>
        </p:nvSpPr>
        <p:spPr>
          <a:xfrm xmlns:a="http://schemas.openxmlformats.org/drawingml/2006/main">
            <a:off x="6005194" y="2998007"/>
            <a:ext cx="1108712"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000" b="1">
                <a:solidFill>
                  <a:srgbClr val="EEF2F7"/>
                </a:solidFill>
                <a:latin typeface="Arial"/>
                <a:ea typeface="Arial"/>
                <a:cs typeface="Arial"/>
              </a:defRPr>
            </a:lvl1pPr>
          </a:lstStyle>
          <a:p xmlns:a="http://schemas.openxmlformats.org/drawingml/2006/main">
            <a:pPr>
              <a:buNone/>
            </a:pPr>
            <a:r>
              <a:t>hidden activation</a:t>
            </a:r>
          </a:p>
        </p:txBody>
      </p:sp>
      <p:sp>
        <p:nvSpPr>
          <p:cNvPr id="305" name="joy-projection-mark">
            <a:extLst xmlns:a="http://schemas.openxmlformats.org/drawingml/2006/main">
              <a:ext uri="{FF2B5EF4-FFF2-40B4-BE49-F238E27FC236}">
                <a16:creationId xmlns:a16="http://schemas.microsoft.com/office/drawing/2014/main" id="{D39B78A8-78CE-4155-83B2-D35F9C035D74}"/>
              </a:ext>
            </a:extLst>
          </p:cNvPr>
          <p:cNvSpPr>
            <a:spLocks xmlns:a="http://schemas.openxmlformats.org/drawingml/2006/main" noGrp="1"/>
          </p:cNvSpPr>
          <p:nvPr/>
        </p:nvSpPr>
        <p:spPr>
          <a:xfrm xmlns:a="http://schemas.openxmlformats.org/drawingml/2006/main">
            <a:off x="5607050" y="2381250"/>
            <a:ext cx="114300" cy="114300"/>
          </a:xfrm>
          <a:prstGeom xmlns:a="http://schemas.openxmlformats.org/drawingml/2006/main" prst="ellipse">
            <a:avLst/>
          </a:prstGeom>
          <a:solidFill xmlns:a="http://schemas.openxmlformats.org/drawingml/2006/main">
            <a:srgbClr val="5FB58E"/>
          </a:solidFill>
          <a:ln xmlns:a="http://schemas.openxmlformats.org/drawingml/2006/main" w="19050">
            <a:solidFill>
              <a:srgbClr val="FFFFFF"/>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06" name="fear-projection-mark">
            <a:extLst xmlns:a="http://schemas.openxmlformats.org/drawingml/2006/main">
              <a:ext uri="{FF2B5EF4-FFF2-40B4-BE49-F238E27FC236}">
                <a16:creationId xmlns:a16="http://schemas.microsoft.com/office/drawing/2014/main" id="{AEA491AA-AEA9-4932-A4AB-F77727D65D28}"/>
              </a:ext>
            </a:extLst>
          </p:cNvPr>
          <p:cNvSpPr>
            <a:spLocks xmlns:a="http://schemas.openxmlformats.org/drawingml/2006/main" noGrp="1"/>
          </p:cNvSpPr>
          <p:nvPr/>
        </p:nvSpPr>
        <p:spPr>
          <a:xfrm xmlns:a="http://schemas.openxmlformats.org/drawingml/2006/main">
            <a:off x="6416675" y="2638425"/>
            <a:ext cx="285750" cy="285750"/>
          </a:xfrm>
          <a:prstGeom xmlns:a="http://schemas.openxmlformats.org/drawingml/2006/main" prst="ellipse">
            <a:avLst/>
          </a:prstGeom>
          <a:ln xmlns:a="http://schemas.openxmlformats.org/drawingml/2006/main" w="28575">
            <a:solidFill>
              <a:srgbClr val="E97C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07" name="projection-label">
            <a:extLst xmlns:a="http://schemas.openxmlformats.org/drawingml/2006/main">
              <a:ext uri="{FF2B5EF4-FFF2-40B4-BE49-F238E27FC236}">
                <a16:creationId xmlns:a16="http://schemas.microsoft.com/office/drawing/2014/main" id="{CA2C87DF-2A5F-4978-AE49-5D0F21519212}"/>
              </a:ext>
            </a:extLst>
          </p:cNvPr>
          <p:cNvSpPr>
            <a:spLocks xmlns:a="http://schemas.openxmlformats.org/drawingml/2006/main" noGrp="1"/>
          </p:cNvSpPr>
          <p:nvPr/>
        </p:nvSpPr>
        <p:spPr>
          <a:xfrm xmlns:a="http://schemas.openxmlformats.org/drawingml/2006/main">
            <a:off x="4300219" y="1778599"/>
            <a:ext cx="1261112"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a:solidFill>
                  <a:srgbClr val="8FA5BB"/>
                </a:solidFill>
                <a:latin typeface="Arial"/>
                <a:ea typeface="Arial"/>
                <a:cs typeface="Arial"/>
              </a:defRPr>
            </a:lvl1pPr>
          </a:lstStyle>
          <a:p xmlns:a="http://schemas.openxmlformats.org/drawingml/2006/main">
            <a:pPr>
              <a:buNone/>
            </a:pPr>
            <a:r>
              <a:t>projection marks</a:t>
            </a:r>
          </a:p>
        </p:txBody>
      </p:sp>
      <p:sp>
        <p:nvSpPr>
          <p:cNvPr id="308" name="alignment-label">
            <a:extLst xmlns:a="http://schemas.openxmlformats.org/drawingml/2006/main">
              <a:ext uri="{FF2B5EF4-FFF2-40B4-BE49-F238E27FC236}">
                <a16:creationId xmlns:a16="http://schemas.microsoft.com/office/drawing/2014/main" id="{52B706A2-2D37-465B-8506-220FF805E342}"/>
              </a:ext>
            </a:extLst>
          </p:cNvPr>
          <p:cNvSpPr>
            <a:spLocks xmlns:a="http://schemas.openxmlformats.org/drawingml/2006/main" noGrp="1"/>
          </p:cNvSpPr>
          <p:nvPr/>
        </p:nvSpPr>
        <p:spPr>
          <a:xfrm xmlns:a="http://schemas.openxmlformats.org/drawingml/2006/main">
            <a:off x="5976619" y="2363007"/>
            <a:ext cx="1470662" cy="2269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000" b="1">
                <a:solidFill>
                  <a:srgbClr val="E97C50"/>
                </a:solidFill>
                <a:latin typeface="Arial"/>
                <a:ea typeface="Arial"/>
                <a:cs typeface="Arial"/>
              </a:defRPr>
            </a:lvl1pPr>
          </a:lstStyle>
          <a:p xmlns:a="http://schemas.openxmlformats.org/drawingml/2006/main">
            <a:pPr>
              <a:buNone/>
            </a:pPr>
            <a:r>
              <a:t>strong alignment</a:t>
            </a:r>
          </a:p>
        </p:txBody>
      </p:sp>
      <p:sp>
        <p:nvSpPr>
          <p:cNvPr id="309" name="anthropic-citation">
            <a:extLst xmlns:a="http://schemas.openxmlformats.org/drawingml/2006/main">
              <a:ext uri="{FF2B5EF4-FFF2-40B4-BE49-F238E27FC236}">
                <a16:creationId xmlns:a16="http://schemas.microsoft.com/office/drawing/2014/main" id="{3C8A2AA8-44E3-4448-98D6-CB984E638F06}"/>
              </a:ext>
            </a:extLst>
          </p:cNvPr>
          <p:cNvSpPr>
            <a:spLocks xmlns:a="http://schemas.openxmlformats.org/drawingml/2006/main" noGrp="1"/>
          </p:cNvSpPr>
          <p:nvPr/>
        </p:nvSpPr>
        <p:spPr>
          <a:xfrm xmlns:a="http://schemas.openxmlformats.org/drawingml/2006/main">
            <a:off x="5760719" y="4804166"/>
            <a:ext cx="2918462" cy="202418"/>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r">
              <a:buNone/>
              <a:defRPr sz="800">
                <a:solidFill>
                  <a:srgbClr val="8FA5BB"/>
                </a:solidFill>
                <a:latin typeface="Arial"/>
                <a:ea typeface="Arial"/>
                <a:cs typeface="Arial"/>
              </a:defRPr>
            </a:lvl1pPr>
          </a:lstStyle>
          <a:p xmlns:a="http://schemas.openxmlformats.org/drawingml/2006/main">
            <a:pPr>
              <a:buNone/>
            </a:pPr>
            <a:r>
              <a:t>Concept adapted from Sofroniew, Lindsey et al. (2026)</a:t>
            </a:r>
          </a:p>
        </p:txBody>
      </p:sp>
      <p:sp>
        <p:nvSpPr>
          <p:cNvPr id="310" name="story-cue">
            <a:extLst xmlns:a="http://schemas.openxmlformats.org/drawingml/2006/main">
              <a:ext uri="{FF2B5EF4-FFF2-40B4-BE49-F238E27FC236}">
                <a16:creationId xmlns:a16="http://schemas.microsoft.com/office/drawing/2014/main" id="{E4FEF0B2-C34D-4189-816B-57D0085B676D}"/>
              </a:ext>
            </a:extLst>
          </p:cNvPr>
          <p:cNvSpPr>
            <a:spLocks xmlns:a="http://schemas.openxmlformats.org/drawingml/2006/main" noGrp="1"/>
          </p:cNvSpPr>
          <p:nvPr/>
        </p:nvSpPr>
        <p:spPr>
          <a:xfrm xmlns:a="http://schemas.openxmlformats.org/drawingml/2006/main">
            <a:off x="269081" y="1938338"/>
            <a:ext cx="2190751" cy="876301"/>
          </a:xfrm>
          <a:prstGeom xmlns:a="http://schemas.openxmlformats.org/drawingml/2006/main" prst="roundRect">
            <a:avLst>
              <a:gd name="adj" fmla="val 15217"/>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11" name="story-label">
            <a:extLst xmlns:a="http://schemas.openxmlformats.org/drawingml/2006/main">
              <a:ext uri="{FF2B5EF4-FFF2-40B4-BE49-F238E27FC236}">
                <a16:creationId xmlns:a16="http://schemas.microsoft.com/office/drawing/2014/main" id="{A5394D8E-B87A-4008-9F6C-E5942264EA4D}"/>
              </a:ext>
            </a:extLst>
          </p:cNvPr>
          <p:cNvSpPr>
            <a:spLocks xmlns:a="http://schemas.openxmlformats.org/drawingml/2006/main" noGrp="1"/>
          </p:cNvSpPr>
          <p:nvPr/>
        </p:nvSpPr>
        <p:spPr>
          <a:xfrm xmlns:a="http://schemas.openxmlformats.org/drawingml/2006/main">
            <a:off x="457675" y="1983387"/>
            <a:ext cx="59436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STORY</a:t>
            </a:r>
          </a:p>
        </p:txBody>
      </p:sp>
      <p:sp>
        <p:nvSpPr>
          <p:cNvPr id="312" name="llm-gate">
            <a:extLst xmlns:a="http://schemas.openxmlformats.org/drawingml/2006/main">
              <a:ext uri="{FF2B5EF4-FFF2-40B4-BE49-F238E27FC236}">
                <a16:creationId xmlns:a16="http://schemas.microsoft.com/office/drawing/2014/main" id="{672C4D8C-4B4B-4A9A-A7C6-12DCF00751C4}"/>
              </a:ext>
            </a:extLst>
          </p:cNvPr>
          <p:cNvSpPr>
            <a:spLocks xmlns:a="http://schemas.openxmlformats.org/drawingml/2006/main" noGrp="1"/>
          </p:cNvSpPr>
          <p:nvPr/>
        </p:nvSpPr>
        <p:spPr>
          <a:xfrm xmlns:a="http://schemas.openxmlformats.org/drawingml/2006/main">
            <a:off x="2857500" y="1504950"/>
            <a:ext cx="1066800" cy="2038350"/>
          </a:xfrm>
          <a:prstGeom xmlns:a="http://schemas.openxmlformats.org/drawingml/2006/main" prst="roundRect">
            <a:avLst>
              <a:gd name="adj" fmla="val 16071"/>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13" name="llm-label">
            <a:extLst xmlns:a="http://schemas.openxmlformats.org/drawingml/2006/main">
              <a:ext uri="{FF2B5EF4-FFF2-40B4-BE49-F238E27FC236}">
                <a16:creationId xmlns:a16="http://schemas.microsoft.com/office/drawing/2014/main" id="{334D980E-A41A-4CC7-A907-387FCF23EB3A}"/>
              </a:ext>
            </a:extLst>
          </p:cNvPr>
          <p:cNvSpPr>
            <a:spLocks xmlns:a="http://schemas.openxmlformats.org/drawingml/2006/main" noGrp="1"/>
          </p:cNvSpPr>
          <p:nvPr/>
        </p:nvSpPr>
        <p:spPr>
          <a:xfrm xmlns:a="http://schemas.openxmlformats.org/drawingml/2006/main">
            <a:off x="3055620" y="2085477"/>
            <a:ext cx="670561" cy="36294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900" b="1">
                <a:solidFill>
                  <a:srgbClr val="EEF2F7"/>
                </a:solidFill>
                <a:latin typeface="Arial"/>
                <a:ea typeface="Arial"/>
                <a:cs typeface="Arial"/>
              </a:defRPr>
            </a:lvl1pPr>
          </a:lstStyle>
          <a:p xmlns:a="http://schemas.openxmlformats.org/drawingml/2006/main">
            <a:pPr>
              <a:buNone/>
            </a:pPr>
            <a:r>
              <a:t>LLM</a:t>
            </a:r>
          </a:p>
        </p:txBody>
      </p:sp>
      <p:sp>
        <p:nvSpPr>
          <p:cNvPr id="314" name="llm-subtitle">
            <a:extLst xmlns:a="http://schemas.openxmlformats.org/drawingml/2006/main">
              <a:ext uri="{FF2B5EF4-FFF2-40B4-BE49-F238E27FC236}">
                <a16:creationId xmlns:a16="http://schemas.microsoft.com/office/drawing/2014/main" id="{903B33FD-DB86-42A8-A38F-F7C2CB391F4C}"/>
              </a:ext>
            </a:extLst>
          </p:cNvPr>
          <p:cNvSpPr>
            <a:spLocks xmlns:a="http://schemas.openxmlformats.org/drawingml/2006/main" noGrp="1"/>
          </p:cNvSpPr>
          <p:nvPr/>
        </p:nvSpPr>
        <p:spPr>
          <a:xfrm xmlns:a="http://schemas.openxmlformats.org/drawingml/2006/main">
            <a:off x="2998470" y="2540807"/>
            <a:ext cx="784861"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p xmlns:a="http://schemas.openxmlformats.org/drawingml/2006/main">
            <a:pPr algn="ctr">
              <a:buNone/>
              <a:defRPr sz="1000">
                <a:solidFill>
                  <a:srgbClr val="4A9EBA"/>
                </a:solidFill>
                <a:latin typeface="Arial"/>
                <a:ea typeface="Arial"/>
                <a:cs typeface="Arial"/>
              </a:defRPr>
            </a:pPr>
            <a:r>
              <a:t>words leads</a:t>
            </a:r>
          </a:p>
          <a:p xmlns:a="http://schemas.openxmlformats.org/drawingml/2006/main">
            <a:pPr algn="ctr">
              <a:buNone/>
              <a:defRPr sz="1000">
                <a:solidFill>
                  <a:srgbClr val="4A9EBA"/>
                </a:solidFill>
                <a:latin typeface="Arial"/>
                <a:ea typeface="Arial"/>
                <a:cs typeface="Arial"/>
              </a:defRPr>
            </a:pPr>
            <a:r>
              <a:t>activations</a:t>
            </a:r>
          </a:p>
        </p:txBody>
      </p:sp>
      <p:sp>
        <p:nvSpPr>
          <p:cNvPr id="315" name="gate-node-22-24">
            <a:extLst xmlns:a="http://schemas.openxmlformats.org/drawingml/2006/main">
              <a:ext uri="{FF2B5EF4-FFF2-40B4-BE49-F238E27FC236}">
                <a16:creationId xmlns:a16="http://schemas.microsoft.com/office/drawing/2014/main" id="{DB6D297E-A120-415E-B2E3-53DF88A4E81E}"/>
              </a:ext>
            </a:extLst>
          </p:cNvPr>
          <p:cNvSpPr>
            <a:spLocks xmlns:a="http://schemas.openxmlformats.org/drawingml/2006/main" noGrp="1"/>
          </p:cNvSpPr>
          <p:nvPr/>
        </p:nvSpPr>
        <p:spPr>
          <a:xfrm xmlns:a="http://schemas.openxmlformats.org/drawingml/2006/main">
            <a:off x="3067050" y="173355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16" name="gate-node-55-31">
            <a:extLst xmlns:a="http://schemas.openxmlformats.org/drawingml/2006/main">
              <a:ext uri="{FF2B5EF4-FFF2-40B4-BE49-F238E27FC236}">
                <a16:creationId xmlns:a16="http://schemas.microsoft.com/office/drawing/2014/main" id="{300CCF72-818E-461C-B63F-38AF0A7D3B1A}"/>
              </a:ext>
            </a:extLst>
          </p:cNvPr>
          <p:cNvSpPr>
            <a:spLocks xmlns:a="http://schemas.openxmlformats.org/drawingml/2006/main" noGrp="1"/>
          </p:cNvSpPr>
          <p:nvPr/>
        </p:nvSpPr>
        <p:spPr>
          <a:xfrm xmlns:a="http://schemas.openxmlformats.org/drawingml/2006/main">
            <a:off x="3381375" y="1800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17" name="gate-node-79-63">
            <a:extLst xmlns:a="http://schemas.openxmlformats.org/drawingml/2006/main">
              <a:ext uri="{FF2B5EF4-FFF2-40B4-BE49-F238E27FC236}">
                <a16:creationId xmlns:a16="http://schemas.microsoft.com/office/drawing/2014/main" id="{44D6A5FF-CB53-4FDD-A143-F6ECBDEBB9A3}"/>
              </a:ext>
            </a:extLst>
          </p:cNvPr>
          <p:cNvSpPr>
            <a:spLocks xmlns:a="http://schemas.openxmlformats.org/drawingml/2006/main" noGrp="1"/>
          </p:cNvSpPr>
          <p:nvPr/>
        </p:nvSpPr>
        <p:spPr>
          <a:xfrm xmlns:a="http://schemas.openxmlformats.org/drawingml/2006/main">
            <a:off x="3609975" y="21050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18" name="gate-node-28-151">
            <a:extLst xmlns:a="http://schemas.openxmlformats.org/drawingml/2006/main">
              <a:ext uri="{FF2B5EF4-FFF2-40B4-BE49-F238E27FC236}">
                <a16:creationId xmlns:a16="http://schemas.microsoft.com/office/drawing/2014/main" id="{AD3228A5-F753-4ADA-80F1-56238A0E07C3}"/>
              </a:ext>
            </a:extLst>
          </p:cNvPr>
          <p:cNvSpPr>
            <a:spLocks xmlns:a="http://schemas.openxmlformats.org/drawingml/2006/main" noGrp="1"/>
          </p:cNvSpPr>
          <p:nvPr/>
        </p:nvSpPr>
        <p:spPr>
          <a:xfrm xmlns:a="http://schemas.openxmlformats.org/drawingml/2006/main">
            <a:off x="3124200" y="2943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19" name="gate-node-82-174">
            <a:extLst xmlns:a="http://schemas.openxmlformats.org/drawingml/2006/main">
              <a:ext uri="{FF2B5EF4-FFF2-40B4-BE49-F238E27FC236}">
                <a16:creationId xmlns:a16="http://schemas.microsoft.com/office/drawing/2014/main" id="{773F44EC-2A0C-4EC7-9932-0B0429E4210D}"/>
              </a:ext>
            </a:extLst>
          </p:cNvPr>
          <p:cNvSpPr>
            <a:spLocks xmlns:a="http://schemas.openxmlformats.org/drawingml/2006/main" noGrp="1"/>
          </p:cNvSpPr>
          <p:nvPr/>
        </p:nvSpPr>
        <p:spPr>
          <a:xfrm xmlns:a="http://schemas.openxmlformats.org/drawingml/2006/main">
            <a:off x="3638550" y="316230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20" name="Line">
            <a:extLst xmlns:a="http://schemas.openxmlformats.org/drawingml/2006/main">
              <a:ext uri="{FF2B5EF4-FFF2-40B4-BE49-F238E27FC236}">
                <a16:creationId xmlns:a16="http://schemas.microsoft.com/office/drawing/2014/main" id="{D5B6C17C-7109-421B-8F04-388D25B20259}"/>
              </a:ext>
            </a:extLst>
          </p:cNvPr>
          <p:cNvSpPr>
            <a:spLocks xmlns:a="http://schemas.openxmlformats.org/drawingml/2006/main" noGrp="1"/>
          </p:cNvSpPr>
          <p:nvPr/>
        </p:nvSpPr>
        <p:spPr>
          <a:xfrm xmlns:a="http://schemas.openxmlformats.org/drawingml/2006/main">
            <a:off x="2507852" y="2376488"/>
            <a:ext cx="311151" cy="1"/>
          </a:xfrm>
          <a:prstGeom xmlns:a="http://schemas.openxmlformats.org/drawingml/2006/main" prst="line">
            <a:avLst/>
          </a:prstGeom>
          <a:ln xmlns:a="http://schemas.openxmlformats.org/drawingml/2006/main" w="28575">
            <a:solidFill>
              <a:srgbClr val="4A9EBA"/>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321" name="Line">
            <a:extLst xmlns:a="http://schemas.openxmlformats.org/drawingml/2006/main">
              <a:ext uri="{FF2B5EF4-FFF2-40B4-BE49-F238E27FC236}">
                <a16:creationId xmlns:a16="http://schemas.microsoft.com/office/drawing/2014/main" id="{0D9A9EB2-5730-4A38-8B6D-E8C24991AACA}"/>
              </a:ext>
            </a:extLst>
          </p:cNvPr>
          <p:cNvSpPr>
            <a:spLocks xmlns:a="http://schemas.openxmlformats.org/drawingml/2006/main" noGrp="1"/>
          </p:cNvSpPr>
          <p:nvPr/>
        </p:nvSpPr>
        <p:spPr>
          <a:xfrm xmlns:a="http://schemas.openxmlformats.org/drawingml/2006/main">
            <a:off x="3889959" y="2532307"/>
            <a:ext cx="2288592" cy="191843"/>
          </a:xfrm>
          <a:prstGeom xmlns:a="http://schemas.openxmlformats.org/drawingml/2006/main" prst="line">
            <a:avLst/>
          </a:prstGeom>
          <a:ln xmlns:a="http://schemas.openxmlformats.org/drawingml/2006/main" w="28575">
            <a:solidFill>
              <a:srgbClr val="4A9EBA"/>
            </a:solidFill>
            <a:prstDash val="dash"/>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322" name="story-copy">
            <a:extLst xmlns:a="http://schemas.openxmlformats.org/drawingml/2006/main">
              <a:ext uri="{FF2B5EF4-FFF2-40B4-BE49-F238E27FC236}">
                <a16:creationId xmlns:a16="http://schemas.microsoft.com/office/drawing/2014/main" id="{AC51ACC1-5F7E-42DD-B4FD-64E7A1244BBF}"/>
              </a:ext>
            </a:extLst>
          </p:cNvPr>
          <p:cNvSpPr>
            <a:spLocks xmlns:a="http://schemas.openxmlformats.org/drawingml/2006/main" noGrp="1"/>
          </p:cNvSpPr>
          <p:nvPr/>
        </p:nvSpPr>
        <p:spPr>
          <a:xfrm xmlns:a="http://schemas.openxmlformats.org/drawingml/2006/main">
            <a:off x="457675" y="2304893"/>
            <a:ext cx="1813562" cy="276540"/>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300">
                <a:solidFill>
                  <a:srgbClr val="EEF2F7"/>
                </a:solidFill>
                <a:latin typeface="Arial"/>
                <a:ea typeface="Arial"/>
                <a:cs typeface="Arial"/>
              </a:defRPr>
            </a:lvl1pPr>
          </a:lstStyle>
          <a:p xmlns:a="http://schemas.openxmlformats.org/drawingml/2006/main">
            <a:pPr>
              <a:buNone/>
            </a:pPr>
            <a:r>
              <a:t>A very fun story.</a:t>
            </a:r>
          </a:p>
        </p:txBody>
      </p:sp>
    </p:spTree>
    <p:extLst>
      <p:ext uri="{BB962C8B-B14F-4D97-AF65-F5344CB8AC3E}">
        <p14:creationId xmlns:p14="http://schemas.microsoft.com/office/powerpoint/2010/main" val="500070142"/>
      </p:ext>
    </p:extLst>
  </p:cSld>
</p:sld>
</file>

<file path=ppt/slides/slide10.xml><?xml version="1.0" encoding="utf-8"?>
<p:sld xmlns:p="http://schemas.openxmlformats.org/presentationml/2006/main" showMasterSp="1">
  <p:cSld>
    <p:spTree>
      <p:nvGrpSpPr>
        <p:cNvPr id="1" name=""/>
        <p:cNvGrpSpPr/>
        <p:nvPr/>
      </p:nvGrpSpPr>
      <p:grpSpPr>
        <a:xfrm xmlns:a="http://schemas.openxmlformats.org/drawingml/2006/main"/>
      </p:grpSpPr>
      <p:sp>
        <p:nvSpPr>
          <p:cNvPr id="326" name="Shape 0">
            <a:extLst xmlns:a="http://schemas.openxmlformats.org/drawingml/2006/main">
              <a:ext uri="{FF2B5EF4-FFF2-40B4-BE49-F238E27FC236}">
                <a16:creationId xmlns:a16="http://schemas.microsoft.com/office/drawing/2014/main" id="{D51C809C-7305-4094-9A9D-D92730C0125C}"/>
              </a:ext>
            </a:extLst>
          </p:cNvPr>
          <p:cNvSpPr>
            <a:spLocks xmlns:a="http://schemas.openxmlformats.org/drawingml/2006/main" noGrp="1"/>
          </p:cNvSpPr>
          <p:nvPr/>
        </p:nvSpPr>
        <p:spPr>
          <a:xfrm xmlns:a="http://schemas.openxmlformats.org/drawingml/2006/main">
            <a:off x="0" y="-1"/>
            <a:ext cx="9144001" cy="5143501"/>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27" name="Text 1">
            <a:extLst xmlns:a="http://schemas.openxmlformats.org/drawingml/2006/main">
              <a:ext uri="{FF2B5EF4-FFF2-40B4-BE49-F238E27FC236}">
                <a16:creationId xmlns:a16="http://schemas.microsoft.com/office/drawing/2014/main" id="{DF0AF2E9-4F89-4704-A5DE-C82F6A9B8AB8}"/>
              </a:ext>
            </a:extLst>
          </p:cNvPr>
          <p:cNvSpPr>
            <a:spLocks xmlns:a="http://schemas.openxmlformats.org/drawingml/2006/main" noGrp="1"/>
          </p:cNvSpPr>
          <p:nvPr/>
        </p:nvSpPr>
        <p:spPr>
          <a:xfrm xmlns:a="http://schemas.openxmlformats.org/drawingml/2006/main">
            <a:off x="411479" y="336041"/>
            <a:ext cx="8321042" cy="3429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Emotion concepts become directions</a:t>
            </a:r>
          </a:p>
        </p:txBody>
      </p:sp>
      <p:sp>
        <p:nvSpPr>
          <p:cNvPr id="328" name="activation-space">
            <a:extLst xmlns:a="http://schemas.openxmlformats.org/drawingml/2006/main">
              <a:ext uri="{FF2B5EF4-FFF2-40B4-BE49-F238E27FC236}">
                <a16:creationId xmlns:a16="http://schemas.microsoft.com/office/drawing/2014/main" id="{91D138E3-BD82-42D2-9084-72DEC9CAD944}"/>
              </a:ext>
            </a:extLst>
          </p:cNvPr>
          <p:cNvSpPr>
            <a:spLocks xmlns:a="http://schemas.openxmlformats.org/drawingml/2006/main" noGrp="1"/>
          </p:cNvSpPr>
          <p:nvPr/>
        </p:nvSpPr>
        <p:spPr>
          <a:xfrm xmlns:a="http://schemas.openxmlformats.org/drawingml/2006/main">
            <a:off x="4143375" y="1000125"/>
            <a:ext cx="4581525" cy="3333750"/>
          </a:xfrm>
          <a:prstGeom xmlns:a="http://schemas.openxmlformats.org/drawingml/2006/main" prst="roundRect">
            <a:avLst>
              <a:gd name="adj" fmla="val 6286"/>
            </a:avLst>
          </a:prstGeom>
          <a:solidFill xmlns:a="http://schemas.openxmlformats.org/drawingml/2006/main">
            <a:srgbClr val="1E2D45"/>
          </a:solidFill>
          <a:ln xmlns:a="http://schemas.openxmlformats.org/drawingml/2006/main" w="14288">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29" name="space-label">
            <a:extLst xmlns:a="http://schemas.openxmlformats.org/drawingml/2006/main">
              <a:ext uri="{FF2B5EF4-FFF2-40B4-BE49-F238E27FC236}">
                <a16:creationId xmlns:a16="http://schemas.microsoft.com/office/drawing/2014/main" id="{5B22498C-519D-47DD-9859-951D104EB504}"/>
              </a:ext>
            </a:extLst>
          </p:cNvPr>
          <p:cNvSpPr>
            <a:spLocks xmlns:a="http://schemas.openxmlformats.org/drawingml/2006/main" noGrp="1"/>
          </p:cNvSpPr>
          <p:nvPr/>
        </p:nvSpPr>
        <p:spPr>
          <a:xfrm xmlns:a="http://schemas.openxmlformats.org/drawingml/2006/main">
            <a:off x="4195445" y="1149949"/>
            <a:ext cx="22898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HIDDEN ACTIVATION SPACE</a:t>
            </a:r>
          </a:p>
        </p:txBody>
      </p:sp>
      <p:sp>
        <p:nvSpPr>
          <p:cNvPr id="330" name="space-particle-0">
            <a:extLst xmlns:a="http://schemas.openxmlformats.org/drawingml/2006/main">
              <a:ext uri="{FF2B5EF4-FFF2-40B4-BE49-F238E27FC236}">
                <a16:creationId xmlns:a16="http://schemas.microsoft.com/office/drawing/2014/main" id="{DB10105B-35BD-440C-9D9E-D174B799B31E}"/>
              </a:ext>
            </a:extLst>
          </p:cNvPr>
          <p:cNvSpPr>
            <a:spLocks xmlns:a="http://schemas.openxmlformats.org/drawingml/2006/main" noGrp="1"/>
          </p:cNvSpPr>
          <p:nvPr/>
        </p:nvSpPr>
        <p:spPr>
          <a:xfrm xmlns:a="http://schemas.openxmlformats.org/drawingml/2006/main">
            <a:off x="4591050" y="17430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31" name="space-particle-1">
            <a:extLst xmlns:a="http://schemas.openxmlformats.org/drawingml/2006/main">
              <a:ext uri="{FF2B5EF4-FFF2-40B4-BE49-F238E27FC236}">
                <a16:creationId xmlns:a16="http://schemas.microsoft.com/office/drawing/2014/main" id="{7C0DF979-4458-4770-B05A-E43B15165F62}"/>
              </a:ext>
            </a:extLst>
          </p:cNvPr>
          <p:cNvSpPr>
            <a:spLocks xmlns:a="http://schemas.openxmlformats.org/drawingml/2006/main" noGrp="1"/>
          </p:cNvSpPr>
          <p:nvPr/>
        </p:nvSpPr>
        <p:spPr>
          <a:xfrm xmlns:a="http://schemas.openxmlformats.org/drawingml/2006/main">
            <a:off x="5235575" y="15049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32" name="space-particle-2">
            <a:extLst xmlns:a="http://schemas.openxmlformats.org/drawingml/2006/main">
              <a:ext uri="{FF2B5EF4-FFF2-40B4-BE49-F238E27FC236}">
                <a16:creationId xmlns:a16="http://schemas.microsoft.com/office/drawing/2014/main" id="{F4F8C045-DC9B-45A2-9ADF-BD0D47A5EB0A}"/>
              </a:ext>
            </a:extLst>
          </p:cNvPr>
          <p:cNvSpPr>
            <a:spLocks xmlns:a="http://schemas.openxmlformats.org/drawingml/2006/main" noGrp="1"/>
          </p:cNvSpPr>
          <p:nvPr/>
        </p:nvSpPr>
        <p:spPr>
          <a:xfrm xmlns:a="http://schemas.openxmlformats.org/drawingml/2006/main">
            <a:off x="6245225" y="191452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33" name="space-particle-3">
            <a:extLst xmlns:a="http://schemas.openxmlformats.org/drawingml/2006/main">
              <a:ext uri="{FF2B5EF4-FFF2-40B4-BE49-F238E27FC236}">
                <a16:creationId xmlns:a16="http://schemas.microsoft.com/office/drawing/2014/main" id="{FC75B806-9E40-42AA-AF8C-0FEED3982E8E}"/>
              </a:ext>
            </a:extLst>
          </p:cNvPr>
          <p:cNvSpPr>
            <a:spLocks xmlns:a="http://schemas.openxmlformats.org/drawingml/2006/main" noGrp="1"/>
          </p:cNvSpPr>
          <p:nvPr/>
        </p:nvSpPr>
        <p:spPr>
          <a:xfrm xmlns:a="http://schemas.openxmlformats.org/drawingml/2006/main">
            <a:off x="7721600" y="1628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34" name="space-particle-4">
            <a:extLst xmlns:a="http://schemas.openxmlformats.org/drawingml/2006/main">
              <a:ext uri="{FF2B5EF4-FFF2-40B4-BE49-F238E27FC236}">
                <a16:creationId xmlns:a16="http://schemas.microsoft.com/office/drawing/2014/main" id="{24B7912F-C2B8-4772-A925-DA329E59A901}"/>
              </a:ext>
            </a:extLst>
          </p:cNvPr>
          <p:cNvSpPr>
            <a:spLocks xmlns:a="http://schemas.openxmlformats.org/drawingml/2006/main" noGrp="1"/>
          </p:cNvSpPr>
          <p:nvPr/>
        </p:nvSpPr>
        <p:spPr>
          <a:xfrm xmlns:a="http://schemas.openxmlformats.org/drawingml/2006/main">
            <a:off x="4568825" y="33337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35" name="space-particle-5">
            <a:extLst xmlns:a="http://schemas.openxmlformats.org/drawingml/2006/main">
              <a:ext uri="{FF2B5EF4-FFF2-40B4-BE49-F238E27FC236}">
                <a16:creationId xmlns:a16="http://schemas.microsoft.com/office/drawing/2014/main" id="{C9666874-66A0-4077-B53E-0932D456631D}"/>
              </a:ext>
            </a:extLst>
          </p:cNvPr>
          <p:cNvSpPr>
            <a:spLocks xmlns:a="http://schemas.openxmlformats.org/drawingml/2006/main" noGrp="1"/>
          </p:cNvSpPr>
          <p:nvPr/>
        </p:nvSpPr>
        <p:spPr>
          <a:xfrm xmlns:a="http://schemas.openxmlformats.org/drawingml/2006/main">
            <a:off x="5810250" y="3914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36" name="space-particle-6">
            <a:extLst xmlns:a="http://schemas.openxmlformats.org/drawingml/2006/main">
              <a:ext uri="{FF2B5EF4-FFF2-40B4-BE49-F238E27FC236}">
                <a16:creationId xmlns:a16="http://schemas.microsoft.com/office/drawing/2014/main" id="{81CF616C-98FD-4873-A70A-6ED5F73102AA}"/>
              </a:ext>
            </a:extLst>
          </p:cNvPr>
          <p:cNvSpPr>
            <a:spLocks xmlns:a="http://schemas.openxmlformats.org/drawingml/2006/main" noGrp="1"/>
          </p:cNvSpPr>
          <p:nvPr/>
        </p:nvSpPr>
        <p:spPr>
          <a:xfrm xmlns:a="http://schemas.openxmlformats.org/drawingml/2006/main">
            <a:off x="6683375" y="35623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37" name="space-particle-7">
            <a:extLst xmlns:a="http://schemas.openxmlformats.org/drawingml/2006/main">
              <a:ext uri="{FF2B5EF4-FFF2-40B4-BE49-F238E27FC236}">
                <a16:creationId xmlns:a16="http://schemas.microsoft.com/office/drawing/2014/main" id="{1E22F692-098D-4D4E-8C00-0A1E037AA6D9}"/>
              </a:ext>
            </a:extLst>
          </p:cNvPr>
          <p:cNvSpPr>
            <a:spLocks xmlns:a="http://schemas.openxmlformats.org/drawingml/2006/main" noGrp="1"/>
          </p:cNvSpPr>
          <p:nvPr/>
        </p:nvSpPr>
        <p:spPr>
          <a:xfrm xmlns:a="http://schemas.openxmlformats.org/drawingml/2006/main">
            <a:off x="8248650" y="384810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38" name="space-particle-8">
            <a:extLst xmlns:a="http://schemas.openxmlformats.org/drawingml/2006/main">
              <a:ext uri="{FF2B5EF4-FFF2-40B4-BE49-F238E27FC236}">
                <a16:creationId xmlns:a16="http://schemas.microsoft.com/office/drawing/2014/main" id="{A0EDEF48-38BB-4FD6-B45D-6C14C16B867E}"/>
              </a:ext>
            </a:extLst>
          </p:cNvPr>
          <p:cNvSpPr>
            <a:spLocks xmlns:a="http://schemas.openxmlformats.org/drawingml/2006/main" noGrp="1"/>
          </p:cNvSpPr>
          <p:nvPr/>
        </p:nvSpPr>
        <p:spPr>
          <a:xfrm xmlns:a="http://schemas.openxmlformats.org/drawingml/2006/main">
            <a:off x="8207375" y="23526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39" name="Line">
            <a:extLst xmlns:a="http://schemas.openxmlformats.org/drawingml/2006/main">
              <a:ext uri="{FF2B5EF4-FFF2-40B4-BE49-F238E27FC236}">
                <a16:creationId xmlns:a16="http://schemas.microsoft.com/office/drawing/2014/main" id="{8F9E72CC-06E1-4022-BBCF-A38C98C916E1}"/>
              </a:ext>
            </a:extLst>
          </p:cNvPr>
          <p:cNvSpPr>
            <a:spLocks xmlns:a="http://schemas.openxmlformats.org/drawingml/2006/main" noGrp="1"/>
          </p:cNvSpPr>
          <p:nvPr/>
        </p:nvSpPr>
        <p:spPr>
          <a:xfrm xmlns:a="http://schemas.openxmlformats.org/drawingml/2006/main" flipV="1">
            <a:off x="4868045" y="1670819"/>
            <a:ext cx="2659110" cy="1097010"/>
          </a:xfrm>
          <a:prstGeom xmlns:a="http://schemas.openxmlformats.org/drawingml/2006/main" prst="line">
            <a:avLst/>
          </a:prstGeom>
          <a:ln xmlns:a="http://schemas.openxmlformats.org/drawingml/2006/main" w="114300">
            <a:solidFill>
              <a:srgbClr val="2F6E58"/>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40" name="Line">
            <a:extLst xmlns:a="http://schemas.openxmlformats.org/drawingml/2006/main">
              <a:ext uri="{FF2B5EF4-FFF2-40B4-BE49-F238E27FC236}">
                <a16:creationId xmlns:a16="http://schemas.microsoft.com/office/drawing/2014/main" id="{3761F757-3860-4160-88C7-5F83A5AD2623}"/>
              </a:ext>
            </a:extLst>
          </p:cNvPr>
          <p:cNvSpPr>
            <a:spLocks xmlns:a="http://schemas.openxmlformats.org/drawingml/2006/main" noGrp="1"/>
          </p:cNvSpPr>
          <p:nvPr/>
        </p:nvSpPr>
        <p:spPr>
          <a:xfrm xmlns:a="http://schemas.openxmlformats.org/drawingml/2006/main" flipV="1">
            <a:off x="4868045" y="1670819"/>
            <a:ext cx="2659110" cy="1097010"/>
          </a:xfrm>
          <a:prstGeom xmlns:a="http://schemas.openxmlformats.org/drawingml/2006/main" prst="line">
            <a:avLst/>
          </a:prstGeom>
          <a:ln xmlns:a="http://schemas.openxmlformats.org/drawingml/2006/main" w="38100">
            <a:solidFill>
              <a:srgbClr val="5FB58E"/>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341" name="Line">
            <a:extLst xmlns:a="http://schemas.openxmlformats.org/drawingml/2006/main">
              <a:ext uri="{FF2B5EF4-FFF2-40B4-BE49-F238E27FC236}">
                <a16:creationId xmlns:a16="http://schemas.microsoft.com/office/drawing/2014/main" id="{8BCC1B78-98CC-4C54-8871-787C1D7B9167}"/>
              </a:ext>
            </a:extLst>
          </p:cNvPr>
          <p:cNvSpPr>
            <a:spLocks xmlns:a="http://schemas.openxmlformats.org/drawingml/2006/main" noGrp="1"/>
          </p:cNvSpPr>
          <p:nvPr/>
        </p:nvSpPr>
        <p:spPr>
          <a:xfrm xmlns:a="http://schemas.openxmlformats.org/drawingml/2006/main">
            <a:off x="4873625" y="2781300"/>
            <a:ext cx="2981325" cy="0"/>
          </a:xfrm>
          <a:prstGeom xmlns:a="http://schemas.openxmlformats.org/drawingml/2006/main" prst="line">
            <a:avLst/>
          </a:prstGeom>
          <a:ln xmlns:a="http://schemas.openxmlformats.org/drawingml/2006/main" w="171450">
            <a:solidFill>
              <a:srgbClr val="8E3F2D"/>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42" name="Line">
            <a:extLst xmlns:a="http://schemas.openxmlformats.org/drawingml/2006/main">
              <a:ext uri="{FF2B5EF4-FFF2-40B4-BE49-F238E27FC236}">
                <a16:creationId xmlns:a16="http://schemas.microsoft.com/office/drawing/2014/main" id="{2626A359-6E35-4F34-A090-F0FB4901BC17}"/>
              </a:ext>
            </a:extLst>
          </p:cNvPr>
          <p:cNvSpPr>
            <a:spLocks xmlns:a="http://schemas.openxmlformats.org/drawingml/2006/main" noGrp="1"/>
          </p:cNvSpPr>
          <p:nvPr/>
        </p:nvSpPr>
        <p:spPr>
          <a:xfrm xmlns:a="http://schemas.openxmlformats.org/drawingml/2006/main">
            <a:off x="4873625" y="2781300"/>
            <a:ext cx="2981325" cy="0"/>
          </a:xfrm>
          <a:prstGeom xmlns:a="http://schemas.openxmlformats.org/drawingml/2006/main" prst="line">
            <a:avLst/>
          </a:prstGeom>
          <a:ln xmlns:a="http://schemas.openxmlformats.org/drawingml/2006/main" w="57150">
            <a:solidFill>
              <a:srgbClr val="E97C50"/>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343" name="Line">
            <a:extLst xmlns:a="http://schemas.openxmlformats.org/drawingml/2006/main">
              <a:ext uri="{FF2B5EF4-FFF2-40B4-BE49-F238E27FC236}">
                <a16:creationId xmlns:a16="http://schemas.microsoft.com/office/drawing/2014/main" id="{9AE4BD6C-E139-4381-8732-AD795A15E0ED}"/>
              </a:ext>
            </a:extLst>
          </p:cNvPr>
          <p:cNvSpPr>
            <a:spLocks xmlns:a="http://schemas.openxmlformats.org/drawingml/2006/main" noGrp="1"/>
          </p:cNvSpPr>
          <p:nvPr/>
        </p:nvSpPr>
        <p:spPr>
          <a:xfrm xmlns:a="http://schemas.openxmlformats.org/drawingml/2006/main">
            <a:off x="4868045" y="2794769"/>
            <a:ext cx="2563860" cy="1087486"/>
          </a:xfrm>
          <a:prstGeom xmlns:a="http://schemas.openxmlformats.org/drawingml/2006/main" prst="line">
            <a:avLst/>
          </a:prstGeom>
          <a:ln xmlns:a="http://schemas.openxmlformats.org/drawingml/2006/main" w="114300">
            <a:solidFill>
              <a:srgbClr val="40566F"/>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44" name="Line">
            <a:extLst xmlns:a="http://schemas.openxmlformats.org/drawingml/2006/main">
              <a:ext uri="{FF2B5EF4-FFF2-40B4-BE49-F238E27FC236}">
                <a16:creationId xmlns:a16="http://schemas.microsoft.com/office/drawing/2014/main" id="{22751BFD-E11E-44C1-8CE0-EAC0017474CA}"/>
              </a:ext>
            </a:extLst>
          </p:cNvPr>
          <p:cNvSpPr>
            <a:spLocks xmlns:a="http://schemas.openxmlformats.org/drawingml/2006/main" noGrp="1"/>
          </p:cNvSpPr>
          <p:nvPr/>
        </p:nvSpPr>
        <p:spPr>
          <a:xfrm xmlns:a="http://schemas.openxmlformats.org/drawingml/2006/main">
            <a:off x="4868045" y="2794769"/>
            <a:ext cx="2563860" cy="1087486"/>
          </a:xfrm>
          <a:prstGeom xmlns:a="http://schemas.openxmlformats.org/drawingml/2006/main" prst="line">
            <a:avLst/>
          </a:prstGeom>
          <a:ln xmlns:a="http://schemas.openxmlformats.org/drawingml/2006/main" w="38100">
            <a:solidFill>
              <a:srgbClr val="7F97B2"/>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345" name="Line">
            <a:extLst xmlns:a="http://schemas.openxmlformats.org/drawingml/2006/main">
              <a:ext uri="{FF2B5EF4-FFF2-40B4-BE49-F238E27FC236}">
                <a16:creationId xmlns:a16="http://schemas.microsoft.com/office/drawing/2014/main" id="{7CB77A9C-ECC4-4801-BB0A-54602DF12FD9}"/>
              </a:ext>
            </a:extLst>
          </p:cNvPr>
          <p:cNvSpPr>
            <a:spLocks xmlns:a="http://schemas.openxmlformats.org/drawingml/2006/main" noGrp="1"/>
          </p:cNvSpPr>
          <p:nvPr/>
        </p:nvSpPr>
        <p:spPr>
          <a:xfrm xmlns:a="http://schemas.openxmlformats.org/drawingml/2006/main">
            <a:off x="4873625" y="2781300"/>
            <a:ext cx="1666875" cy="0"/>
          </a:xfrm>
          <a:prstGeom xmlns:a="http://schemas.openxmlformats.org/drawingml/2006/main" prst="line">
            <a:avLst/>
          </a:prstGeom>
          <a:ln xmlns:a="http://schemas.openxmlformats.org/drawingml/2006/main" w="28575">
            <a:solidFill>
              <a:srgbClr val="FFFFFF"/>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346" name="Line">
            <a:extLst xmlns:a="http://schemas.openxmlformats.org/drawingml/2006/main">
              <a:ext uri="{FF2B5EF4-FFF2-40B4-BE49-F238E27FC236}">
                <a16:creationId xmlns:a16="http://schemas.microsoft.com/office/drawing/2014/main" id="{ECCC6123-E0FF-4DA9-A1DA-6FD46248CE17}"/>
              </a:ext>
            </a:extLst>
          </p:cNvPr>
          <p:cNvSpPr>
            <a:spLocks xmlns:a="http://schemas.openxmlformats.org/drawingml/2006/main" noGrp="1"/>
          </p:cNvSpPr>
          <p:nvPr/>
        </p:nvSpPr>
        <p:spPr>
          <a:xfrm xmlns:a="http://schemas.openxmlformats.org/drawingml/2006/main" flipH="1" flipV="1">
            <a:off x="5683250" y="2438400"/>
            <a:ext cx="857251" cy="342900"/>
          </a:xfrm>
          <a:prstGeom xmlns:a="http://schemas.openxmlformats.org/drawingml/2006/main" prst="line">
            <a:avLst/>
          </a:prstGeom>
          <a:ln xmlns:a="http://schemas.openxmlformats.org/drawingml/2006/main" w="14288">
            <a:solidFill>
              <a:srgbClr val="8FA5BB"/>
            </a:solidFill>
            <a:prstDash val="dash"/>
          </a:ln>
        </p:spPr>
        <p:txBody>
          <a:bodyPr xmlns:a="http://schemas.openxmlformats.org/drawingml/2006/main" lIns="0" tIns="0" rIns="0" bIns="0"/>
          <a:lstStyle xmlns:a="http://schemas.openxmlformats.org/drawingml/2006/main"/>
          <a:p xmlns:a="http://schemas.openxmlformats.org/drawingml/2006/main">
            <a:pPr>
              <a:buNone/>
            </a:pPr>
          </a:p>
        </p:txBody>
      </p:sp>
      <p:sp>
        <p:nvSpPr>
          <p:cNvPr id="347" name="Line">
            <a:extLst xmlns:a="http://schemas.openxmlformats.org/drawingml/2006/main">
              <a:ext uri="{FF2B5EF4-FFF2-40B4-BE49-F238E27FC236}">
                <a16:creationId xmlns:a16="http://schemas.microsoft.com/office/drawing/2014/main" id="{9C6ACD04-602C-4B04-8CB2-B4DBF53C1567}"/>
              </a:ext>
            </a:extLst>
          </p:cNvPr>
          <p:cNvSpPr>
            <a:spLocks xmlns:a="http://schemas.openxmlformats.org/drawingml/2006/main" noGrp="1"/>
          </p:cNvSpPr>
          <p:nvPr/>
        </p:nvSpPr>
        <p:spPr>
          <a:xfrm xmlns:a="http://schemas.openxmlformats.org/drawingml/2006/main" flipH="1">
            <a:off x="5635624" y="2781300"/>
            <a:ext cx="904876" cy="323850"/>
          </a:xfrm>
          <a:prstGeom xmlns:a="http://schemas.openxmlformats.org/drawingml/2006/main" prst="line">
            <a:avLst/>
          </a:prstGeom>
          <a:ln xmlns:a="http://schemas.openxmlformats.org/drawingml/2006/main" w="14288">
            <a:solidFill>
              <a:srgbClr val="8FA5BB"/>
            </a:solidFill>
            <a:prstDash val="dash"/>
          </a:ln>
        </p:spPr>
        <p:txBody>
          <a:bodyPr xmlns:a="http://schemas.openxmlformats.org/drawingml/2006/main" lIns="0" tIns="0" rIns="0" bIns="0"/>
          <a:lstStyle xmlns:a="http://schemas.openxmlformats.org/drawingml/2006/main"/>
          <a:p xmlns:a="http://schemas.openxmlformats.org/drawingml/2006/main">
            <a:pPr>
              <a:buNone/>
            </a:pPr>
          </a:p>
        </p:txBody>
      </p:sp>
      <p:sp>
        <p:nvSpPr>
          <p:cNvPr id="348" name="origin-node">
            <a:extLst xmlns:a="http://schemas.openxmlformats.org/drawingml/2006/main">
              <a:ext uri="{FF2B5EF4-FFF2-40B4-BE49-F238E27FC236}">
                <a16:creationId xmlns:a16="http://schemas.microsoft.com/office/drawing/2014/main" id="{60F9EE6A-BD3B-4777-9A76-FF0C142DA705}"/>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49" name="origin-label">
            <a:extLst xmlns:a="http://schemas.openxmlformats.org/drawingml/2006/main">
              <a:ext uri="{FF2B5EF4-FFF2-40B4-BE49-F238E27FC236}">
                <a16:creationId xmlns:a16="http://schemas.microsoft.com/office/drawing/2014/main" id="{32691A72-813A-4570-ACF7-FA94A5D5A84D}"/>
              </a:ext>
            </a:extLst>
          </p:cNvPr>
          <p:cNvSpPr>
            <a:spLocks xmlns:a="http://schemas.openxmlformats.org/drawingml/2006/main" noGrp="1"/>
          </p:cNvSpPr>
          <p:nvPr/>
        </p:nvSpPr>
        <p:spPr>
          <a:xfrm xmlns:a="http://schemas.openxmlformats.org/drawingml/2006/main">
            <a:off x="4490720" y="2893024"/>
            <a:ext cx="7277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900">
                <a:solidFill>
                  <a:srgbClr val="8FA5BB"/>
                </a:solidFill>
                <a:latin typeface="Arial"/>
                <a:ea typeface="Arial"/>
                <a:cs typeface="Arial"/>
              </a:defRPr>
            </a:lvl1pPr>
          </a:lstStyle>
          <a:p xmlns:a="http://schemas.openxmlformats.org/drawingml/2006/main">
            <a:pPr>
              <a:buNone/>
            </a:pPr>
            <a:r>
              <a:t>neutral</a:t>
            </a:r>
          </a:p>
        </p:txBody>
      </p:sp>
      <p:sp>
        <p:nvSpPr>
          <p:cNvPr id="350" name="joy-node">
            <a:extLst xmlns:a="http://schemas.openxmlformats.org/drawingml/2006/main">
              <a:ext uri="{FF2B5EF4-FFF2-40B4-BE49-F238E27FC236}">
                <a16:creationId xmlns:a16="http://schemas.microsoft.com/office/drawing/2014/main" id="{F2E9D04B-3389-4182-83BA-8DD243FE911F}"/>
              </a:ext>
            </a:extLst>
          </p:cNvPr>
          <p:cNvSpPr>
            <a:spLocks xmlns:a="http://schemas.openxmlformats.org/drawingml/2006/main" noGrp="1"/>
          </p:cNvSpPr>
          <p:nvPr/>
        </p:nvSpPr>
        <p:spPr>
          <a:xfrm xmlns:a="http://schemas.openxmlformats.org/drawingml/2006/main">
            <a:off x="7426325" y="1543050"/>
            <a:ext cx="228600" cy="228600"/>
          </a:xfrm>
          <a:prstGeom xmlns:a="http://schemas.openxmlformats.org/drawingml/2006/main" prst="ellipse">
            <a:avLst/>
          </a:prstGeom>
          <a:solidFill xmlns:a="http://schemas.openxmlformats.org/drawingml/2006/main">
            <a:srgbClr val="5FB58E"/>
          </a:solidFill>
          <a:ln xmlns:a="http://schemas.openxmlformats.org/drawingml/2006/main" w="19050">
            <a:solidFill>
              <a:srgbClr val="FFFFFF"/>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51" name="joy-label">
            <a:extLst xmlns:a="http://schemas.openxmlformats.org/drawingml/2006/main">
              <a:ext uri="{FF2B5EF4-FFF2-40B4-BE49-F238E27FC236}">
                <a16:creationId xmlns:a16="http://schemas.microsoft.com/office/drawing/2014/main" id="{ED0BC801-189E-4356-86C2-8A24874E14A0}"/>
              </a:ext>
            </a:extLst>
          </p:cNvPr>
          <p:cNvSpPr>
            <a:spLocks xmlns:a="http://schemas.openxmlformats.org/drawingml/2006/main" noGrp="1"/>
          </p:cNvSpPr>
          <p:nvPr/>
        </p:nvSpPr>
        <p:spPr>
          <a:xfrm xmlns:a="http://schemas.openxmlformats.org/drawingml/2006/main">
            <a:off x="7776844" y="1512938"/>
            <a:ext cx="441961" cy="288824"/>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400" b="1" i="1">
                <a:solidFill>
                  <a:srgbClr val="5FB58E"/>
                </a:solidFill>
                <a:latin typeface="Arial"/>
                <a:ea typeface="Arial"/>
                <a:cs typeface="Arial"/>
              </a:defRPr>
            </a:lvl1pPr>
          </a:lstStyle>
          <a:p xmlns:a="http://schemas.openxmlformats.org/drawingml/2006/main">
            <a:pPr>
              <a:buNone/>
            </a:pPr>
            <a:r>
              <a:t>joy</a:t>
            </a:r>
          </a:p>
        </p:txBody>
      </p:sp>
      <p:sp>
        <p:nvSpPr>
          <p:cNvPr id="352" name="fear-node">
            <a:extLst xmlns:a="http://schemas.openxmlformats.org/drawingml/2006/main">
              <a:ext uri="{FF2B5EF4-FFF2-40B4-BE49-F238E27FC236}">
                <a16:creationId xmlns:a16="http://schemas.microsoft.com/office/drawing/2014/main" id="{88911C0B-149B-4FB3-B71E-05ED441C536E}"/>
              </a:ext>
            </a:extLst>
          </p:cNvPr>
          <p:cNvSpPr>
            <a:spLocks xmlns:a="http://schemas.openxmlformats.org/drawingml/2006/main" noGrp="1"/>
          </p:cNvSpPr>
          <p:nvPr/>
        </p:nvSpPr>
        <p:spPr>
          <a:xfrm xmlns:a="http://schemas.openxmlformats.org/drawingml/2006/main">
            <a:off x="7731125" y="2638425"/>
            <a:ext cx="285750" cy="285750"/>
          </a:xfrm>
          <a:prstGeom xmlns:a="http://schemas.openxmlformats.org/drawingml/2006/main" prst="diamond">
            <a:avLst/>
          </a:prstGeom>
          <a:solidFill xmlns:a="http://schemas.openxmlformats.org/drawingml/2006/main">
            <a:srgbClr val="E97C50"/>
          </a:solidFill>
          <a:ln xmlns:a="http://schemas.openxmlformats.org/drawingml/2006/main" w="19050">
            <a:solidFill>
              <a:srgbClr val="FFFFFF"/>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53" name="fear-label">
            <a:extLst xmlns:a="http://schemas.openxmlformats.org/drawingml/2006/main">
              <a:ext uri="{FF2B5EF4-FFF2-40B4-BE49-F238E27FC236}">
                <a16:creationId xmlns:a16="http://schemas.microsoft.com/office/drawing/2014/main" id="{0DD35B48-378D-4EF9-81A2-E2F5286EDF6B}"/>
              </a:ext>
            </a:extLst>
          </p:cNvPr>
          <p:cNvSpPr>
            <a:spLocks xmlns:a="http://schemas.openxmlformats.org/drawingml/2006/main" noGrp="1"/>
          </p:cNvSpPr>
          <p:nvPr/>
        </p:nvSpPr>
        <p:spPr>
          <a:xfrm xmlns:a="http://schemas.openxmlformats.org/drawingml/2006/main">
            <a:off x="8081644" y="2630746"/>
            <a:ext cx="632461" cy="301108"/>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500" b="1" i="1">
                <a:solidFill>
                  <a:srgbClr val="E97C50"/>
                </a:solidFill>
                <a:latin typeface="Arial"/>
                <a:ea typeface="Arial"/>
                <a:cs typeface="Arial"/>
              </a:defRPr>
            </a:lvl1pPr>
          </a:lstStyle>
          <a:p xmlns:a="http://schemas.openxmlformats.org/drawingml/2006/main">
            <a:pPr>
              <a:buNone/>
            </a:pPr>
            <a:r>
              <a:t>fear</a:t>
            </a:r>
          </a:p>
        </p:txBody>
      </p:sp>
      <p:sp>
        <p:nvSpPr>
          <p:cNvPr id="354" name="sadness-node">
            <a:extLst xmlns:a="http://schemas.openxmlformats.org/drawingml/2006/main">
              <a:ext uri="{FF2B5EF4-FFF2-40B4-BE49-F238E27FC236}">
                <a16:creationId xmlns:a16="http://schemas.microsoft.com/office/drawing/2014/main" id="{49547F60-37E1-4337-891A-3E5E08F98CBB}"/>
              </a:ext>
            </a:extLst>
          </p:cNvPr>
          <p:cNvSpPr>
            <a:spLocks xmlns:a="http://schemas.openxmlformats.org/drawingml/2006/main" noGrp="1"/>
          </p:cNvSpPr>
          <p:nvPr/>
        </p:nvSpPr>
        <p:spPr>
          <a:xfrm xmlns:a="http://schemas.openxmlformats.org/drawingml/2006/main">
            <a:off x="7331075" y="3781425"/>
            <a:ext cx="228600" cy="228600"/>
          </a:xfrm>
          <a:prstGeom xmlns:a="http://schemas.openxmlformats.org/drawingml/2006/main" prst="ellipse">
            <a:avLst/>
          </a:prstGeom>
          <a:solidFill xmlns:a="http://schemas.openxmlformats.org/drawingml/2006/main">
            <a:srgbClr val="7F97B2"/>
          </a:solidFill>
          <a:ln xmlns:a="http://schemas.openxmlformats.org/drawingml/2006/main" w="19050">
            <a:solidFill>
              <a:srgbClr val="FFFFFF"/>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55" name="sadness-label">
            <a:extLst xmlns:a="http://schemas.openxmlformats.org/drawingml/2006/main">
              <a:ext uri="{FF2B5EF4-FFF2-40B4-BE49-F238E27FC236}">
                <a16:creationId xmlns:a16="http://schemas.microsoft.com/office/drawing/2014/main" id="{E600D305-4678-45FF-B22B-ACE9EDE6F8E2}"/>
              </a:ext>
            </a:extLst>
          </p:cNvPr>
          <p:cNvSpPr>
            <a:spLocks xmlns:a="http://schemas.openxmlformats.org/drawingml/2006/main" noGrp="1"/>
          </p:cNvSpPr>
          <p:nvPr/>
        </p:nvSpPr>
        <p:spPr>
          <a:xfrm xmlns:a="http://schemas.openxmlformats.org/drawingml/2006/main">
            <a:off x="7633969" y="3751313"/>
            <a:ext cx="1032511" cy="288824"/>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400" i="1">
                <a:solidFill>
                  <a:srgbClr val="7F97B2"/>
                </a:solidFill>
                <a:latin typeface="Arial"/>
                <a:ea typeface="Arial"/>
                <a:cs typeface="Arial"/>
              </a:defRPr>
            </a:lvl1pPr>
          </a:lstStyle>
          <a:p xmlns:a="http://schemas.openxmlformats.org/drawingml/2006/main">
            <a:pPr>
              <a:buNone/>
            </a:pPr>
            <a:r>
              <a:t>sadness</a:t>
            </a:r>
          </a:p>
        </p:txBody>
      </p:sp>
      <p:sp>
        <p:nvSpPr>
          <p:cNvPr id="356" name="hidden-halo">
            <a:extLst xmlns:a="http://schemas.openxmlformats.org/drawingml/2006/main">
              <a:ext uri="{FF2B5EF4-FFF2-40B4-BE49-F238E27FC236}">
                <a16:creationId xmlns:a16="http://schemas.microsoft.com/office/drawing/2014/main" id="{28F269BA-EEE6-4DFF-A14E-D95E800CD8E1}"/>
              </a:ext>
            </a:extLst>
          </p:cNvPr>
          <p:cNvSpPr>
            <a:spLocks xmlns:a="http://schemas.openxmlformats.org/drawingml/2006/main" noGrp="1"/>
          </p:cNvSpPr>
          <p:nvPr/>
        </p:nvSpPr>
        <p:spPr>
          <a:xfrm xmlns:a="http://schemas.openxmlformats.org/drawingml/2006/main">
            <a:off x="6359525" y="2581275"/>
            <a:ext cx="400050" cy="400050"/>
          </a:xfrm>
          <a:prstGeom xmlns:a="http://schemas.openxmlformats.org/drawingml/2006/main" prst="ellipse">
            <a:avLst/>
          </a:prstGeom>
          <a:solidFill xmlns:a="http://schemas.openxmlformats.org/drawingml/2006/main">
            <a:srgbClr val="8E3F2D"/>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57" name="hidden-state">
            <a:extLst xmlns:a="http://schemas.openxmlformats.org/drawingml/2006/main">
              <a:ext uri="{FF2B5EF4-FFF2-40B4-BE49-F238E27FC236}">
                <a16:creationId xmlns:a16="http://schemas.microsoft.com/office/drawing/2014/main" id="{B2B699C6-22FC-42DF-804F-149C29038189}"/>
              </a:ext>
            </a:extLst>
          </p:cNvPr>
          <p:cNvSpPr>
            <a:spLocks xmlns:a="http://schemas.openxmlformats.org/drawingml/2006/main" noGrp="1"/>
          </p:cNvSpPr>
          <p:nvPr/>
        </p:nvSpPr>
        <p:spPr>
          <a:xfrm xmlns:a="http://schemas.openxmlformats.org/drawingml/2006/main">
            <a:off x="6464300" y="2686050"/>
            <a:ext cx="190500" cy="1905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97C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58" name="hidden-state-label">
            <a:extLst xmlns:a="http://schemas.openxmlformats.org/drawingml/2006/main">
              <a:ext uri="{FF2B5EF4-FFF2-40B4-BE49-F238E27FC236}">
                <a16:creationId xmlns:a16="http://schemas.microsoft.com/office/drawing/2014/main" id="{71ADCA95-87AB-4310-95D2-A2A64376B087}"/>
              </a:ext>
            </a:extLst>
          </p:cNvPr>
          <p:cNvSpPr>
            <a:spLocks xmlns:a="http://schemas.openxmlformats.org/drawingml/2006/main" noGrp="1"/>
          </p:cNvSpPr>
          <p:nvPr/>
        </p:nvSpPr>
        <p:spPr>
          <a:xfrm xmlns:a="http://schemas.openxmlformats.org/drawingml/2006/main">
            <a:off x="6005195" y="2998007"/>
            <a:ext cx="1108711"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000" b="1">
                <a:solidFill>
                  <a:srgbClr val="EEF2F7"/>
                </a:solidFill>
                <a:latin typeface="Arial"/>
                <a:ea typeface="Arial"/>
                <a:cs typeface="Arial"/>
              </a:defRPr>
            </a:lvl1pPr>
          </a:lstStyle>
          <a:p xmlns:a="http://schemas.openxmlformats.org/drawingml/2006/main">
            <a:pPr>
              <a:buNone/>
            </a:pPr>
            <a:r>
              <a:t>hidden activation</a:t>
            </a:r>
          </a:p>
        </p:txBody>
      </p:sp>
      <p:sp>
        <p:nvSpPr>
          <p:cNvPr id="359" name="joy-projection-mark">
            <a:extLst xmlns:a="http://schemas.openxmlformats.org/drawingml/2006/main">
              <a:ext uri="{FF2B5EF4-FFF2-40B4-BE49-F238E27FC236}">
                <a16:creationId xmlns:a16="http://schemas.microsoft.com/office/drawing/2014/main" id="{CD10927A-96BF-42CF-9B89-ECCAABAD4246}"/>
              </a:ext>
            </a:extLst>
          </p:cNvPr>
          <p:cNvSpPr>
            <a:spLocks xmlns:a="http://schemas.openxmlformats.org/drawingml/2006/main" noGrp="1"/>
          </p:cNvSpPr>
          <p:nvPr/>
        </p:nvSpPr>
        <p:spPr>
          <a:xfrm xmlns:a="http://schemas.openxmlformats.org/drawingml/2006/main">
            <a:off x="5607050" y="2381250"/>
            <a:ext cx="114300" cy="114300"/>
          </a:xfrm>
          <a:prstGeom xmlns:a="http://schemas.openxmlformats.org/drawingml/2006/main" prst="ellipse">
            <a:avLst/>
          </a:prstGeom>
          <a:solidFill xmlns:a="http://schemas.openxmlformats.org/drawingml/2006/main">
            <a:srgbClr val="5FB58E"/>
          </a:solidFill>
          <a:ln xmlns:a="http://schemas.openxmlformats.org/drawingml/2006/main" w="19050">
            <a:solidFill>
              <a:srgbClr val="FFFFFF"/>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60" name="fear-projection-mark">
            <a:extLst xmlns:a="http://schemas.openxmlformats.org/drawingml/2006/main">
              <a:ext uri="{FF2B5EF4-FFF2-40B4-BE49-F238E27FC236}">
                <a16:creationId xmlns:a16="http://schemas.microsoft.com/office/drawing/2014/main" id="{076952DD-9798-4818-881D-A5E61963FD32}"/>
              </a:ext>
            </a:extLst>
          </p:cNvPr>
          <p:cNvSpPr>
            <a:spLocks xmlns:a="http://schemas.openxmlformats.org/drawingml/2006/main" noGrp="1"/>
          </p:cNvSpPr>
          <p:nvPr/>
        </p:nvSpPr>
        <p:spPr>
          <a:xfrm xmlns:a="http://schemas.openxmlformats.org/drawingml/2006/main">
            <a:off x="6416675" y="2638425"/>
            <a:ext cx="285750" cy="285750"/>
          </a:xfrm>
          <a:prstGeom xmlns:a="http://schemas.openxmlformats.org/drawingml/2006/main" prst="ellipse">
            <a:avLst/>
          </a:prstGeom>
          <a:ln xmlns:a="http://schemas.openxmlformats.org/drawingml/2006/main" w="28575">
            <a:solidFill>
              <a:srgbClr val="E97C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61" name="sad-projection-mark">
            <a:extLst xmlns:a="http://schemas.openxmlformats.org/drawingml/2006/main">
              <a:ext uri="{FF2B5EF4-FFF2-40B4-BE49-F238E27FC236}">
                <a16:creationId xmlns:a16="http://schemas.microsoft.com/office/drawing/2014/main" id="{4C59D077-64CA-432A-B72C-4AD8C49BD5FF}"/>
              </a:ext>
            </a:extLst>
          </p:cNvPr>
          <p:cNvSpPr>
            <a:spLocks xmlns:a="http://schemas.openxmlformats.org/drawingml/2006/main" noGrp="1"/>
          </p:cNvSpPr>
          <p:nvPr/>
        </p:nvSpPr>
        <p:spPr>
          <a:xfrm xmlns:a="http://schemas.openxmlformats.org/drawingml/2006/main">
            <a:off x="5559425" y="3048000"/>
            <a:ext cx="114300" cy="114300"/>
          </a:xfrm>
          <a:prstGeom xmlns:a="http://schemas.openxmlformats.org/drawingml/2006/main" prst="ellipse">
            <a:avLst/>
          </a:prstGeom>
          <a:solidFill xmlns:a="http://schemas.openxmlformats.org/drawingml/2006/main">
            <a:srgbClr val="7F97B2"/>
          </a:solidFill>
          <a:ln xmlns:a="http://schemas.openxmlformats.org/drawingml/2006/main" w="19050">
            <a:solidFill>
              <a:srgbClr val="FFFFFF"/>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62" name="projection-label">
            <a:extLst xmlns:a="http://schemas.openxmlformats.org/drawingml/2006/main">
              <a:ext uri="{FF2B5EF4-FFF2-40B4-BE49-F238E27FC236}">
                <a16:creationId xmlns:a16="http://schemas.microsoft.com/office/drawing/2014/main" id="{DBA22514-1738-40A1-843B-5F9F96820562}"/>
              </a:ext>
            </a:extLst>
          </p:cNvPr>
          <p:cNvSpPr>
            <a:spLocks xmlns:a="http://schemas.openxmlformats.org/drawingml/2006/main" noGrp="1"/>
          </p:cNvSpPr>
          <p:nvPr/>
        </p:nvSpPr>
        <p:spPr>
          <a:xfrm xmlns:a="http://schemas.openxmlformats.org/drawingml/2006/main">
            <a:off x="4300220" y="1778599"/>
            <a:ext cx="12611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a:solidFill>
                  <a:srgbClr val="8FA5BB"/>
                </a:solidFill>
                <a:latin typeface="Arial"/>
                <a:ea typeface="Arial"/>
                <a:cs typeface="Arial"/>
              </a:defRPr>
            </a:lvl1pPr>
          </a:lstStyle>
          <a:p xmlns:a="http://schemas.openxmlformats.org/drawingml/2006/main">
            <a:pPr>
              <a:buNone/>
            </a:pPr>
            <a:r>
              <a:t>projection marks</a:t>
            </a:r>
          </a:p>
        </p:txBody>
      </p:sp>
      <p:sp>
        <p:nvSpPr>
          <p:cNvPr id="363" name="alignment-label">
            <a:extLst xmlns:a="http://schemas.openxmlformats.org/drawingml/2006/main">
              <a:ext uri="{FF2B5EF4-FFF2-40B4-BE49-F238E27FC236}">
                <a16:creationId xmlns:a16="http://schemas.microsoft.com/office/drawing/2014/main" id="{E736D2B3-27D4-4508-8C49-1C83F489AF00}"/>
              </a:ext>
            </a:extLst>
          </p:cNvPr>
          <p:cNvSpPr>
            <a:spLocks xmlns:a="http://schemas.openxmlformats.org/drawingml/2006/main" noGrp="1"/>
          </p:cNvSpPr>
          <p:nvPr/>
        </p:nvSpPr>
        <p:spPr>
          <a:xfrm xmlns:a="http://schemas.openxmlformats.org/drawingml/2006/main">
            <a:off x="5976620" y="2363007"/>
            <a:ext cx="1470661" cy="2269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000" b="1">
                <a:solidFill>
                  <a:srgbClr val="E97C50"/>
                </a:solidFill>
                <a:latin typeface="Arial"/>
                <a:ea typeface="Arial"/>
                <a:cs typeface="Arial"/>
              </a:defRPr>
            </a:lvl1pPr>
          </a:lstStyle>
          <a:p xmlns:a="http://schemas.openxmlformats.org/drawingml/2006/main">
            <a:pPr>
              <a:buNone/>
            </a:pPr>
            <a:r>
              <a:t>strong alignment</a:t>
            </a:r>
          </a:p>
        </p:txBody>
      </p:sp>
      <p:sp>
        <p:nvSpPr>
          <p:cNvPr id="364" name="warmth-bridge">
            <a:extLst xmlns:a="http://schemas.openxmlformats.org/drawingml/2006/main">
              <a:ext uri="{FF2B5EF4-FFF2-40B4-BE49-F238E27FC236}">
                <a16:creationId xmlns:a16="http://schemas.microsoft.com/office/drawing/2014/main" id="{72EDF42E-8F2D-4551-AF21-D43887D5940D}"/>
              </a:ext>
            </a:extLst>
          </p:cNvPr>
          <p:cNvSpPr>
            <a:spLocks xmlns:a="http://schemas.openxmlformats.org/drawingml/2006/main" noGrp="1"/>
          </p:cNvSpPr>
          <p:nvPr/>
        </p:nvSpPr>
        <p:spPr>
          <a:xfrm xmlns:a="http://schemas.openxmlformats.org/drawingml/2006/main">
            <a:off x="560069" y="4433730"/>
            <a:ext cx="8023861" cy="276540"/>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p xmlns:a="http://schemas.openxmlformats.org/drawingml/2006/main">
            <a:pPr algn="ctr">
              <a:buNone/>
              <a:defRPr sz="1300" b="1">
                <a:solidFill>
                  <a:srgbClr val="EEF2F7"/>
                </a:solidFill>
                <a:latin typeface="Arial"/>
                <a:ea typeface="Arial"/>
                <a:cs typeface="Arial"/>
              </a:defRPr>
            </a:pPr>
            <a:r>
              <a:t>If emotion concepts form directions, could </a:t>
            </a:r>
            <a:r>
              <a:rPr>
                <a:solidFill>
                  <a:srgbClr val="E97C50"/>
                </a:solidFill>
              </a:rPr>
              <a:t>warmth</a:t>
            </a:r>
            <a:r>
              <a:t> and </a:t>
            </a:r>
            <a:r>
              <a:rPr>
                <a:solidFill>
                  <a:srgbClr val="5FB58E"/>
                </a:solidFill>
              </a:rPr>
              <a:t>competence</a:t>
            </a:r>
            <a:r>
              <a:t> do the same?</a:t>
            </a:r>
          </a:p>
        </p:txBody>
      </p:sp>
      <p:sp>
        <p:nvSpPr>
          <p:cNvPr id="365" name="anthropic-citation">
            <a:extLst xmlns:a="http://schemas.openxmlformats.org/drawingml/2006/main">
              <a:ext uri="{FF2B5EF4-FFF2-40B4-BE49-F238E27FC236}">
                <a16:creationId xmlns:a16="http://schemas.microsoft.com/office/drawing/2014/main" id="{4EFD1789-41E8-4EF6-BC00-C61E404B0665}"/>
              </a:ext>
            </a:extLst>
          </p:cNvPr>
          <p:cNvSpPr>
            <a:spLocks xmlns:a="http://schemas.openxmlformats.org/drawingml/2006/main" noGrp="1"/>
          </p:cNvSpPr>
          <p:nvPr/>
        </p:nvSpPr>
        <p:spPr>
          <a:xfrm xmlns:a="http://schemas.openxmlformats.org/drawingml/2006/main">
            <a:off x="5760720" y="4804166"/>
            <a:ext cx="2918461" cy="202418"/>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r">
              <a:buNone/>
              <a:defRPr sz="800">
                <a:solidFill>
                  <a:srgbClr val="8FA5BB"/>
                </a:solidFill>
                <a:latin typeface="Arial"/>
                <a:ea typeface="Arial"/>
                <a:cs typeface="Arial"/>
              </a:defRPr>
            </a:lvl1pPr>
          </a:lstStyle>
          <a:p xmlns:a="http://schemas.openxmlformats.org/drawingml/2006/main">
            <a:pPr>
              <a:buNone/>
            </a:pPr>
            <a:r>
              <a:t>Concept adapted from Sofroniew, Lindsey et al. (2026)</a:t>
            </a:r>
          </a:p>
        </p:txBody>
      </p:sp>
      <p:sp>
        <p:nvSpPr>
          <p:cNvPr id="366" name="story-cue">
            <a:extLst xmlns:a="http://schemas.openxmlformats.org/drawingml/2006/main">
              <a:ext uri="{FF2B5EF4-FFF2-40B4-BE49-F238E27FC236}">
                <a16:creationId xmlns:a16="http://schemas.microsoft.com/office/drawing/2014/main" id="{6E1F8060-8DC1-456B-8577-39F51E891E88}"/>
              </a:ext>
            </a:extLst>
          </p:cNvPr>
          <p:cNvSpPr>
            <a:spLocks xmlns:a="http://schemas.openxmlformats.org/drawingml/2006/main" noGrp="1"/>
          </p:cNvSpPr>
          <p:nvPr/>
        </p:nvSpPr>
        <p:spPr>
          <a:xfrm xmlns:a="http://schemas.openxmlformats.org/drawingml/2006/main">
            <a:off x="269081" y="1938338"/>
            <a:ext cx="2190751" cy="876301"/>
          </a:xfrm>
          <a:prstGeom xmlns:a="http://schemas.openxmlformats.org/drawingml/2006/main" prst="roundRect">
            <a:avLst>
              <a:gd name="adj" fmla="val 15217"/>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67" name="story-label">
            <a:extLst xmlns:a="http://schemas.openxmlformats.org/drawingml/2006/main">
              <a:ext uri="{FF2B5EF4-FFF2-40B4-BE49-F238E27FC236}">
                <a16:creationId xmlns:a16="http://schemas.microsoft.com/office/drawing/2014/main" id="{136FB89F-34F2-4116-A30A-4069C589E44F}"/>
              </a:ext>
            </a:extLst>
          </p:cNvPr>
          <p:cNvSpPr>
            <a:spLocks xmlns:a="http://schemas.openxmlformats.org/drawingml/2006/main" noGrp="1"/>
          </p:cNvSpPr>
          <p:nvPr/>
        </p:nvSpPr>
        <p:spPr>
          <a:xfrm xmlns:a="http://schemas.openxmlformats.org/drawingml/2006/main">
            <a:off x="457675" y="1983387"/>
            <a:ext cx="59436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STORY</a:t>
            </a:r>
          </a:p>
        </p:txBody>
      </p:sp>
      <p:sp>
        <p:nvSpPr>
          <p:cNvPr id="368" name="llm-gate">
            <a:extLst xmlns:a="http://schemas.openxmlformats.org/drawingml/2006/main">
              <a:ext uri="{FF2B5EF4-FFF2-40B4-BE49-F238E27FC236}">
                <a16:creationId xmlns:a16="http://schemas.microsoft.com/office/drawing/2014/main" id="{00FBA936-902C-43AD-A21C-520FBC05B26D}"/>
              </a:ext>
            </a:extLst>
          </p:cNvPr>
          <p:cNvSpPr>
            <a:spLocks xmlns:a="http://schemas.openxmlformats.org/drawingml/2006/main" noGrp="1"/>
          </p:cNvSpPr>
          <p:nvPr/>
        </p:nvSpPr>
        <p:spPr>
          <a:xfrm xmlns:a="http://schemas.openxmlformats.org/drawingml/2006/main">
            <a:off x="2857500" y="1504950"/>
            <a:ext cx="1066800" cy="2038350"/>
          </a:xfrm>
          <a:prstGeom xmlns:a="http://schemas.openxmlformats.org/drawingml/2006/main" prst="roundRect">
            <a:avLst>
              <a:gd name="adj" fmla="val 16071"/>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69" name="llm-label">
            <a:extLst xmlns:a="http://schemas.openxmlformats.org/drawingml/2006/main">
              <a:ext uri="{FF2B5EF4-FFF2-40B4-BE49-F238E27FC236}">
                <a16:creationId xmlns:a16="http://schemas.microsoft.com/office/drawing/2014/main" id="{737C1209-FB8E-447C-9D85-D1DCA0EA502F}"/>
              </a:ext>
            </a:extLst>
          </p:cNvPr>
          <p:cNvSpPr>
            <a:spLocks xmlns:a="http://schemas.openxmlformats.org/drawingml/2006/main" noGrp="1"/>
          </p:cNvSpPr>
          <p:nvPr/>
        </p:nvSpPr>
        <p:spPr>
          <a:xfrm xmlns:a="http://schemas.openxmlformats.org/drawingml/2006/main">
            <a:off x="3055620" y="2085477"/>
            <a:ext cx="670561" cy="36294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900" b="1">
                <a:solidFill>
                  <a:srgbClr val="EEF2F7"/>
                </a:solidFill>
                <a:latin typeface="Arial"/>
                <a:ea typeface="Arial"/>
                <a:cs typeface="Arial"/>
              </a:defRPr>
            </a:lvl1pPr>
          </a:lstStyle>
          <a:p xmlns:a="http://schemas.openxmlformats.org/drawingml/2006/main">
            <a:pPr>
              <a:buNone/>
            </a:pPr>
            <a:r>
              <a:t>LLM</a:t>
            </a:r>
          </a:p>
        </p:txBody>
      </p:sp>
      <p:sp>
        <p:nvSpPr>
          <p:cNvPr id="370" name="llm-subtitle">
            <a:extLst xmlns:a="http://schemas.openxmlformats.org/drawingml/2006/main">
              <a:ext uri="{FF2B5EF4-FFF2-40B4-BE49-F238E27FC236}">
                <a16:creationId xmlns:a16="http://schemas.microsoft.com/office/drawing/2014/main" id="{B2184F51-65D8-489A-903C-7A892068AC51}"/>
              </a:ext>
            </a:extLst>
          </p:cNvPr>
          <p:cNvSpPr>
            <a:spLocks xmlns:a="http://schemas.openxmlformats.org/drawingml/2006/main" noGrp="1"/>
          </p:cNvSpPr>
          <p:nvPr/>
        </p:nvSpPr>
        <p:spPr>
          <a:xfrm xmlns:a="http://schemas.openxmlformats.org/drawingml/2006/main">
            <a:off x="2998470" y="2540807"/>
            <a:ext cx="784861"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p xmlns:a="http://schemas.openxmlformats.org/drawingml/2006/main">
            <a:pPr algn="ctr">
              <a:buNone/>
              <a:defRPr sz="1000">
                <a:solidFill>
                  <a:srgbClr val="4A9EBA"/>
                </a:solidFill>
                <a:latin typeface="Arial"/>
                <a:ea typeface="Arial"/>
                <a:cs typeface="Arial"/>
              </a:defRPr>
            </a:pPr>
            <a:r>
              <a:t>words leads</a:t>
            </a:r>
          </a:p>
          <a:p xmlns:a="http://schemas.openxmlformats.org/drawingml/2006/main">
            <a:pPr algn="ctr">
              <a:buNone/>
              <a:defRPr sz="1000">
                <a:solidFill>
                  <a:srgbClr val="4A9EBA"/>
                </a:solidFill>
                <a:latin typeface="Arial"/>
                <a:ea typeface="Arial"/>
                <a:cs typeface="Arial"/>
              </a:defRPr>
            </a:pPr>
            <a:r>
              <a:t>activations</a:t>
            </a:r>
          </a:p>
        </p:txBody>
      </p:sp>
      <p:sp>
        <p:nvSpPr>
          <p:cNvPr id="371" name="gate-node-22-24">
            <a:extLst xmlns:a="http://schemas.openxmlformats.org/drawingml/2006/main">
              <a:ext uri="{FF2B5EF4-FFF2-40B4-BE49-F238E27FC236}">
                <a16:creationId xmlns:a16="http://schemas.microsoft.com/office/drawing/2014/main" id="{7FE75BB5-A1AD-4A74-80BC-22FE1698C6CC}"/>
              </a:ext>
            </a:extLst>
          </p:cNvPr>
          <p:cNvSpPr>
            <a:spLocks xmlns:a="http://schemas.openxmlformats.org/drawingml/2006/main" noGrp="1"/>
          </p:cNvSpPr>
          <p:nvPr/>
        </p:nvSpPr>
        <p:spPr>
          <a:xfrm xmlns:a="http://schemas.openxmlformats.org/drawingml/2006/main">
            <a:off x="3067050" y="173355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72" name="gate-node-55-31">
            <a:extLst xmlns:a="http://schemas.openxmlformats.org/drawingml/2006/main">
              <a:ext uri="{FF2B5EF4-FFF2-40B4-BE49-F238E27FC236}">
                <a16:creationId xmlns:a16="http://schemas.microsoft.com/office/drawing/2014/main" id="{B3B20B1F-9082-4FF0-AFDF-10D833907351}"/>
              </a:ext>
            </a:extLst>
          </p:cNvPr>
          <p:cNvSpPr>
            <a:spLocks xmlns:a="http://schemas.openxmlformats.org/drawingml/2006/main" noGrp="1"/>
          </p:cNvSpPr>
          <p:nvPr/>
        </p:nvSpPr>
        <p:spPr>
          <a:xfrm xmlns:a="http://schemas.openxmlformats.org/drawingml/2006/main">
            <a:off x="3381375" y="1800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73" name="gate-node-79-63">
            <a:extLst xmlns:a="http://schemas.openxmlformats.org/drawingml/2006/main">
              <a:ext uri="{FF2B5EF4-FFF2-40B4-BE49-F238E27FC236}">
                <a16:creationId xmlns:a16="http://schemas.microsoft.com/office/drawing/2014/main" id="{DC6F73E8-EE94-4547-9AE5-9235AFA296D8}"/>
              </a:ext>
            </a:extLst>
          </p:cNvPr>
          <p:cNvSpPr>
            <a:spLocks xmlns:a="http://schemas.openxmlformats.org/drawingml/2006/main" noGrp="1"/>
          </p:cNvSpPr>
          <p:nvPr/>
        </p:nvSpPr>
        <p:spPr>
          <a:xfrm xmlns:a="http://schemas.openxmlformats.org/drawingml/2006/main">
            <a:off x="3609975" y="21050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74" name="gate-node-28-151">
            <a:extLst xmlns:a="http://schemas.openxmlformats.org/drawingml/2006/main">
              <a:ext uri="{FF2B5EF4-FFF2-40B4-BE49-F238E27FC236}">
                <a16:creationId xmlns:a16="http://schemas.microsoft.com/office/drawing/2014/main" id="{A54ED05D-2234-4075-9E52-E7AAB8B3E097}"/>
              </a:ext>
            </a:extLst>
          </p:cNvPr>
          <p:cNvSpPr>
            <a:spLocks xmlns:a="http://schemas.openxmlformats.org/drawingml/2006/main" noGrp="1"/>
          </p:cNvSpPr>
          <p:nvPr/>
        </p:nvSpPr>
        <p:spPr>
          <a:xfrm xmlns:a="http://schemas.openxmlformats.org/drawingml/2006/main">
            <a:off x="3124200" y="2943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75" name="gate-node-82-174">
            <a:extLst xmlns:a="http://schemas.openxmlformats.org/drawingml/2006/main">
              <a:ext uri="{FF2B5EF4-FFF2-40B4-BE49-F238E27FC236}">
                <a16:creationId xmlns:a16="http://schemas.microsoft.com/office/drawing/2014/main" id="{21D977F6-972D-4B15-8DC3-359000377338}"/>
              </a:ext>
            </a:extLst>
          </p:cNvPr>
          <p:cNvSpPr>
            <a:spLocks xmlns:a="http://schemas.openxmlformats.org/drawingml/2006/main" noGrp="1"/>
          </p:cNvSpPr>
          <p:nvPr/>
        </p:nvSpPr>
        <p:spPr>
          <a:xfrm xmlns:a="http://schemas.openxmlformats.org/drawingml/2006/main">
            <a:off x="3638550" y="316230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76" name="Line">
            <a:extLst xmlns:a="http://schemas.openxmlformats.org/drawingml/2006/main">
              <a:ext uri="{FF2B5EF4-FFF2-40B4-BE49-F238E27FC236}">
                <a16:creationId xmlns:a16="http://schemas.microsoft.com/office/drawing/2014/main" id="{5139E375-F0F9-4866-ABC8-6FFB98F88180}"/>
              </a:ext>
            </a:extLst>
          </p:cNvPr>
          <p:cNvSpPr>
            <a:spLocks xmlns:a="http://schemas.openxmlformats.org/drawingml/2006/main" noGrp="1"/>
          </p:cNvSpPr>
          <p:nvPr/>
        </p:nvSpPr>
        <p:spPr>
          <a:xfrm xmlns:a="http://schemas.openxmlformats.org/drawingml/2006/main">
            <a:off x="2507852" y="2376488"/>
            <a:ext cx="311151" cy="1"/>
          </a:xfrm>
          <a:prstGeom xmlns:a="http://schemas.openxmlformats.org/drawingml/2006/main" prst="line">
            <a:avLst/>
          </a:prstGeom>
          <a:ln xmlns:a="http://schemas.openxmlformats.org/drawingml/2006/main" w="28575">
            <a:solidFill>
              <a:srgbClr val="4A9EBA"/>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377" name="Line">
            <a:extLst xmlns:a="http://schemas.openxmlformats.org/drawingml/2006/main">
              <a:ext uri="{FF2B5EF4-FFF2-40B4-BE49-F238E27FC236}">
                <a16:creationId xmlns:a16="http://schemas.microsoft.com/office/drawing/2014/main" id="{3D92A101-63FB-436F-934F-965B2D9DF13B}"/>
              </a:ext>
            </a:extLst>
          </p:cNvPr>
          <p:cNvSpPr>
            <a:spLocks xmlns:a="http://schemas.openxmlformats.org/drawingml/2006/main" noGrp="1"/>
          </p:cNvSpPr>
          <p:nvPr/>
        </p:nvSpPr>
        <p:spPr>
          <a:xfrm xmlns:a="http://schemas.openxmlformats.org/drawingml/2006/main">
            <a:off x="3889959" y="2532307"/>
            <a:ext cx="2288591" cy="191844"/>
          </a:xfrm>
          <a:prstGeom xmlns:a="http://schemas.openxmlformats.org/drawingml/2006/main" prst="line">
            <a:avLst/>
          </a:prstGeom>
          <a:ln xmlns:a="http://schemas.openxmlformats.org/drawingml/2006/main" w="28575">
            <a:solidFill>
              <a:srgbClr val="4A9EBA"/>
            </a:solidFill>
            <a:prstDash val="dash"/>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378" name="story-copy">
            <a:extLst xmlns:a="http://schemas.openxmlformats.org/drawingml/2006/main">
              <a:ext uri="{FF2B5EF4-FFF2-40B4-BE49-F238E27FC236}">
                <a16:creationId xmlns:a16="http://schemas.microsoft.com/office/drawing/2014/main" id="{66F1E70E-528E-4370-A370-BCA90F157DAC}"/>
              </a:ext>
            </a:extLst>
          </p:cNvPr>
          <p:cNvSpPr>
            <a:spLocks xmlns:a="http://schemas.openxmlformats.org/drawingml/2006/main" noGrp="1"/>
          </p:cNvSpPr>
          <p:nvPr/>
        </p:nvSpPr>
        <p:spPr>
          <a:xfrm xmlns:a="http://schemas.openxmlformats.org/drawingml/2006/main">
            <a:off x="457675" y="2304893"/>
            <a:ext cx="1813562" cy="276540"/>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300">
                <a:solidFill>
                  <a:srgbClr val="EEF2F7"/>
                </a:solidFill>
                <a:latin typeface="Arial"/>
                <a:ea typeface="Arial"/>
                <a:cs typeface="Arial"/>
              </a:defRPr>
            </a:lvl1pPr>
          </a:lstStyle>
          <a:p xmlns:a="http://schemas.openxmlformats.org/drawingml/2006/main">
            <a:pPr>
              <a:buNone/>
            </a:pPr>
            <a:r>
              <a:t>A very sad story.</a:t>
            </a:r>
          </a:p>
        </p:txBody>
      </p:sp>
    </p:spTree>
    <p:extLst>
      <p:ext uri="{BB962C8B-B14F-4D97-AF65-F5344CB8AC3E}">
        <p14:creationId xmlns:p14="http://schemas.microsoft.com/office/powerpoint/2010/main" val="1508693474"/>
      </p:ext>
    </p:extLst>
  </p:cSld>
</p:sld>
</file>

<file path=ppt/slides/slide11.xml><?xml version="1.0" encoding="utf-8"?>
<p:sld xmlns:p="http://schemas.openxmlformats.org/presentationml/2006/main" showMasterSp="1">
  <p:cSld>
    <p:spTree>
      <p:nvGrpSpPr>
        <p:cNvPr id="1" name=""/>
        <p:cNvGrpSpPr/>
        <p:nvPr/>
      </p:nvGrpSpPr>
      <p:grpSpPr>
        <a:xfrm xmlns:a="http://schemas.openxmlformats.org/drawingml/2006/main"/>
      </p:grpSpPr>
      <p:sp>
        <p:nvSpPr>
          <p:cNvPr id="382" name="Shape 0">
            <a:extLst xmlns:a="http://schemas.openxmlformats.org/drawingml/2006/main">
              <a:ext uri="{FF2B5EF4-FFF2-40B4-BE49-F238E27FC236}">
                <a16:creationId xmlns:a16="http://schemas.microsoft.com/office/drawing/2014/main" id="{FFBA5559-25D2-456D-9F01-9D311FFF84D5}"/>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83" name="Text 1">
            <a:extLst xmlns:a="http://schemas.openxmlformats.org/drawingml/2006/main">
              <a:ext uri="{FF2B5EF4-FFF2-40B4-BE49-F238E27FC236}">
                <a16:creationId xmlns:a16="http://schemas.microsoft.com/office/drawing/2014/main" id="{DE256096-84C9-448D-BBEA-92F1F0480CB3}"/>
              </a:ext>
            </a:extLst>
          </p:cNvPr>
          <p:cNvSpPr>
            <a:spLocks xmlns:a="http://schemas.openxmlformats.org/drawingml/2006/main" noGrp="1"/>
          </p:cNvSpPr>
          <p:nvPr/>
        </p:nvSpPr>
        <p:spPr>
          <a:xfrm xmlns:a="http://schemas.openxmlformats.org/drawingml/2006/main">
            <a:off x="411479" y="164591"/>
            <a:ext cx="8321042" cy="6858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What if social perception is encoded as geometry inside the model?</a:t>
            </a:r>
          </a:p>
        </p:txBody>
      </p:sp>
      <p:sp>
        <p:nvSpPr>
          <p:cNvPr id="384" name="Text 2">
            <a:extLst xmlns:a="http://schemas.openxmlformats.org/drawingml/2006/main">
              <a:ext uri="{FF2B5EF4-FFF2-40B4-BE49-F238E27FC236}">
                <a16:creationId xmlns:a16="http://schemas.microsoft.com/office/drawing/2014/main" id="{BBAE59AF-7504-4C23-BEE9-7C507A968D65}"/>
              </a:ext>
            </a:extLst>
          </p:cNvPr>
          <p:cNvSpPr>
            <a:spLocks xmlns:a="http://schemas.openxmlformats.org/drawingml/2006/main" noGrp="1"/>
          </p:cNvSpPr>
          <p:nvPr/>
        </p:nvSpPr>
        <p:spPr>
          <a:xfrm xmlns:a="http://schemas.openxmlformats.org/drawingml/2006/main">
            <a:off x="411479" y="1059619"/>
            <a:ext cx="4023361" cy="166762"/>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300">
                <a:solidFill>
                  <a:srgbClr val="EEF2F7"/>
                </a:solidFill>
              </a:defRPr>
            </a:lvl1pPr>
          </a:lstStyle>
          <a:p xmlns:a="http://schemas.openxmlformats.org/drawingml/2006/main">
            <a:pPr>
              <a:buNone/>
            </a:pPr>
            <a:r>
              <a:t>200 short stories · nameless protagonist · 4 conditions:</a:t>
            </a:r>
          </a:p>
        </p:txBody>
      </p:sp>
      <p:sp>
        <p:nvSpPr>
          <p:cNvPr id="385" name="Shape 3">
            <a:extLst xmlns:a="http://schemas.openxmlformats.org/drawingml/2006/main">
              <a:ext uri="{FF2B5EF4-FFF2-40B4-BE49-F238E27FC236}">
                <a16:creationId xmlns:a16="http://schemas.microsoft.com/office/drawing/2014/main" id="{95717D1E-B690-47DD-AACE-319B79859DA7}"/>
              </a:ext>
            </a:extLst>
          </p:cNvPr>
          <p:cNvSpPr>
            <a:spLocks xmlns:a="http://schemas.openxmlformats.org/drawingml/2006/main" noGrp="1"/>
          </p:cNvSpPr>
          <p:nvPr/>
        </p:nvSpPr>
        <p:spPr>
          <a:xfrm xmlns:a="http://schemas.openxmlformats.org/drawingml/2006/main">
            <a:off x="411480" y="1389888"/>
            <a:ext cx="1828801" cy="301753"/>
          </a:xfrm>
          <a:prstGeom xmlns:a="http://schemas.openxmlformats.org/drawingml/2006/main" prst="roundRect">
            <a:avLst>
              <a:gd name="adj" fmla="val 21212"/>
            </a:avLst>
          </a:prstGeom>
          <a:solidFill xmlns:a="http://schemas.openxmlformats.org/drawingml/2006/main">
            <a:srgbClr val="E07B54"/>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86" name="Text 4">
            <a:extLst xmlns:a="http://schemas.openxmlformats.org/drawingml/2006/main">
              <a:ext uri="{FF2B5EF4-FFF2-40B4-BE49-F238E27FC236}">
                <a16:creationId xmlns:a16="http://schemas.microsoft.com/office/drawing/2014/main" id="{C7831B73-26FB-4EE2-8019-D78A9E9B73D5}"/>
              </a:ext>
            </a:extLst>
          </p:cNvPr>
          <p:cNvSpPr>
            <a:spLocks xmlns:a="http://schemas.openxmlformats.org/drawingml/2006/main" noGrp="1"/>
          </p:cNvSpPr>
          <p:nvPr/>
        </p:nvSpPr>
        <p:spPr>
          <a:xfrm xmlns:a="http://schemas.openxmlformats.org/drawingml/2006/main">
            <a:off x="411480" y="1473630"/>
            <a:ext cx="1828801"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100" b="1">
                <a:solidFill>
                  <a:srgbClr val="FFFFFF"/>
                </a:solidFill>
              </a:defRPr>
            </a:lvl1pPr>
          </a:lstStyle>
          <a:p xmlns:a="http://schemas.openxmlformats.org/drawingml/2006/main">
            <a:pPr>
              <a:buNone/>
            </a:pPr>
            <a:r>
              <a:t>High Warmth</a:t>
            </a:r>
          </a:p>
        </p:txBody>
      </p:sp>
      <p:sp>
        <p:nvSpPr>
          <p:cNvPr id="387" name="Shape 5">
            <a:extLst xmlns:a="http://schemas.openxmlformats.org/drawingml/2006/main">
              <a:ext uri="{FF2B5EF4-FFF2-40B4-BE49-F238E27FC236}">
                <a16:creationId xmlns:a16="http://schemas.microsoft.com/office/drawing/2014/main" id="{598A37F0-DC93-488D-B911-734D0CC40E3D}"/>
              </a:ext>
            </a:extLst>
          </p:cNvPr>
          <p:cNvSpPr>
            <a:spLocks xmlns:a="http://schemas.openxmlformats.org/drawingml/2006/main" noGrp="1"/>
          </p:cNvSpPr>
          <p:nvPr/>
        </p:nvSpPr>
        <p:spPr>
          <a:xfrm xmlns:a="http://schemas.openxmlformats.org/drawingml/2006/main">
            <a:off x="2468879" y="1389888"/>
            <a:ext cx="1828801" cy="301753"/>
          </a:xfrm>
          <a:prstGeom xmlns:a="http://schemas.openxmlformats.org/drawingml/2006/main" prst="roundRect">
            <a:avLst>
              <a:gd name="adj" fmla="val 21212"/>
            </a:avLst>
          </a:prstGeom>
          <a:solidFill xmlns:a="http://schemas.openxmlformats.org/drawingml/2006/main">
            <a:srgbClr val="4A9EBA"/>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88" name="Text 6">
            <a:extLst xmlns:a="http://schemas.openxmlformats.org/drawingml/2006/main">
              <a:ext uri="{FF2B5EF4-FFF2-40B4-BE49-F238E27FC236}">
                <a16:creationId xmlns:a16="http://schemas.microsoft.com/office/drawing/2014/main" id="{03DED59A-CD5E-4541-B4C3-1A8F1F838732}"/>
              </a:ext>
            </a:extLst>
          </p:cNvPr>
          <p:cNvSpPr>
            <a:spLocks xmlns:a="http://schemas.openxmlformats.org/drawingml/2006/main" noGrp="1"/>
          </p:cNvSpPr>
          <p:nvPr/>
        </p:nvSpPr>
        <p:spPr>
          <a:xfrm xmlns:a="http://schemas.openxmlformats.org/drawingml/2006/main">
            <a:off x="2468879" y="1473630"/>
            <a:ext cx="1828801"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100" b="1">
                <a:solidFill>
                  <a:srgbClr val="FFFFFF"/>
                </a:solidFill>
              </a:defRPr>
            </a:lvl1pPr>
          </a:lstStyle>
          <a:p xmlns:a="http://schemas.openxmlformats.org/drawingml/2006/main">
            <a:pPr>
              <a:buNone/>
            </a:pPr>
            <a:r>
              <a:t>Low Warmth</a:t>
            </a:r>
          </a:p>
        </p:txBody>
      </p:sp>
      <p:sp>
        <p:nvSpPr>
          <p:cNvPr id="389" name="Shape 7">
            <a:extLst xmlns:a="http://schemas.openxmlformats.org/drawingml/2006/main">
              <a:ext uri="{FF2B5EF4-FFF2-40B4-BE49-F238E27FC236}">
                <a16:creationId xmlns:a16="http://schemas.microsoft.com/office/drawing/2014/main" id="{FA67B4F7-3D21-401F-9B14-98FE4BB12A6F}"/>
              </a:ext>
            </a:extLst>
          </p:cNvPr>
          <p:cNvSpPr>
            <a:spLocks xmlns:a="http://schemas.openxmlformats.org/drawingml/2006/main" noGrp="1"/>
          </p:cNvSpPr>
          <p:nvPr/>
        </p:nvSpPr>
        <p:spPr>
          <a:xfrm xmlns:a="http://schemas.openxmlformats.org/drawingml/2006/main">
            <a:off x="411480" y="1792223"/>
            <a:ext cx="1828801" cy="301753"/>
          </a:xfrm>
          <a:prstGeom xmlns:a="http://schemas.openxmlformats.org/drawingml/2006/main" prst="roundRect">
            <a:avLst>
              <a:gd name="adj" fmla="val 21212"/>
            </a:avLst>
          </a:prstGeom>
          <a:solidFill xmlns:a="http://schemas.openxmlformats.org/drawingml/2006/main">
            <a:srgbClr val="5BAD8B"/>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90" name="Text 8">
            <a:extLst xmlns:a="http://schemas.openxmlformats.org/drawingml/2006/main">
              <a:ext uri="{FF2B5EF4-FFF2-40B4-BE49-F238E27FC236}">
                <a16:creationId xmlns:a16="http://schemas.microsoft.com/office/drawing/2014/main" id="{1B3BE99F-E6FC-4FCE-B218-4FDDFE270AB6}"/>
              </a:ext>
            </a:extLst>
          </p:cNvPr>
          <p:cNvSpPr>
            <a:spLocks xmlns:a="http://schemas.openxmlformats.org/drawingml/2006/main" noGrp="1"/>
          </p:cNvSpPr>
          <p:nvPr/>
        </p:nvSpPr>
        <p:spPr>
          <a:xfrm xmlns:a="http://schemas.openxmlformats.org/drawingml/2006/main">
            <a:off x="411480" y="1875966"/>
            <a:ext cx="1828801"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100" b="1">
                <a:solidFill>
                  <a:srgbClr val="FFFFFF"/>
                </a:solidFill>
              </a:defRPr>
            </a:lvl1pPr>
          </a:lstStyle>
          <a:p xmlns:a="http://schemas.openxmlformats.org/drawingml/2006/main">
            <a:pPr>
              <a:buNone/>
            </a:pPr>
            <a:r>
              <a:t>High Competence</a:t>
            </a:r>
          </a:p>
        </p:txBody>
      </p:sp>
      <p:sp>
        <p:nvSpPr>
          <p:cNvPr id="391" name="Shape 9">
            <a:extLst xmlns:a="http://schemas.openxmlformats.org/drawingml/2006/main">
              <a:ext uri="{FF2B5EF4-FFF2-40B4-BE49-F238E27FC236}">
                <a16:creationId xmlns:a16="http://schemas.microsoft.com/office/drawing/2014/main" id="{12CBF457-F918-4876-8F6C-A2009244F493}"/>
              </a:ext>
            </a:extLst>
          </p:cNvPr>
          <p:cNvSpPr>
            <a:spLocks xmlns:a="http://schemas.openxmlformats.org/drawingml/2006/main" noGrp="1"/>
          </p:cNvSpPr>
          <p:nvPr/>
        </p:nvSpPr>
        <p:spPr>
          <a:xfrm xmlns:a="http://schemas.openxmlformats.org/drawingml/2006/main">
            <a:off x="2468879" y="1792223"/>
            <a:ext cx="1828801" cy="301753"/>
          </a:xfrm>
          <a:prstGeom xmlns:a="http://schemas.openxmlformats.org/drawingml/2006/main" prst="roundRect">
            <a:avLst>
              <a:gd name="adj" fmla="val 21212"/>
            </a:avLst>
          </a:prstGeom>
          <a:solidFill xmlns:a="http://schemas.openxmlformats.org/drawingml/2006/main">
            <a:srgbClr val="8FA5BB"/>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92" name="Text 10">
            <a:extLst xmlns:a="http://schemas.openxmlformats.org/drawingml/2006/main">
              <a:ext uri="{FF2B5EF4-FFF2-40B4-BE49-F238E27FC236}">
                <a16:creationId xmlns:a16="http://schemas.microsoft.com/office/drawing/2014/main" id="{DCAAA221-BA18-4D3D-BA17-4CA9A18D3D5C}"/>
              </a:ext>
            </a:extLst>
          </p:cNvPr>
          <p:cNvSpPr>
            <a:spLocks xmlns:a="http://schemas.openxmlformats.org/drawingml/2006/main" noGrp="1"/>
          </p:cNvSpPr>
          <p:nvPr/>
        </p:nvSpPr>
        <p:spPr>
          <a:xfrm xmlns:a="http://schemas.openxmlformats.org/drawingml/2006/main">
            <a:off x="2468879" y="1875966"/>
            <a:ext cx="1828801"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100" b="1">
                <a:solidFill>
                  <a:srgbClr val="FFFFFF"/>
                </a:solidFill>
              </a:defRPr>
            </a:lvl1pPr>
          </a:lstStyle>
          <a:p xmlns:a="http://schemas.openxmlformats.org/drawingml/2006/main">
            <a:pPr>
              <a:buNone/>
            </a:pPr>
            <a:r>
              <a:t>Low Competence</a:t>
            </a:r>
          </a:p>
        </p:txBody>
      </p:sp>
      <p:sp>
        <p:nvSpPr>
          <p:cNvPr id="393" name="Text 11">
            <a:extLst xmlns:a="http://schemas.openxmlformats.org/drawingml/2006/main">
              <a:ext uri="{FF2B5EF4-FFF2-40B4-BE49-F238E27FC236}">
                <a16:creationId xmlns:a16="http://schemas.microsoft.com/office/drawing/2014/main" id="{342C42EE-3A23-4BBE-A8ED-EF3F546A4985}"/>
              </a:ext>
            </a:extLst>
          </p:cNvPr>
          <p:cNvSpPr>
            <a:spLocks xmlns:a="http://schemas.openxmlformats.org/drawingml/2006/main" noGrp="1"/>
          </p:cNvSpPr>
          <p:nvPr/>
        </p:nvSpPr>
        <p:spPr>
          <a:xfrm xmlns:a="http://schemas.openxmlformats.org/drawingml/2006/main">
            <a:off x="411479" y="2404925"/>
            <a:ext cx="4023361" cy="347366"/>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i="1">
                <a:solidFill>
                  <a:srgbClr val="8FA5BB"/>
                </a:solidFill>
              </a:defRPr>
            </a:lvl1pPr>
          </a:lstStyle>
          <a:p xmlns:a="http://schemas.openxmlformats.org/drawingml/2006/main">
            <a:pPr>
              <a:buNone/>
            </a:pPr>
            <a:r>
              <a:t>Nameless, gender-neutral protagonist in every story, so the vector encodes behaviour, not demographic identity.</a:t>
            </a:r>
          </a:p>
        </p:txBody>
      </p:sp>
      <p:sp>
        <p:nvSpPr>
          <p:cNvPr id="394" name="Text 12">
            <a:extLst xmlns:a="http://schemas.openxmlformats.org/drawingml/2006/main">
              <a:ext uri="{FF2B5EF4-FFF2-40B4-BE49-F238E27FC236}">
                <a16:creationId xmlns:a16="http://schemas.microsoft.com/office/drawing/2014/main" id="{85D8705E-1E01-452D-BC0B-245D0562D493}"/>
              </a:ext>
            </a:extLst>
          </p:cNvPr>
          <p:cNvSpPr>
            <a:spLocks xmlns:a="http://schemas.openxmlformats.org/drawingml/2006/main" noGrp="1"/>
          </p:cNvSpPr>
          <p:nvPr/>
        </p:nvSpPr>
        <p:spPr>
          <a:xfrm xmlns:a="http://schemas.openxmlformats.org/drawingml/2006/main">
            <a:off x="411479" y="2960554"/>
            <a:ext cx="4023361" cy="369963"/>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300" b="1">
                <a:solidFill>
                  <a:srgbClr val="4A9EBA"/>
                </a:solidFill>
              </a:defRPr>
            </a:lvl1pPr>
          </a:lstStyle>
          <a:p xmlns:a="http://schemas.openxmlformats.org/drawingml/2006/main">
            <a:pPr>
              <a:buNone/>
            </a:pPr>
            <a:r>
              <a:t>Mean difference between high and low conditions gives the direction vector v</a:t>
            </a:r>
          </a:p>
        </p:txBody>
      </p:sp>
      <p:sp>
        <p:nvSpPr>
          <p:cNvPr id="395" name="Text 13">
            <a:extLst xmlns:a="http://schemas.openxmlformats.org/drawingml/2006/main">
              <a:ext uri="{FF2B5EF4-FFF2-40B4-BE49-F238E27FC236}">
                <a16:creationId xmlns:a16="http://schemas.microsoft.com/office/drawing/2014/main" id="{3DDC640D-CD12-4DEF-9048-0C66CD2F1AB7}"/>
              </a:ext>
            </a:extLst>
          </p:cNvPr>
          <p:cNvSpPr>
            <a:spLocks xmlns:a="http://schemas.openxmlformats.org/drawingml/2006/main" noGrp="1"/>
          </p:cNvSpPr>
          <p:nvPr/>
        </p:nvSpPr>
        <p:spPr>
          <a:xfrm xmlns:a="http://schemas.openxmlformats.org/drawingml/2006/main">
            <a:off x="411479" y="3397811"/>
            <a:ext cx="4023361" cy="537865"/>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a:solidFill>
                  <a:srgbClr val="EEF2F7"/>
                </a:solidFill>
              </a:defRPr>
            </a:lvl1pPr>
          </a:lstStyle>
          <a:p xmlns:a="http://schemas.openxmlformats.org/drawingml/2006/main">
            <a:pPr>
              <a:buNone/>
            </a:pPr>
            <a:r>
              <a:t>If the direction generalizes to new topics never seen during training, the representation is not an artifact of the training stimuli.</a:t>
            </a:r>
          </a:p>
        </p:txBody>
      </p:sp>
      <p:pic>
        <p:nvPicPr>
          <p:cNvPr id="413" name="Image 0"/>
          <p:cNvPicPr>
            <a:picLocks xmlns:a="http://schemas.openxmlformats.org/drawingml/2006/main" noChangeAspect="1"/>
          </p:cNvPicPr>
          <p:nvPr/>
        </p:nvPicPr>
        <p:blipFill>
          <a:blip xmlns:r="http://schemas.openxmlformats.org/officeDocument/2006/relationships" xmlns:a="http://schemas.openxmlformats.org/drawingml/2006/main" r:embed="Re9fe2d2156864b73"/>
          <a:stretch xmlns:a="http://schemas.openxmlformats.org/drawingml/2006/main">
            <a:fillRect l="0" t="0" r="0" b="0"/>
          </a:stretch>
        </p:blipFill>
        <p:spPr>
          <a:xfrm xmlns:a="http://schemas.openxmlformats.org/drawingml/2006/main">
            <a:off x="4572000" y="868680"/>
            <a:ext cx="4297680" cy="3485947"/>
          </a:xfrm>
          <a:prstGeom xmlns:a="http://schemas.openxmlformats.org/drawingml/2006/main" prst="rect">
            <a:avLst/>
          </a:prstGeom>
          <a:ln xmlns:a="http://schemas.openxmlformats.org/drawingml/2006/main" w="12700">
            <a:miter/>
          </a:ln>
        </p:spPr>
      </p:pic>
      <p:sp>
        <p:nvSpPr>
          <p:cNvPr id="397" name="Text 14">
            <a:extLst xmlns:a="http://schemas.openxmlformats.org/drawingml/2006/main">
              <a:ext uri="{FF2B5EF4-FFF2-40B4-BE49-F238E27FC236}">
                <a16:creationId xmlns:a16="http://schemas.microsoft.com/office/drawing/2014/main" id="{A994A327-68D4-4618-AC46-57C0C0727415}"/>
              </a:ext>
            </a:extLst>
          </p:cNvPr>
          <p:cNvSpPr>
            <a:spLocks xmlns:a="http://schemas.openxmlformats.org/drawingml/2006/main" noGrp="1"/>
          </p:cNvSpPr>
          <p:nvPr/>
        </p:nvSpPr>
        <p:spPr>
          <a:xfrm xmlns:a="http://schemas.openxmlformats.org/drawingml/2006/main">
            <a:off x="4572000" y="4487258"/>
            <a:ext cx="4251960" cy="137072"/>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000" i="1">
                <a:solidFill>
                  <a:srgbClr val="8FA5BB"/>
                </a:solidFill>
              </a:defRPr>
            </a:lvl1pPr>
          </a:lstStyle>
          <a:p xmlns:a="http://schemas.openxmlformats.org/drawingml/2006/main">
            <a:pPr>
              <a:buNone/>
            </a:pPr>
            <a:r>
              <a:t>Fig: Concept direction geometry (schematic)</a:t>
            </a:r>
          </a:p>
        </p:txBody>
      </p:sp>
    </p:spTree>
    <p:extLst>
      <p:ext uri="{BB962C8B-B14F-4D97-AF65-F5344CB8AC3E}">
        <p14:creationId xmlns:p14="http://schemas.microsoft.com/office/powerpoint/2010/main" val="108928146"/>
      </p:ext>
    </p:extLst>
  </p:cSld>
</p:sld>
</file>

<file path=ppt/slides/slide12.xml><?xml version="1.0" encoding="utf-8"?>
<p:sld xmlns:p="http://schemas.openxmlformats.org/presentationml/2006/main" showMasterSp="1">
  <p:cSld>
    <p:spTree>
      <p:nvGrpSpPr>
        <p:cNvPr id="1" name=""/>
        <p:cNvGrpSpPr/>
        <p:nvPr/>
      </p:nvGrpSpPr>
      <p:grpSpPr>
        <a:xfrm xmlns:a="http://schemas.openxmlformats.org/drawingml/2006/main"/>
      </p:grpSpPr>
      <p:sp>
        <p:nvSpPr>
          <p:cNvPr id="401" name="Shape 0">
            <a:extLst xmlns:a="http://schemas.openxmlformats.org/drawingml/2006/main">
              <a:ext uri="{FF2B5EF4-FFF2-40B4-BE49-F238E27FC236}">
                <a16:creationId xmlns:a16="http://schemas.microsoft.com/office/drawing/2014/main" id="{41D527E4-EC8C-4EF6-B3F5-F24332D2E2E0}"/>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E2D45"/>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02" name="Text 1">
            <a:extLst xmlns:a="http://schemas.openxmlformats.org/drawingml/2006/main">
              <a:ext uri="{FF2B5EF4-FFF2-40B4-BE49-F238E27FC236}">
                <a16:creationId xmlns:a16="http://schemas.microsoft.com/office/drawing/2014/main" id="{D8604E94-C9F4-44CF-B5C0-41353EBB83C3}"/>
              </a:ext>
            </a:extLst>
          </p:cNvPr>
          <p:cNvSpPr>
            <a:spLocks xmlns:a="http://schemas.openxmlformats.org/drawingml/2006/main" noGrp="1"/>
          </p:cNvSpPr>
          <p:nvPr/>
        </p:nvSpPr>
        <p:spPr>
          <a:xfrm xmlns:a="http://schemas.openxmlformats.org/drawingml/2006/main">
            <a:off x="411479" y="164591"/>
            <a:ext cx="8321042" cy="6858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Finding 1: Warmth and competence are linearly encoded in all four models</a:t>
            </a:r>
          </a:p>
        </p:txBody>
      </p:sp>
      <p:sp>
        <p:nvSpPr>
          <p:cNvPr id="403" name="Shape 2">
            <a:extLst xmlns:a="http://schemas.openxmlformats.org/drawingml/2006/main">
              <a:ext uri="{FF2B5EF4-FFF2-40B4-BE49-F238E27FC236}">
                <a16:creationId xmlns:a16="http://schemas.microsoft.com/office/drawing/2014/main" id="{A22F1299-719B-457F-B3BD-FA284150ABAC}"/>
              </a:ext>
            </a:extLst>
          </p:cNvPr>
          <p:cNvSpPr>
            <a:spLocks xmlns:a="http://schemas.openxmlformats.org/drawingml/2006/main" noGrp="1"/>
          </p:cNvSpPr>
          <p:nvPr/>
        </p:nvSpPr>
        <p:spPr>
          <a:xfrm xmlns:a="http://schemas.openxmlformats.org/drawingml/2006/main">
            <a:off x="411480" y="960119"/>
            <a:ext cx="1920240" cy="1188721"/>
          </a:xfrm>
          <a:prstGeom xmlns:a="http://schemas.openxmlformats.org/drawingml/2006/main" prst="roundRect">
            <a:avLst>
              <a:gd name="adj" fmla="val 7692"/>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04" name="Text 3">
            <a:extLst xmlns:a="http://schemas.openxmlformats.org/drawingml/2006/main">
              <a:ext uri="{FF2B5EF4-FFF2-40B4-BE49-F238E27FC236}">
                <a16:creationId xmlns:a16="http://schemas.microsoft.com/office/drawing/2014/main" id="{21F2B384-BC5F-46BA-928A-2D0710AA4E1D}"/>
              </a:ext>
            </a:extLst>
          </p:cNvPr>
          <p:cNvSpPr>
            <a:spLocks xmlns:a="http://schemas.openxmlformats.org/drawingml/2006/main" noGrp="1"/>
          </p:cNvSpPr>
          <p:nvPr/>
        </p:nvSpPr>
        <p:spPr>
          <a:xfrm xmlns:a="http://schemas.openxmlformats.org/drawingml/2006/main">
            <a:off x="411480" y="1049782"/>
            <a:ext cx="1920241" cy="4699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3200">
                <a:solidFill>
                  <a:srgbClr val="4A9EBA"/>
                </a:solidFill>
                <a:latin typeface="Cambria"/>
                <a:ea typeface="Cambria"/>
                <a:cs typeface="Cambria"/>
              </a:defRPr>
            </a:lvl1pPr>
          </a:lstStyle>
          <a:p xmlns:a="http://schemas.openxmlformats.org/drawingml/2006/main">
            <a:pPr>
              <a:buNone/>
            </a:pPr>
            <a:r>
              <a:t>100%</a:t>
            </a:r>
          </a:p>
        </p:txBody>
      </p:sp>
      <p:sp>
        <p:nvSpPr>
          <p:cNvPr id="405" name="Text 4">
            <a:extLst xmlns:a="http://schemas.openxmlformats.org/drawingml/2006/main">
              <a:ext uri="{FF2B5EF4-FFF2-40B4-BE49-F238E27FC236}">
                <a16:creationId xmlns:a16="http://schemas.microsoft.com/office/drawing/2014/main" id="{60CC61B8-80B5-413E-9D59-364B185311DC}"/>
              </a:ext>
            </a:extLst>
          </p:cNvPr>
          <p:cNvSpPr>
            <a:spLocks xmlns:a="http://schemas.openxmlformats.org/drawingml/2006/main" noGrp="1"/>
          </p:cNvSpPr>
          <p:nvPr/>
        </p:nvSpPr>
        <p:spPr>
          <a:xfrm xmlns:a="http://schemas.openxmlformats.org/drawingml/2006/main">
            <a:off x="411480" y="1682286"/>
            <a:ext cx="1920241" cy="30217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p xmlns:a="http://schemas.openxmlformats.org/drawingml/2006/main">
            <a:pPr algn="ctr">
              <a:buNone/>
              <a:defRPr sz="1000">
                <a:solidFill>
                  <a:srgbClr val="8FA5BB"/>
                </a:solidFill>
              </a:defRPr>
            </a:pPr>
            <a:r>
              <a:t>accuracy, including on</a:t>
            </a:r>
          </a:p>
          <a:p xmlns:a="http://schemas.openxmlformats.org/drawingml/2006/main">
            <a:pPr algn="ctr">
              <a:buNone/>
              <a:defRPr sz="1000">
                <a:solidFill>
                  <a:srgbClr val="8FA5BB"/>
                </a:solidFill>
              </a:defRPr>
            </a:pPr>
            <a:r>
              <a:t>entirely new situations</a:t>
            </a:r>
          </a:p>
        </p:txBody>
      </p:sp>
      <p:sp>
        <p:nvSpPr>
          <p:cNvPr id="406" name="Shape 5">
            <a:extLst xmlns:a="http://schemas.openxmlformats.org/drawingml/2006/main">
              <a:ext uri="{FF2B5EF4-FFF2-40B4-BE49-F238E27FC236}">
                <a16:creationId xmlns:a16="http://schemas.microsoft.com/office/drawing/2014/main" id="{9D77ED1B-D9BC-474E-9ABC-DF231909408A}"/>
              </a:ext>
            </a:extLst>
          </p:cNvPr>
          <p:cNvSpPr>
            <a:spLocks xmlns:a="http://schemas.openxmlformats.org/drawingml/2006/main" noGrp="1"/>
          </p:cNvSpPr>
          <p:nvPr/>
        </p:nvSpPr>
        <p:spPr>
          <a:xfrm xmlns:a="http://schemas.openxmlformats.org/drawingml/2006/main">
            <a:off x="2468879" y="960119"/>
            <a:ext cx="1920241" cy="1188721"/>
          </a:xfrm>
          <a:prstGeom xmlns:a="http://schemas.openxmlformats.org/drawingml/2006/main" prst="roundRect">
            <a:avLst>
              <a:gd name="adj" fmla="val 7692"/>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07" name="Text 6">
            <a:extLst xmlns:a="http://schemas.openxmlformats.org/drawingml/2006/main">
              <a:ext uri="{FF2B5EF4-FFF2-40B4-BE49-F238E27FC236}">
                <a16:creationId xmlns:a16="http://schemas.microsoft.com/office/drawing/2014/main" id="{94E4FB4E-9A27-49B5-8050-6F8032F79A10}"/>
              </a:ext>
            </a:extLst>
          </p:cNvPr>
          <p:cNvSpPr>
            <a:spLocks xmlns:a="http://schemas.openxmlformats.org/drawingml/2006/main" noGrp="1"/>
          </p:cNvSpPr>
          <p:nvPr/>
        </p:nvSpPr>
        <p:spPr>
          <a:xfrm xmlns:a="http://schemas.openxmlformats.org/drawingml/2006/main">
            <a:off x="2468879" y="1119632"/>
            <a:ext cx="1920241" cy="3302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2200">
                <a:solidFill>
                  <a:srgbClr val="4A9EBA"/>
                </a:solidFill>
                <a:latin typeface="Cambria"/>
                <a:ea typeface="Cambria"/>
                <a:cs typeface="Cambria"/>
              </a:defRPr>
            </a:lvl1pPr>
          </a:lstStyle>
          <a:p xmlns:a="http://schemas.openxmlformats.org/drawingml/2006/main">
            <a:pPr>
              <a:buNone/>
            </a:pPr>
            <a:r>
              <a:t>ρ 0.76–0.99</a:t>
            </a:r>
          </a:p>
        </p:txBody>
      </p:sp>
      <p:sp>
        <p:nvSpPr>
          <p:cNvPr id="408" name="Text 7">
            <a:extLst xmlns:a="http://schemas.openxmlformats.org/drawingml/2006/main">
              <a:ext uri="{FF2B5EF4-FFF2-40B4-BE49-F238E27FC236}">
                <a16:creationId xmlns:a16="http://schemas.microsoft.com/office/drawing/2014/main" id="{5EF8E913-7332-4630-BE8E-9C8F19A4F99C}"/>
              </a:ext>
            </a:extLst>
          </p:cNvPr>
          <p:cNvSpPr>
            <a:spLocks xmlns:a="http://schemas.openxmlformats.org/drawingml/2006/main" noGrp="1"/>
          </p:cNvSpPr>
          <p:nvPr/>
        </p:nvSpPr>
        <p:spPr>
          <a:xfrm xmlns:a="http://schemas.openxmlformats.org/drawingml/2006/main">
            <a:off x="2468879" y="1682286"/>
            <a:ext cx="1920241" cy="30217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p xmlns:a="http://schemas.openxmlformats.org/drawingml/2006/main">
            <a:pPr algn="ctr">
              <a:buNone/>
              <a:defRPr sz="1000">
                <a:solidFill>
                  <a:srgbClr val="8FA5BB"/>
                </a:solidFill>
              </a:defRPr>
            </a:pPr>
            <a:r>
              <a:t>cross-model story agreement</a:t>
            </a:r>
          </a:p>
          <a:p xmlns:a="http://schemas.openxmlformats.org/drawingml/2006/main">
            <a:pPr algn="ctr">
              <a:buNone/>
              <a:defRPr sz="1000">
                <a:solidFill>
                  <a:srgbClr val="8FA5BB"/>
                </a:solidFill>
              </a:defRPr>
            </a:pPr>
            <a:r>
              <a:t>(4 models, 3 companies)</a:t>
            </a:r>
          </a:p>
        </p:txBody>
      </p:sp>
      <p:sp>
        <p:nvSpPr>
          <p:cNvPr id="409" name="Shape 8">
            <a:extLst xmlns:a="http://schemas.openxmlformats.org/drawingml/2006/main">
              <a:ext uri="{FF2B5EF4-FFF2-40B4-BE49-F238E27FC236}">
                <a16:creationId xmlns:a16="http://schemas.microsoft.com/office/drawing/2014/main" id="{E3C7492B-5D2B-425C-8350-B67413E9E660}"/>
              </a:ext>
            </a:extLst>
          </p:cNvPr>
          <p:cNvSpPr>
            <a:spLocks xmlns:a="http://schemas.openxmlformats.org/drawingml/2006/main" noGrp="1"/>
          </p:cNvSpPr>
          <p:nvPr/>
        </p:nvSpPr>
        <p:spPr>
          <a:xfrm xmlns:a="http://schemas.openxmlformats.org/drawingml/2006/main">
            <a:off x="411480" y="2331720"/>
            <a:ext cx="1828801" cy="301753"/>
          </a:xfrm>
          <a:prstGeom xmlns:a="http://schemas.openxmlformats.org/drawingml/2006/main" prst="roundRect">
            <a:avLst>
              <a:gd name="adj" fmla="val 21212"/>
            </a:avLst>
          </a:prstGeom>
          <a:solidFill xmlns:a="http://schemas.openxmlformats.org/drawingml/2006/main">
            <a:srgbClr val="253650"/>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10" name="Text 9">
            <a:extLst xmlns:a="http://schemas.openxmlformats.org/drawingml/2006/main">
              <a:ext uri="{FF2B5EF4-FFF2-40B4-BE49-F238E27FC236}">
                <a16:creationId xmlns:a16="http://schemas.microsoft.com/office/drawing/2014/main" id="{B6CD09DB-9A69-4971-900A-B0E4F9AA6A01}"/>
              </a:ext>
            </a:extLst>
          </p:cNvPr>
          <p:cNvSpPr>
            <a:spLocks xmlns:a="http://schemas.openxmlformats.org/drawingml/2006/main" noGrp="1"/>
          </p:cNvSpPr>
          <p:nvPr/>
        </p:nvSpPr>
        <p:spPr>
          <a:xfrm xmlns:a="http://schemas.openxmlformats.org/drawingml/2006/main">
            <a:off x="411480" y="2415462"/>
            <a:ext cx="1828801"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100" b="1">
                <a:solidFill>
                  <a:srgbClr val="FFFFFF"/>
                </a:solidFill>
              </a:defRPr>
            </a:lvl1pPr>
          </a:lstStyle>
          <a:p xmlns:a="http://schemas.openxmlformats.org/drawingml/2006/main">
            <a:pPr>
              <a:buNone/>
            </a:pPr>
            <a:r>
              <a:t>Gemma-3-12B</a:t>
            </a:r>
          </a:p>
        </p:txBody>
      </p:sp>
      <p:sp>
        <p:nvSpPr>
          <p:cNvPr id="411" name="Shape 10">
            <a:extLst xmlns:a="http://schemas.openxmlformats.org/drawingml/2006/main">
              <a:ext uri="{FF2B5EF4-FFF2-40B4-BE49-F238E27FC236}">
                <a16:creationId xmlns:a16="http://schemas.microsoft.com/office/drawing/2014/main" id="{C1D44800-80B3-4E10-BDEB-74552E6A6A47}"/>
              </a:ext>
            </a:extLst>
          </p:cNvPr>
          <p:cNvSpPr>
            <a:spLocks xmlns:a="http://schemas.openxmlformats.org/drawingml/2006/main" noGrp="1"/>
          </p:cNvSpPr>
          <p:nvPr/>
        </p:nvSpPr>
        <p:spPr>
          <a:xfrm xmlns:a="http://schemas.openxmlformats.org/drawingml/2006/main">
            <a:off x="2560320" y="2331720"/>
            <a:ext cx="1828801" cy="301753"/>
          </a:xfrm>
          <a:prstGeom xmlns:a="http://schemas.openxmlformats.org/drawingml/2006/main" prst="roundRect">
            <a:avLst>
              <a:gd name="adj" fmla="val 21212"/>
            </a:avLst>
          </a:prstGeom>
          <a:solidFill xmlns:a="http://schemas.openxmlformats.org/drawingml/2006/main">
            <a:srgbClr val="253650"/>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12" name="Text 11">
            <a:extLst xmlns:a="http://schemas.openxmlformats.org/drawingml/2006/main">
              <a:ext uri="{FF2B5EF4-FFF2-40B4-BE49-F238E27FC236}">
                <a16:creationId xmlns:a16="http://schemas.microsoft.com/office/drawing/2014/main" id="{E2A209C6-CA0B-45D5-933D-DC142364C881}"/>
              </a:ext>
            </a:extLst>
          </p:cNvPr>
          <p:cNvSpPr>
            <a:spLocks xmlns:a="http://schemas.openxmlformats.org/drawingml/2006/main" noGrp="1"/>
          </p:cNvSpPr>
          <p:nvPr/>
        </p:nvSpPr>
        <p:spPr>
          <a:xfrm xmlns:a="http://schemas.openxmlformats.org/drawingml/2006/main">
            <a:off x="2560320" y="2415462"/>
            <a:ext cx="1828801"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100" b="1">
                <a:solidFill>
                  <a:srgbClr val="FFFFFF"/>
                </a:solidFill>
              </a:defRPr>
            </a:lvl1pPr>
          </a:lstStyle>
          <a:p xmlns:a="http://schemas.openxmlformats.org/drawingml/2006/main">
            <a:pPr>
              <a:buNone/>
            </a:pPr>
            <a:r>
              <a:t>Gemma-3-27B</a:t>
            </a:r>
          </a:p>
        </p:txBody>
      </p:sp>
      <p:sp>
        <p:nvSpPr>
          <p:cNvPr id="413" name="Shape 12">
            <a:extLst xmlns:a="http://schemas.openxmlformats.org/drawingml/2006/main">
              <a:ext uri="{FF2B5EF4-FFF2-40B4-BE49-F238E27FC236}">
                <a16:creationId xmlns:a16="http://schemas.microsoft.com/office/drawing/2014/main" id="{B1B6C949-A231-4158-9531-EBCA17C1C7BD}"/>
              </a:ext>
            </a:extLst>
          </p:cNvPr>
          <p:cNvSpPr>
            <a:spLocks xmlns:a="http://schemas.openxmlformats.org/drawingml/2006/main" noGrp="1"/>
          </p:cNvSpPr>
          <p:nvPr/>
        </p:nvSpPr>
        <p:spPr>
          <a:xfrm xmlns:a="http://schemas.openxmlformats.org/drawingml/2006/main">
            <a:off x="411480" y="2734055"/>
            <a:ext cx="1828801" cy="301753"/>
          </a:xfrm>
          <a:prstGeom xmlns:a="http://schemas.openxmlformats.org/drawingml/2006/main" prst="roundRect">
            <a:avLst>
              <a:gd name="adj" fmla="val 21212"/>
            </a:avLst>
          </a:prstGeom>
          <a:solidFill xmlns:a="http://schemas.openxmlformats.org/drawingml/2006/main">
            <a:srgbClr val="253650"/>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14" name="Text 13">
            <a:extLst xmlns:a="http://schemas.openxmlformats.org/drawingml/2006/main">
              <a:ext uri="{FF2B5EF4-FFF2-40B4-BE49-F238E27FC236}">
                <a16:creationId xmlns:a16="http://schemas.microsoft.com/office/drawing/2014/main" id="{8B7993AB-8046-4FB3-AE6D-1B63A1421673}"/>
              </a:ext>
            </a:extLst>
          </p:cNvPr>
          <p:cNvSpPr>
            <a:spLocks xmlns:a="http://schemas.openxmlformats.org/drawingml/2006/main" noGrp="1"/>
          </p:cNvSpPr>
          <p:nvPr/>
        </p:nvSpPr>
        <p:spPr>
          <a:xfrm xmlns:a="http://schemas.openxmlformats.org/drawingml/2006/main">
            <a:off x="411480" y="2817798"/>
            <a:ext cx="1828801"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100" b="1">
                <a:solidFill>
                  <a:srgbClr val="FFFFFF"/>
                </a:solidFill>
              </a:defRPr>
            </a:lvl1pPr>
          </a:lstStyle>
          <a:p xmlns:a="http://schemas.openxmlformats.org/drawingml/2006/main">
            <a:pPr>
              <a:buNone/>
            </a:pPr>
            <a:r>
              <a:t>Llama-3.1-8B</a:t>
            </a:r>
          </a:p>
        </p:txBody>
      </p:sp>
      <p:sp>
        <p:nvSpPr>
          <p:cNvPr id="415" name="Shape 14">
            <a:extLst xmlns:a="http://schemas.openxmlformats.org/drawingml/2006/main">
              <a:ext uri="{FF2B5EF4-FFF2-40B4-BE49-F238E27FC236}">
                <a16:creationId xmlns:a16="http://schemas.microsoft.com/office/drawing/2014/main" id="{8A9A9087-50E6-4B93-863C-3FF4BE666A44}"/>
              </a:ext>
            </a:extLst>
          </p:cNvPr>
          <p:cNvSpPr>
            <a:spLocks xmlns:a="http://schemas.openxmlformats.org/drawingml/2006/main" noGrp="1"/>
          </p:cNvSpPr>
          <p:nvPr/>
        </p:nvSpPr>
        <p:spPr>
          <a:xfrm xmlns:a="http://schemas.openxmlformats.org/drawingml/2006/main">
            <a:off x="2560320" y="2734055"/>
            <a:ext cx="1828801" cy="301753"/>
          </a:xfrm>
          <a:prstGeom xmlns:a="http://schemas.openxmlformats.org/drawingml/2006/main" prst="roundRect">
            <a:avLst>
              <a:gd name="adj" fmla="val 21212"/>
            </a:avLst>
          </a:prstGeom>
          <a:solidFill xmlns:a="http://schemas.openxmlformats.org/drawingml/2006/main">
            <a:srgbClr val="253650"/>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16" name="Text 15">
            <a:extLst xmlns:a="http://schemas.openxmlformats.org/drawingml/2006/main">
              <a:ext uri="{FF2B5EF4-FFF2-40B4-BE49-F238E27FC236}">
                <a16:creationId xmlns:a16="http://schemas.microsoft.com/office/drawing/2014/main" id="{D57AAC18-D1B0-4A16-B0AD-7E83C551E0E1}"/>
              </a:ext>
            </a:extLst>
          </p:cNvPr>
          <p:cNvSpPr>
            <a:spLocks xmlns:a="http://schemas.openxmlformats.org/drawingml/2006/main" noGrp="1"/>
          </p:cNvSpPr>
          <p:nvPr/>
        </p:nvSpPr>
        <p:spPr>
          <a:xfrm xmlns:a="http://schemas.openxmlformats.org/drawingml/2006/main">
            <a:off x="2560320" y="2817798"/>
            <a:ext cx="1828801"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100" b="1">
                <a:solidFill>
                  <a:srgbClr val="FFFFFF"/>
                </a:solidFill>
              </a:defRPr>
            </a:lvl1pPr>
          </a:lstStyle>
          <a:p xmlns:a="http://schemas.openxmlformats.org/drawingml/2006/main">
            <a:pPr>
              <a:buNone/>
            </a:pPr>
            <a:r>
              <a:t>Qwen3-14B</a:t>
            </a:r>
          </a:p>
        </p:txBody>
      </p:sp>
      <p:sp>
        <p:nvSpPr>
          <p:cNvPr id="417" name="Text 16">
            <a:extLst xmlns:a="http://schemas.openxmlformats.org/drawingml/2006/main">
              <a:ext uri="{FF2B5EF4-FFF2-40B4-BE49-F238E27FC236}">
                <a16:creationId xmlns:a16="http://schemas.microsoft.com/office/drawing/2014/main" id="{34EDBCC2-52C9-432E-980A-4A732DA920E4}"/>
              </a:ext>
            </a:extLst>
          </p:cNvPr>
          <p:cNvSpPr>
            <a:spLocks xmlns:a="http://schemas.openxmlformats.org/drawingml/2006/main" noGrp="1"/>
          </p:cNvSpPr>
          <p:nvPr/>
        </p:nvSpPr>
        <p:spPr>
          <a:xfrm xmlns:a="http://schemas.openxmlformats.org/drawingml/2006/main">
            <a:off x="411480" y="3265985"/>
            <a:ext cx="4114801" cy="728366"/>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i="1">
                <a:solidFill>
                  <a:srgbClr val="8FA5BB"/>
                </a:solidFill>
              </a:defRPr>
            </a:lvl1pPr>
          </a:lstStyle>
          <a:p xmlns:a="http://schemas.openxmlformats.org/drawingml/2006/main">
            <a:pPr>
              <a:buNone/>
            </a:pPr>
            <a:r>
              <a:t>All four models, trained independently at three different organisations, converge on the same warmth/competence ordering of stories. That convergence is strong evidence this reflects the training data, not a quirk of one architecture.</a:t>
            </a:r>
          </a:p>
        </p:txBody>
      </p:sp>
      <p:pic>
        <p:nvPicPr>
          <p:cNvPr id="438" name="Image 0"/>
          <p:cNvPicPr>
            <a:picLocks xmlns:a="http://schemas.openxmlformats.org/drawingml/2006/main" noChangeAspect="1"/>
          </p:cNvPicPr>
          <p:nvPr/>
        </p:nvPicPr>
        <p:blipFill>
          <a:blip xmlns:r="http://schemas.openxmlformats.org/officeDocument/2006/relationships" xmlns:a="http://schemas.openxmlformats.org/drawingml/2006/main" r:embed="Rb66691492f344d1c"/>
          <a:stretch xmlns:a="http://schemas.openxmlformats.org/drawingml/2006/main">
            <a:fillRect l="0" t="0" r="0" b="0"/>
          </a:stretch>
        </p:blipFill>
        <p:spPr>
          <a:xfrm xmlns:a="http://schemas.openxmlformats.org/drawingml/2006/main">
            <a:off x="4572000" y="960120"/>
            <a:ext cx="4343400" cy="1843879"/>
          </a:xfrm>
          <a:prstGeom xmlns:a="http://schemas.openxmlformats.org/drawingml/2006/main" prst="rect">
            <a:avLst/>
          </a:prstGeom>
          <a:ln xmlns:a="http://schemas.openxmlformats.org/drawingml/2006/main" w="12700">
            <a:miter/>
          </a:ln>
        </p:spPr>
      </p:pic>
      <p:sp>
        <p:nvSpPr>
          <p:cNvPr id="419" name="Text 17">
            <a:extLst xmlns:a="http://schemas.openxmlformats.org/drawingml/2006/main">
              <a:ext uri="{FF2B5EF4-FFF2-40B4-BE49-F238E27FC236}">
                <a16:creationId xmlns:a16="http://schemas.microsoft.com/office/drawing/2014/main" id="{F98FDFFD-3F4B-41C0-A832-2A1DFD6C3A84}"/>
              </a:ext>
            </a:extLst>
          </p:cNvPr>
          <p:cNvSpPr>
            <a:spLocks xmlns:a="http://schemas.openxmlformats.org/drawingml/2006/main" noGrp="1"/>
          </p:cNvSpPr>
          <p:nvPr/>
        </p:nvSpPr>
        <p:spPr>
          <a:xfrm xmlns:a="http://schemas.openxmlformats.org/drawingml/2006/main">
            <a:off x="4572000" y="2936653"/>
            <a:ext cx="4251960" cy="152400"/>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000" i="1">
                <a:solidFill>
                  <a:srgbClr val="8FA5BB"/>
                </a:solidFill>
              </a:defRPr>
            </a:lvl1pPr>
          </a:lstStyle>
          <a:p xmlns:a="http://schemas.openxmlformats.org/drawingml/2006/main">
            <a:pPr>
              <a:buNone/>
            </a:pPr>
            <a:r>
              <a:t>Fig: Layer emergence, Cohen's d by depth</a:t>
            </a:r>
          </a:p>
        </p:txBody>
      </p:sp>
    </p:spTree>
    <p:extLst>
      <p:ext uri="{BB962C8B-B14F-4D97-AF65-F5344CB8AC3E}">
        <p14:creationId xmlns:p14="http://schemas.microsoft.com/office/powerpoint/2010/main" val="1448942275"/>
      </p:ext>
    </p:extLst>
  </p:cSld>
</p:sld>
</file>

<file path=ppt/slides/slide13.xml><?xml version="1.0" encoding="utf-8"?>
<p:sld xmlns:p="http://schemas.openxmlformats.org/presentationml/2006/main" showMasterSp="1">
  <p:cSld>
    <p:spTree>
      <p:nvGrpSpPr>
        <p:cNvPr id="1" name=""/>
        <p:cNvGrpSpPr/>
        <p:nvPr/>
      </p:nvGrpSpPr>
      <p:grpSpPr>
        <a:xfrm xmlns:a="http://schemas.openxmlformats.org/drawingml/2006/main"/>
      </p:grpSpPr>
      <p:sp>
        <p:nvSpPr>
          <p:cNvPr id="423" name="Shape 0">
            <a:extLst xmlns:a="http://schemas.openxmlformats.org/drawingml/2006/main">
              <a:ext uri="{FF2B5EF4-FFF2-40B4-BE49-F238E27FC236}">
                <a16:creationId xmlns:a16="http://schemas.microsoft.com/office/drawing/2014/main" id="{AE5EFF8D-48D4-4A00-876A-BFB87BE2C810}"/>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E2D45"/>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24" name="Text 1">
            <a:extLst xmlns:a="http://schemas.openxmlformats.org/drawingml/2006/main">
              <a:ext uri="{FF2B5EF4-FFF2-40B4-BE49-F238E27FC236}">
                <a16:creationId xmlns:a16="http://schemas.microsoft.com/office/drawing/2014/main" id="{9D09272A-C273-4A9C-8E96-F3DB2AA3D30C}"/>
              </a:ext>
            </a:extLst>
          </p:cNvPr>
          <p:cNvSpPr>
            <a:spLocks xmlns:a="http://schemas.openxmlformats.org/drawingml/2006/main" noGrp="1"/>
          </p:cNvSpPr>
          <p:nvPr/>
        </p:nvSpPr>
        <p:spPr>
          <a:xfrm xmlns:a="http://schemas.openxmlformats.org/drawingml/2006/main">
            <a:off x="411479" y="336041"/>
            <a:ext cx="8321042" cy="3429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Finding 2: We can steer these directions and flip hiring decisions</a:t>
            </a:r>
          </a:p>
        </p:txBody>
      </p:sp>
      <p:sp>
        <p:nvSpPr>
          <p:cNvPr id="425" name="Shape 2">
            <a:extLst xmlns:a="http://schemas.openxmlformats.org/drawingml/2006/main">
              <a:ext uri="{FF2B5EF4-FFF2-40B4-BE49-F238E27FC236}">
                <a16:creationId xmlns:a16="http://schemas.microsoft.com/office/drawing/2014/main" id="{F66374F4-76AA-48B5-9F76-C9DFDC88BD68}"/>
              </a:ext>
            </a:extLst>
          </p:cNvPr>
          <p:cNvSpPr>
            <a:spLocks xmlns:a="http://schemas.openxmlformats.org/drawingml/2006/main" noGrp="1"/>
          </p:cNvSpPr>
          <p:nvPr/>
        </p:nvSpPr>
        <p:spPr>
          <a:xfrm xmlns:a="http://schemas.openxmlformats.org/drawingml/2006/main">
            <a:off x="411480" y="960120"/>
            <a:ext cx="4114800" cy="841248"/>
          </a:xfrm>
          <a:prstGeom xmlns:a="http://schemas.openxmlformats.org/drawingml/2006/main" prst="roundRect">
            <a:avLst>
              <a:gd name="adj" fmla="val 10870"/>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26" name="Text 3">
            <a:extLst xmlns:a="http://schemas.openxmlformats.org/drawingml/2006/main">
              <a:ext uri="{FF2B5EF4-FFF2-40B4-BE49-F238E27FC236}">
                <a16:creationId xmlns:a16="http://schemas.microsoft.com/office/drawing/2014/main" id="{3C4759BD-6ACA-4F5E-A3F6-D7947513F4F4}"/>
              </a:ext>
            </a:extLst>
          </p:cNvPr>
          <p:cNvSpPr>
            <a:spLocks xmlns:a="http://schemas.openxmlformats.org/drawingml/2006/main" noGrp="1"/>
          </p:cNvSpPr>
          <p:nvPr/>
        </p:nvSpPr>
        <p:spPr>
          <a:xfrm xmlns:a="http://schemas.openxmlformats.org/drawingml/2006/main">
            <a:off x="502920" y="1111853"/>
            <a:ext cx="3931920" cy="548640"/>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a:solidFill>
                  <a:srgbClr val="EEF2F7"/>
                </a:solidFill>
              </a:defRPr>
            </a:lvl1pPr>
          </a:lstStyle>
          <a:p xmlns:a="http://schemas.openxmlformats.org/drawingml/2006/main">
            <a:pPr>
              <a:buNone/>
            </a:pPr>
            <a:r>
              <a:t>Injecting the warmth direction during resume evaluation shifts the callback recommendation, crossing the Yes/No boundary for every name tested.</a:t>
            </a:r>
          </a:p>
        </p:txBody>
      </p:sp>
      <p:sp>
        <p:nvSpPr>
          <p:cNvPr id="427" name="Shape 4">
            <a:extLst xmlns:a="http://schemas.openxmlformats.org/drawingml/2006/main">
              <a:ext uri="{FF2B5EF4-FFF2-40B4-BE49-F238E27FC236}">
                <a16:creationId xmlns:a16="http://schemas.microsoft.com/office/drawing/2014/main" id="{9228326C-7ECB-4777-B4D5-BE1CD977CE37}"/>
              </a:ext>
            </a:extLst>
          </p:cNvPr>
          <p:cNvSpPr>
            <a:spLocks xmlns:a="http://schemas.openxmlformats.org/drawingml/2006/main" noGrp="1"/>
          </p:cNvSpPr>
          <p:nvPr/>
        </p:nvSpPr>
        <p:spPr>
          <a:xfrm xmlns:a="http://schemas.openxmlformats.org/drawingml/2006/main">
            <a:off x="411480" y="1920240"/>
            <a:ext cx="3200400" cy="301752"/>
          </a:xfrm>
          <a:prstGeom xmlns:a="http://schemas.openxmlformats.org/drawingml/2006/main" prst="roundRect">
            <a:avLst>
              <a:gd name="adj" fmla="val 21212"/>
            </a:avLst>
          </a:prstGeom>
          <a:solidFill xmlns:a="http://schemas.openxmlformats.org/drawingml/2006/main">
            <a:srgbClr val="E07B54"/>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28" name="Text 5">
            <a:extLst xmlns:a="http://schemas.openxmlformats.org/drawingml/2006/main">
              <a:ext uri="{FF2B5EF4-FFF2-40B4-BE49-F238E27FC236}">
                <a16:creationId xmlns:a16="http://schemas.microsoft.com/office/drawing/2014/main" id="{F9D6BE66-6493-42F8-A7DF-0055718E90DB}"/>
              </a:ext>
            </a:extLst>
          </p:cNvPr>
          <p:cNvSpPr>
            <a:spLocks xmlns:a="http://schemas.openxmlformats.org/drawingml/2006/main" noGrp="1"/>
          </p:cNvSpPr>
          <p:nvPr/>
        </p:nvSpPr>
        <p:spPr>
          <a:xfrm xmlns:a="http://schemas.openxmlformats.org/drawingml/2006/main">
            <a:off x="411480" y="2003965"/>
            <a:ext cx="3200400" cy="167640"/>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100" b="1">
                <a:solidFill>
                  <a:srgbClr val="FFFFFF"/>
                </a:solidFill>
              </a:defRPr>
            </a:lvl1pPr>
          </a:lstStyle>
          <a:p xmlns:a="http://schemas.openxmlformats.org/drawingml/2006/main">
            <a:pPr>
              <a:buNone/>
            </a:pPr>
            <a:r>
              <a:t>Caveat: 12B measurement-limited (bf16)</a:t>
            </a:r>
          </a:p>
        </p:txBody>
      </p:sp>
      <p:sp>
        <p:nvSpPr>
          <p:cNvPr id="429" name="Shape 6">
            <a:extLst xmlns:a="http://schemas.openxmlformats.org/drawingml/2006/main">
              <a:ext uri="{FF2B5EF4-FFF2-40B4-BE49-F238E27FC236}">
                <a16:creationId xmlns:a16="http://schemas.microsoft.com/office/drawing/2014/main" id="{EE62B54F-5158-40AC-B2AA-87668214E55F}"/>
              </a:ext>
            </a:extLst>
          </p:cNvPr>
          <p:cNvSpPr>
            <a:spLocks xmlns:a="http://schemas.openxmlformats.org/drawingml/2006/main" noGrp="1"/>
          </p:cNvSpPr>
          <p:nvPr/>
        </p:nvSpPr>
        <p:spPr>
          <a:xfrm xmlns:a="http://schemas.openxmlformats.org/drawingml/2006/main">
            <a:off x="4800600" y="1028700"/>
            <a:ext cx="146304" cy="146304"/>
          </a:xfrm>
          <a:prstGeom xmlns:a="http://schemas.openxmlformats.org/drawingml/2006/main" prst="ellipse">
            <a:avLst/>
          </a:prstGeom>
          <a:solidFill xmlns:a="http://schemas.openxmlformats.org/drawingml/2006/main">
            <a:srgbClr val="4A9EBA"/>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30" name="Text 7">
            <a:extLst xmlns:a="http://schemas.openxmlformats.org/drawingml/2006/main">
              <a:ext uri="{FF2B5EF4-FFF2-40B4-BE49-F238E27FC236}">
                <a16:creationId xmlns:a16="http://schemas.microsoft.com/office/drawing/2014/main" id="{89ABD0DB-2607-40FA-9E50-0FF37993A402}"/>
              </a:ext>
            </a:extLst>
          </p:cNvPr>
          <p:cNvSpPr>
            <a:spLocks xmlns:a="http://schemas.openxmlformats.org/drawingml/2006/main" noGrp="1"/>
          </p:cNvSpPr>
          <p:nvPr/>
        </p:nvSpPr>
        <p:spPr>
          <a:xfrm xmlns:a="http://schemas.openxmlformats.org/drawingml/2006/main">
            <a:off x="5047298" y="981075"/>
            <a:ext cx="1762125" cy="548640"/>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a:solidFill>
                  <a:srgbClr val="EEF2F7"/>
                </a:solidFill>
              </a:defRPr>
            </a:lvl1pPr>
          </a:lstStyle>
          <a:p xmlns:a="http://schemas.openxmlformats.org/drawingml/2006/main">
            <a:pPr>
              <a:buNone/>
            </a:pPr>
            <a:r>
              <a:t>Baseline: starting margin</a:t>
            </a:r>
          </a:p>
        </p:txBody>
      </p:sp>
      <p:sp>
        <p:nvSpPr>
          <p:cNvPr id="431" name="Shape 8">
            <a:extLst xmlns:a="http://schemas.openxmlformats.org/drawingml/2006/main">
              <a:ext uri="{FF2B5EF4-FFF2-40B4-BE49-F238E27FC236}">
                <a16:creationId xmlns:a16="http://schemas.microsoft.com/office/drawing/2014/main" id="{0C878166-D189-4E0C-A3EC-5DC16229261F}"/>
              </a:ext>
            </a:extLst>
          </p:cNvPr>
          <p:cNvSpPr>
            <a:spLocks xmlns:a="http://schemas.openxmlformats.org/drawingml/2006/main" noGrp="1"/>
          </p:cNvSpPr>
          <p:nvPr/>
        </p:nvSpPr>
        <p:spPr>
          <a:xfrm xmlns:a="http://schemas.openxmlformats.org/drawingml/2006/main">
            <a:off x="6858000" y="1028700"/>
            <a:ext cx="146304" cy="146304"/>
          </a:xfrm>
          <a:prstGeom xmlns:a="http://schemas.openxmlformats.org/drawingml/2006/main" prst="ellipse">
            <a:avLst/>
          </a:prstGeom>
          <a:solidFill xmlns:a="http://schemas.openxmlformats.org/drawingml/2006/main">
            <a:srgbClr val="4A9EBA"/>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32" name="Text 9">
            <a:extLst xmlns:a="http://schemas.openxmlformats.org/drawingml/2006/main">
              <a:ext uri="{FF2B5EF4-FFF2-40B4-BE49-F238E27FC236}">
                <a16:creationId xmlns:a16="http://schemas.microsoft.com/office/drawing/2014/main" id="{60F6D597-5586-4CD5-814F-E5AE15015EED}"/>
              </a:ext>
            </a:extLst>
          </p:cNvPr>
          <p:cNvSpPr>
            <a:spLocks xmlns:a="http://schemas.openxmlformats.org/drawingml/2006/main" noGrp="1"/>
          </p:cNvSpPr>
          <p:nvPr/>
        </p:nvSpPr>
        <p:spPr>
          <a:xfrm xmlns:a="http://schemas.openxmlformats.org/drawingml/2006/main">
            <a:off x="7104698" y="981075"/>
            <a:ext cx="1619250" cy="548640"/>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a:solidFill>
                  <a:srgbClr val="EEF2F7"/>
                </a:solidFill>
              </a:defRPr>
            </a:lvl1pPr>
          </a:lstStyle>
          <a:p xmlns:a="http://schemas.openxmlformats.org/drawingml/2006/main">
            <a:pPr>
              <a:buNone/>
            </a:pPr>
            <a:r>
              <a:t>Arrow: steering shift</a:t>
            </a:r>
          </a:p>
        </p:txBody>
      </p:sp>
      <p:sp>
        <p:nvSpPr>
          <p:cNvPr id="433" name="Shape 10">
            <a:extLst xmlns:a="http://schemas.openxmlformats.org/drawingml/2006/main">
              <a:ext uri="{FF2B5EF4-FFF2-40B4-BE49-F238E27FC236}">
                <a16:creationId xmlns:a16="http://schemas.microsoft.com/office/drawing/2014/main" id="{B1107D71-E17E-482B-8C26-A8C1B191B734}"/>
              </a:ext>
            </a:extLst>
          </p:cNvPr>
          <p:cNvSpPr>
            <a:spLocks xmlns:a="http://schemas.openxmlformats.org/drawingml/2006/main" noGrp="1"/>
          </p:cNvSpPr>
          <p:nvPr/>
        </p:nvSpPr>
        <p:spPr>
          <a:xfrm xmlns:a="http://schemas.openxmlformats.org/drawingml/2006/main">
            <a:off x="4800600" y="1619250"/>
            <a:ext cx="146304" cy="146304"/>
          </a:xfrm>
          <a:prstGeom xmlns:a="http://schemas.openxmlformats.org/drawingml/2006/main" prst="ellipse">
            <a:avLst/>
          </a:prstGeom>
          <a:solidFill xmlns:a="http://schemas.openxmlformats.org/drawingml/2006/main">
            <a:srgbClr val="4A9EBA"/>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34" name="Text 11">
            <a:extLst xmlns:a="http://schemas.openxmlformats.org/drawingml/2006/main">
              <a:ext uri="{FF2B5EF4-FFF2-40B4-BE49-F238E27FC236}">
                <a16:creationId xmlns:a16="http://schemas.microsoft.com/office/drawing/2014/main" id="{7BA885C4-1ACB-4FE5-8C30-B0CD31D9CB93}"/>
              </a:ext>
            </a:extLst>
          </p:cNvPr>
          <p:cNvSpPr>
            <a:spLocks xmlns:a="http://schemas.openxmlformats.org/drawingml/2006/main" noGrp="1"/>
          </p:cNvSpPr>
          <p:nvPr/>
        </p:nvSpPr>
        <p:spPr>
          <a:xfrm xmlns:a="http://schemas.openxmlformats.org/drawingml/2006/main">
            <a:off x="5047298" y="1552575"/>
            <a:ext cx="1762125" cy="381000"/>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a:solidFill>
                  <a:srgbClr val="EEF2F7"/>
                </a:solidFill>
              </a:defRPr>
            </a:lvl1pPr>
          </a:lstStyle>
          <a:p xmlns:a="http://schemas.openxmlformats.org/drawingml/2006/main">
            <a:pPr>
              <a:buNone/>
            </a:pPr>
            <a:r>
              <a:t>Dashed line: decision boundary</a:t>
            </a:r>
          </a:p>
        </p:txBody>
      </p:sp>
      <p:sp>
        <p:nvSpPr>
          <p:cNvPr id="435" name="Shape 12">
            <a:extLst xmlns:a="http://schemas.openxmlformats.org/drawingml/2006/main">
              <a:ext uri="{FF2B5EF4-FFF2-40B4-BE49-F238E27FC236}">
                <a16:creationId xmlns:a16="http://schemas.microsoft.com/office/drawing/2014/main" id="{AD7CF69B-9C8A-41B0-ACD8-46087D1AD029}"/>
              </a:ext>
            </a:extLst>
          </p:cNvPr>
          <p:cNvSpPr>
            <a:spLocks xmlns:a="http://schemas.openxmlformats.org/drawingml/2006/main" noGrp="1"/>
          </p:cNvSpPr>
          <p:nvPr/>
        </p:nvSpPr>
        <p:spPr>
          <a:xfrm xmlns:a="http://schemas.openxmlformats.org/drawingml/2006/main">
            <a:off x="6858000" y="1619250"/>
            <a:ext cx="146304" cy="146304"/>
          </a:xfrm>
          <a:prstGeom xmlns:a="http://schemas.openxmlformats.org/drawingml/2006/main" prst="ellipse">
            <a:avLst/>
          </a:prstGeom>
          <a:solidFill xmlns:a="http://schemas.openxmlformats.org/drawingml/2006/main">
            <a:srgbClr val="4A9EBA"/>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36" name="Text 13">
            <a:extLst xmlns:a="http://schemas.openxmlformats.org/drawingml/2006/main">
              <a:ext uri="{FF2B5EF4-FFF2-40B4-BE49-F238E27FC236}">
                <a16:creationId xmlns:a16="http://schemas.microsoft.com/office/drawing/2014/main" id="{0F6F74C6-95DF-4078-BD2D-9ED9F2FCDD03}"/>
              </a:ext>
            </a:extLst>
          </p:cNvPr>
          <p:cNvSpPr>
            <a:spLocks xmlns:a="http://schemas.openxmlformats.org/drawingml/2006/main" noGrp="1"/>
          </p:cNvSpPr>
          <p:nvPr/>
        </p:nvSpPr>
        <p:spPr>
          <a:xfrm xmlns:a="http://schemas.openxmlformats.org/drawingml/2006/main">
            <a:off x="7104698" y="1552575"/>
            <a:ext cx="1619250" cy="914400"/>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a:solidFill>
                  <a:srgbClr val="EEF2F7"/>
                </a:solidFill>
              </a:defRPr>
            </a:lvl1pPr>
          </a:lstStyle>
          <a:p xmlns:a="http://schemas.openxmlformats.org/drawingml/2006/main">
            <a:pPr>
              <a:buNone/>
            </a:pPr>
            <a:r>
              <a:t>27B: narrow causal window</a:t>
            </a:r>
          </a:p>
        </p:txBody>
      </p:sp>
      <p:pic>
        <p:nvPicPr>
          <p:cNvPr id="454" name="Image 0"/>
          <p:cNvPicPr>
            <a:picLocks xmlns:a="http://schemas.openxmlformats.org/drawingml/2006/main" noChangeAspect="1"/>
          </p:cNvPicPr>
          <p:nvPr/>
        </p:nvPicPr>
        <p:blipFill>
          <a:blip xmlns:r="http://schemas.openxmlformats.org/officeDocument/2006/relationships" xmlns:a="http://schemas.openxmlformats.org/drawingml/2006/main" r:embed="R15bab6d648854a12"/>
          <a:stretch xmlns:a="http://schemas.openxmlformats.org/drawingml/2006/main">
            <a:fillRect l="0" t="0" r="0" b="0"/>
          </a:stretch>
        </p:blipFill>
        <p:spPr>
          <a:xfrm xmlns:a="http://schemas.openxmlformats.org/drawingml/2006/main">
            <a:off x="1714500" y="2400300"/>
            <a:ext cx="5715000" cy="2434876"/>
          </a:xfrm>
          <a:prstGeom xmlns:a="http://schemas.openxmlformats.org/drawingml/2006/main" prst="rect">
            <a:avLst/>
          </a:prstGeom>
          <a:ln xmlns:a="http://schemas.openxmlformats.org/drawingml/2006/main" w="12700">
            <a:miter/>
          </a:ln>
        </p:spPr>
      </p:pic>
      <p:sp>
        <p:nvSpPr>
          <p:cNvPr id="438" name="Text 14">
            <a:extLst xmlns:a="http://schemas.openxmlformats.org/drawingml/2006/main">
              <a:ext uri="{FF2B5EF4-FFF2-40B4-BE49-F238E27FC236}">
                <a16:creationId xmlns:a16="http://schemas.microsoft.com/office/drawing/2014/main" id="{AD9DA01B-AE57-4433-9464-780CE66A0C23}"/>
              </a:ext>
            </a:extLst>
          </p:cNvPr>
          <p:cNvSpPr>
            <a:spLocks xmlns:a="http://schemas.openxmlformats.org/drawingml/2006/main" noGrp="1"/>
          </p:cNvSpPr>
          <p:nvPr/>
        </p:nvSpPr>
        <p:spPr>
          <a:xfrm xmlns:a="http://schemas.openxmlformats.org/drawingml/2006/main">
            <a:off x="2286000" y="4895850"/>
            <a:ext cx="4572000" cy="152400"/>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000" i="1">
                <a:solidFill>
                  <a:srgbClr val="8FA5BB"/>
                </a:solidFill>
              </a:defRPr>
            </a:lvl1pPr>
          </a:lstStyle>
          <a:p xmlns:a="http://schemas.openxmlformats.org/drawingml/2006/main">
            <a:pPr>
              <a:buNone/>
            </a:pPr>
            <a:r>
              <a:t>Fig: Diverging steering, Gemma-3-12B and 27B</a:t>
            </a:r>
          </a:p>
        </p:txBody>
      </p:sp>
    </p:spTree>
    <p:extLst>
      <p:ext uri="{BB962C8B-B14F-4D97-AF65-F5344CB8AC3E}">
        <p14:creationId xmlns:p14="http://schemas.microsoft.com/office/powerpoint/2010/main" val="1729505710"/>
      </p:ext>
    </p:extLst>
  </p:cSld>
</p:sld>
</file>

<file path=ppt/slides/slide14.xml><?xml version="1.0" encoding="utf-8"?>
<p:sld xmlns:p="http://schemas.openxmlformats.org/presentationml/2006/main" showMasterSp="1">
  <p:cSld>
    <p:spTree>
      <p:nvGrpSpPr>
        <p:cNvPr id="1" name=""/>
        <p:cNvGrpSpPr/>
        <p:nvPr/>
      </p:nvGrpSpPr>
      <p:grpSpPr>
        <a:xfrm xmlns:a="http://schemas.openxmlformats.org/drawingml/2006/main"/>
      </p:grpSpPr>
      <p:sp>
        <p:nvSpPr>
          <p:cNvPr id="442" name="Shape 0">
            <a:extLst xmlns:a="http://schemas.openxmlformats.org/drawingml/2006/main">
              <a:ext uri="{FF2B5EF4-FFF2-40B4-BE49-F238E27FC236}">
                <a16:creationId xmlns:a16="http://schemas.microsoft.com/office/drawing/2014/main" id="{90015F77-BA7E-4F7B-9FD1-D0D06D28403F}"/>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43" name="Text 1">
            <a:extLst xmlns:a="http://schemas.openxmlformats.org/drawingml/2006/main">
              <a:ext uri="{FF2B5EF4-FFF2-40B4-BE49-F238E27FC236}">
                <a16:creationId xmlns:a16="http://schemas.microsoft.com/office/drawing/2014/main" id="{432B6BA9-C2EC-4CA6-A63A-D8E71E720EED}"/>
              </a:ext>
            </a:extLst>
          </p:cNvPr>
          <p:cNvSpPr>
            <a:spLocks xmlns:a="http://schemas.openxmlformats.org/drawingml/2006/main" noGrp="1"/>
          </p:cNvSpPr>
          <p:nvPr/>
        </p:nvSpPr>
        <p:spPr>
          <a:xfrm xmlns:a="http://schemas.openxmlformats.org/drawingml/2006/main">
            <a:off x="411479" y="164591"/>
            <a:ext cx="8321042" cy="6858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Finding 3: Model disparities run opposite to the human benchmark</a:t>
            </a:r>
          </a:p>
        </p:txBody>
      </p:sp>
      <p:sp>
        <p:nvSpPr>
          <p:cNvPr id="444" name="Shape 2">
            <a:extLst xmlns:a="http://schemas.openxmlformats.org/drawingml/2006/main">
              <a:ext uri="{FF2B5EF4-FFF2-40B4-BE49-F238E27FC236}">
                <a16:creationId xmlns:a16="http://schemas.microsoft.com/office/drawing/2014/main" id="{55829DAB-BA07-4B66-8199-9388515B8556}"/>
              </a:ext>
            </a:extLst>
          </p:cNvPr>
          <p:cNvSpPr>
            <a:spLocks xmlns:a="http://schemas.openxmlformats.org/drawingml/2006/main" noGrp="1"/>
          </p:cNvSpPr>
          <p:nvPr/>
        </p:nvSpPr>
        <p:spPr>
          <a:xfrm xmlns:a="http://schemas.openxmlformats.org/drawingml/2006/main">
            <a:off x="411480" y="960119"/>
            <a:ext cx="4114801" cy="841249"/>
          </a:xfrm>
          <a:prstGeom xmlns:a="http://schemas.openxmlformats.org/drawingml/2006/main" prst="roundRect">
            <a:avLst>
              <a:gd name="adj" fmla="val 10870"/>
            </a:avLst>
          </a:prstGeom>
          <a:solidFill xmlns:a="http://schemas.openxmlformats.org/drawingml/2006/main">
            <a:srgbClr val="1E2D45"/>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45" name="Text 3">
            <a:extLst xmlns:a="http://schemas.openxmlformats.org/drawingml/2006/main">
              <a:ext uri="{FF2B5EF4-FFF2-40B4-BE49-F238E27FC236}">
                <a16:creationId xmlns:a16="http://schemas.microsoft.com/office/drawing/2014/main" id="{C0291DAE-469C-431D-A2B2-C4986D4BCE38}"/>
              </a:ext>
            </a:extLst>
          </p:cNvPr>
          <p:cNvSpPr>
            <a:spLocks xmlns:a="http://schemas.openxmlformats.org/drawingml/2006/main" noGrp="1"/>
          </p:cNvSpPr>
          <p:nvPr/>
        </p:nvSpPr>
        <p:spPr>
          <a:xfrm xmlns:a="http://schemas.openxmlformats.org/drawingml/2006/main">
            <a:off x="502919" y="1048434"/>
            <a:ext cx="3931922"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100" b="1">
                <a:solidFill>
                  <a:srgbClr val="4A9EBA"/>
                </a:solidFill>
              </a:defRPr>
            </a:lvl1pPr>
          </a:lstStyle>
          <a:p xmlns:a="http://schemas.openxmlformats.org/drawingml/2006/main">
            <a:pPr>
              <a:buNone/>
            </a:pPr>
            <a:r>
              <a:t>Human benchmark (Gallo &amp; Hausladen, 2024):</a:t>
            </a:r>
          </a:p>
        </p:txBody>
      </p:sp>
      <p:sp>
        <p:nvSpPr>
          <p:cNvPr id="446" name="Text 4">
            <a:extLst xmlns:a="http://schemas.openxmlformats.org/drawingml/2006/main">
              <a:ext uri="{FF2B5EF4-FFF2-40B4-BE49-F238E27FC236}">
                <a16:creationId xmlns:a16="http://schemas.microsoft.com/office/drawing/2014/main" id="{D22147D8-F09E-45C8-9DDD-9AA225D96876}"/>
              </a:ext>
            </a:extLst>
          </p:cNvPr>
          <p:cNvSpPr>
            <a:spLocks xmlns:a="http://schemas.openxmlformats.org/drawingml/2006/main" noGrp="1"/>
          </p:cNvSpPr>
          <p:nvPr/>
        </p:nvSpPr>
        <p:spPr>
          <a:xfrm xmlns:a="http://schemas.openxmlformats.org/drawingml/2006/main">
            <a:off x="502919" y="1339649"/>
            <a:ext cx="3931922" cy="347365"/>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p xmlns:a="http://schemas.openxmlformats.org/drawingml/2006/main">
            <a:pPr>
              <a:buNone/>
              <a:defRPr sz="1200">
                <a:solidFill>
                  <a:srgbClr val="EEF2F7"/>
                </a:solidFill>
              </a:defRPr>
            </a:pPr>
            <a:r>
              <a:t>White names receive more callbacks than Black names</a:t>
            </a:r>
          </a:p>
          <a:p xmlns:a="http://schemas.openxmlformats.org/drawingml/2006/main">
            <a:pPr>
              <a:buNone/>
              <a:defRPr sz="1200">
                <a:solidFill>
                  <a:srgbClr val="EEF2F7"/>
                </a:solidFill>
              </a:defRPr>
            </a:pPr>
            <a:r>
              <a:t>Males receive slightly more callbacks than females</a:t>
            </a:r>
          </a:p>
        </p:txBody>
      </p:sp>
      <p:sp>
        <p:nvSpPr>
          <p:cNvPr id="447" name="Shape 5">
            <a:extLst xmlns:a="http://schemas.openxmlformats.org/drawingml/2006/main">
              <a:ext uri="{FF2B5EF4-FFF2-40B4-BE49-F238E27FC236}">
                <a16:creationId xmlns:a16="http://schemas.microsoft.com/office/drawing/2014/main" id="{4C8E3B06-7F8F-4126-8FEB-149B4070AF99}"/>
              </a:ext>
            </a:extLst>
          </p:cNvPr>
          <p:cNvSpPr>
            <a:spLocks xmlns:a="http://schemas.openxmlformats.org/drawingml/2006/main" noGrp="1"/>
          </p:cNvSpPr>
          <p:nvPr/>
        </p:nvSpPr>
        <p:spPr>
          <a:xfrm xmlns:a="http://schemas.openxmlformats.org/drawingml/2006/main">
            <a:off x="411480" y="1920239"/>
            <a:ext cx="4114801" cy="1417321"/>
          </a:xfrm>
          <a:prstGeom xmlns:a="http://schemas.openxmlformats.org/drawingml/2006/main" prst="roundRect">
            <a:avLst>
              <a:gd name="adj" fmla="val 6452"/>
            </a:avLst>
          </a:prstGeom>
          <a:solidFill xmlns:a="http://schemas.openxmlformats.org/drawingml/2006/main">
            <a:srgbClr val="1E0F0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48" name="Text 6">
            <a:extLst xmlns:a="http://schemas.openxmlformats.org/drawingml/2006/main">
              <a:ext uri="{FF2B5EF4-FFF2-40B4-BE49-F238E27FC236}">
                <a16:creationId xmlns:a16="http://schemas.microsoft.com/office/drawing/2014/main" id="{A411DA26-6F41-432C-A0B9-FF94566C0336}"/>
              </a:ext>
            </a:extLst>
          </p:cNvPr>
          <p:cNvSpPr>
            <a:spLocks xmlns:a="http://schemas.openxmlformats.org/drawingml/2006/main" noGrp="1"/>
          </p:cNvSpPr>
          <p:nvPr/>
        </p:nvSpPr>
        <p:spPr>
          <a:xfrm xmlns:a="http://schemas.openxmlformats.org/drawingml/2006/main">
            <a:off x="502919" y="2017698"/>
            <a:ext cx="3931922"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100" b="1">
                <a:solidFill>
                  <a:srgbClr val="E07B54"/>
                </a:solidFill>
              </a:defRPr>
            </a:lvl1pPr>
          </a:lstStyle>
          <a:p xmlns:a="http://schemas.openxmlformats.org/drawingml/2006/main">
            <a:pPr>
              <a:buNone/>
            </a:pPr>
            <a:r>
              <a:t>What the models do:</a:t>
            </a:r>
          </a:p>
        </p:txBody>
      </p:sp>
      <p:sp>
        <p:nvSpPr>
          <p:cNvPr id="449" name="Shape 7">
            <a:extLst xmlns:a="http://schemas.openxmlformats.org/drawingml/2006/main">
              <a:ext uri="{FF2B5EF4-FFF2-40B4-BE49-F238E27FC236}">
                <a16:creationId xmlns:a16="http://schemas.microsoft.com/office/drawing/2014/main" id="{1832A14F-4473-4346-9313-D9012BB2E177}"/>
              </a:ext>
            </a:extLst>
          </p:cNvPr>
          <p:cNvSpPr>
            <a:spLocks xmlns:a="http://schemas.openxmlformats.org/drawingml/2006/main" noGrp="1"/>
          </p:cNvSpPr>
          <p:nvPr/>
        </p:nvSpPr>
        <p:spPr>
          <a:xfrm xmlns:a="http://schemas.openxmlformats.org/drawingml/2006/main">
            <a:off x="502919" y="2304288"/>
            <a:ext cx="146305" cy="146305"/>
          </a:xfrm>
          <a:prstGeom xmlns:a="http://schemas.openxmlformats.org/drawingml/2006/main" prst="ellipse">
            <a:avLst/>
          </a:prstGeom>
          <a:solidFill xmlns:a="http://schemas.openxmlformats.org/drawingml/2006/main">
            <a:srgbClr val="E07B54"/>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50" name="Text 8">
            <a:extLst xmlns:a="http://schemas.openxmlformats.org/drawingml/2006/main">
              <a:ext uri="{FF2B5EF4-FFF2-40B4-BE49-F238E27FC236}">
                <a16:creationId xmlns:a16="http://schemas.microsoft.com/office/drawing/2014/main" id="{51734DD3-E96C-41A8-A2DD-7CDCDE987653}"/>
              </a:ext>
            </a:extLst>
          </p:cNvPr>
          <p:cNvSpPr>
            <a:spLocks xmlns:a="http://schemas.openxmlformats.org/drawingml/2006/main" noGrp="1"/>
          </p:cNvSpPr>
          <p:nvPr/>
        </p:nvSpPr>
        <p:spPr>
          <a:xfrm xmlns:a="http://schemas.openxmlformats.org/drawingml/2006/main">
            <a:off x="713231" y="2259760"/>
            <a:ext cx="3749042" cy="2993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100">
                <a:solidFill>
                  <a:srgbClr val="EEF2F7"/>
                </a:solidFill>
              </a:defRPr>
            </a:lvl1pPr>
          </a:lstStyle>
          <a:p xmlns:a="http://schemas.openxmlformats.org/drawingml/2006/main">
            <a:pPr>
              <a:buNone/>
            </a:pPr>
            <a:r>
              <a:t>All 3 models with reliable data favor Black-signalling names, opposite the human pattern</a:t>
            </a:r>
          </a:p>
        </p:txBody>
      </p:sp>
      <p:sp>
        <p:nvSpPr>
          <p:cNvPr id="451" name="Shape 9">
            <a:extLst xmlns:a="http://schemas.openxmlformats.org/drawingml/2006/main">
              <a:ext uri="{FF2B5EF4-FFF2-40B4-BE49-F238E27FC236}">
                <a16:creationId xmlns:a16="http://schemas.microsoft.com/office/drawing/2014/main" id="{B39855D2-DB7D-4A55-94F2-20A285CA11BE}"/>
              </a:ext>
            </a:extLst>
          </p:cNvPr>
          <p:cNvSpPr>
            <a:spLocks xmlns:a="http://schemas.openxmlformats.org/drawingml/2006/main" noGrp="1"/>
          </p:cNvSpPr>
          <p:nvPr/>
        </p:nvSpPr>
        <p:spPr>
          <a:xfrm xmlns:a="http://schemas.openxmlformats.org/drawingml/2006/main">
            <a:off x="502919" y="2642616"/>
            <a:ext cx="146305" cy="146305"/>
          </a:xfrm>
          <a:prstGeom xmlns:a="http://schemas.openxmlformats.org/drawingml/2006/main" prst="ellipse">
            <a:avLst/>
          </a:prstGeom>
          <a:solidFill xmlns:a="http://schemas.openxmlformats.org/drawingml/2006/main">
            <a:srgbClr val="E07B54"/>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52" name="Text 10">
            <a:extLst xmlns:a="http://schemas.openxmlformats.org/drawingml/2006/main">
              <a:ext uri="{FF2B5EF4-FFF2-40B4-BE49-F238E27FC236}">
                <a16:creationId xmlns:a16="http://schemas.microsoft.com/office/drawing/2014/main" id="{38A6F99D-C373-4DA8-97A7-74A0BA825D39}"/>
              </a:ext>
            </a:extLst>
          </p:cNvPr>
          <p:cNvSpPr>
            <a:spLocks xmlns:a="http://schemas.openxmlformats.org/drawingml/2006/main" noGrp="1"/>
          </p:cNvSpPr>
          <p:nvPr/>
        </p:nvSpPr>
        <p:spPr>
          <a:xfrm xmlns:a="http://schemas.openxmlformats.org/drawingml/2006/main">
            <a:off x="713231" y="2598088"/>
            <a:ext cx="3749042" cy="2993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100">
                <a:solidFill>
                  <a:srgbClr val="EEF2F7"/>
                </a:solidFill>
              </a:defRPr>
            </a:lvl1pPr>
          </a:lstStyle>
          <a:p xmlns:a="http://schemas.openxmlformats.org/drawingml/2006/main">
            <a:pPr>
              <a:buNone/>
            </a:pPr>
            <a:r>
              <a:t>Gemma-27B: race gap +1.18 SD, more than 1 SD above White names</a:t>
            </a:r>
          </a:p>
        </p:txBody>
      </p:sp>
      <p:sp>
        <p:nvSpPr>
          <p:cNvPr id="453" name="Shape 11">
            <a:extLst xmlns:a="http://schemas.openxmlformats.org/drawingml/2006/main">
              <a:ext uri="{FF2B5EF4-FFF2-40B4-BE49-F238E27FC236}">
                <a16:creationId xmlns:a16="http://schemas.microsoft.com/office/drawing/2014/main" id="{AA49E3A7-0C9C-4FD6-8794-9257E8ACB59D}"/>
              </a:ext>
            </a:extLst>
          </p:cNvPr>
          <p:cNvSpPr>
            <a:spLocks xmlns:a="http://schemas.openxmlformats.org/drawingml/2006/main" noGrp="1"/>
          </p:cNvSpPr>
          <p:nvPr/>
        </p:nvSpPr>
        <p:spPr>
          <a:xfrm xmlns:a="http://schemas.openxmlformats.org/drawingml/2006/main">
            <a:off x="502919" y="2980944"/>
            <a:ext cx="146305" cy="146305"/>
          </a:xfrm>
          <a:prstGeom xmlns:a="http://schemas.openxmlformats.org/drawingml/2006/main" prst="ellipse">
            <a:avLst/>
          </a:prstGeom>
          <a:solidFill xmlns:a="http://schemas.openxmlformats.org/drawingml/2006/main">
            <a:srgbClr val="E07B54"/>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54" name="Text 12">
            <a:extLst xmlns:a="http://schemas.openxmlformats.org/drawingml/2006/main">
              <a:ext uri="{FF2B5EF4-FFF2-40B4-BE49-F238E27FC236}">
                <a16:creationId xmlns:a16="http://schemas.microsoft.com/office/drawing/2014/main" id="{3C12549A-6012-42ED-8263-FD69CF20EC10}"/>
              </a:ext>
            </a:extLst>
          </p:cNvPr>
          <p:cNvSpPr>
            <a:spLocks xmlns:a="http://schemas.openxmlformats.org/drawingml/2006/main" noGrp="1"/>
          </p:cNvSpPr>
          <p:nvPr/>
        </p:nvSpPr>
        <p:spPr>
          <a:xfrm xmlns:a="http://schemas.openxmlformats.org/drawingml/2006/main">
            <a:off x="713231" y="3018966"/>
            <a:ext cx="3749042"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100">
                <a:solidFill>
                  <a:srgbClr val="EEF2F7"/>
                </a:solidFill>
              </a:defRPr>
            </a:lvl1pPr>
          </a:lstStyle>
          <a:p xmlns:a="http://schemas.openxmlformats.org/drawingml/2006/main">
            <a:pPr>
              <a:buNone/>
            </a:pPr>
            <a:r>
              <a:t>27B matches human gender direction; Llama and Qwen reverse it</a:t>
            </a:r>
          </a:p>
        </p:txBody>
      </p:sp>
      <p:sp>
        <p:nvSpPr>
          <p:cNvPr id="455" name="Shape 13">
            <a:extLst xmlns:a="http://schemas.openxmlformats.org/drawingml/2006/main">
              <a:ext uri="{FF2B5EF4-FFF2-40B4-BE49-F238E27FC236}">
                <a16:creationId xmlns:a16="http://schemas.microsoft.com/office/drawing/2014/main" id="{0DBD2241-9EB5-4403-9CFE-B13F74B1D7E7}"/>
              </a:ext>
            </a:extLst>
          </p:cNvPr>
          <p:cNvSpPr>
            <a:spLocks xmlns:a="http://schemas.openxmlformats.org/drawingml/2006/main" noGrp="1"/>
          </p:cNvSpPr>
          <p:nvPr/>
        </p:nvSpPr>
        <p:spPr>
          <a:xfrm xmlns:a="http://schemas.openxmlformats.org/drawingml/2006/main">
            <a:off x="411480" y="3474720"/>
            <a:ext cx="4114801" cy="566929"/>
          </a:xfrm>
          <a:prstGeom xmlns:a="http://schemas.openxmlformats.org/drawingml/2006/main" prst="roundRect">
            <a:avLst>
              <a:gd name="adj" fmla="val 16129"/>
            </a:avLst>
          </a:prstGeom>
          <a:solidFill xmlns:a="http://schemas.openxmlformats.org/drawingml/2006/main">
            <a:srgbClr val="4A9EBA">
              <a:alpha val="22000"/>
            </a:srgbClr>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56" name="Text 14">
            <a:extLst xmlns:a="http://schemas.openxmlformats.org/drawingml/2006/main">
              <a:ext uri="{FF2B5EF4-FFF2-40B4-BE49-F238E27FC236}">
                <a16:creationId xmlns:a16="http://schemas.microsoft.com/office/drawing/2014/main" id="{E1C5AFE6-1D01-4C7C-A50B-CF6BF1345667}"/>
              </a:ext>
            </a:extLst>
          </p:cNvPr>
          <p:cNvSpPr>
            <a:spLocks xmlns:a="http://schemas.openxmlformats.org/drawingml/2006/main" noGrp="1"/>
          </p:cNvSpPr>
          <p:nvPr/>
        </p:nvSpPr>
        <p:spPr>
          <a:xfrm xmlns:a="http://schemas.openxmlformats.org/drawingml/2006/main">
            <a:off x="502919" y="3613072"/>
            <a:ext cx="3931922" cy="299369"/>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100" i="1">
                <a:solidFill>
                  <a:srgbClr val="EEF2F7"/>
                </a:solidFill>
              </a:defRPr>
            </a:lvl1pPr>
          </a:lstStyle>
          <a:p xmlns:a="http://schemas.openxmlformats.org/drawingml/2006/main">
            <a:pPr>
              <a:buNone/>
            </a:pPr>
            <a:r>
              <a:t>One possible explanation: safety fine-tuning may have overcorrected for racial associations, reversing the gap rather than removing it.</a:t>
            </a:r>
          </a:p>
        </p:txBody>
      </p:sp>
      <p:pic>
        <p:nvPicPr>
          <p:cNvPr id="475" name="Image 0"/>
          <p:cNvPicPr>
            <a:picLocks xmlns:a="http://schemas.openxmlformats.org/drawingml/2006/main" noChangeAspect="1"/>
          </p:cNvPicPr>
          <p:nvPr/>
        </p:nvPicPr>
        <p:blipFill>
          <a:blip xmlns:r="http://schemas.openxmlformats.org/officeDocument/2006/relationships" xmlns:a="http://schemas.openxmlformats.org/drawingml/2006/main" r:embed="Ra941012f17a84079"/>
          <a:stretch xmlns:a="http://schemas.openxmlformats.org/drawingml/2006/main">
            <a:fillRect l="0" t="0" r="0" b="0"/>
          </a:stretch>
        </p:blipFill>
        <p:spPr>
          <a:xfrm xmlns:a="http://schemas.openxmlformats.org/drawingml/2006/main">
            <a:off x="4572000" y="868680"/>
            <a:ext cx="4343400" cy="1543833"/>
          </a:xfrm>
          <a:prstGeom xmlns:a="http://schemas.openxmlformats.org/drawingml/2006/main" prst="rect">
            <a:avLst/>
          </a:prstGeom>
          <a:ln xmlns:a="http://schemas.openxmlformats.org/drawingml/2006/main" w="12700">
            <a:miter/>
          </a:ln>
        </p:spPr>
      </p:pic>
      <p:sp>
        <p:nvSpPr>
          <p:cNvPr id="458" name="Text 15">
            <a:extLst xmlns:a="http://schemas.openxmlformats.org/drawingml/2006/main">
              <a:ext uri="{FF2B5EF4-FFF2-40B4-BE49-F238E27FC236}">
                <a16:creationId xmlns:a16="http://schemas.microsoft.com/office/drawing/2014/main" id="{36FA39BD-7061-460D-80E1-9AC4F19F9558}"/>
              </a:ext>
            </a:extLst>
          </p:cNvPr>
          <p:cNvSpPr>
            <a:spLocks xmlns:a="http://schemas.openxmlformats.org/drawingml/2006/main" noGrp="1"/>
          </p:cNvSpPr>
          <p:nvPr/>
        </p:nvSpPr>
        <p:spPr>
          <a:xfrm xmlns:a="http://schemas.openxmlformats.org/drawingml/2006/main">
            <a:off x="4572000" y="2545144"/>
            <a:ext cx="4251960" cy="137072"/>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000" i="1">
                <a:solidFill>
                  <a:srgbClr val="8FA5BB"/>
                </a:solidFill>
              </a:defRPr>
            </a:lvl1pPr>
          </a:lstStyle>
          <a:p xmlns:a="http://schemas.openxmlformats.org/drawingml/2006/main">
            <a:pPr>
              <a:buNone/>
            </a:pPr>
            <a:r>
              <a:t>Fig: Model disparity vs human benchmark</a:t>
            </a:r>
          </a:p>
        </p:txBody>
      </p:sp>
    </p:spTree>
    <p:extLst>
      <p:ext uri="{BB962C8B-B14F-4D97-AF65-F5344CB8AC3E}">
        <p14:creationId xmlns:p14="http://schemas.microsoft.com/office/powerpoint/2010/main" val="289696509"/>
      </p:ext>
    </p:extLst>
  </p:cSld>
</p:sld>
</file>

<file path=ppt/slides/slide15.xml><?xml version="1.0" encoding="utf-8"?>
<p:sld xmlns:p="http://schemas.openxmlformats.org/presentationml/2006/main" showMasterSp="1">
  <p:cSld>
    <p:spTree>
      <p:nvGrpSpPr>
        <p:cNvPr id="1" name=""/>
        <p:cNvGrpSpPr/>
        <p:nvPr/>
      </p:nvGrpSpPr>
      <p:grpSpPr>
        <a:xfrm xmlns:a="http://schemas.openxmlformats.org/drawingml/2006/main"/>
      </p:grpSpPr>
      <p:sp>
        <p:nvSpPr>
          <p:cNvPr id="462" name="Shape 0">
            <a:extLst xmlns:a="http://schemas.openxmlformats.org/drawingml/2006/main">
              <a:ext uri="{FF2B5EF4-FFF2-40B4-BE49-F238E27FC236}">
                <a16:creationId xmlns:a16="http://schemas.microsoft.com/office/drawing/2014/main" id="{2BF07A08-831C-4CB9-AA1D-D0917C04A615}"/>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E2D45"/>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63" name="Text 1">
            <a:extLst xmlns:a="http://schemas.openxmlformats.org/drawingml/2006/main">
              <a:ext uri="{FF2B5EF4-FFF2-40B4-BE49-F238E27FC236}">
                <a16:creationId xmlns:a16="http://schemas.microsoft.com/office/drawing/2014/main" id="{C2F96BC5-905B-4812-A0A2-C0CABF7B1455}"/>
              </a:ext>
            </a:extLst>
          </p:cNvPr>
          <p:cNvSpPr>
            <a:spLocks xmlns:a="http://schemas.openxmlformats.org/drawingml/2006/main" noGrp="1"/>
          </p:cNvSpPr>
          <p:nvPr/>
        </p:nvSpPr>
        <p:spPr>
          <a:xfrm xmlns:a="http://schemas.openxmlformats.org/drawingml/2006/main">
            <a:off x="411479" y="164591"/>
            <a:ext cx="8321042" cy="6858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The representation mediates the decision, but not where you would expect</a:t>
            </a:r>
          </a:p>
        </p:txBody>
      </p:sp>
      <p:sp>
        <p:nvSpPr>
          <p:cNvPr id="464" name="Shape 2">
            <a:extLst xmlns:a="http://schemas.openxmlformats.org/drawingml/2006/main">
              <a:ext uri="{FF2B5EF4-FFF2-40B4-BE49-F238E27FC236}">
                <a16:creationId xmlns:a16="http://schemas.microsoft.com/office/drawing/2014/main" id="{C3B98939-9967-4EDE-B552-3BC460DAE1E7}"/>
              </a:ext>
            </a:extLst>
          </p:cNvPr>
          <p:cNvSpPr>
            <a:spLocks xmlns:a="http://schemas.openxmlformats.org/drawingml/2006/main" noGrp="1"/>
          </p:cNvSpPr>
          <p:nvPr/>
        </p:nvSpPr>
        <p:spPr>
          <a:xfrm xmlns:a="http://schemas.openxmlformats.org/drawingml/2006/main">
            <a:off x="411480" y="960119"/>
            <a:ext cx="4114801" cy="1234441"/>
          </a:xfrm>
          <a:prstGeom xmlns:a="http://schemas.openxmlformats.org/drawingml/2006/main" prst="roundRect">
            <a:avLst>
              <a:gd name="adj" fmla="val 7407"/>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65" name="Text 3">
            <a:extLst xmlns:a="http://schemas.openxmlformats.org/drawingml/2006/main">
              <a:ext uri="{FF2B5EF4-FFF2-40B4-BE49-F238E27FC236}">
                <a16:creationId xmlns:a16="http://schemas.microsoft.com/office/drawing/2014/main" id="{1E6BE9D6-D1E3-4C99-87E8-64FB4CDF2E7A}"/>
              </a:ext>
            </a:extLst>
          </p:cNvPr>
          <p:cNvSpPr>
            <a:spLocks xmlns:a="http://schemas.openxmlformats.org/drawingml/2006/main" noGrp="1"/>
          </p:cNvSpPr>
          <p:nvPr/>
        </p:nvSpPr>
        <p:spPr>
          <a:xfrm xmlns:a="http://schemas.openxmlformats.org/drawingml/2006/main">
            <a:off x="502919" y="1079045"/>
            <a:ext cx="3931922" cy="347366"/>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a:solidFill>
                  <a:srgbClr val="EEF2F7"/>
                </a:solidFill>
              </a:defRPr>
            </a:lvl1pPr>
          </a:lstStyle>
          <a:p xmlns:a="http://schemas.openxmlformats.org/drawingml/2006/main">
            <a:pPr>
              <a:buNone/>
            </a:pPr>
            <a:r>
              <a:t>Does the warmth/competence probe score carry the name-group signal into the callback decision?</a:t>
            </a:r>
          </a:p>
        </p:txBody>
      </p:sp>
      <p:sp>
        <p:nvSpPr>
          <p:cNvPr id="466" name="Text 4">
            <a:extLst xmlns:a="http://schemas.openxmlformats.org/drawingml/2006/main">
              <a:ext uri="{FF2B5EF4-FFF2-40B4-BE49-F238E27FC236}">
                <a16:creationId xmlns:a16="http://schemas.microsoft.com/office/drawing/2014/main" id="{F450171F-9227-43D7-964B-F1EF1B568498}"/>
              </a:ext>
            </a:extLst>
          </p:cNvPr>
          <p:cNvSpPr>
            <a:spLocks xmlns:a="http://schemas.openxmlformats.org/drawingml/2006/main" noGrp="1"/>
          </p:cNvSpPr>
          <p:nvPr/>
        </p:nvSpPr>
        <p:spPr>
          <a:xfrm xmlns:a="http://schemas.openxmlformats.org/drawingml/2006/main">
            <a:off x="502919" y="1599115"/>
            <a:ext cx="3931922" cy="166762"/>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300" b="1">
                <a:solidFill>
                  <a:srgbClr val="4A9EBA"/>
                </a:solidFill>
              </a:defRPr>
            </a:lvl1pPr>
          </a:lstStyle>
          <a:p xmlns:a="http://schemas.openxmlformats.org/drawingml/2006/main">
            <a:pPr>
              <a:buNone/>
            </a:pPr>
            <a:r>
              <a:t>name group  →  probe score  →  callback margin</a:t>
            </a:r>
          </a:p>
        </p:txBody>
      </p:sp>
      <p:sp>
        <p:nvSpPr>
          <p:cNvPr id="467" name="Text 5">
            <a:extLst xmlns:a="http://schemas.openxmlformats.org/drawingml/2006/main">
              <a:ext uri="{FF2B5EF4-FFF2-40B4-BE49-F238E27FC236}">
                <a16:creationId xmlns:a16="http://schemas.microsoft.com/office/drawing/2014/main" id="{8FBAFE4C-9C70-42D7-9C32-0FEB784F89ED}"/>
              </a:ext>
            </a:extLst>
          </p:cNvPr>
          <p:cNvSpPr>
            <a:spLocks xmlns:a="http://schemas.openxmlformats.org/drawingml/2006/main" noGrp="1"/>
          </p:cNvSpPr>
          <p:nvPr/>
        </p:nvSpPr>
        <p:spPr>
          <a:xfrm xmlns:a="http://schemas.openxmlformats.org/drawingml/2006/main">
            <a:off x="502919" y="1939974"/>
            <a:ext cx="3931922"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100" i="1">
                <a:solidFill>
                  <a:srgbClr val="8FA5BB"/>
                </a:solidFill>
              </a:defRPr>
            </a:lvl1pPr>
          </a:lstStyle>
          <a:p xmlns:a="http://schemas.openxmlformats.org/drawingml/2006/main">
            <a:pPr>
              <a:buNone/>
            </a:pPr>
            <a:r>
              <a:t>Significant for Llama (race × warmth). Not significant for Gemma.</a:t>
            </a:r>
          </a:p>
        </p:txBody>
      </p:sp>
      <p:sp>
        <p:nvSpPr>
          <p:cNvPr id="468" name="Shape 6">
            <a:extLst xmlns:a="http://schemas.openxmlformats.org/drawingml/2006/main">
              <a:ext uri="{FF2B5EF4-FFF2-40B4-BE49-F238E27FC236}">
                <a16:creationId xmlns:a16="http://schemas.microsoft.com/office/drawing/2014/main" id="{7785ED63-E19A-4AE7-9FDD-806D3DB5A1A1}"/>
              </a:ext>
            </a:extLst>
          </p:cNvPr>
          <p:cNvSpPr>
            <a:spLocks xmlns:a="http://schemas.openxmlformats.org/drawingml/2006/main" noGrp="1"/>
          </p:cNvSpPr>
          <p:nvPr/>
        </p:nvSpPr>
        <p:spPr>
          <a:xfrm xmlns:a="http://schemas.openxmlformats.org/drawingml/2006/main">
            <a:off x="411480" y="2286000"/>
            <a:ext cx="4114801" cy="1417320"/>
          </a:xfrm>
          <a:prstGeom xmlns:a="http://schemas.openxmlformats.org/drawingml/2006/main" prst="roundRect">
            <a:avLst>
              <a:gd name="adj" fmla="val 6452"/>
            </a:avLst>
          </a:prstGeom>
          <a:solidFill xmlns:a="http://schemas.openxmlformats.org/drawingml/2006/main">
            <a:srgbClr val="150D22"/>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69" name="Text 7">
            <a:extLst xmlns:a="http://schemas.openxmlformats.org/drawingml/2006/main">
              <a:ext uri="{FF2B5EF4-FFF2-40B4-BE49-F238E27FC236}">
                <a16:creationId xmlns:a16="http://schemas.microsoft.com/office/drawing/2014/main" id="{F9FD4588-EEA7-41B1-99A3-E0DA152309B7}"/>
              </a:ext>
            </a:extLst>
          </p:cNvPr>
          <p:cNvSpPr>
            <a:spLocks xmlns:a="http://schemas.openxmlformats.org/drawingml/2006/main" noGrp="1"/>
          </p:cNvSpPr>
          <p:nvPr/>
        </p:nvSpPr>
        <p:spPr>
          <a:xfrm xmlns:a="http://schemas.openxmlformats.org/drawingml/2006/main">
            <a:off x="502919" y="2371852"/>
            <a:ext cx="3931922" cy="2032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400">
                <a:solidFill>
                  <a:srgbClr val="E07B54"/>
                </a:solidFill>
                <a:latin typeface="Cambria"/>
                <a:ea typeface="Cambria"/>
                <a:cs typeface="Cambria"/>
              </a:defRPr>
            </a:lvl1pPr>
          </a:lstStyle>
          <a:p xmlns:a="http://schemas.openxmlformats.org/drawingml/2006/main">
            <a:pPr>
              <a:buNone/>
            </a:pPr>
            <a:r>
              <a:t>Steerability Paradox</a:t>
            </a:r>
          </a:p>
        </p:txBody>
      </p:sp>
      <p:sp>
        <p:nvSpPr>
          <p:cNvPr id="470" name="Text 8">
            <a:extLst xmlns:a="http://schemas.openxmlformats.org/drawingml/2006/main">
              <a:ext uri="{FF2B5EF4-FFF2-40B4-BE49-F238E27FC236}">
                <a16:creationId xmlns:a16="http://schemas.microsoft.com/office/drawing/2014/main" id="{AEC85E46-9894-4694-A846-7F3D5F18BEDA}"/>
              </a:ext>
            </a:extLst>
          </p:cNvPr>
          <p:cNvSpPr>
            <a:spLocks xmlns:a="http://schemas.openxmlformats.org/drawingml/2006/main" noGrp="1"/>
          </p:cNvSpPr>
          <p:nvPr/>
        </p:nvSpPr>
        <p:spPr>
          <a:xfrm xmlns:a="http://schemas.openxmlformats.org/drawingml/2006/main">
            <a:off x="502919" y="2607617"/>
            <a:ext cx="3931922" cy="728366"/>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p xmlns:a="http://schemas.openxmlformats.org/drawingml/2006/main">
            <a:pPr>
              <a:buNone/>
              <a:defRPr sz="1200">
                <a:solidFill>
                  <a:srgbClr val="EEF2F7"/>
                </a:solidFill>
              </a:defRPr>
            </a:pPr>
            <a:r>
              <a:t>Gemma-12B: easiest to steer externally  →  no significant mediation</a:t>
            </a:r>
          </a:p>
          <a:p xmlns:a="http://schemas.openxmlformats.org/drawingml/2006/main">
            <a:pPr>
              <a:buNone/>
              <a:defRPr sz="1200">
                <a:solidFill>
                  <a:srgbClr val="EEF2F7"/>
                </a:solidFill>
              </a:defRPr>
            </a:pPr>
            <a:r>
              <a:t>Llama-8B: hardest to steer externally  →  strongest mediation effect</a:t>
            </a:r>
          </a:p>
        </p:txBody>
      </p:sp>
      <p:sp>
        <p:nvSpPr>
          <p:cNvPr id="471" name="Text 9">
            <a:extLst xmlns:a="http://schemas.openxmlformats.org/drawingml/2006/main">
              <a:ext uri="{FF2B5EF4-FFF2-40B4-BE49-F238E27FC236}">
                <a16:creationId xmlns:a16="http://schemas.microsoft.com/office/drawing/2014/main" id="{47F94B5D-F94F-4084-80B5-57098358FD25}"/>
              </a:ext>
            </a:extLst>
          </p:cNvPr>
          <p:cNvSpPr>
            <a:spLocks xmlns:a="http://schemas.openxmlformats.org/drawingml/2006/main" noGrp="1"/>
          </p:cNvSpPr>
          <p:nvPr/>
        </p:nvSpPr>
        <p:spPr>
          <a:xfrm xmlns:a="http://schemas.openxmlformats.org/drawingml/2006/main">
            <a:off x="411480" y="3827955"/>
            <a:ext cx="4114801" cy="299369"/>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100" i="1">
                <a:solidFill>
                  <a:srgbClr val="8FA5BB"/>
                </a:solidFill>
              </a:defRPr>
            </a:lvl1pPr>
          </a:lstStyle>
          <a:p xmlns:a="http://schemas.openxmlformats.org/drawingml/2006/main">
            <a:pPr>
              <a:buNone/>
            </a:pPr>
            <a:r>
              <a:t>Concept-level steerability and natural causal mediation measure different things.</a:t>
            </a:r>
          </a:p>
        </p:txBody>
      </p:sp>
      <p:pic>
        <p:nvPicPr>
          <p:cNvPr id="485" name="Image 0"/>
          <p:cNvPicPr>
            <a:picLocks xmlns:a="http://schemas.openxmlformats.org/drawingml/2006/main" noChangeAspect="1"/>
          </p:cNvPicPr>
          <p:nvPr/>
        </p:nvPicPr>
        <p:blipFill>
          <a:blip xmlns:r="http://schemas.openxmlformats.org/officeDocument/2006/relationships" xmlns:a="http://schemas.openxmlformats.org/drawingml/2006/main" r:embed="R90974483874c4b7f"/>
          <a:stretch xmlns:a="http://schemas.openxmlformats.org/drawingml/2006/main">
            <a:fillRect l="0" t="0" r="0" b="0"/>
          </a:stretch>
        </p:blipFill>
        <p:spPr>
          <a:xfrm xmlns:a="http://schemas.openxmlformats.org/drawingml/2006/main">
            <a:off x="4800600" y="960120"/>
            <a:ext cx="3749039" cy="3678330"/>
          </a:xfrm>
          <a:prstGeom xmlns:a="http://schemas.openxmlformats.org/drawingml/2006/main" prst="rect">
            <a:avLst/>
          </a:prstGeom>
          <a:ln xmlns:a="http://schemas.openxmlformats.org/drawingml/2006/main" w="12700">
            <a:miter/>
          </a:ln>
        </p:spPr>
      </p:pic>
      <p:sp>
        <p:nvSpPr>
          <p:cNvPr id="473" name="Text 10">
            <a:extLst xmlns:a="http://schemas.openxmlformats.org/drawingml/2006/main">
              <a:ext uri="{FF2B5EF4-FFF2-40B4-BE49-F238E27FC236}">
                <a16:creationId xmlns:a16="http://schemas.microsoft.com/office/drawing/2014/main" id="{575A05E2-45ED-4824-94D2-1C204663F36B}"/>
              </a:ext>
            </a:extLst>
          </p:cNvPr>
          <p:cNvSpPr>
            <a:spLocks xmlns:a="http://schemas.openxmlformats.org/drawingml/2006/main" noGrp="1"/>
          </p:cNvSpPr>
          <p:nvPr/>
        </p:nvSpPr>
        <p:spPr>
          <a:xfrm xmlns:a="http://schemas.openxmlformats.org/drawingml/2006/main">
            <a:off x="4800600" y="4771073"/>
            <a:ext cx="4251960" cy="152400"/>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000" i="1">
                <a:solidFill>
                  <a:srgbClr val="8FA5BB"/>
                </a:solidFill>
              </a:defRPr>
            </a:lvl1pPr>
          </a:lstStyle>
          <a:p xmlns:a="http://schemas.openxmlformats.org/drawingml/2006/main">
            <a:pPr>
              <a:buNone/>
            </a:pPr>
            <a:r>
              <a:t>Fig: Bootstrap mediation forest plot, indirect effects with 95% CI</a:t>
            </a:r>
          </a:p>
        </p:txBody>
      </p:sp>
    </p:spTree>
    <p:extLst>
      <p:ext uri="{BB962C8B-B14F-4D97-AF65-F5344CB8AC3E}">
        <p14:creationId xmlns:p14="http://schemas.microsoft.com/office/powerpoint/2010/main" val="1573545815"/>
      </p:ext>
    </p:extLst>
  </p:cSld>
</p:sld>
</file>

<file path=ppt/slides/slide16.xml><?xml version="1.0" encoding="utf-8"?>
<p:sld xmlns:p="http://schemas.openxmlformats.org/presentationml/2006/main" showMasterSp="1">
  <p:cSld>
    <p:spTree>
      <p:nvGrpSpPr>
        <p:cNvPr id="1" name=""/>
        <p:cNvGrpSpPr/>
        <p:nvPr/>
      </p:nvGrpSpPr>
      <p:grpSpPr>
        <a:xfrm xmlns:a="http://schemas.openxmlformats.org/drawingml/2006/main"/>
      </p:grpSpPr>
      <p:sp>
        <p:nvSpPr>
          <p:cNvPr id="477" name="Shape 0">
            <a:extLst xmlns:a="http://schemas.openxmlformats.org/drawingml/2006/main">
              <a:ext uri="{FF2B5EF4-FFF2-40B4-BE49-F238E27FC236}">
                <a16:creationId xmlns:a16="http://schemas.microsoft.com/office/drawing/2014/main" id="{D6AA714D-67CD-4EFD-A0BC-92E27C1F7FBF}"/>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78" name="Shape 1">
            <a:extLst xmlns:a="http://schemas.openxmlformats.org/drawingml/2006/main">
              <a:ext uri="{FF2B5EF4-FFF2-40B4-BE49-F238E27FC236}">
                <a16:creationId xmlns:a16="http://schemas.microsoft.com/office/drawing/2014/main" id="{E1EF5CF7-AE00-4CAA-9ABA-9EDEB51871E0}"/>
              </a:ext>
            </a:extLst>
          </p:cNvPr>
          <p:cNvSpPr>
            <a:spLocks xmlns:a="http://schemas.openxmlformats.org/drawingml/2006/main" noGrp="1"/>
          </p:cNvSpPr>
          <p:nvPr/>
        </p:nvSpPr>
        <p:spPr>
          <a:xfrm xmlns:a="http://schemas.openxmlformats.org/drawingml/2006/main">
            <a:off x="-1188720" y="3108960"/>
            <a:ext cx="5029201" cy="5029201"/>
          </a:xfrm>
          <a:prstGeom xmlns:a="http://schemas.openxmlformats.org/drawingml/2006/main" prst="ellipse">
            <a:avLst/>
          </a:prstGeom>
          <a:solidFill xmlns:a="http://schemas.openxmlformats.org/drawingml/2006/main">
            <a:srgbClr val="4A9EBA">
              <a:alpha val="12000"/>
            </a:srgbClr>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79" name="Text 2">
            <a:extLst xmlns:a="http://schemas.openxmlformats.org/drawingml/2006/main">
              <a:ext uri="{FF2B5EF4-FFF2-40B4-BE49-F238E27FC236}">
                <a16:creationId xmlns:a16="http://schemas.microsoft.com/office/drawing/2014/main" id="{1585EE1E-0DE2-4337-B4A8-7E340255E098}"/>
              </a:ext>
            </a:extLst>
          </p:cNvPr>
          <p:cNvSpPr>
            <a:spLocks xmlns:a="http://schemas.openxmlformats.org/drawingml/2006/main" noGrp="1"/>
          </p:cNvSpPr>
          <p:nvPr/>
        </p:nvSpPr>
        <p:spPr>
          <a:xfrm xmlns:a="http://schemas.openxmlformats.org/drawingml/2006/main">
            <a:off x="502920" y="366522"/>
            <a:ext cx="8138160" cy="4191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800">
                <a:solidFill>
                  <a:srgbClr val="EEF2F7"/>
                </a:solidFill>
                <a:latin typeface="Cambria"/>
                <a:ea typeface="Cambria"/>
                <a:cs typeface="Cambria"/>
              </a:defRPr>
            </a:lvl1pPr>
          </a:lstStyle>
          <a:p xmlns:a="http://schemas.openxmlformats.org/drawingml/2006/main">
            <a:pPr>
              <a:buNone/>
            </a:pPr>
            <a:r>
              <a:t>What this means</a:t>
            </a:r>
          </a:p>
        </p:txBody>
      </p:sp>
      <p:sp>
        <p:nvSpPr>
          <p:cNvPr id="480" name="Shape 3">
            <a:extLst xmlns:a="http://schemas.openxmlformats.org/drawingml/2006/main">
              <a:ext uri="{FF2B5EF4-FFF2-40B4-BE49-F238E27FC236}">
                <a16:creationId xmlns:a16="http://schemas.microsoft.com/office/drawing/2014/main" id="{5A3A55EB-8146-4CD9-BDE6-230E8FFA24E5}"/>
              </a:ext>
            </a:extLst>
          </p:cNvPr>
          <p:cNvSpPr>
            <a:spLocks xmlns:a="http://schemas.openxmlformats.org/drawingml/2006/main" noGrp="1"/>
          </p:cNvSpPr>
          <p:nvPr/>
        </p:nvSpPr>
        <p:spPr>
          <a:xfrm xmlns:a="http://schemas.openxmlformats.org/drawingml/2006/main">
            <a:off x="502919" y="877824"/>
            <a:ext cx="822961" cy="36577"/>
          </a:xfrm>
          <a:prstGeom xmlns:a="http://schemas.openxmlformats.org/drawingml/2006/main" prst="rect">
            <a:avLst/>
          </a:prstGeom>
          <a:solidFill xmlns:a="http://schemas.openxmlformats.org/drawingml/2006/main">
            <a:srgbClr val="4A9EBA"/>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81" name="Shape 4">
            <a:extLst xmlns:a="http://schemas.openxmlformats.org/drawingml/2006/main">
              <a:ext uri="{FF2B5EF4-FFF2-40B4-BE49-F238E27FC236}">
                <a16:creationId xmlns:a16="http://schemas.microsoft.com/office/drawing/2014/main" id="{7A1C35B4-5617-49DF-93CB-25E4ADD8DA2C}"/>
              </a:ext>
            </a:extLst>
          </p:cNvPr>
          <p:cNvSpPr>
            <a:spLocks xmlns:a="http://schemas.openxmlformats.org/drawingml/2006/main" noGrp="1"/>
          </p:cNvSpPr>
          <p:nvPr/>
        </p:nvSpPr>
        <p:spPr>
          <a:xfrm xmlns:a="http://schemas.openxmlformats.org/drawingml/2006/main">
            <a:off x="502919" y="1005839"/>
            <a:ext cx="8229601" cy="1115569"/>
          </a:xfrm>
          <a:prstGeom xmlns:a="http://schemas.openxmlformats.org/drawingml/2006/main" prst="roundRect">
            <a:avLst>
              <a:gd name="adj" fmla="val 8197"/>
            </a:avLst>
          </a:prstGeom>
          <a:solidFill xmlns:a="http://schemas.openxmlformats.org/drawingml/2006/main">
            <a:srgbClr val="1E2D45"/>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82" name="Shape 5">
            <a:extLst xmlns:a="http://schemas.openxmlformats.org/drawingml/2006/main">
              <a:ext uri="{FF2B5EF4-FFF2-40B4-BE49-F238E27FC236}">
                <a16:creationId xmlns:a16="http://schemas.microsoft.com/office/drawing/2014/main" id="{14D0DF53-09A9-49FE-A1E5-F7B5651184CE}"/>
              </a:ext>
            </a:extLst>
          </p:cNvPr>
          <p:cNvSpPr>
            <a:spLocks xmlns:a="http://schemas.openxmlformats.org/drawingml/2006/main" noGrp="1"/>
          </p:cNvSpPr>
          <p:nvPr/>
        </p:nvSpPr>
        <p:spPr>
          <a:xfrm xmlns:a="http://schemas.openxmlformats.org/drawingml/2006/main">
            <a:off x="502919" y="1005839"/>
            <a:ext cx="457201" cy="1115569"/>
          </a:xfrm>
          <a:prstGeom xmlns:a="http://schemas.openxmlformats.org/drawingml/2006/main" prst="roundRect">
            <a:avLst>
              <a:gd name="adj" fmla="val 20000"/>
            </a:avLst>
          </a:prstGeom>
          <a:solidFill xmlns:a="http://schemas.openxmlformats.org/drawingml/2006/main">
            <a:srgbClr val="4A9EBA"/>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83" name="Text 6">
            <a:extLst xmlns:a="http://schemas.openxmlformats.org/drawingml/2006/main">
              <a:ext uri="{FF2B5EF4-FFF2-40B4-BE49-F238E27FC236}">
                <a16:creationId xmlns:a16="http://schemas.microsoft.com/office/drawing/2014/main" id="{E08AA551-2081-4F88-8034-F11EB9D6FD23}"/>
              </a:ext>
            </a:extLst>
          </p:cNvPr>
          <p:cNvSpPr>
            <a:spLocks xmlns:a="http://schemas.openxmlformats.org/drawingml/2006/main" noGrp="1"/>
          </p:cNvSpPr>
          <p:nvPr/>
        </p:nvSpPr>
        <p:spPr>
          <a:xfrm xmlns:a="http://schemas.openxmlformats.org/drawingml/2006/main">
            <a:off x="502919" y="1436623"/>
            <a:ext cx="457201" cy="2540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700">
                <a:solidFill>
                  <a:srgbClr val="FFFFFF"/>
                </a:solidFill>
                <a:latin typeface="Cambria"/>
                <a:ea typeface="Cambria"/>
                <a:cs typeface="Cambria"/>
              </a:defRPr>
            </a:lvl1pPr>
          </a:lstStyle>
          <a:p xmlns:a="http://schemas.openxmlformats.org/drawingml/2006/main">
            <a:pPr>
              <a:buNone/>
            </a:pPr>
            <a:r>
              <a:t>01</a:t>
            </a:r>
          </a:p>
        </p:txBody>
      </p:sp>
      <p:sp>
        <p:nvSpPr>
          <p:cNvPr id="484" name="Text 7">
            <a:extLst xmlns:a="http://schemas.openxmlformats.org/drawingml/2006/main">
              <a:ext uri="{FF2B5EF4-FFF2-40B4-BE49-F238E27FC236}">
                <a16:creationId xmlns:a16="http://schemas.microsoft.com/office/drawing/2014/main" id="{78F79262-57CE-454F-8DCF-D1A4738226F0}"/>
              </a:ext>
            </a:extLst>
          </p:cNvPr>
          <p:cNvSpPr>
            <a:spLocks xmlns:a="http://schemas.openxmlformats.org/drawingml/2006/main" noGrp="1"/>
          </p:cNvSpPr>
          <p:nvPr/>
        </p:nvSpPr>
        <p:spPr>
          <a:xfrm xmlns:a="http://schemas.openxmlformats.org/drawingml/2006/main">
            <a:off x="1042416" y="1169416"/>
            <a:ext cx="7589519" cy="2032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400">
                <a:solidFill>
                  <a:srgbClr val="EEF2F7"/>
                </a:solidFill>
                <a:latin typeface="Cambria"/>
                <a:ea typeface="Cambria"/>
                <a:cs typeface="Cambria"/>
              </a:defRPr>
            </a:lvl1pPr>
          </a:lstStyle>
          <a:p xmlns:a="http://schemas.openxmlformats.org/drawingml/2006/main">
            <a:pPr>
              <a:buNone/>
            </a:pPr>
            <a:r>
              <a:t>The representations are real</a:t>
            </a:r>
          </a:p>
        </p:txBody>
      </p:sp>
      <p:sp>
        <p:nvSpPr>
          <p:cNvPr id="485" name="Text 8">
            <a:extLst xmlns:a="http://schemas.openxmlformats.org/drawingml/2006/main">
              <a:ext uri="{FF2B5EF4-FFF2-40B4-BE49-F238E27FC236}">
                <a16:creationId xmlns:a16="http://schemas.microsoft.com/office/drawing/2014/main" id="{F21E29C6-2F38-4232-8A3D-78E899AC6145}"/>
              </a:ext>
            </a:extLst>
          </p:cNvPr>
          <p:cNvSpPr>
            <a:spLocks xmlns:a="http://schemas.openxmlformats.org/drawingml/2006/main" noGrp="1"/>
          </p:cNvSpPr>
          <p:nvPr/>
        </p:nvSpPr>
        <p:spPr>
          <a:xfrm xmlns:a="http://schemas.openxmlformats.org/drawingml/2006/main">
            <a:off x="1042416" y="1586537"/>
            <a:ext cx="7589519" cy="347366"/>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a:solidFill>
                  <a:srgbClr val="8FA5BB"/>
                </a:solidFill>
              </a:defRPr>
            </a:lvl1pPr>
          </a:lstStyle>
          <a:p xmlns:a="http://schemas.openxmlformats.org/drawingml/2006/main">
            <a:pPr>
              <a:buNone/>
            </a:pPr>
            <a:r>
              <a:t>LLMs encode warmth and competence in a structure consistent with human social perception: linearly separable, causally functional, and consistent across four architectures.</a:t>
            </a:r>
          </a:p>
        </p:txBody>
      </p:sp>
      <p:sp>
        <p:nvSpPr>
          <p:cNvPr id="486" name="Shape 9">
            <a:extLst xmlns:a="http://schemas.openxmlformats.org/drawingml/2006/main">
              <a:ext uri="{FF2B5EF4-FFF2-40B4-BE49-F238E27FC236}">
                <a16:creationId xmlns:a16="http://schemas.microsoft.com/office/drawing/2014/main" id="{44427747-660A-4158-ADC1-5E7ED04B6C9A}"/>
              </a:ext>
            </a:extLst>
          </p:cNvPr>
          <p:cNvSpPr>
            <a:spLocks xmlns:a="http://schemas.openxmlformats.org/drawingml/2006/main" noGrp="1"/>
          </p:cNvSpPr>
          <p:nvPr/>
        </p:nvSpPr>
        <p:spPr>
          <a:xfrm xmlns:a="http://schemas.openxmlformats.org/drawingml/2006/main">
            <a:off x="502919" y="2240279"/>
            <a:ext cx="8229601" cy="1115569"/>
          </a:xfrm>
          <a:prstGeom xmlns:a="http://schemas.openxmlformats.org/drawingml/2006/main" prst="roundRect">
            <a:avLst>
              <a:gd name="adj" fmla="val 8197"/>
            </a:avLst>
          </a:prstGeom>
          <a:solidFill xmlns:a="http://schemas.openxmlformats.org/drawingml/2006/main">
            <a:srgbClr val="1E2D45"/>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87" name="Shape 10">
            <a:extLst xmlns:a="http://schemas.openxmlformats.org/drawingml/2006/main">
              <a:ext uri="{FF2B5EF4-FFF2-40B4-BE49-F238E27FC236}">
                <a16:creationId xmlns:a16="http://schemas.microsoft.com/office/drawing/2014/main" id="{C6B0DBCC-017E-4DBB-B3CF-801C2D381136}"/>
              </a:ext>
            </a:extLst>
          </p:cNvPr>
          <p:cNvSpPr>
            <a:spLocks xmlns:a="http://schemas.openxmlformats.org/drawingml/2006/main" noGrp="1"/>
          </p:cNvSpPr>
          <p:nvPr/>
        </p:nvSpPr>
        <p:spPr>
          <a:xfrm xmlns:a="http://schemas.openxmlformats.org/drawingml/2006/main">
            <a:off x="502919" y="2240279"/>
            <a:ext cx="457201" cy="1115569"/>
          </a:xfrm>
          <a:prstGeom xmlns:a="http://schemas.openxmlformats.org/drawingml/2006/main" prst="roundRect">
            <a:avLst>
              <a:gd name="adj" fmla="val 20000"/>
            </a:avLst>
          </a:prstGeom>
          <a:solidFill xmlns:a="http://schemas.openxmlformats.org/drawingml/2006/main">
            <a:srgbClr val="E07B54"/>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88" name="Text 11">
            <a:extLst xmlns:a="http://schemas.openxmlformats.org/drawingml/2006/main">
              <a:ext uri="{FF2B5EF4-FFF2-40B4-BE49-F238E27FC236}">
                <a16:creationId xmlns:a16="http://schemas.microsoft.com/office/drawing/2014/main" id="{53CD4B47-D4F6-441C-A830-538A0B6816EC}"/>
              </a:ext>
            </a:extLst>
          </p:cNvPr>
          <p:cNvSpPr>
            <a:spLocks xmlns:a="http://schemas.openxmlformats.org/drawingml/2006/main" noGrp="1"/>
          </p:cNvSpPr>
          <p:nvPr/>
        </p:nvSpPr>
        <p:spPr>
          <a:xfrm xmlns:a="http://schemas.openxmlformats.org/drawingml/2006/main">
            <a:off x="502919" y="2671063"/>
            <a:ext cx="457201" cy="2540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700">
                <a:solidFill>
                  <a:srgbClr val="FFFFFF"/>
                </a:solidFill>
                <a:latin typeface="Cambria"/>
                <a:ea typeface="Cambria"/>
                <a:cs typeface="Cambria"/>
              </a:defRPr>
            </a:lvl1pPr>
          </a:lstStyle>
          <a:p xmlns:a="http://schemas.openxmlformats.org/drawingml/2006/main">
            <a:pPr>
              <a:buNone/>
            </a:pPr>
            <a:r>
              <a:t>02</a:t>
            </a:r>
          </a:p>
        </p:txBody>
      </p:sp>
      <p:sp>
        <p:nvSpPr>
          <p:cNvPr id="489" name="Text 12">
            <a:extLst xmlns:a="http://schemas.openxmlformats.org/drawingml/2006/main">
              <a:ext uri="{FF2B5EF4-FFF2-40B4-BE49-F238E27FC236}">
                <a16:creationId xmlns:a16="http://schemas.microsoft.com/office/drawing/2014/main" id="{98718D60-D396-401C-A4DF-9BBACCC6A824}"/>
              </a:ext>
            </a:extLst>
          </p:cNvPr>
          <p:cNvSpPr>
            <a:spLocks xmlns:a="http://schemas.openxmlformats.org/drawingml/2006/main" noGrp="1"/>
          </p:cNvSpPr>
          <p:nvPr/>
        </p:nvSpPr>
        <p:spPr>
          <a:xfrm xmlns:a="http://schemas.openxmlformats.org/drawingml/2006/main">
            <a:off x="1042416" y="2403856"/>
            <a:ext cx="7589519" cy="2032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400">
                <a:solidFill>
                  <a:srgbClr val="EEF2F7"/>
                </a:solidFill>
                <a:latin typeface="Cambria"/>
                <a:ea typeface="Cambria"/>
                <a:cs typeface="Cambria"/>
              </a:defRPr>
            </a:lvl1pPr>
          </a:lstStyle>
          <a:p xmlns:a="http://schemas.openxmlformats.org/drawingml/2006/main">
            <a:pPr>
              <a:buNone/>
            </a:pPr>
            <a:r>
              <a:t>Disparities persist, but point in the opposite direction</a:t>
            </a:r>
          </a:p>
        </p:txBody>
      </p:sp>
      <p:sp>
        <p:nvSpPr>
          <p:cNvPr id="490" name="Text 13">
            <a:extLst xmlns:a="http://schemas.openxmlformats.org/drawingml/2006/main">
              <a:ext uri="{FF2B5EF4-FFF2-40B4-BE49-F238E27FC236}">
                <a16:creationId xmlns:a16="http://schemas.microsoft.com/office/drawing/2014/main" id="{7E2747BA-54F7-47EC-BA96-D963AAC5245A}"/>
              </a:ext>
            </a:extLst>
          </p:cNvPr>
          <p:cNvSpPr>
            <a:spLocks xmlns:a="http://schemas.openxmlformats.org/drawingml/2006/main" noGrp="1"/>
          </p:cNvSpPr>
          <p:nvPr/>
        </p:nvSpPr>
        <p:spPr>
          <a:xfrm xmlns:a="http://schemas.openxmlformats.org/drawingml/2006/main">
            <a:off x="1042416" y="2820977"/>
            <a:ext cx="7589519" cy="347366"/>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a:solidFill>
                  <a:srgbClr val="8FA5BB"/>
                </a:solidFill>
              </a:defRPr>
            </a:lvl1pPr>
          </a:lstStyle>
          <a:p xmlns:a="http://schemas.openxmlformats.org/drawingml/2006/main">
            <a:pPr>
              <a:buNone/>
            </a:pPr>
            <a:r>
              <a:t>Name-driven hiring disparities remain. Across the models with reliable data, the racial gap reversed direction compared to the human baseline and grew in magnitude.</a:t>
            </a:r>
          </a:p>
        </p:txBody>
      </p:sp>
      <p:sp>
        <p:nvSpPr>
          <p:cNvPr id="491" name="Shape 14">
            <a:extLst xmlns:a="http://schemas.openxmlformats.org/drawingml/2006/main">
              <a:ext uri="{FF2B5EF4-FFF2-40B4-BE49-F238E27FC236}">
                <a16:creationId xmlns:a16="http://schemas.microsoft.com/office/drawing/2014/main" id="{54CEDF1A-E61B-4F4E-A214-49ABD97638A4}"/>
              </a:ext>
            </a:extLst>
          </p:cNvPr>
          <p:cNvSpPr>
            <a:spLocks xmlns:a="http://schemas.openxmlformats.org/drawingml/2006/main" noGrp="1"/>
          </p:cNvSpPr>
          <p:nvPr/>
        </p:nvSpPr>
        <p:spPr>
          <a:xfrm xmlns:a="http://schemas.openxmlformats.org/drawingml/2006/main">
            <a:off x="502919" y="3474720"/>
            <a:ext cx="8229601" cy="1115569"/>
          </a:xfrm>
          <a:prstGeom xmlns:a="http://schemas.openxmlformats.org/drawingml/2006/main" prst="roundRect">
            <a:avLst>
              <a:gd name="adj" fmla="val 8197"/>
            </a:avLst>
          </a:prstGeom>
          <a:solidFill xmlns:a="http://schemas.openxmlformats.org/drawingml/2006/main">
            <a:srgbClr val="1E2D45"/>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92" name="Shape 15">
            <a:extLst xmlns:a="http://schemas.openxmlformats.org/drawingml/2006/main">
              <a:ext uri="{FF2B5EF4-FFF2-40B4-BE49-F238E27FC236}">
                <a16:creationId xmlns:a16="http://schemas.microsoft.com/office/drawing/2014/main" id="{4647E891-49FA-4680-BDE6-E29EBD97FAE4}"/>
              </a:ext>
            </a:extLst>
          </p:cNvPr>
          <p:cNvSpPr>
            <a:spLocks xmlns:a="http://schemas.openxmlformats.org/drawingml/2006/main" noGrp="1"/>
          </p:cNvSpPr>
          <p:nvPr/>
        </p:nvSpPr>
        <p:spPr>
          <a:xfrm xmlns:a="http://schemas.openxmlformats.org/drawingml/2006/main">
            <a:off x="502919" y="3474720"/>
            <a:ext cx="457201" cy="1115569"/>
          </a:xfrm>
          <a:prstGeom xmlns:a="http://schemas.openxmlformats.org/drawingml/2006/main" prst="roundRect">
            <a:avLst>
              <a:gd name="adj" fmla="val 20000"/>
            </a:avLst>
          </a:prstGeom>
          <a:solidFill xmlns:a="http://schemas.openxmlformats.org/drawingml/2006/main">
            <a:srgbClr val="5BAD8B"/>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93" name="Text 16">
            <a:extLst xmlns:a="http://schemas.openxmlformats.org/drawingml/2006/main">
              <a:ext uri="{FF2B5EF4-FFF2-40B4-BE49-F238E27FC236}">
                <a16:creationId xmlns:a16="http://schemas.microsoft.com/office/drawing/2014/main" id="{62D62C9B-3099-4839-9D96-3CEA1E3C2862}"/>
              </a:ext>
            </a:extLst>
          </p:cNvPr>
          <p:cNvSpPr>
            <a:spLocks xmlns:a="http://schemas.openxmlformats.org/drawingml/2006/main" noGrp="1"/>
          </p:cNvSpPr>
          <p:nvPr/>
        </p:nvSpPr>
        <p:spPr>
          <a:xfrm xmlns:a="http://schemas.openxmlformats.org/drawingml/2006/main">
            <a:off x="502919" y="3905504"/>
            <a:ext cx="457201" cy="2540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700">
                <a:solidFill>
                  <a:srgbClr val="FFFFFF"/>
                </a:solidFill>
                <a:latin typeface="Cambria"/>
                <a:ea typeface="Cambria"/>
                <a:cs typeface="Cambria"/>
              </a:defRPr>
            </a:lvl1pPr>
          </a:lstStyle>
          <a:p xmlns:a="http://schemas.openxmlformats.org/drawingml/2006/main">
            <a:pPr>
              <a:buNone/>
            </a:pPr>
            <a:r>
              <a:t>03</a:t>
            </a:r>
          </a:p>
        </p:txBody>
      </p:sp>
      <p:sp>
        <p:nvSpPr>
          <p:cNvPr id="494" name="Text 17">
            <a:extLst xmlns:a="http://schemas.openxmlformats.org/drawingml/2006/main">
              <a:ext uri="{FF2B5EF4-FFF2-40B4-BE49-F238E27FC236}">
                <a16:creationId xmlns:a16="http://schemas.microsoft.com/office/drawing/2014/main" id="{6BB4C994-179D-4151-A035-0823F6626F73}"/>
              </a:ext>
            </a:extLst>
          </p:cNvPr>
          <p:cNvSpPr>
            <a:spLocks xmlns:a="http://schemas.openxmlformats.org/drawingml/2006/main" noGrp="1"/>
          </p:cNvSpPr>
          <p:nvPr/>
        </p:nvSpPr>
        <p:spPr>
          <a:xfrm xmlns:a="http://schemas.openxmlformats.org/drawingml/2006/main">
            <a:off x="1042416" y="3638295"/>
            <a:ext cx="7589519" cy="2032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400">
                <a:solidFill>
                  <a:srgbClr val="EEF2F7"/>
                </a:solidFill>
                <a:latin typeface="Cambria"/>
                <a:ea typeface="Cambria"/>
                <a:cs typeface="Cambria"/>
              </a:defRPr>
            </a:lvl1pPr>
          </a:lstStyle>
          <a:p xmlns:a="http://schemas.openxmlformats.org/drawingml/2006/main">
            <a:pPr>
              <a:buNone/>
            </a:pPr>
            <a:r>
              <a:t>You need both probing and behavioral audits</a:t>
            </a:r>
          </a:p>
        </p:txBody>
      </p:sp>
      <p:sp>
        <p:nvSpPr>
          <p:cNvPr id="495" name="Text 18">
            <a:extLst xmlns:a="http://schemas.openxmlformats.org/drawingml/2006/main">
              <a:ext uri="{FF2B5EF4-FFF2-40B4-BE49-F238E27FC236}">
                <a16:creationId xmlns:a16="http://schemas.microsoft.com/office/drawing/2014/main" id="{B28CB70B-D8F5-44B9-89A9-982ACE2D0454}"/>
              </a:ext>
            </a:extLst>
          </p:cNvPr>
          <p:cNvSpPr>
            <a:spLocks xmlns:a="http://schemas.openxmlformats.org/drawingml/2006/main" noGrp="1"/>
          </p:cNvSpPr>
          <p:nvPr/>
        </p:nvSpPr>
        <p:spPr>
          <a:xfrm xmlns:a="http://schemas.openxmlformats.org/drawingml/2006/main">
            <a:off x="1042416" y="4055417"/>
            <a:ext cx="7589519" cy="347366"/>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a:solidFill>
                  <a:srgbClr val="8FA5BB"/>
                </a:solidFill>
              </a:defRPr>
            </a:lvl1pPr>
          </a:lstStyle>
          <a:p xmlns:a="http://schemas.openxmlformats.org/drawingml/2006/main">
            <a:pPr>
              <a:buNone/>
            </a:pPr>
            <a:r>
              <a:t>Internal representation probing and output-level disparity measurement capture different things. Neither alone is sufficient.</a:t>
            </a:r>
          </a:p>
        </p:txBody>
      </p:sp>
      <p:sp>
        <p:nvSpPr>
          <p:cNvPr id="496" name="Text 19">
            <a:extLst xmlns:a="http://schemas.openxmlformats.org/drawingml/2006/main">
              <a:ext uri="{FF2B5EF4-FFF2-40B4-BE49-F238E27FC236}">
                <a16:creationId xmlns:a16="http://schemas.microsoft.com/office/drawing/2014/main" id="{A3BFEEF4-A898-4E1B-BCBA-C151A94A2CE2}"/>
              </a:ext>
            </a:extLst>
          </p:cNvPr>
          <p:cNvSpPr>
            <a:spLocks xmlns:a="http://schemas.openxmlformats.org/drawingml/2006/main" noGrp="1"/>
          </p:cNvSpPr>
          <p:nvPr/>
        </p:nvSpPr>
        <p:spPr>
          <a:xfrm xmlns:a="http://schemas.openxmlformats.org/drawingml/2006/main">
            <a:off x="502920" y="4814360"/>
            <a:ext cx="8138160" cy="137072"/>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r">
              <a:buNone/>
              <a:defRPr sz="1000">
                <a:solidFill>
                  <a:srgbClr val="8FA5BB"/>
                </a:solidFill>
              </a:defRPr>
            </a:lvl1pPr>
          </a:lstStyle>
          <a:p xmlns:a="http://schemas.openxmlformats.org/drawingml/2006/main">
            <a:pPr>
              <a:buNone/>
            </a:pPr>
            <a:r>
              <a:t>Ulu · Lastra Cerda · University of Konstanz</a:t>
            </a:r>
          </a:p>
        </p:txBody>
      </p:sp>
    </p:spTree>
    <p:extLst>
      <p:ext uri="{BB962C8B-B14F-4D97-AF65-F5344CB8AC3E}">
        <p14:creationId xmlns:p14="http://schemas.microsoft.com/office/powerpoint/2010/main" val="1791510709"/>
      </p:ext>
    </p:extLst>
  </p:cSl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Neue"/>
        <a:ea typeface="Helvetica Neue"/>
        <a:cs typeface="Helvetica Neue"/>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2026-07-15T12:11:37.1350000Z</dcterms:created>
  <dcterms:modified xsi:type="dcterms:W3CDTF">2026-07-15T12:11:37.1350000Z</dcterms:modified>
</coreProperties>
</file>