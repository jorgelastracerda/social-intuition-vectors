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Shape 27"/>
          <p:cNvSpPr/>
          <p:nvPr>
            <p:ph type="sldImg"/>
          </p:nvPr>
        </p:nvSpPr>
        <p:spPr>
          <a:prstGeom prst="rect">
            <a:avLst/>
          </a:prstGeom>
        </p:spPr>
        <p:txBody>
          <a:bodyPr/>
          <a:lstStyle/>
          <a:p>
            <a:pPr/>
          </a:p>
        </p:txBody>
      </p:sp>
      <p:sp>
        <p:nvSpPr>
          <p:cNvPr id="28" name="Shape 28"/>
          <p:cNvSpPr/>
          <p:nvPr>
            <p:ph type="body" sz="quarter" idx="1"/>
          </p:nvPr>
        </p:nvSpPr>
        <p:spPr>
          <a:prstGeom prst="rect">
            <a:avLst/>
          </a:prstGeom>
        </p:spPr>
        <p:txBody>
          <a:bodyPr/>
          <a:lstStyle/>
          <a:p>
            <a:pPr/>
            <a:r>
              <a:t>Say nothing — let the slide sit 5 seconds while the audience settles.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 name="Shape 47"/>
          <p:cNvSpPr/>
          <p:nvPr>
            <p:ph type="sldImg"/>
          </p:nvPr>
        </p:nvSpPr>
        <p:spPr>
          <a:prstGeom prst="rect">
            <a:avLst/>
          </a:prstGeom>
        </p:spPr>
        <p:txBody>
          <a:bodyPr/>
          <a:lstStyle/>
          <a:p>
            <a:pPr/>
          </a:p>
        </p:txBody>
      </p:sp>
      <p:sp>
        <p:nvSpPr>
          <p:cNvPr id="48" name="Shape 48"/>
          <p:cNvSpPr/>
          <p:nvPr>
            <p:ph type="body" sz="quarter" idx="1"/>
          </p:nvPr>
        </p:nvSpPr>
        <p:spPr>
          <a:prstGeom prst="rect">
            <a:avLst/>
          </a:prstGeom>
        </p:spPr>
        <p:txBody>
          <a:bodyPr/>
          <a:lstStyle/>
          <a:p>
            <a:pPr/>
            <a:r>
              <a:t>SAY: "We know LLMs discriminate in hiring. But every existing study stops at the output. We wanted to go inside the model and find the mechanism."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Shape 82"/>
          <p:cNvSpPr/>
          <p:nvPr>
            <p:ph type="sldImg"/>
          </p:nvPr>
        </p:nvSpPr>
        <p:spPr>
          <a:prstGeom prst="rect">
            <a:avLst/>
          </a:prstGeom>
        </p:spPr>
        <p:txBody>
          <a:bodyPr/>
          <a:lstStyle/>
          <a:p>
            <a:pPr/>
          </a:p>
        </p:txBody>
      </p:sp>
      <p:sp>
        <p:nvSpPr>
          <p:cNvPr id="83" name="Shape 83"/>
          <p:cNvSpPr/>
          <p:nvPr>
            <p:ph type="body" sz="quarter" idx="1"/>
          </p:nvPr>
        </p:nvSpPr>
        <p:spPr>
          <a:prstGeom prst="rect">
            <a:avLst/>
          </a:prstGeom>
        </p:spPr>
        <p:txBody>
          <a:bodyPr/>
          <a:lstStyle/>
          <a:p>
            <a:pPr/>
            <a:r>
              <a:t>A short story enters the model. Its words are transformed into a high-dimensional activation. We cannot draw thousands of dimensions directly, so we represent that activation as a point and a direction inside an abstract internal space.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A short story enters the model. Its words are transformed into a high-dimensional activation. We cannot draw thousands of dimensions directly, so we represent that activation as a point and a direction inside an abstract internal space.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Shape 151"/>
          <p:cNvSpPr/>
          <p:nvPr>
            <p:ph type="sldImg"/>
          </p:nvPr>
        </p:nvSpPr>
        <p:spPr>
          <a:prstGeom prst="rect">
            <a:avLst/>
          </a:prstGeom>
        </p:spPr>
        <p:txBody>
          <a:bodyPr/>
          <a:lstStyle/>
          <a:p>
            <a:pPr/>
          </a:p>
        </p:txBody>
      </p:sp>
      <p:sp>
        <p:nvSpPr>
          <p:cNvPr id="152" name="Shape 152"/>
          <p:cNvSpPr/>
          <p:nvPr>
            <p:ph type="body" sz="quarter" idx="1"/>
          </p:nvPr>
        </p:nvSpPr>
        <p:spPr>
          <a:prstGeom prst="rect">
            <a:avLst/>
          </a:prstGeom>
        </p:spPr>
        <p:txBody>
          <a:bodyPr/>
          <a:lstStyle/>
          <a:p>
            <a:pPr/>
            <a:r>
              <a:t>A short story enters the model. Its words are transformed into a high-dimensional activation. We cannot draw thousands of dimensions directly, so we represent that activation as a point and a direction inside an abstract internal space.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Shape 192"/>
          <p:cNvSpPr/>
          <p:nvPr>
            <p:ph type="sldImg"/>
          </p:nvPr>
        </p:nvSpPr>
        <p:spPr>
          <a:prstGeom prst="rect">
            <a:avLst/>
          </a:prstGeom>
        </p:spPr>
        <p:txBody>
          <a:bodyPr/>
          <a:lstStyle/>
          <a:p>
            <a:pPr/>
          </a:p>
        </p:txBody>
      </p:sp>
      <p:sp>
        <p:nvSpPr>
          <p:cNvPr id="193" name="Shape 193"/>
          <p:cNvSpPr/>
          <p:nvPr>
            <p:ph type="body" sz="quarter" idx="1"/>
          </p:nvPr>
        </p:nvSpPr>
        <p:spPr>
          <a:prstGeom prst="rect">
            <a:avLst/>
          </a:prstGeom>
        </p:spPr>
        <p:txBody>
          <a:bodyPr/>
          <a:lstStyle/>
          <a:p>
            <a:pPr/>
            <a:r>
              <a:t>A short story enters the model. Its words are transformed into a high-dimensional activation. We cannot draw thousands of dimensions directly, so we represent that activation as a point and a direction inside an abstract internal space.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hape 230"/>
          <p:cNvSpPr/>
          <p:nvPr>
            <p:ph type="sldImg"/>
          </p:nvPr>
        </p:nvSpPr>
        <p:spPr>
          <a:prstGeom prst="rect">
            <a:avLst/>
          </a:prstGeom>
        </p:spPr>
        <p:txBody>
          <a:bodyPr/>
          <a:lstStyle/>
          <a:p>
            <a:pPr/>
          </a:p>
        </p:txBody>
      </p:sp>
      <p:sp>
        <p:nvSpPr>
          <p:cNvPr id="231" name="Shape 231"/>
          <p:cNvSpPr/>
          <p:nvPr>
            <p:ph type="body" sz="quarter" idx="1"/>
          </p:nvPr>
        </p:nvSpPr>
        <p:spPr>
          <a:prstGeom prst="rect">
            <a:avLst/>
          </a:prstGeom>
        </p:spPr>
        <p:txBody>
          <a:bodyPr/>
          <a:lstStyle/>
          <a:p>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Shape 274"/>
          <p:cNvSpPr/>
          <p:nvPr>
            <p:ph type="sldImg"/>
          </p:nvPr>
        </p:nvSpPr>
        <p:spPr>
          <a:prstGeom prst="rect">
            <a:avLst/>
          </a:prstGeom>
        </p:spPr>
        <p:txBody>
          <a:bodyPr/>
          <a:lstStyle/>
          <a:p>
            <a:pPr/>
          </a:p>
        </p:txBody>
      </p:sp>
      <p:sp>
        <p:nvSpPr>
          <p:cNvPr id="275" name="Shape 275"/>
          <p:cNvSpPr/>
          <p:nvPr>
            <p:ph type="body" sz="quarter" idx="1"/>
          </p:nvPr>
        </p:nvSpPr>
        <p:spPr>
          <a:prstGeom prst="rect">
            <a:avLst/>
          </a:prstGeom>
        </p:spPr>
        <p:txBody>
          <a:bodyPr/>
          <a:lstStyle/>
          <a:p>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Shape 323"/>
          <p:cNvSpPr/>
          <p:nvPr>
            <p:ph type="sldImg"/>
          </p:nvPr>
        </p:nvSpPr>
        <p:spPr>
          <a:prstGeom prst="rect">
            <a:avLst/>
          </a:prstGeom>
        </p:spPr>
        <p:txBody>
          <a:bodyPr/>
          <a:lstStyle/>
          <a:p>
            <a:pPr/>
          </a:p>
        </p:txBody>
      </p:sp>
      <p:sp>
        <p:nvSpPr>
          <p:cNvPr id="324" name="Shape 324"/>
          <p:cNvSpPr/>
          <p:nvPr>
            <p:ph type="body" sz="quarter" idx="1"/>
          </p:nvPr>
        </p:nvSpPr>
        <p:spPr>
          <a:prstGeom prst="rect">
            <a:avLst/>
          </a:prstGeom>
        </p:spPr>
        <p:txBody>
          <a:bodyPr/>
          <a:lstStyle/>
          <a:p>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9" name="Shape 379"/>
          <p:cNvSpPr/>
          <p:nvPr>
            <p:ph type="sldImg"/>
          </p:nvPr>
        </p:nvSpPr>
        <p:spPr>
          <a:prstGeom prst="rect">
            <a:avLst/>
          </a:prstGeom>
        </p:spPr>
        <p:txBody>
          <a:bodyPr/>
          <a:lstStyle/>
          <a:p>
            <a:pPr/>
          </a:p>
        </p:txBody>
      </p:sp>
      <p:sp>
        <p:nvSpPr>
          <p:cNvPr id="380" name="Shape 380"/>
          <p:cNvSpPr/>
          <p:nvPr>
            <p:ph type="body" sz="quarter" idx="1"/>
          </p:nvPr>
        </p:nvSpPr>
        <p:spPr>
          <a:prstGeom prst="rect">
            <a:avLst/>
          </a:prstGeom>
        </p:spPr>
        <p:txBody>
          <a:bodyPr/>
          <a:lstStyle/>
          <a:p>
            <a:pPr/>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8" name="Shape 398"/>
          <p:cNvSpPr/>
          <p:nvPr>
            <p:ph type="sldImg"/>
          </p:nvPr>
        </p:nvSpPr>
        <p:spPr>
          <a:prstGeom prst="rect">
            <a:avLst/>
          </a:prstGeom>
        </p:spPr>
        <p:txBody>
          <a:bodyPr/>
          <a:lstStyle/>
          <a:p>
            <a:pPr/>
          </a:p>
        </p:txBody>
      </p:sp>
      <p:sp>
        <p:nvSpPr>
          <p:cNvPr id="399" name="Shape 399"/>
          <p:cNvSpPr/>
          <p:nvPr>
            <p:ph type="body" sz="quarter" idx="1"/>
          </p:nvPr>
        </p:nvSpPr>
        <p:spPr>
          <a:prstGeom prst="rect">
            <a:avLst/>
          </a:prstGeom>
        </p:spPr>
        <p:txBody>
          <a:bodyPr/>
          <a:lstStyle/>
          <a:p>
            <a:pPr/>
            <a:r>
              <a:t>SAY: "We ran stories through the model, took internal activations at one layer, and computed the mean difference between conditions. That gives us a direction vector for warmth. We then test whether it generalizes to entirely new topics the model has never seen."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Shape 420"/>
          <p:cNvSpPr/>
          <p:nvPr>
            <p:ph type="sldImg"/>
          </p:nvPr>
        </p:nvSpPr>
        <p:spPr>
          <a:prstGeom prst="rect">
            <a:avLst/>
          </a:prstGeom>
        </p:spPr>
        <p:txBody>
          <a:bodyPr/>
          <a:lstStyle/>
          <a:p>
            <a:pPr/>
          </a:p>
        </p:txBody>
      </p:sp>
      <p:sp>
        <p:nvSpPr>
          <p:cNvPr id="421" name="Shape 421"/>
          <p:cNvSpPr/>
          <p:nvPr>
            <p:ph type="body" sz="quarter" idx="1"/>
          </p:nvPr>
        </p:nvSpPr>
        <p:spPr>
          <a:prstGeom prst="rect">
            <a:avLst/>
          </a:prstGeom>
        </p:spPr>
        <p:txBody>
          <a:bodyPr/>
          <a:lstStyle/>
          <a:p>
            <a:pPr/>
            <a:r>
              <a:t>SAY: "The probe generalizes to new topics never seen during training. And four models from three companies all agree on which stories are warm or cold — strong evidence this is in the training data, not one architecture."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9" name="Shape 439"/>
          <p:cNvSpPr/>
          <p:nvPr>
            <p:ph type="sldImg"/>
          </p:nvPr>
        </p:nvSpPr>
        <p:spPr>
          <a:prstGeom prst="rect">
            <a:avLst/>
          </a:prstGeom>
        </p:spPr>
        <p:txBody>
          <a:bodyPr/>
          <a:lstStyle/>
          <a:p>
            <a:pPr/>
          </a:p>
        </p:txBody>
      </p:sp>
      <p:sp>
        <p:nvSpPr>
          <p:cNvPr id="440" name="Shape 440"/>
          <p:cNvSpPr/>
          <p:nvPr>
            <p:ph type="body" sz="quarter" idx="1"/>
          </p:nvPr>
        </p:nvSpPr>
        <p:spPr>
          <a:prstGeom prst="rect">
            <a:avLst/>
          </a:prstGeom>
        </p:spPr>
        <p:txBody>
          <a:bodyPr/>
          <a:lstStyle/>
          <a:p>
            <a:pPr/>
            <a:r>
              <a:t>SAY: "This is the causal test. We inject the warmth direction directly while the model reads a resume. Every single name crosses the decision boundary. At 27B the effect reverses at higher strength — the causal pathway is fragile at larger scale."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9" name="Shape 459"/>
          <p:cNvSpPr/>
          <p:nvPr>
            <p:ph type="sldImg"/>
          </p:nvPr>
        </p:nvSpPr>
        <p:spPr>
          <a:prstGeom prst="rect">
            <a:avLst/>
          </a:prstGeom>
        </p:spPr>
        <p:txBody>
          <a:bodyPr/>
          <a:lstStyle/>
          <a:p>
            <a:pPr/>
          </a:p>
        </p:txBody>
      </p:sp>
      <p:sp>
        <p:nvSpPr>
          <p:cNvPr id="460" name="Shape 460"/>
          <p:cNvSpPr/>
          <p:nvPr>
            <p:ph type="body" sz="quarter" idx="1"/>
          </p:nvPr>
        </p:nvSpPr>
        <p:spPr>
          <a:prstGeom prst="rect">
            <a:avLst/>
          </a:prstGeom>
        </p:spPr>
        <p:txBody>
          <a:bodyPr/>
          <a:lstStyle/>
          <a:p>
            <a:pPr/>
            <a:r>
              <a:t>REVEAL HUMAN BENCHMARK FIRST, then model results.</a:t>
            </a:r>
          </a:p>
          <a:p>
            <a:pPr/>
            <a:r>
              <a:t>SAY: "None of the models reproduce the human racial discrimination pattern. All favor Black-signalling names — the opposite. At 27B the gap is more than 1 SD. The model is not a faithful copy of human prejudice. It is a differently biased system."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hape 474"/>
          <p:cNvSpPr/>
          <p:nvPr>
            <p:ph type="sldImg"/>
          </p:nvPr>
        </p:nvSpPr>
        <p:spPr>
          <a:prstGeom prst="rect">
            <a:avLst/>
          </a:prstGeom>
        </p:spPr>
        <p:txBody>
          <a:bodyPr/>
          <a:lstStyle/>
          <a:p>
            <a:pPr/>
          </a:p>
        </p:txBody>
      </p:sp>
      <p:sp>
        <p:nvSpPr>
          <p:cNvPr id="475" name="Shape 475"/>
          <p:cNvSpPr/>
          <p:nvPr>
            <p:ph type="body" sz="quarter" idx="1"/>
          </p:nvPr>
        </p:nvSpPr>
        <p:spPr>
          <a:prstGeom prst="rect">
            <a:avLst/>
          </a:prstGeom>
        </p:spPr>
        <p:txBody>
          <a:bodyPr/>
          <a:lstStyle/>
          <a:p>
            <a:pPr/>
            <a:r>
              <a:t>[Optional — use if time allows]</a:t>
            </a:r>
          </a:p>
          <a:p>
            <a:pPr/>
            <a:r>
              <a:t>SAY: "The model easiest to steer via direct intervention is not the model where the representation naturally governs the decision. Steering measures causal sensitivity to an external push. Mediation measures whether the natural activation propagates to the outcome."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7" name="Shape 497"/>
          <p:cNvSpPr/>
          <p:nvPr>
            <p:ph type="sldImg"/>
          </p:nvPr>
        </p:nvSpPr>
        <p:spPr>
          <a:prstGeom prst="rect">
            <a:avLst/>
          </a:prstGeom>
        </p:spPr>
        <p:txBody>
          <a:bodyPr/>
          <a:lstStyle/>
          <a:p>
            <a:pPr/>
          </a:p>
        </p:txBody>
      </p:sp>
      <p:sp>
        <p:nvSpPr>
          <p:cNvPr id="498" name="Shape 498"/>
          <p:cNvSpPr/>
          <p:nvPr>
            <p:ph type="body" sz="quarter" idx="1"/>
          </p:nvPr>
        </p:nvSpPr>
        <p:spPr>
          <a:prstGeom prst="rect">
            <a:avLst/>
          </a:prstGeom>
        </p:spPr>
        <p:txBody>
          <a:bodyPr/>
          <a:lstStyle/>
          <a:p>
            <a:pPr/>
            <a:r>
              <a:t>SAY: "The contribution is methodological as well as empirical. We connected mechanistic interpretability to the correspondence study tradition, and the combination reveals something that neither approach would find alone."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1pPr>
      <a:lvl2pPr marL="783771" marR="0" indent="-326571"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2pPr>
      <a:lvl3pPr marL="1219200" marR="0" indent="-30480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3pPr>
      <a:lvl4pPr marL="1737360" marR="0" indent="-36576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4pPr>
      <a:lvl5pPr marL="2194560" marR="0" indent="-36576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5pPr>
      <a:lvl6pPr marL="2651760" marR="0" indent="-36576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6pPr>
      <a:lvl7pPr marL="3108960" marR="0" indent="-365760"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7pPr>
      <a:lvl8pPr marL="3566159" marR="0" indent="-365759"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8pPr>
      <a:lvl9pPr marL="4023359" marR="0" indent="-365759" algn="l" defTabSz="914400" rtl="0" latinLnBrk="0">
        <a:lnSpc>
          <a:spcPct val="100000"/>
        </a:lnSpc>
        <a:spcBef>
          <a:spcPts val="0"/>
        </a:spcBef>
        <a:spcAft>
          <a:spcPts val="0"/>
        </a:spcAft>
        <a:buClrTx/>
        <a:buSzPct val="100000"/>
        <a:buFontTx/>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Shape 0"/>
          <p:cNvSpPr/>
          <p:nvPr/>
        </p:nvSpPr>
        <p:spPr>
          <a:xfrm>
            <a:off x="0" y="0"/>
            <a:ext cx="9144000" cy="5143500"/>
          </a:xfrm>
          <a:prstGeom prst="rect">
            <a:avLst/>
          </a:prstGeom>
          <a:solidFill>
            <a:srgbClr val="12161F"/>
          </a:solidFill>
          <a:ln w="12700">
            <a:miter lim="400000"/>
          </a:ln>
        </p:spPr>
        <p:txBody>
          <a:bodyPr lIns="0" tIns="0" rIns="0" bIns="0"/>
          <a:lstStyle/>
          <a:p>
            <a:pPr/>
          </a:p>
        </p:txBody>
      </p:sp>
      <p:sp>
        <p:nvSpPr>
          <p:cNvPr id="21" name="Shape 1"/>
          <p:cNvSpPr/>
          <p:nvPr/>
        </p:nvSpPr>
        <p:spPr>
          <a:xfrm>
            <a:off x="6400800" y="-822961"/>
            <a:ext cx="3840480" cy="3840481"/>
          </a:xfrm>
          <a:prstGeom prst="ellipse">
            <a:avLst/>
          </a:prstGeom>
          <a:solidFill>
            <a:srgbClr val="4A9EBA">
              <a:alpha val="16000"/>
            </a:srgbClr>
          </a:solidFill>
          <a:ln w="12700">
            <a:miter lim="400000"/>
          </a:ln>
        </p:spPr>
        <p:txBody>
          <a:bodyPr lIns="0" tIns="0" rIns="0" bIns="0"/>
          <a:lstStyle/>
          <a:p>
            <a:pPr/>
          </a:p>
        </p:txBody>
      </p:sp>
      <p:sp>
        <p:nvSpPr>
          <p:cNvPr id="22" name="Shape 2"/>
          <p:cNvSpPr/>
          <p:nvPr/>
        </p:nvSpPr>
        <p:spPr>
          <a:xfrm>
            <a:off x="7223759" y="2377439"/>
            <a:ext cx="2286001" cy="2286001"/>
          </a:xfrm>
          <a:prstGeom prst="ellipse">
            <a:avLst/>
          </a:prstGeom>
          <a:solidFill>
            <a:srgbClr val="E07B54">
              <a:alpha val="13000"/>
            </a:srgbClr>
          </a:solidFill>
          <a:ln w="12700">
            <a:miter lim="400000"/>
          </a:ln>
        </p:spPr>
        <p:txBody>
          <a:bodyPr lIns="0" tIns="0" rIns="0" bIns="0"/>
          <a:lstStyle/>
          <a:p>
            <a:pPr/>
          </a:p>
        </p:txBody>
      </p:sp>
      <p:sp>
        <p:nvSpPr>
          <p:cNvPr id="23" name="Text 3"/>
          <p:cNvSpPr txBox="1"/>
          <p:nvPr/>
        </p:nvSpPr>
        <p:spPr>
          <a:xfrm>
            <a:off x="502919" y="1188719"/>
            <a:ext cx="6400801" cy="137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3000">
                <a:solidFill>
                  <a:srgbClr val="EEF2F7"/>
                </a:solidFill>
                <a:latin typeface="Cambria"/>
                <a:ea typeface="Cambria"/>
                <a:cs typeface="Cambria"/>
                <a:sym typeface="Cambria"/>
              </a:defRPr>
            </a:pPr>
            <a:r>
              <a:t>Probing Warmth and Competence</a:t>
            </a:r>
          </a:p>
          <a:p>
            <a:pPr>
              <a:defRPr sz="3000">
                <a:solidFill>
                  <a:srgbClr val="EEF2F7"/>
                </a:solidFill>
                <a:latin typeface="Cambria"/>
                <a:ea typeface="Cambria"/>
                <a:cs typeface="Cambria"/>
                <a:sym typeface="Cambria"/>
              </a:defRPr>
            </a:pPr>
            <a:r>
              <a:t>Representations in LLM Hiring Decisions</a:t>
            </a:r>
          </a:p>
        </p:txBody>
      </p:sp>
      <p:sp>
        <p:nvSpPr>
          <p:cNvPr id="24" name="Text 4"/>
          <p:cNvSpPr txBox="1"/>
          <p:nvPr/>
        </p:nvSpPr>
        <p:spPr>
          <a:xfrm>
            <a:off x="502919" y="2924241"/>
            <a:ext cx="54864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A9EBA"/>
                </a:solidFill>
              </a:defRPr>
            </a:lvl1pPr>
          </a:lstStyle>
          <a:p>
            <a:pPr/>
            <a:r>
              <a:t>Emrecan Ulu  ·  Jorge Lastra Cerda</a:t>
            </a:r>
          </a:p>
        </p:txBody>
      </p:sp>
      <p:sp>
        <p:nvSpPr>
          <p:cNvPr id="25" name="Text 5"/>
          <p:cNvSpPr txBox="1"/>
          <p:nvPr/>
        </p:nvSpPr>
        <p:spPr>
          <a:xfrm>
            <a:off x="502919" y="3263323"/>
            <a:ext cx="548640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8FA5BB"/>
                </a:solidFill>
              </a:defRPr>
            </a:lvl1pPr>
          </a:lstStyle>
          <a:p>
            <a:pPr/>
            <a:r>
              <a:t>University of Konstanz</a:t>
            </a:r>
          </a:p>
        </p:txBody>
      </p:sp>
      <p:sp>
        <p:nvSpPr>
          <p:cNvPr id="26" name="Text 6"/>
          <p:cNvSpPr txBox="1"/>
          <p:nvPr/>
        </p:nvSpPr>
        <p:spPr>
          <a:xfrm>
            <a:off x="502920" y="4722920"/>
            <a:ext cx="81381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FA5BB"/>
                </a:solidFill>
              </a:defRPr>
            </a:lvl1pPr>
          </a:lstStyle>
          <a:p>
            <a:pPr/>
            <a:r>
              <a:t>Master's Seminar · Fairness and Collective Decision-Making in AI</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 name="Shape 0"/>
          <p:cNvSpPr/>
          <p:nvPr/>
        </p:nvSpPr>
        <p:spPr>
          <a:xfrm>
            <a:off x="-126462" y="-94655"/>
            <a:ext cx="9396924" cy="5332810"/>
          </a:xfrm>
          <a:prstGeom prst="rect">
            <a:avLst/>
          </a:prstGeom>
          <a:solidFill>
            <a:srgbClr val="12161F"/>
          </a:solidFill>
          <a:ln w="12700">
            <a:miter lim="400000"/>
          </a:ln>
        </p:spPr>
        <p:txBody>
          <a:bodyPr lIns="0" tIns="0" rIns="0" bIns="0"/>
          <a:lstStyle/>
          <a:p>
            <a:pPr/>
          </a:p>
        </p:txBody>
      </p:sp>
      <p:sp>
        <p:nvSpPr>
          <p:cNvPr id="31"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AI is now screening job applications, and it discriminates</a:t>
            </a:r>
          </a:p>
        </p:txBody>
      </p:sp>
      <p:sp>
        <p:nvSpPr>
          <p:cNvPr id="32" name="Shape 2"/>
          <p:cNvSpPr/>
          <p:nvPr/>
        </p:nvSpPr>
        <p:spPr>
          <a:xfrm>
            <a:off x="1732787" y="1628716"/>
            <a:ext cx="1371601" cy="548641"/>
          </a:xfrm>
          <a:prstGeom prst="roundRect">
            <a:avLst>
              <a:gd name="adj" fmla="val 13333"/>
            </a:avLst>
          </a:prstGeom>
          <a:solidFill>
            <a:srgbClr val="1E2D45"/>
          </a:solidFill>
          <a:ln w="12700">
            <a:miter lim="400000"/>
          </a:ln>
        </p:spPr>
        <p:txBody>
          <a:bodyPr lIns="0" tIns="0" rIns="0" bIns="0"/>
          <a:lstStyle/>
          <a:p>
            <a:pPr/>
          </a:p>
        </p:txBody>
      </p:sp>
      <p:sp>
        <p:nvSpPr>
          <p:cNvPr id="33" name="Text 3"/>
          <p:cNvSpPr txBox="1"/>
          <p:nvPr/>
        </p:nvSpPr>
        <p:spPr>
          <a:xfrm>
            <a:off x="1732787" y="1753352"/>
            <a:ext cx="137160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100">
                <a:solidFill>
                  <a:srgbClr val="EEF2F7"/>
                </a:solidFill>
              </a:defRPr>
            </a:pPr>
            <a:r>
              <a:t>Applicant</a:t>
            </a:r>
          </a:p>
          <a:p>
            <a:pPr algn="ctr">
              <a:defRPr b="1" sz="1100">
                <a:solidFill>
                  <a:srgbClr val="EEF2F7"/>
                </a:solidFill>
              </a:defRPr>
            </a:pPr>
            <a:r>
              <a:t>Name</a:t>
            </a:r>
          </a:p>
        </p:txBody>
      </p:sp>
      <p:sp>
        <p:nvSpPr>
          <p:cNvPr id="34" name="Shape 4"/>
          <p:cNvSpPr/>
          <p:nvPr/>
        </p:nvSpPr>
        <p:spPr>
          <a:xfrm>
            <a:off x="3150107" y="1903036"/>
            <a:ext cx="457201" cy="1"/>
          </a:xfrm>
          <a:prstGeom prst="line">
            <a:avLst/>
          </a:prstGeom>
          <a:ln w="25400">
            <a:solidFill>
              <a:srgbClr val="8FA5BB"/>
            </a:solidFill>
          </a:ln>
        </p:spPr>
        <p:txBody>
          <a:bodyPr lIns="0" tIns="0" rIns="0" bIns="0"/>
          <a:lstStyle/>
          <a:p>
            <a:pPr/>
          </a:p>
        </p:txBody>
      </p:sp>
      <p:sp>
        <p:nvSpPr>
          <p:cNvPr id="35" name="Shape 5"/>
          <p:cNvSpPr/>
          <p:nvPr/>
        </p:nvSpPr>
        <p:spPr>
          <a:xfrm>
            <a:off x="3653027" y="1473268"/>
            <a:ext cx="1920241" cy="868681"/>
          </a:xfrm>
          <a:prstGeom prst="roundRect">
            <a:avLst>
              <a:gd name="adj" fmla="val 10526"/>
            </a:avLst>
          </a:prstGeom>
          <a:solidFill>
            <a:srgbClr val="4A9EBA">
              <a:alpha val="64999"/>
            </a:srgbClr>
          </a:solidFill>
          <a:ln w="12700">
            <a:miter lim="400000"/>
          </a:ln>
        </p:spPr>
        <p:txBody>
          <a:bodyPr lIns="0" tIns="0" rIns="0" bIns="0"/>
          <a:lstStyle/>
          <a:p>
            <a:pPr/>
          </a:p>
        </p:txBody>
      </p:sp>
      <p:sp>
        <p:nvSpPr>
          <p:cNvPr id="36" name="Text 6"/>
          <p:cNvSpPr txBox="1"/>
          <p:nvPr/>
        </p:nvSpPr>
        <p:spPr>
          <a:xfrm>
            <a:off x="3653027" y="1742508"/>
            <a:ext cx="192024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FFFFFF"/>
                </a:solidFill>
                <a:latin typeface="Cambria"/>
                <a:ea typeface="Cambria"/>
                <a:cs typeface="Cambria"/>
                <a:sym typeface="Cambria"/>
              </a:defRPr>
            </a:lvl1pPr>
          </a:lstStyle>
          <a:p>
            <a:pPr/>
            <a:r>
              <a:t>LLM   ?</a:t>
            </a:r>
          </a:p>
        </p:txBody>
      </p:sp>
      <p:sp>
        <p:nvSpPr>
          <p:cNvPr id="37" name="Shape 7"/>
          <p:cNvSpPr/>
          <p:nvPr/>
        </p:nvSpPr>
        <p:spPr>
          <a:xfrm>
            <a:off x="5618987" y="1903036"/>
            <a:ext cx="457201" cy="1"/>
          </a:xfrm>
          <a:prstGeom prst="line">
            <a:avLst/>
          </a:prstGeom>
          <a:ln w="25400">
            <a:solidFill>
              <a:srgbClr val="8FA5BB"/>
            </a:solidFill>
          </a:ln>
        </p:spPr>
        <p:txBody>
          <a:bodyPr lIns="0" tIns="0" rIns="0" bIns="0"/>
          <a:lstStyle/>
          <a:p>
            <a:pPr/>
          </a:p>
        </p:txBody>
      </p:sp>
      <p:sp>
        <p:nvSpPr>
          <p:cNvPr id="38" name="Shape 8"/>
          <p:cNvSpPr/>
          <p:nvPr/>
        </p:nvSpPr>
        <p:spPr>
          <a:xfrm>
            <a:off x="6121907" y="1564708"/>
            <a:ext cx="1508761" cy="685801"/>
          </a:xfrm>
          <a:prstGeom prst="roundRect">
            <a:avLst>
              <a:gd name="adj" fmla="val 10667"/>
            </a:avLst>
          </a:prstGeom>
          <a:solidFill>
            <a:srgbClr val="5BAD8B">
              <a:alpha val="70000"/>
            </a:srgbClr>
          </a:solidFill>
          <a:ln w="12700">
            <a:miter lim="400000"/>
          </a:ln>
        </p:spPr>
        <p:txBody>
          <a:bodyPr lIns="0" tIns="0" rIns="0" bIns="0"/>
          <a:lstStyle/>
          <a:p>
            <a:pPr/>
          </a:p>
        </p:txBody>
      </p:sp>
      <p:sp>
        <p:nvSpPr>
          <p:cNvPr id="39" name="Text 9"/>
          <p:cNvSpPr txBox="1"/>
          <p:nvPr/>
        </p:nvSpPr>
        <p:spPr>
          <a:xfrm>
            <a:off x="6121907" y="1829176"/>
            <a:ext cx="15087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FFFFFF"/>
                </a:solidFill>
              </a:defRPr>
            </a:lvl1pPr>
          </a:lstStyle>
          <a:p>
            <a:pPr/>
            <a:r>
              <a:t>Callback?</a:t>
            </a:r>
          </a:p>
        </p:txBody>
      </p:sp>
      <p:sp>
        <p:nvSpPr>
          <p:cNvPr id="40" name="Text 10"/>
          <p:cNvSpPr txBox="1"/>
          <p:nvPr/>
        </p:nvSpPr>
        <p:spPr>
          <a:xfrm>
            <a:off x="2286000" y="2657778"/>
            <a:ext cx="475488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E07B54"/>
                </a:solidFill>
              </a:defRPr>
            </a:lvl1pPr>
          </a:lstStyle>
          <a:p>
            <a:pPr/>
            <a:r>
              <a:t>All existing audits stop here: they see the output, not the mechanism</a:t>
            </a:r>
          </a:p>
        </p:txBody>
      </p:sp>
      <p:sp>
        <p:nvSpPr>
          <p:cNvPr id="41" name="Shape 11"/>
          <p:cNvSpPr/>
          <p:nvPr/>
        </p:nvSpPr>
        <p:spPr>
          <a:xfrm>
            <a:off x="411480" y="3035807"/>
            <a:ext cx="146305" cy="146305"/>
          </a:xfrm>
          <a:prstGeom prst="ellipse">
            <a:avLst/>
          </a:prstGeom>
          <a:solidFill>
            <a:srgbClr val="4A9EBA"/>
          </a:solidFill>
          <a:ln w="12700">
            <a:miter lim="400000"/>
          </a:ln>
        </p:spPr>
        <p:txBody>
          <a:bodyPr lIns="0" tIns="0" rIns="0" bIns="0"/>
          <a:lstStyle/>
          <a:p>
            <a:pPr/>
          </a:p>
        </p:txBody>
      </p:sp>
      <p:sp>
        <p:nvSpPr>
          <p:cNvPr id="42" name="Text 12"/>
          <p:cNvSpPr txBox="1"/>
          <p:nvPr/>
        </p:nvSpPr>
        <p:spPr>
          <a:xfrm>
            <a:off x="658368" y="3107875"/>
            <a:ext cx="8046719"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EF2F7"/>
                </a:solidFill>
              </a:defRPr>
            </a:lvl1pPr>
          </a:lstStyle>
          <a:p>
            <a:pPr/>
            <a:r>
              <a:t>50% of US organizations use AI in recruiting  (SHRM, 2025)</a:t>
            </a:r>
          </a:p>
        </p:txBody>
      </p:sp>
      <p:sp>
        <p:nvSpPr>
          <p:cNvPr id="43" name="Shape 13"/>
          <p:cNvSpPr/>
          <p:nvPr/>
        </p:nvSpPr>
        <p:spPr>
          <a:xfrm>
            <a:off x="411480" y="3538728"/>
            <a:ext cx="146305" cy="146305"/>
          </a:xfrm>
          <a:prstGeom prst="ellipse">
            <a:avLst/>
          </a:prstGeom>
          <a:solidFill>
            <a:srgbClr val="4A9EBA"/>
          </a:solidFill>
          <a:ln w="12700">
            <a:miter lim="400000"/>
          </a:ln>
        </p:spPr>
        <p:txBody>
          <a:bodyPr lIns="0" tIns="0" rIns="0" bIns="0"/>
          <a:lstStyle/>
          <a:p>
            <a:pPr/>
          </a:p>
        </p:txBody>
      </p:sp>
      <p:sp>
        <p:nvSpPr>
          <p:cNvPr id="44" name="Text 14"/>
          <p:cNvSpPr txBox="1"/>
          <p:nvPr/>
        </p:nvSpPr>
        <p:spPr>
          <a:xfrm>
            <a:off x="658368" y="3610795"/>
            <a:ext cx="8046719"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EF2F7"/>
                </a:solidFill>
              </a:defRPr>
            </a:lvl1pPr>
          </a:lstStyle>
          <a:p>
            <a:pPr/>
            <a:r>
              <a:t>Behavioral audits show name-driven disparities across race and gender</a:t>
            </a:r>
          </a:p>
        </p:txBody>
      </p:sp>
      <p:sp>
        <p:nvSpPr>
          <p:cNvPr id="45" name="Shape 15"/>
          <p:cNvSpPr/>
          <p:nvPr/>
        </p:nvSpPr>
        <p:spPr>
          <a:xfrm>
            <a:off x="411480" y="4041647"/>
            <a:ext cx="146305" cy="146305"/>
          </a:xfrm>
          <a:prstGeom prst="ellipse">
            <a:avLst/>
          </a:prstGeom>
          <a:solidFill>
            <a:srgbClr val="4A9EBA"/>
          </a:solidFill>
          <a:ln w="12700">
            <a:miter lim="400000"/>
          </a:ln>
        </p:spPr>
        <p:txBody>
          <a:bodyPr lIns="0" tIns="0" rIns="0" bIns="0"/>
          <a:lstStyle/>
          <a:p>
            <a:pPr/>
          </a:p>
        </p:txBody>
      </p:sp>
      <p:sp>
        <p:nvSpPr>
          <p:cNvPr id="46" name="Text 16"/>
          <p:cNvSpPr txBox="1"/>
          <p:nvPr/>
        </p:nvSpPr>
        <p:spPr>
          <a:xfrm>
            <a:off x="658368" y="4113715"/>
            <a:ext cx="8046719"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EF2F7"/>
                </a:solidFill>
              </a:defRPr>
            </a:lvl1pPr>
          </a:lstStyle>
          <a:p>
            <a:pPr/>
            <a:r>
              <a:t>But they treat the model as a black box: that it discriminates, not how</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 name="Shape 0"/>
          <p:cNvSpPr/>
          <p:nvPr/>
        </p:nvSpPr>
        <p:spPr>
          <a:xfrm>
            <a:off x="-1" y="0"/>
            <a:ext cx="9144001" cy="5143501"/>
          </a:xfrm>
          <a:prstGeom prst="rect">
            <a:avLst/>
          </a:prstGeom>
          <a:solidFill>
            <a:srgbClr val="12161F"/>
          </a:solidFill>
          <a:ln w="12700">
            <a:miter lim="400000"/>
          </a:ln>
        </p:spPr>
        <p:txBody>
          <a:bodyPr lIns="0" tIns="0" rIns="0" bIns="0"/>
          <a:lstStyle/>
          <a:p>
            <a:pPr/>
          </a:p>
        </p:txBody>
      </p:sp>
      <p:sp>
        <p:nvSpPr>
          <p:cNvPr id="51"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 story becomes a hidden activation</a:t>
            </a:r>
          </a:p>
        </p:txBody>
      </p:sp>
      <p:sp>
        <p:nvSpPr>
          <p:cNvPr id="52" name="story-cue"/>
          <p:cNvSpPr/>
          <p:nvPr/>
        </p:nvSpPr>
        <p:spPr>
          <a:xfrm>
            <a:off x="269081" y="1938337"/>
            <a:ext cx="2190751" cy="876301"/>
          </a:xfrm>
          <a:prstGeom prst="roundRect">
            <a:avLst>
              <a:gd name="adj" fmla="val 15217"/>
            </a:avLst>
          </a:prstGeom>
          <a:solidFill>
            <a:srgbClr val="1E2D45"/>
          </a:solidFill>
          <a:ln w="14288">
            <a:solidFill>
              <a:srgbClr val="2D6F86"/>
            </a:solidFill>
          </a:ln>
        </p:spPr>
        <p:txBody>
          <a:bodyPr lIns="0" tIns="0" rIns="0" bIns="0"/>
          <a:lstStyle/>
          <a:p>
            <a:pPr/>
          </a:p>
        </p:txBody>
      </p:sp>
      <p:sp>
        <p:nvSpPr>
          <p:cNvPr id="53" name="story-label"/>
          <p:cNvSpPr txBox="1"/>
          <p:nvPr/>
        </p:nvSpPr>
        <p:spPr>
          <a:xfrm>
            <a:off x="457676" y="1983387"/>
            <a:ext cx="59436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STORY</a:t>
            </a:r>
          </a:p>
        </p:txBody>
      </p:sp>
      <p:sp>
        <p:nvSpPr>
          <p:cNvPr id="54" name="story-copy"/>
          <p:cNvSpPr txBox="1"/>
          <p:nvPr/>
        </p:nvSpPr>
        <p:spPr>
          <a:xfrm>
            <a:off x="457676" y="2209643"/>
            <a:ext cx="1813561" cy="4670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EEF2F7"/>
                </a:solidFill>
                <a:latin typeface="Arial"/>
                <a:ea typeface="Arial"/>
                <a:cs typeface="Arial"/>
                <a:sym typeface="Arial"/>
              </a:defRPr>
            </a:lvl1pPr>
          </a:lstStyle>
          <a:p>
            <a:pPr/>
            <a:r>
              <a:t>“The footsteps behind them grew closer.”</a:t>
            </a:r>
          </a:p>
        </p:txBody>
      </p:sp>
      <p:sp>
        <p:nvSpPr>
          <p:cNvPr id="55"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56" name="llm-label"/>
          <p:cNvSpPr txBox="1"/>
          <p:nvPr/>
        </p:nvSpPr>
        <p:spPr>
          <a:xfrm>
            <a:off x="3055619" y="2085477"/>
            <a:ext cx="670562" cy="3629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EEF2F7"/>
                </a:solidFill>
                <a:latin typeface="Arial"/>
                <a:ea typeface="Arial"/>
                <a:cs typeface="Arial"/>
                <a:sym typeface="Arial"/>
              </a:defRPr>
            </a:lvl1pPr>
          </a:lstStyle>
          <a:p>
            <a:pPr/>
            <a:r>
              <a:t>LLM</a:t>
            </a:r>
          </a:p>
        </p:txBody>
      </p:sp>
      <p:sp>
        <p:nvSpPr>
          <p:cNvPr id="57" name="llm-subtitle"/>
          <p:cNvSpPr txBox="1"/>
          <p:nvPr/>
        </p:nvSpPr>
        <p:spPr>
          <a:xfrm>
            <a:off x="2998469" y="2540807"/>
            <a:ext cx="784862"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58"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59"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60"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61"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62"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63"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64" name="space-label"/>
          <p:cNvSpPr txBox="1"/>
          <p:nvPr/>
        </p:nvSpPr>
        <p:spPr>
          <a:xfrm>
            <a:off x="4436744" y="1149949"/>
            <a:ext cx="2289812"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65"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66" name="space-particle-1"/>
          <p:cNvSpPr/>
          <p:nvPr/>
        </p:nvSpPr>
        <p:spPr>
          <a:xfrm>
            <a:off x="5476875" y="1504950"/>
            <a:ext cx="47626" cy="47626"/>
          </a:xfrm>
          <a:prstGeom prst="ellipse">
            <a:avLst/>
          </a:prstGeom>
          <a:solidFill>
            <a:srgbClr val="40566F"/>
          </a:solidFill>
          <a:ln w="12700">
            <a:miter lim="400000"/>
          </a:ln>
        </p:spPr>
        <p:txBody>
          <a:bodyPr lIns="0" tIns="0" rIns="0" bIns="0"/>
          <a:lstStyle/>
          <a:p>
            <a:pPr/>
          </a:p>
        </p:txBody>
      </p:sp>
      <p:sp>
        <p:nvSpPr>
          <p:cNvPr id="67" name="space-particle-2"/>
          <p:cNvSpPr/>
          <p:nvPr/>
        </p:nvSpPr>
        <p:spPr>
          <a:xfrm>
            <a:off x="6486525" y="1914525"/>
            <a:ext cx="47626" cy="47626"/>
          </a:xfrm>
          <a:prstGeom prst="ellipse">
            <a:avLst/>
          </a:prstGeom>
          <a:solidFill>
            <a:srgbClr val="40566F"/>
          </a:solidFill>
          <a:ln w="12700">
            <a:miter lim="400000"/>
          </a:ln>
        </p:spPr>
        <p:txBody>
          <a:bodyPr lIns="0" tIns="0" rIns="0" bIns="0"/>
          <a:lstStyle/>
          <a:p>
            <a:pPr/>
          </a:p>
        </p:txBody>
      </p:sp>
      <p:sp>
        <p:nvSpPr>
          <p:cNvPr id="68" name="space-particle-3"/>
          <p:cNvSpPr/>
          <p:nvPr/>
        </p:nvSpPr>
        <p:spPr>
          <a:xfrm>
            <a:off x="7962900" y="1628775"/>
            <a:ext cx="47626" cy="47626"/>
          </a:xfrm>
          <a:prstGeom prst="ellipse">
            <a:avLst/>
          </a:prstGeom>
          <a:solidFill>
            <a:srgbClr val="40566F"/>
          </a:solidFill>
          <a:ln w="12700">
            <a:miter lim="400000"/>
          </a:ln>
        </p:spPr>
        <p:txBody>
          <a:bodyPr lIns="0" tIns="0" rIns="0" bIns="0"/>
          <a:lstStyle/>
          <a:p>
            <a:pPr/>
          </a:p>
        </p:txBody>
      </p:sp>
      <p:sp>
        <p:nvSpPr>
          <p:cNvPr id="69" name="space-particle-4"/>
          <p:cNvSpPr/>
          <p:nvPr/>
        </p:nvSpPr>
        <p:spPr>
          <a:xfrm>
            <a:off x="4810125" y="3333750"/>
            <a:ext cx="47626" cy="47626"/>
          </a:xfrm>
          <a:prstGeom prst="ellipse">
            <a:avLst/>
          </a:prstGeom>
          <a:solidFill>
            <a:srgbClr val="40566F"/>
          </a:solidFill>
          <a:ln w="12700">
            <a:miter lim="400000"/>
          </a:ln>
        </p:spPr>
        <p:txBody>
          <a:bodyPr lIns="0" tIns="0" rIns="0" bIns="0"/>
          <a:lstStyle/>
          <a:p>
            <a:pPr/>
          </a:p>
        </p:txBody>
      </p:sp>
      <p:sp>
        <p:nvSpPr>
          <p:cNvPr id="70"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71" name="space-particle-6"/>
          <p:cNvSpPr/>
          <p:nvPr/>
        </p:nvSpPr>
        <p:spPr>
          <a:xfrm>
            <a:off x="6924675" y="3562350"/>
            <a:ext cx="47626" cy="47626"/>
          </a:xfrm>
          <a:prstGeom prst="ellipse">
            <a:avLst/>
          </a:prstGeom>
          <a:solidFill>
            <a:srgbClr val="40566F"/>
          </a:solidFill>
          <a:ln w="12700">
            <a:miter lim="400000"/>
          </a:ln>
        </p:spPr>
        <p:txBody>
          <a:bodyPr lIns="0" tIns="0" rIns="0" bIns="0"/>
          <a:lstStyle/>
          <a:p>
            <a:pPr/>
          </a:p>
        </p:txBody>
      </p:sp>
      <p:sp>
        <p:nvSpPr>
          <p:cNvPr id="72"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73" name="space-particle-8"/>
          <p:cNvSpPr/>
          <p:nvPr/>
        </p:nvSpPr>
        <p:spPr>
          <a:xfrm>
            <a:off x="8448675" y="2352675"/>
            <a:ext cx="47626" cy="47626"/>
          </a:xfrm>
          <a:prstGeom prst="ellipse">
            <a:avLst/>
          </a:prstGeom>
          <a:solidFill>
            <a:srgbClr val="40566F"/>
          </a:solidFill>
          <a:ln w="12700">
            <a:miter lim="400000"/>
          </a:ln>
        </p:spPr>
        <p:txBody>
          <a:bodyPr lIns="0" tIns="0" rIns="0" bIns="0"/>
          <a:lstStyle/>
          <a:p>
            <a:pPr/>
          </a:p>
        </p:txBody>
      </p:sp>
      <p:sp>
        <p:nvSpPr>
          <p:cNvPr id="74" name="Line"/>
          <p:cNvSpPr/>
          <p:nvPr/>
        </p:nvSpPr>
        <p:spPr>
          <a:xfrm>
            <a:off x="2507852" y="2376487"/>
            <a:ext cx="311152" cy="1"/>
          </a:xfrm>
          <a:prstGeom prst="line">
            <a:avLst/>
          </a:prstGeom>
          <a:ln w="28575">
            <a:solidFill>
              <a:srgbClr val="4A9EBA"/>
            </a:solidFill>
            <a:tailEnd type="triangle"/>
          </a:ln>
        </p:spPr>
        <p:txBody>
          <a:bodyPr lIns="0" tIns="0" rIns="0" bIns="0"/>
          <a:lstStyle/>
          <a:p>
            <a:pPr/>
          </a:p>
        </p:txBody>
      </p:sp>
      <p:sp>
        <p:nvSpPr>
          <p:cNvPr id="75" name="ghost-current-up"/>
          <p:cNvSpPr/>
          <p:nvPr/>
        </p:nvSpPr>
        <p:spPr>
          <a:xfrm>
            <a:off x="5357812" y="1639633"/>
            <a:ext cx="2305052" cy="561976"/>
          </a:xfrm>
          <a:prstGeom prst="line">
            <a:avLst/>
          </a:prstGeom>
          <a:ln w="47625">
            <a:solidFill>
              <a:srgbClr val="2A3850"/>
            </a:solidFill>
          </a:ln>
        </p:spPr>
        <p:txBody>
          <a:bodyPr lIns="0" tIns="0" rIns="0" bIns="0"/>
          <a:lstStyle/>
          <a:p>
            <a:pPr/>
          </a:p>
        </p:txBody>
      </p:sp>
      <p:sp>
        <p:nvSpPr>
          <p:cNvPr id="76" name="ghost-current-down"/>
          <p:cNvSpPr/>
          <p:nvPr/>
        </p:nvSpPr>
        <p:spPr>
          <a:xfrm>
            <a:off x="5362574" y="3054167"/>
            <a:ext cx="2143127" cy="581026"/>
          </a:xfrm>
          <a:prstGeom prst="line">
            <a:avLst/>
          </a:prstGeom>
          <a:ln w="47625">
            <a:solidFill>
              <a:srgbClr val="2A3850"/>
            </a:solidFill>
          </a:ln>
        </p:spPr>
        <p:txBody>
          <a:bodyPr lIns="0" tIns="0" rIns="0" bIns="0"/>
          <a:lstStyle/>
          <a:p>
            <a:pPr/>
          </a:p>
        </p:txBody>
      </p:sp>
      <p:sp>
        <p:nvSpPr>
          <p:cNvPr id="77" name="anthropic-citation"/>
          <p:cNvSpPr txBox="1"/>
          <p:nvPr/>
        </p:nvSpPr>
        <p:spPr>
          <a:xfrm>
            <a:off x="5760719" y="4804166"/>
            <a:ext cx="2918462"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78"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79"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80" name="origin-label"/>
          <p:cNvSpPr txBox="1"/>
          <p:nvPr/>
        </p:nvSpPr>
        <p:spPr>
          <a:xfrm>
            <a:off x="4490720" y="2893024"/>
            <a:ext cx="7277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8FA5BB"/>
                </a:solidFill>
                <a:latin typeface="Arial"/>
                <a:ea typeface="Arial"/>
                <a:cs typeface="Arial"/>
                <a:sym typeface="Arial"/>
              </a:defRPr>
            </a:lvl1pPr>
          </a:lstStyle>
          <a:p>
            <a:pPr/>
            <a:r>
              <a:t>neutral</a:t>
            </a:r>
          </a:p>
        </p:txBody>
      </p:sp>
      <p:sp>
        <p:nvSpPr>
          <p:cNvPr id="81" name="Shape 0"/>
          <p:cNvSpPr/>
          <p:nvPr/>
        </p:nvSpPr>
        <p:spPr>
          <a:xfrm>
            <a:off x="-1" y="981273"/>
            <a:ext cx="4044271" cy="4162228"/>
          </a:xfrm>
          <a:prstGeom prst="rect">
            <a:avLst/>
          </a:prstGeom>
          <a:solidFill>
            <a:srgbClr val="12161F"/>
          </a:solidFill>
          <a:ln w="12700">
            <a:miter lim="400000"/>
          </a:ln>
        </p:spPr>
        <p:txBody>
          <a:bodyPr lIns="0" tIns="0" rIns="0" bIns="0"/>
          <a:lstStyle/>
          <a:p>
            <a:pP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 name="Shape 0"/>
          <p:cNvSpPr/>
          <p:nvPr/>
        </p:nvSpPr>
        <p:spPr>
          <a:xfrm>
            <a:off x="-1" y="0"/>
            <a:ext cx="9144001" cy="5143501"/>
          </a:xfrm>
          <a:prstGeom prst="rect">
            <a:avLst/>
          </a:prstGeom>
          <a:solidFill>
            <a:srgbClr val="12161F"/>
          </a:solidFill>
          <a:ln w="12700">
            <a:miter lim="400000"/>
          </a:ln>
        </p:spPr>
        <p:txBody>
          <a:bodyPr lIns="0" tIns="0" rIns="0" bIns="0"/>
          <a:lstStyle/>
          <a:p>
            <a:pPr/>
          </a:p>
        </p:txBody>
      </p:sp>
      <p:sp>
        <p:nvSpPr>
          <p:cNvPr id="86"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 story becomes a hidden activation</a:t>
            </a:r>
          </a:p>
        </p:txBody>
      </p:sp>
      <p:sp>
        <p:nvSpPr>
          <p:cNvPr id="87" name="story-cue"/>
          <p:cNvSpPr/>
          <p:nvPr/>
        </p:nvSpPr>
        <p:spPr>
          <a:xfrm>
            <a:off x="269081" y="1938338"/>
            <a:ext cx="2190751" cy="876301"/>
          </a:xfrm>
          <a:prstGeom prst="roundRect">
            <a:avLst>
              <a:gd name="adj" fmla="val 15217"/>
            </a:avLst>
          </a:prstGeom>
          <a:solidFill>
            <a:srgbClr val="1E2D45"/>
          </a:solidFill>
          <a:ln w="14288">
            <a:solidFill>
              <a:srgbClr val="2D6F86"/>
            </a:solidFill>
          </a:ln>
        </p:spPr>
        <p:txBody>
          <a:bodyPr lIns="0" tIns="0" rIns="0" bIns="0"/>
          <a:lstStyle/>
          <a:p>
            <a:pPr/>
          </a:p>
        </p:txBody>
      </p:sp>
      <p:sp>
        <p:nvSpPr>
          <p:cNvPr id="88" name="story-label"/>
          <p:cNvSpPr txBox="1"/>
          <p:nvPr/>
        </p:nvSpPr>
        <p:spPr>
          <a:xfrm>
            <a:off x="457675" y="1983387"/>
            <a:ext cx="59436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STORY</a:t>
            </a:r>
          </a:p>
        </p:txBody>
      </p:sp>
      <p:sp>
        <p:nvSpPr>
          <p:cNvPr id="89" name="story-copy"/>
          <p:cNvSpPr txBox="1"/>
          <p:nvPr/>
        </p:nvSpPr>
        <p:spPr>
          <a:xfrm>
            <a:off x="457675" y="2304893"/>
            <a:ext cx="1813562" cy="2765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EEF2F7"/>
                </a:solidFill>
                <a:latin typeface="Arial"/>
                <a:ea typeface="Arial"/>
                <a:cs typeface="Arial"/>
                <a:sym typeface="Arial"/>
              </a:defRPr>
            </a:lvl1pPr>
          </a:lstStyle>
          <a:p>
            <a:pPr/>
            <a:r>
              <a:t>A very scary story.</a:t>
            </a:r>
          </a:p>
        </p:txBody>
      </p:sp>
      <p:sp>
        <p:nvSpPr>
          <p:cNvPr id="90"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91" name="llm-label"/>
          <p:cNvSpPr txBox="1"/>
          <p:nvPr/>
        </p:nvSpPr>
        <p:spPr>
          <a:xfrm>
            <a:off x="3055620" y="2085477"/>
            <a:ext cx="670561" cy="3629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EEF2F7"/>
                </a:solidFill>
                <a:latin typeface="Arial"/>
                <a:ea typeface="Arial"/>
                <a:cs typeface="Arial"/>
                <a:sym typeface="Arial"/>
              </a:defRPr>
            </a:lvl1pPr>
          </a:lstStyle>
          <a:p>
            <a:pPr/>
            <a:r>
              <a:t>LLM</a:t>
            </a:r>
          </a:p>
        </p:txBody>
      </p:sp>
      <p:sp>
        <p:nvSpPr>
          <p:cNvPr id="92" name="llm-subtitle"/>
          <p:cNvSpPr txBox="1"/>
          <p:nvPr/>
        </p:nvSpPr>
        <p:spPr>
          <a:xfrm>
            <a:off x="2998470" y="2540807"/>
            <a:ext cx="78486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93"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94"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95"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96"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97"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98"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99" name="space-label"/>
          <p:cNvSpPr txBox="1"/>
          <p:nvPr/>
        </p:nvSpPr>
        <p:spPr>
          <a:xfrm>
            <a:off x="4436745" y="1149949"/>
            <a:ext cx="22898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100"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101" name="space-particle-1"/>
          <p:cNvSpPr/>
          <p:nvPr/>
        </p:nvSpPr>
        <p:spPr>
          <a:xfrm>
            <a:off x="5476875" y="1504950"/>
            <a:ext cx="47626" cy="47626"/>
          </a:xfrm>
          <a:prstGeom prst="ellipse">
            <a:avLst/>
          </a:prstGeom>
          <a:solidFill>
            <a:srgbClr val="40566F"/>
          </a:solidFill>
          <a:ln w="12700">
            <a:miter lim="400000"/>
          </a:ln>
        </p:spPr>
        <p:txBody>
          <a:bodyPr lIns="0" tIns="0" rIns="0" bIns="0"/>
          <a:lstStyle/>
          <a:p>
            <a:pPr/>
          </a:p>
        </p:txBody>
      </p:sp>
      <p:sp>
        <p:nvSpPr>
          <p:cNvPr id="102" name="space-particle-2"/>
          <p:cNvSpPr/>
          <p:nvPr/>
        </p:nvSpPr>
        <p:spPr>
          <a:xfrm>
            <a:off x="6486525" y="1914525"/>
            <a:ext cx="47626" cy="47626"/>
          </a:xfrm>
          <a:prstGeom prst="ellipse">
            <a:avLst/>
          </a:prstGeom>
          <a:solidFill>
            <a:srgbClr val="40566F"/>
          </a:solidFill>
          <a:ln w="12700">
            <a:miter lim="400000"/>
          </a:ln>
        </p:spPr>
        <p:txBody>
          <a:bodyPr lIns="0" tIns="0" rIns="0" bIns="0"/>
          <a:lstStyle/>
          <a:p>
            <a:pPr/>
          </a:p>
        </p:txBody>
      </p:sp>
      <p:sp>
        <p:nvSpPr>
          <p:cNvPr id="103" name="space-particle-3"/>
          <p:cNvSpPr/>
          <p:nvPr/>
        </p:nvSpPr>
        <p:spPr>
          <a:xfrm>
            <a:off x="7962900" y="1628775"/>
            <a:ext cx="47626" cy="47626"/>
          </a:xfrm>
          <a:prstGeom prst="ellipse">
            <a:avLst/>
          </a:prstGeom>
          <a:solidFill>
            <a:srgbClr val="40566F"/>
          </a:solidFill>
          <a:ln w="12700">
            <a:miter lim="400000"/>
          </a:ln>
        </p:spPr>
        <p:txBody>
          <a:bodyPr lIns="0" tIns="0" rIns="0" bIns="0"/>
          <a:lstStyle/>
          <a:p>
            <a:pPr/>
          </a:p>
        </p:txBody>
      </p:sp>
      <p:sp>
        <p:nvSpPr>
          <p:cNvPr id="104" name="space-particle-4"/>
          <p:cNvSpPr/>
          <p:nvPr/>
        </p:nvSpPr>
        <p:spPr>
          <a:xfrm>
            <a:off x="4810125" y="3333750"/>
            <a:ext cx="47626" cy="47626"/>
          </a:xfrm>
          <a:prstGeom prst="ellipse">
            <a:avLst/>
          </a:prstGeom>
          <a:solidFill>
            <a:srgbClr val="40566F"/>
          </a:solidFill>
          <a:ln w="12700">
            <a:miter lim="400000"/>
          </a:ln>
        </p:spPr>
        <p:txBody>
          <a:bodyPr lIns="0" tIns="0" rIns="0" bIns="0"/>
          <a:lstStyle/>
          <a:p>
            <a:pPr/>
          </a:p>
        </p:txBody>
      </p:sp>
      <p:sp>
        <p:nvSpPr>
          <p:cNvPr id="105"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106" name="space-particle-6"/>
          <p:cNvSpPr/>
          <p:nvPr/>
        </p:nvSpPr>
        <p:spPr>
          <a:xfrm>
            <a:off x="6924675" y="3562350"/>
            <a:ext cx="47626" cy="47626"/>
          </a:xfrm>
          <a:prstGeom prst="ellipse">
            <a:avLst/>
          </a:prstGeom>
          <a:solidFill>
            <a:srgbClr val="40566F"/>
          </a:solidFill>
          <a:ln w="12700">
            <a:miter lim="400000"/>
          </a:ln>
        </p:spPr>
        <p:txBody>
          <a:bodyPr lIns="0" tIns="0" rIns="0" bIns="0"/>
          <a:lstStyle/>
          <a:p>
            <a:pPr/>
          </a:p>
        </p:txBody>
      </p:sp>
      <p:sp>
        <p:nvSpPr>
          <p:cNvPr id="107"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108" name="space-particle-8"/>
          <p:cNvSpPr/>
          <p:nvPr/>
        </p:nvSpPr>
        <p:spPr>
          <a:xfrm>
            <a:off x="8448675" y="2352675"/>
            <a:ext cx="47626" cy="47626"/>
          </a:xfrm>
          <a:prstGeom prst="ellipse">
            <a:avLst/>
          </a:prstGeom>
          <a:solidFill>
            <a:srgbClr val="40566F"/>
          </a:solidFill>
          <a:ln w="12700">
            <a:miter lim="400000"/>
          </a:ln>
        </p:spPr>
        <p:txBody>
          <a:bodyPr lIns="0" tIns="0" rIns="0" bIns="0"/>
          <a:lstStyle/>
          <a:p>
            <a:pPr/>
          </a:p>
        </p:txBody>
      </p:sp>
      <p:sp>
        <p:nvSpPr>
          <p:cNvPr id="109" name="Line"/>
          <p:cNvSpPr/>
          <p:nvPr/>
        </p:nvSpPr>
        <p:spPr>
          <a:xfrm>
            <a:off x="2507852" y="2376488"/>
            <a:ext cx="311151" cy="1"/>
          </a:xfrm>
          <a:prstGeom prst="line">
            <a:avLst/>
          </a:prstGeom>
          <a:ln w="28575">
            <a:solidFill>
              <a:srgbClr val="4A9EBA"/>
            </a:solidFill>
            <a:tailEnd type="triangle"/>
          </a:ln>
        </p:spPr>
        <p:txBody>
          <a:bodyPr lIns="0" tIns="0" rIns="0" bIns="0"/>
          <a:lstStyle/>
          <a:p>
            <a:pPr/>
          </a:p>
        </p:txBody>
      </p:sp>
      <p:sp>
        <p:nvSpPr>
          <p:cNvPr id="110" name="ghost-current-up"/>
          <p:cNvSpPr/>
          <p:nvPr/>
        </p:nvSpPr>
        <p:spPr>
          <a:xfrm>
            <a:off x="5357813" y="1639633"/>
            <a:ext cx="2305051" cy="561976"/>
          </a:xfrm>
          <a:prstGeom prst="line">
            <a:avLst/>
          </a:prstGeom>
          <a:ln w="47625">
            <a:solidFill>
              <a:srgbClr val="2A3850"/>
            </a:solidFill>
          </a:ln>
        </p:spPr>
        <p:txBody>
          <a:bodyPr lIns="0" tIns="0" rIns="0" bIns="0"/>
          <a:lstStyle/>
          <a:p>
            <a:pPr/>
          </a:p>
        </p:txBody>
      </p:sp>
      <p:sp>
        <p:nvSpPr>
          <p:cNvPr id="111" name="ghost-current-down"/>
          <p:cNvSpPr/>
          <p:nvPr/>
        </p:nvSpPr>
        <p:spPr>
          <a:xfrm>
            <a:off x="5362574" y="3054168"/>
            <a:ext cx="2143126" cy="581025"/>
          </a:xfrm>
          <a:prstGeom prst="line">
            <a:avLst/>
          </a:prstGeom>
          <a:ln w="47625">
            <a:solidFill>
              <a:srgbClr val="2A3850"/>
            </a:solidFill>
          </a:ln>
        </p:spPr>
        <p:txBody>
          <a:bodyPr lIns="0" tIns="0" rIns="0" bIns="0"/>
          <a:lstStyle/>
          <a:p>
            <a:pPr/>
          </a:p>
        </p:txBody>
      </p:sp>
      <p:sp>
        <p:nvSpPr>
          <p:cNvPr id="112" name="anthropic-citation"/>
          <p:cNvSpPr txBox="1"/>
          <p:nvPr/>
        </p:nvSpPr>
        <p:spPr>
          <a:xfrm>
            <a:off x="5760720" y="4804166"/>
            <a:ext cx="2918461"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113"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14"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15" name="origin-label"/>
          <p:cNvSpPr txBox="1"/>
          <p:nvPr/>
        </p:nvSpPr>
        <p:spPr>
          <a:xfrm>
            <a:off x="4490720" y="2893024"/>
            <a:ext cx="7277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8FA5BB"/>
                </a:solidFill>
                <a:latin typeface="Arial"/>
                <a:ea typeface="Arial"/>
                <a:cs typeface="Arial"/>
                <a:sym typeface="Arial"/>
              </a:defRPr>
            </a:lvl1pPr>
          </a:lstStyle>
          <a:p>
            <a:pPr/>
            <a:r>
              <a:t>neutral</a:t>
            </a:r>
          </a:p>
        </p:txBody>
      </p:sp>
      <p:sp>
        <p:nvSpPr>
          <p:cNvPr id="116" name="Shape 0"/>
          <p:cNvSpPr/>
          <p:nvPr/>
        </p:nvSpPr>
        <p:spPr>
          <a:xfrm>
            <a:off x="2507852" y="981273"/>
            <a:ext cx="1536418" cy="4162227"/>
          </a:xfrm>
          <a:prstGeom prst="rect">
            <a:avLst/>
          </a:prstGeom>
          <a:solidFill>
            <a:srgbClr val="12161F"/>
          </a:solidFill>
          <a:ln w="12700">
            <a:miter lim="400000"/>
          </a:ln>
        </p:spPr>
        <p:txBody>
          <a:bodyPr lIns="0" tIns="0" rIns="0" bIns="0"/>
          <a:lstStyle/>
          <a:p>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hape 0"/>
          <p:cNvSpPr/>
          <p:nvPr/>
        </p:nvSpPr>
        <p:spPr>
          <a:xfrm>
            <a:off x="-1" y="0"/>
            <a:ext cx="9144001" cy="5143501"/>
          </a:xfrm>
          <a:prstGeom prst="rect">
            <a:avLst/>
          </a:prstGeom>
          <a:solidFill>
            <a:srgbClr val="12161F"/>
          </a:solidFill>
          <a:ln w="12700">
            <a:miter lim="400000"/>
          </a:ln>
        </p:spPr>
        <p:txBody>
          <a:bodyPr lIns="0" tIns="0" rIns="0" bIns="0"/>
          <a:lstStyle/>
          <a:p>
            <a:pPr/>
          </a:p>
        </p:txBody>
      </p:sp>
      <p:sp>
        <p:nvSpPr>
          <p:cNvPr id="121"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 story becomes a hidden activation</a:t>
            </a:r>
          </a:p>
        </p:txBody>
      </p:sp>
      <p:sp>
        <p:nvSpPr>
          <p:cNvPr id="122" name="story-cue"/>
          <p:cNvSpPr/>
          <p:nvPr/>
        </p:nvSpPr>
        <p:spPr>
          <a:xfrm>
            <a:off x="269081" y="1938338"/>
            <a:ext cx="2190751" cy="876301"/>
          </a:xfrm>
          <a:prstGeom prst="roundRect">
            <a:avLst>
              <a:gd name="adj" fmla="val 15217"/>
            </a:avLst>
          </a:prstGeom>
          <a:solidFill>
            <a:srgbClr val="1E2D45"/>
          </a:solidFill>
          <a:ln w="14288">
            <a:solidFill>
              <a:srgbClr val="2D6F86"/>
            </a:solidFill>
          </a:ln>
        </p:spPr>
        <p:txBody>
          <a:bodyPr lIns="0" tIns="0" rIns="0" bIns="0"/>
          <a:lstStyle/>
          <a:p>
            <a:pPr/>
          </a:p>
        </p:txBody>
      </p:sp>
      <p:sp>
        <p:nvSpPr>
          <p:cNvPr id="123" name="story-label"/>
          <p:cNvSpPr txBox="1"/>
          <p:nvPr/>
        </p:nvSpPr>
        <p:spPr>
          <a:xfrm>
            <a:off x="457675" y="1983387"/>
            <a:ext cx="59436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STORY</a:t>
            </a:r>
          </a:p>
        </p:txBody>
      </p:sp>
      <p:sp>
        <p:nvSpPr>
          <p:cNvPr id="124"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125" name="llm-label"/>
          <p:cNvSpPr txBox="1"/>
          <p:nvPr/>
        </p:nvSpPr>
        <p:spPr>
          <a:xfrm>
            <a:off x="3055620" y="2085477"/>
            <a:ext cx="670561" cy="3629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EEF2F7"/>
                </a:solidFill>
                <a:latin typeface="Arial"/>
                <a:ea typeface="Arial"/>
                <a:cs typeface="Arial"/>
                <a:sym typeface="Arial"/>
              </a:defRPr>
            </a:lvl1pPr>
          </a:lstStyle>
          <a:p>
            <a:pPr/>
            <a:r>
              <a:t>LLM</a:t>
            </a:r>
          </a:p>
        </p:txBody>
      </p:sp>
      <p:sp>
        <p:nvSpPr>
          <p:cNvPr id="126" name="llm-subtitle"/>
          <p:cNvSpPr txBox="1"/>
          <p:nvPr/>
        </p:nvSpPr>
        <p:spPr>
          <a:xfrm>
            <a:off x="2998470" y="2540807"/>
            <a:ext cx="78486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127"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128"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129"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130"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131"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132"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133" name="space-label"/>
          <p:cNvSpPr txBox="1"/>
          <p:nvPr/>
        </p:nvSpPr>
        <p:spPr>
          <a:xfrm>
            <a:off x="4436745" y="1149949"/>
            <a:ext cx="22898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134"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135" name="space-particle-1"/>
          <p:cNvSpPr/>
          <p:nvPr/>
        </p:nvSpPr>
        <p:spPr>
          <a:xfrm>
            <a:off x="5476875" y="1504950"/>
            <a:ext cx="47626" cy="47626"/>
          </a:xfrm>
          <a:prstGeom prst="ellipse">
            <a:avLst/>
          </a:prstGeom>
          <a:solidFill>
            <a:srgbClr val="40566F"/>
          </a:solidFill>
          <a:ln w="12700">
            <a:miter lim="400000"/>
          </a:ln>
        </p:spPr>
        <p:txBody>
          <a:bodyPr lIns="0" tIns="0" rIns="0" bIns="0"/>
          <a:lstStyle/>
          <a:p>
            <a:pPr/>
          </a:p>
        </p:txBody>
      </p:sp>
      <p:sp>
        <p:nvSpPr>
          <p:cNvPr id="136" name="space-particle-2"/>
          <p:cNvSpPr/>
          <p:nvPr/>
        </p:nvSpPr>
        <p:spPr>
          <a:xfrm>
            <a:off x="6486525" y="1914525"/>
            <a:ext cx="47626" cy="47626"/>
          </a:xfrm>
          <a:prstGeom prst="ellipse">
            <a:avLst/>
          </a:prstGeom>
          <a:solidFill>
            <a:srgbClr val="40566F"/>
          </a:solidFill>
          <a:ln w="12700">
            <a:miter lim="400000"/>
          </a:ln>
        </p:spPr>
        <p:txBody>
          <a:bodyPr lIns="0" tIns="0" rIns="0" bIns="0"/>
          <a:lstStyle/>
          <a:p>
            <a:pPr/>
          </a:p>
        </p:txBody>
      </p:sp>
      <p:sp>
        <p:nvSpPr>
          <p:cNvPr id="137" name="space-particle-3"/>
          <p:cNvSpPr/>
          <p:nvPr/>
        </p:nvSpPr>
        <p:spPr>
          <a:xfrm>
            <a:off x="7962900" y="1628775"/>
            <a:ext cx="47626" cy="47626"/>
          </a:xfrm>
          <a:prstGeom prst="ellipse">
            <a:avLst/>
          </a:prstGeom>
          <a:solidFill>
            <a:srgbClr val="40566F"/>
          </a:solidFill>
          <a:ln w="12700">
            <a:miter lim="400000"/>
          </a:ln>
        </p:spPr>
        <p:txBody>
          <a:bodyPr lIns="0" tIns="0" rIns="0" bIns="0"/>
          <a:lstStyle/>
          <a:p>
            <a:pPr/>
          </a:p>
        </p:txBody>
      </p:sp>
      <p:sp>
        <p:nvSpPr>
          <p:cNvPr id="138" name="space-particle-4"/>
          <p:cNvSpPr/>
          <p:nvPr/>
        </p:nvSpPr>
        <p:spPr>
          <a:xfrm>
            <a:off x="4810125" y="3333750"/>
            <a:ext cx="47626" cy="47626"/>
          </a:xfrm>
          <a:prstGeom prst="ellipse">
            <a:avLst/>
          </a:prstGeom>
          <a:solidFill>
            <a:srgbClr val="40566F"/>
          </a:solidFill>
          <a:ln w="12700">
            <a:miter lim="400000"/>
          </a:ln>
        </p:spPr>
        <p:txBody>
          <a:bodyPr lIns="0" tIns="0" rIns="0" bIns="0"/>
          <a:lstStyle/>
          <a:p>
            <a:pPr/>
          </a:p>
        </p:txBody>
      </p:sp>
      <p:sp>
        <p:nvSpPr>
          <p:cNvPr id="139"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140" name="space-particle-6"/>
          <p:cNvSpPr/>
          <p:nvPr/>
        </p:nvSpPr>
        <p:spPr>
          <a:xfrm>
            <a:off x="6924675" y="3562350"/>
            <a:ext cx="47626" cy="47626"/>
          </a:xfrm>
          <a:prstGeom prst="ellipse">
            <a:avLst/>
          </a:prstGeom>
          <a:solidFill>
            <a:srgbClr val="40566F"/>
          </a:solidFill>
          <a:ln w="12700">
            <a:miter lim="400000"/>
          </a:ln>
        </p:spPr>
        <p:txBody>
          <a:bodyPr lIns="0" tIns="0" rIns="0" bIns="0"/>
          <a:lstStyle/>
          <a:p>
            <a:pPr/>
          </a:p>
        </p:txBody>
      </p:sp>
      <p:sp>
        <p:nvSpPr>
          <p:cNvPr id="141"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142" name="space-particle-8"/>
          <p:cNvSpPr/>
          <p:nvPr/>
        </p:nvSpPr>
        <p:spPr>
          <a:xfrm>
            <a:off x="8448675" y="2352675"/>
            <a:ext cx="47626" cy="47626"/>
          </a:xfrm>
          <a:prstGeom prst="ellipse">
            <a:avLst/>
          </a:prstGeom>
          <a:solidFill>
            <a:srgbClr val="40566F"/>
          </a:solidFill>
          <a:ln w="12700">
            <a:miter lim="400000"/>
          </a:ln>
        </p:spPr>
        <p:txBody>
          <a:bodyPr lIns="0" tIns="0" rIns="0" bIns="0"/>
          <a:lstStyle/>
          <a:p>
            <a:pPr/>
          </a:p>
        </p:txBody>
      </p:sp>
      <p:sp>
        <p:nvSpPr>
          <p:cNvPr id="143" name="Line"/>
          <p:cNvSpPr/>
          <p:nvPr/>
        </p:nvSpPr>
        <p:spPr>
          <a:xfrm>
            <a:off x="2507852" y="2376488"/>
            <a:ext cx="311151" cy="1"/>
          </a:xfrm>
          <a:prstGeom prst="line">
            <a:avLst/>
          </a:prstGeom>
          <a:ln w="28575">
            <a:solidFill>
              <a:srgbClr val="4A9EBA"/>
            </a:solidFill>
            <a:tailEnd type="triangle"/>
          </a:ln>
        </p:spPr>
        <p:txBody>
          <a:bodyPr lIns="0" tIns="0" rIns="0" bIns="0"/>
          <a:lstStyle/>
          <a:p>
            <a:pPr/>
          </a:p>
        </p:txBody>
      </p:sp>
      <p:sp>
        <p:nvSpPr>
          <p:cNvPr id="144" name="ghost-current-up"/>
          <p:cNvSpPr/>
          <p:nvPr/>
        </p:nvSpPr>
        <p:spPr>
          <a:xfrm>
            <a:off x="5357813" y="1639633"/>
            <a:ext cx="2305051" cy="561976"/>
          </a:xfrm>
          <a:prstGeom prst="line">
            <a:avLst/>
          </a:prstGeom>
          <a:ln w="47625">
            <a:solidFill>
              <a:srgbClr val="2A3850"/>
            </a:solidFill>
          </a:ln>
        </p:spPr>
        <p:txBody>
          <a:bodyPr lIns="0" tIns="0" rIns="0" bIns="0"/>
          <a:lstStyle/>
          <a:p>
            <a:pPr/>
          </a:p>
        </p:txBody>
      </p:sp>
      <p:sp>
        <p:nvSpPr>
          <p:cNvPr id="145" name="ghost-current-down"/>
          <p:cNvSpPr/>
          <p:nvPr/>
        </p:nvSpPr>
        <p:spPr>
          <a:xfrm>
            <a:off x="5362574" y="3054168"/>
            <a:ext cx="2143126" cy="581025"/>
          </a:xfrm>
          <a:prstGeom prst="line">
            <a:avLst/>
          </a:prstGeom>
          <a:ln w="47625">
            <a:solidFill>
              <a:srgbClr val="2A3850"/>
            </a:solidFill>
          </a:ln>
        </p:spPr>
        <p:txBody>
          <a:bodyPr lIns="0" tIns="0" rIns="0" bIns="0"/>
          <a:lstStyle/>
          <a:p>
            <a:pPr/>
          </a:p>
        </p:txBody>
      </p:sp>
      <p:sp>
        <p:nvSpPr>
          <p:cNvPr id="146" name="anthropic-citation"/>
          <p:cNvSpPr txBox="1"/>
          <p:nvPr/>
        </p:nvSpPr>
        <p:spPr>
          <a:xfrm>
            <a:off x="5760720" y="4804166"/>
            <a:ext cx="2918461"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147"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48"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49" name="origin-label"/>
          <p:cNvSpPr txBox="1"/>
          <p:nvPr/>
        </p:nvSpPr>
        <p:spPr>
          <a:xfrm>
            <a:off x="4490720" y="2893024"/>
            <a:ext cx="7277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8FA5BB"/>
                </a:solidFill>
                <a:latin typeface="Arial"/>
                <a:ea typeface="Arial"/>
                <a:cs typeface="Arial"/>
                <a:sym typeface="Arial"/>
              </a:defRPr>
            </a:lvl1pPr>
          </a:lstStyle>
          <a:p>
            <a:pPr/>
            <a:r>
              <a:t>neutral</a:t>
            </a:r>
          </a:p>
        </p:txBody>
      </p:sp>
      <p:sp>
        <p:nvSpPr>
          <p:cNvPr id="150" name="story-copy"/>
          <p:cNvSpPr txBox="1"/>
          <p:nvPr/>
        </p:nvSpPr>
        <p:spPr>
          <a:xfrm>
            <a:off x="457675" y="2304893"/>
            <a:ext cx="1813562" cy="2765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EEF2F7"/>
                </a:solidFill>
                <a:latin typeface="Arial"/>
                <a:ea typeface="Arial"/>
                <a:cs typeface="Arial"/>
                <a:sym typeface="Arial"/>
              </a:defRPr>
            </a:lvl1pPr>
          </a:lstStyle>
          <a:p>
            <a:pPr/>
            <a:r>
              <a:t>A very scary story.</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0"/>
          <p:cNvSpPr/>
          <p:nvPr/>
        </p:nvSpPr>
        <p:spPr>
          <a:xfrm>
            <a:off x="-1" y="0"/>
            <a:ext cx="9144001" cy="5143501"/>
          </a:xfrm>
          <a:prstGeom prst="rect">
            <a:avLst/>
          </a:prstGeom>
          <a:solidFill>
            <a:srgbClr val="12161F"/>
          </a:solidFill>
          <a:ln w="12700">
            <a:miter lim="400000"/>
          </a:ln>
        </p:spPr>
        <p:txBody>
          <a:bodyPr lIns="0" tIns="0" rIns="0" bIns="0"/>
          <a:lstStyle/>
          <a:p>
            <a:pPr/>
          </a:p>
        </p:txBody>
      </p:sp>
      <p:sp>
        <p:nvSpPr>
          <p:cNvPr id="155"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A story becomes a hidden activation</a:t>
            </a:r>
          </a:p>
        </p:txBody>
      </p:sp>
      <p:sp>
        <p:nvSpPr>
          <p:cNvPr id="156" name="story-cue"/>
          <p:cNvSpPr/>
          <p:nvPr/>
        </p:nvSpPr>
        <p:spPr>
          <a:xfrm>
            <a:off x="269081" y="1938338"/>
            <a:ext cx="2190751" cy="876301"/>
          </a:xfrm>
          <a:prstGeom prst="roundRect">
            <a:avLst>
              <a:gd name="adj" fmla="val 15217"/>
            </a:avLst>
          </a:prstGeom>
          <a:solidFill>
            <a:srgbClr val="1E2D45"/>
          </a:solidFill>
          <a:ln w="14288">
            <a:solidFill>
              <a:srgbClr val="2D6F86"/>
            </a:solidFill>
          </a:ln>
        </p:spPr>
        <p:txBody>
          <a:bodyPr lIns="0" tIns="0" rIns="0" bIns="0"/>
          <a:lstStyle/>
          <a:p>
            <a:pPr/>
          </a:p>
        </p:txBody>
      </p:sp>
      <p:sp>
        <p:nvSpPr>
          <p:cNvPr id="157" name="story-label"/>
          <p:cNvSpPr txBox="1"/>
          <p:nvPr/>
        </p:nvSpPr>
        <p:spPr>
          <a:xfrm>
            <a:off x="457675" y="1983387"/>
            <a:ext cx="59436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STORY</a:t>
            </a:r>
          </a:p>
        </p:txBody>
      </p:sp>
      <p:sp>
        <p:nvSpPr>
          <p:cNvPr id="158"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159" name="llm-label"/>
          <p:cNvSpPr txBox="1"/>
          <p:nvPr/>
        </p:nvSpPr>
        <p:spPr>
          <a:xfrm>
            <a:off x="3055620" y="2085477"/>
            <a:ext cx="670561" cy="3629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EEF2F7"/>
                </a:solidFill>
                <a:latin typeface="Arial"/>
                <a:ea typeface="Arial"/>
                <a:cs typeface="Arial"/>
                <a:sym typeface="Arial"/>
              </a:defRPr>
            </a:lvl1pPr>
          </a:lstStyle>
          <a:p>
            <a:pPr/>
            <a:r>
              <a:t>LLM</a:t>
            </a:r>
          </a:p>
        </p:txBody>
      </p:sp>
      <p:sp>
        <p:nvSpPr>
          <p:cNvPr id="160" name="llm-subtitle"/>
          <p:cNvSpPr txBox="1"/>
          <p:nvPr/>
        </p:nvSpPr>
        <p:spPr>
          <a:xfrm>
            <a:off x="2998470" y="2540807"/>
            <a:ext cx="78486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161"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162"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163"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164"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165"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166"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167" name="space-label"/>
          <p:cNvSpPr txBox="1"/>
          <p:nvPr/>
        </p:nvSpPr>
        <p:spPr>
          <a:xfrm>
            <a:off x="4436745" y="1149949"/>
            <a:ext cx="22898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168"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169" name="space-particle-1"/>
          <p:cNvSpPr/>
          <p:nvPr/>
        </p:nvSpPr>
        <p:spPr>
          <a:xfrm>
            <a:off x="5476875" y="1504950"/>
            <a:ext cx="47626" cy="47626"/>
          </a:xfrm>
          <a:prstGeom prst="ellipse">
            <a:avLst/>
          </a:prstGeom>
          <a:solidFill>
            <a:srgbClr val="40566F"/>
          </a:solidFill>
          <a:ln w="12700">
            <a:miter lim="400000"/>
          </a:ln>
        </p:spPr>
        <p:txBody>
          <a:bodyPr lIns="0" tIns="0" rIns="0" bIns="0"/>
          <a:lstStyle/>
          <a:p>
            <a:pPr/>
          </a:p>
        </p:txBody>
      </p:sp>
      <p:sp>
        <p:nvSpPr>
          <p:cNvPr id="170" name="space-particle-2"/>
          <p:cNvSpPr/>
          <p:nvPr/>
        </p:nvSpPr>
        <p:spPr>
          <a:xfrm>
            <a:off x="6486525" y="1914525"/>
            <a:ext cx="47626" cy="47626"/>
          </a:xfrm>
          <a:prstGeom prst="ellipse">
            <a:avLst/>
          </a:prstGeom>
          <a:solidFill>
            <a:srgbClr val="40566F"/>
          </a:solidFill>
          <a:ln w="12700">
            <a:miter lim="400000"/>
          </a:ln>
        </p:spPr>
        <p:txBody>
          <a:bodyPr lIns="0" tIns="0" rIns="0" bIns="0"/>
          <a:lstStyle/>
          <a:p>
            <a:pPr/>
          </a:p>
        </p:txBody>
      </p:sp>
      <p:sp>
        <p:nvSpPr>
          <p:cNvPr id="171" name="space-particle-3"/>
          <p:cNvSpPr/>
          <p:nvPr/>
        </p:nvSpPr>
        <p:spPr>
          <a:xfrm>
            <a:off x="7962900" y="1628775"/>
            <a:ext cx="47626" cy="47626"/>
          </a:xfrm>
          <a:prstGeom prst="ellipse">
            <a:avLst/>
          </a:prstGeom>
          <a:solidFill>
            <a:srgbClr val="40566F"/>
          </a:solidFill>
          <a:ln w="12700">
            <a:miter lim="400000"/>
          </a:ln>
        </p:spPr>
        <p:txBody>
          <a:bodyPr lIns="0" tIns="0" rIns="0" bIns="0"/>
          <a:lstStyle/>
          <a:p>
            <a:pPr/>
          </a:p>
        </p:txBody>
      </p:sp>
      <p:sp>
        <p:nvSpPr>
          <p:cNvPr id="172" name="space-particle-4"/>
          <p:cNvSpPr/>
          <p:nvPr/>
        </p:nvSpPr>
        <p:spPr>
          <a:xfrm>
            <a:off x="4810125" y="3333750"/>
            <a:ext cx="47626" cy="47626"/>
          </a:xfrm>
          <a:prstGeom prst="ellipse">
            <a:avLst/>
          </a:prstGeom>
          <a:solidFill>
            <a:srgbClr val="40566F"/>
          </a:solidFill>
          <a:ln w="12700">
            <a:miter lim="400000"/>
          </a:ln>
        </p:spPr>
        <p:txBody>
          <a:bodyPr lIns="0" tIns="0" rIns="0" bIns="0"/>
          <a:lstStyle/>
          <a:p>
            <a:pPr/>
          </a:p>
        </p:txBody>
      </p:sp>
      <p:sp>
        <p:nvSpPr>
          <p:cNvPr id="173"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174" name="space-particle-6"/>
          <p:cNvSpPr/>
          <p:nvPr/>
        </p:nvSpPr>
        <p:spPr>
          <a:xfrm>
            <a:off x="6924675" y="3562350"/>
            <a:ext cx="47626" cy="47626"/>
          </a:xfrm>
          <a:prstGeom prst="ellipse">
            <a:avLst/>
          </a:prstGeom>
          <a:solidFill>
            <a:srgbClr val="40566F"/>
          </a:solidFill>
          <a:ln w="12700">
            <a:miter lim="400000"/>
          </a:ln>
        </p:spPr>
        <p:txBody>
          <a:bodyPr lIns="0" tIns="0" rIns="0" bIns="0"/>
          <a:lstStyle/>
          <a:p>
            <a:pPr/>
          </a:p>
        </p:txBody>
      </p:sp>
      <p:sp>
        <p:nvSpPr>
          <p:cNvPr id="175"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176" name="space-particle-8"/>
          <p:cNvSpPr/>
          <p:nvPr/>
        </p:nvSpPr>
        <p:spPr>
          <a:xfrm>
            <a:off x="8448675" y="2352675"/>
            <a:ext cx="47626" cy="47626"/>
          </a:xfrm>
          <a:prstGeom prst="ellipse">
            <a:avLst/>
          </a:prstGeom>
          <a:solidFill>
            <a:srgbClr val="40566F"/>
          </a:solidFill>
          <a:ln w="12700">
            <a:miter lim="400000"/>
          </a:ln>
        </p:spPr>
        <p:txBody>
          <a:bodyPr lIns="0" tIns="0" rIns="0" bIns="0"/>
          <a:lstStyle/>
          <a:p>
            <a:pPr/>
          </a:p>
        </p:txBody>
      </p:sp>
      <p:sp>
        <p:nvSpPr>
          <p:cNvPr id="177" name="Line"/>
          <p:cNvSpPr/>
          <p:nvPr/>
        </p:nvSpPr>
        <p:spPr>
          <a:xfrm>
            <a:off x="2507852" y="2376488"/>
            <a:ext cx="311151" cy="1"/>
          </a:xfrm>
          <a:prstGeom prst="line">
            <a:avLst/>
          </a:prstGeom>
          <a:ln w="28575">
            <a:solidFill>
              <a:srgbClr val="4A9EBA"/>
            </a:solidFill>
            <a:tailEnd type="triangle"/>
          </a:ln>
        </p:spPr>
        <p:txBody>
          <a:bodyPr lIns="0" tIns="0" rIns="0" bIns="0"/>
          <a:lstStyle/>
          <a:p>
            <a:pPr/>
          </a:p>
        </p:txBody>
      </p:sp>
      <p:sp>
        <p:nvSpPr>
          <p:cNvPr id="178" name="Line"/>
          <p:cNvSpPr/>
          <p:nvPr/>
        </p:nvSpPr>
        <p:spPr>
          <a:xfrm>
            <a:off x="3943350" y="2524125"/>
            <a:ext cx="2476501" cy="200025"/>
          </a:xfrm>
          <a:prstGeom prst="line">
            <a:avLst/>
          </a:prstGeom>
          <a:ln w="28575">
            <a:solidFill>
              <a:srgbClr val="4A9EBA"/>
            </a:solidFill>
            <a:prstDash val="dash"/>
            <a:tailEnd type="triangle"/>
          </a:ln>
        </p:spPr>
        <p:txBody>
          <a:bodyPr lIns="0" tIns="0" rIns="0" bIns="0"/>
          <a:lstStyle/>
          <a:p>
            <a:pPr/>
          </a:p>
        </p:txBody>
      </p:sp>
      <p:sp>
        <p:nvSpPr>
          <p:cNvPr id="179" name="ghost-current-up"/>
          <p:cNvSpPr/>
          <p:nvPr/>
        </p:nvSpPr>
        <p:spPr>
          <a:xfrm>
            <a:off x="5357813" y="1639633"/>
            <a:ext cx="2305051" cy="561976"/>
          </a:xfrm>
          <a:prstGeom prst="line">
            <a:avLst/>
          </a:prstGeom>
          <a:ln w="47625">
            <a:solidFill>
              <a:srgbClr val="2A3850"/>
            </a:solidFill>
          </a:ln>
        </p:spPr>
        <p:txBody>
          <a:bodyPr lIns="0" tIns="0" rIns="0" bIns="0"/>
          <a:lstStyle/>
          <a:p>
            <a:pPr/>
          </a:p>
        </p:txBody>
      </p:sp>
      <p:sp>
        <p:nvSpPr>
          <p:cNvPr id="180" name="ghost-current-down"/>
          <p:cNvSpPr/>
          <p:nvPr/>
        </p:nvSpPr>
        <p:spPr>
          <a:xfrm>
            <a:off x="5362574" y="3054168"/>
            <a:ext cx="2143126" cy="581025"/>
          </a:xfrm>
          <a:prstGeom prst="line">
            <a:avLst/>
          </a:prstGeom>
          <a:ln w="47625">
            <a:solidFill>
              <a:srgbClr val="2A3850"/>
            </a:solidFill>
          </a:ln>
        </p:spPr>
        <p:txBody>
          <a:bodyPr lIns="0" tIns="0" rIns="0" bIns="0"/>
          <a:lstStyle/>
          <a:p>
            <a:pPr/>
          </a:p>
        </p:txBody>
      </p:sp>
      <p:sp>
        <p:nvSpPr>
          <p:cNvPr id="181" name="activation-halo-outer"/>
          <p:cNvSpPr/>
          <p:nvPr/>
        </p:nvSpPr>
        <p:spPr>
          <a:xfrm>
            <a:off x="6191250" y="2476500"/>
            <a:ext cx="495300" cy="495300"/>
          </a:xfrm>
          <a:prstGeom prst="ellipse">
            <a:avLst/>
          </a:prstGeom>
          <a:solidFill>
            <a:srgbClr val="2D6F86"/>
          </a:solidFill>
          <a:ln w="12700">
            <a:miter lim="400000"/>
          </a:ln>
        </p:spPr>
        <p:txBody>
          <a:bodyPr lIns="0" tIns="0" rIns="0" bIns="0"/>
          <a:lstStyle/>
          <a:p>
            <a:pPr/>
          </a:p>
        </p:txBody>
      </p:sp>
      <p:sp>
        <p:nvSpPr>
          <p:cNvPr id="182" name="activation-halo-inner"/>
          <p:cNvSpPr/>
          <p:nvPr/>
        </p:nvSpPr>
        <p:spPr>
          <a:xfrm>
            <a:off x="6286500" y="2571750"/>
            <a:ext cx="304800" cy="304800"/>
          </a:xfrm>
          <a:prstGeom prst="ellipse">
            <a:avLst/>
          </a:prstGeom>
          <a:solidFill>
            <a:srgbClr val="4A9EBA"/>
          </a:solidFill>
          <a:ln w="28575">
            <a:solidFill>
              <a:srgbClr val="FFFFFF"/>
            </a:solidFill>
          </a:ln>
        </p:spPr>
        <p:txBody>
          <a:bodyPr lIns="0" tIns="0" rIns="0" bIns="0"/>
          <a:lstStyle/>
          <a:p>
            <a:pPr/>
          </a:p>
        </p:txBody>
      </p:sp>
      <p:sp>
        <p:nvSpPr>
          <p:cNvPr id="183" name="activation-core"/>
          <p:cNvSpPr/>
          <p:nvPr/>
        </p:nvSpPr>
        <p:spPr>
          <a:xfrm>
            <a:off x="6372225" y="2657475"/>
            <a:ext cx="133350" cy="133350"/>
          </a:xfrm>
          <a:prstGeom prst="ellipse">
            <a:avLst/>
          </a:prstGeom>
          <a:solidFill>
            <a:srgbClr val="FFFFFF"/>
          </a:solidFill>
          <a:ln w="12700">
            <a:miter lim="400000"/>
          </a:ln>
        </p:spPr>
        <p:txBody>
          <a:bodyPr lIns="0" tIns="0" rIns="0" bIns="0"/>
          <a:lstStyle/>
          <a:p>
            <a:pPr/>
          </a:p>
        </p:txBody>
      </p:sp>
      <p:sp>
        <p:nvSpPr>
          <p:cNvPr id="184" name="activation-label"/>
          <p:cNvSpPr txBox="1"/>
          <p:nvPr/>
        </p:nvSpPr>
        <p:spPr>
          <a:xfrm>
            <a:off x="6808469" y="2592022"/>
            <a:ext cx="1489711" cy="26425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solidFill>
                  <a:srgbClr val="EEF2F7"/>
                </a:solidFill>
                <a:latin typeface="Arial"/>
                <a:ea typeface="Arial"/>
                <a:cs typeface="Arial"/>
                <a:sym typeface="Arial"/>
              </a:defRPr>
            </a:lvl1pPr>
          </a:lstStyle>
          <a:p>
            <a:pPr/>
            <a:r>
              <a:t>hidden activation</a:t>
            </a:r>
          </a:p>
        </p:txBody>
      </p:sp>
      <p:sp>
        <p:nvSpPr>
          <p:cNvPr id="185" name="activation-explainer"/>
          <p:cNvSpPr txBox="1"/>
          <p:nvPr/>
        </p:nvSpPr>
        <p:spPr>
          <a:xfrm>
            <a:off x="5051107" y="3717560"/>
            <a:ext cx="2766061" cy="44205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solidFill>
                  <a:srgbClr val="8FA5BB"/>
                </a:solidFill>
                <a:latin typeface="Arial"/>
                <a:ea typeface="Arial"/>
                <a:cs typeface="Arial"/>
                <a:sym typeface="Arial"/>
              </a:defRPr>
            </a:lvl1pPr>
          </a:lstStyle>
          <a:p>
            <a:pPr/>
            <a:r>
              <a:t>Text becomes a location in the model’s internal space.</a:t>
            </a:r>
          </a:p>
        </p:txBody>
      </p:sp>
      <p:sp>
        <p:nvSpPr>
          <p:cNvPr id="186" name="anthropic-citation"/>
          <p:cNvSpPr txBox="1"/>
          <p:nvPr/>
        </p:nvSpPr>
        <p:spPr>
          <a:xfrm>
            <a:off x="5760720" y="4804166"/>
            <a:ext cx="2918461"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187"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88" name="Line"/>
          <p:cNvSpPr/>
          <p:nvPr/>
        </p:nvSpPr>
        <p:spPr>
          <a:xfrm>
            <a:off x="4873625" y="2781300"/>
            <a:ext cx="1254127" cy="0"/>
          </a:xfrm>
          <a:prstGeom prst="line">
            <a:avLst/>
          </a:prstGeom>
          <a:ln w="28575">
            <a:solidFill>
              <a:srgbClr val="FFFFFF"/>
            </a:solidFill>
            <a:tailEnd type="triangle"/>
          </a:ln>
        </p:spPr>
        <p:txBody>
          <a:bodyPr lIns="0" tIns="0" rIns="0" bIns="0"/>
          <a:lstStyle/>
          <a:p>
            <a:pPr/>
          </a:p>
        </p:txBody>
      </p:sp>
      <p:sp>
        <p:nvSpPr>
          <p:cNvPr id="189"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190" name="origin-label"/>
          <p:cNvSpPr txBox="1"/>
          <p:nvPr/>
        </p:nvSpPr>
        <p:spPr>
          <a:xfrm>
            <a:off x="4490720" y="2893024"/>
            <a:ext cx="7277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8FA5BB"/>
                </a:solidFill>
                <a:latin typeface="Arial"/>
                <a:ea typeface="Arial"/>
                <a:cs typeface="Arial"/>
                <a:sym typeface="Arial"/>
              </a:defRPr>
            </a:lvl1pPr>
          </a:lstStyle>
          <a:p>
            <a:pPr/>
            <a:r>
              <a:t>neutral</a:t>
            </a:r>
          </a:p>
        </p:txBody>
      </p:sp>
      <p:sp>
        <p:nvSpPr>
          <p:cNvPr id="191" name="story-copy"/>
          <p:cNvSpPr txBox="1"/>
          <p:nvPr/>
        </p:nvSpPr>
        <p:spPr>
          <a:xfrm>
            <a:off x="457675" y="2304893"/>
            <a:ext cx="1813562" cy="2765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EEF2F7"/>
                </a:solidFill>
                <a:latin typeface="Arial"/>
                <a:ea typeface="Arial"/>
                <a:cs typeface="Arial"/>
                <a:sym typeface="Arial"/>
              </a:defRPr>
            </a:lvl1pPr>
          </a:lstStyle>
          <a:p>
            <a:pPr/>
            <a:r>
              <a:t>A very scary story.</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5" name="Shape 0"/>
          <p:cNvSpPr/>
          <p:nvPr/>
        </p:nvSpPr>
        <p:spPr>
          <a:xfrm>
            <a:off x="0" y="-1"/>
            <a:ext cx="9144001" cy="5143501"/>
          </a:xfrm>
          <a:prstGeom prst="rect">
            <a:avLst/>
          </a:prstGeom>
          <a:solidFill>
            <a:srgbClr val="12161F"/>
          </a:solidFill>
          <a:ln w="12700">
            <a:miter lim="400000"/>
          </a:ln>
        </p:spPr>
        <p:txBody>
          <a:bodyPr lIns="0" tIns="0" rIns="0" bIns="0"/>
          <a:lstStyle/>
          <a:p>
            <a:pPr/>
          </a:p>
        </p:txBody>
      </p:sp>
      <p:sp>
        <p:nvSpPr>
          <p:cNvPr id="196"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Emotion concepts become directions</a:t>
            </a:r>
          </a:p>
        </p:txBody>
      </p:sp>
      <p:sp>
        <p:nvSpPr>
          <p:cNvPr id="197"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198" name="space-label"/>
          <p:cNvSpPr txBox="1"/>
          <p:nvPr/>
        </p:nvSpPr>
        <p:spPr>
          <a:xfrm>
            <a:off x="4195445" y="1149949"/>
            <a:ext cx="22898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199"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200" name="space-particle-1"/>
          <p:cNvSpPr/>
          <p:nvPr/>
        </p:nvSpPr>
        <p:spPr>
          <a:xfrm>
            <a:off x="5235575" y="1504950"/>
            <a:ext cx="47626" cy="47626"/>
          </a:xfrm>
          <a:prstGeom prst="ellipse">
            <a:avLst/>
          </a:prstGeom>
          <a:solidFill>
            <a:srgbClr val="40566F"/>
          </a:solidFill>
          <a:ln w="12700">
            <a:miter lim="400000"/>
          </a:ln>
        </p:spPr>
        <p:txBody>
          <a:bodyPr lIns="0" tIns="0" rIns="0" bIns="0"/>
          <a:lstStyle/>
          <a:p>
            <a:pPr/>
          </a:p>
        </p:txBody>
      </p:sp>
      <p:sp>
        <p:nvSpPr>
          <p:cNvPr id="201" name="space-particle-2"/>
          <p:cNvSpPr/>
          <p:nvPr/>
        </p:nvSpPr>
        <p:spPr>
          <a:xfrm>
            <a:off x="6245225" y="1914525"/>
            <a:ext cx="47626" cy="47626"/>
          </a:xfrm>
          <a:prstGeom prst="ellipse">
            <a:avLst/>
          </a:prstGeom>
          <a:solidFill>
            <a:srgbClr val="40566F"/>
          </a:solidFill>
          <a:ln w="12700">
            <a:miter lim="400000"/>
          </a:ln>
        </p:spPr>
        <p:txBody>
          <a:bodyPr lIns="0" tIns="0" rIns="0" bIns="0"/>
          <a:lstStyle/>
          <a:p>
            <a:pPr/>
          </a:p>
        </p:txBody>
      </p:sp>
      <p:sp>
        <p:nvSpPr>
          <p:cNvPr id="202" name="space-particle-3"/>
          <p:cNvSpPr/>
          <p:nvPr/>
        </p:nvSpPr>
        <p:spPr>
          <a:xfrm>
            <a:off x="7721600" y="1628775"/>
            <a:ext cx="47626" cy="47626"/>
          </a:xfrm>
          <a:prstGeom prst="ellipse">
            <a:avLst/>
          </a:prstGeom>
          <a:solidFill>
            <a:srgbClr val="40566F"/>
          </a:solidFill>
          <a:ln w="12700">
            <a:miter lim="400000"/>
          </a:ln>
        </p:spPr>
        <p:txBody>
          <a:bodyPr lIns="0" tIns="0" rIns="0" bIns="0"/>
          <a:lstStyle/>
          <a:p>
            <a:pPr/>
          </a:p>
        </p:txBody>
      </p:sp>
      <p:sp>
        <p:nvSpPr>
          <p:cNvPr id="203" name="space-particle-4"/>
          <p:cNvSpPr/>
          <p:nvPr/>
        </p:nvSpPr>
        <p:spPr>
          <a:xfrm>
            <a:off x="4568825" y="3333750"/>
            <a:ext cx="47626" cy="47626"/>
          </a:xfrm>
          <a:prstGeom prst="ellipse">
            <a:avLst/>
          </a:prstGeom>
          <a:solidFill>
            <a:srgbClr val="40566F"/>
          </a:solidFill>
          <a:ln w="12700">
            <a:miter lim="400000"/>
          </a:ln>
        </p:spPr>
        <p:txBody>
          <a:bodyPr lIns="0" tIns="0" rIns="0" bIns="0"/>
          <a:lstStyle/>
          <a:p>
            <a:pPr/>
          </a:p>
        </p:txBody>
      </p:sp>
      <p:sp>
        <p:nvSpPr>
          <p:cNvPr id="204"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205" name="space-particle-6"/>
          <p:cNvSpPr/>
          <p:nvPr/>
        </p:nvSpPr>
        <p:spPr>
          <a:xfrm>
            <a:off x="6683375" y="3562350"/>
            <a:ext cx="47626" cy="47626"/>
          </a:xfrm>
          <a:prstGeom prst="ellipse">
            <a:avLst/>
          </a:prstGeom>
          <a:solidFill>
            <a:srgbClr val="40566F"/>
          </a:solidFill>
          <a:ln w="12700">
            <a:miter lim="400000"/>
          </a:ln>
        </p:spPr>
        <p:txBody>
          <a:bodyPr lIns="0" tIns="0" rIns="0" bIns="0"/>
          <a:lstStyle/>
          <a:p>
            <a:pPr/>
          </a:p>
        </p:txBody>
      </p:sp>
      <p:sp>
        <p:nvSpPr>
          <p:cNvPr id="206"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207" name="space-particle-8"/>
          <p:cNvSpPr/>
          <p:nvPr/>
        </p:nvSpPr>
        <p:spPr>
          <a:xfrm>
            <a:off x="8207375" y="2352675"/>
            <a:ext cx="47626" cy="47626"/>
          </a:xfrm>
          <a:prstGeom prst="ellipse">
            <a:avLst/>
          </a:prstGeom>
          <a:solidFill>
            <a:srgbClr val="40566F"/>
          </a:solidFill>
          <a:ln w="12700">
            <a:miter lim="400000"/>
          </a:ln>
        </p:spPr>
        <p:txBody>
          <a:bodyPr lIns="0" tIns="0" rIns="0" bIns="0"/>
          <a:lstStyle/>
          <a:p>
            <a:pPr/>
          </a:p>
        </p:txBody>
      </p:sp>
      <p:sp>
        <p:nvSpPr>
          <p:cNvPr id="208" name="Line"/>
          <p:cNvSpPr/>
          <p:nvPr/>
        </p:nvSpPr>
        <p:spPr>
          <a:xfrm>
            <a:off x="4873625" y="2781300"/>
            <a:ext cx="1666875" cy="0"/>
          </a:xfrm>
          <a:prstGeom prst="line">
            <a:avLst/>
          </a:prstGeom>
          <a:ln w="28575">
            <a:solidFill>
              <a:srgbClr val="FFFFFF"/>
            </a:solidFill>
            <a:tailEnd type="triangle"/>
          </a:ln>
        </p:spPr>
        <p:txBody>
          <a:bodyPr lIns="0" tIns="0" rIns="0" bIns="0"/>
          <a:lstStyle/>
          <a:p>
            <a:pPr/>
          </a:p>
        </p:txBody>
      </p:sp>
      <p:sp>
        <p:nvSpPr>
          <p:cNvPr id="209"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210" name="origin-label"/>
          <p:cNvSpPr txBox="1"/>
          <p:nvPr/>
        </p:nvSpPr>
        <p:spPr>
          <a:xfrm>
            <a:off x="4490720" y="2893024"/>
            <a:ext cx="7277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8FA5BB"/>
                </a:solidFill>
                <a:latin typeface="Arial"/>
                <a:ea typeface="Arial"/>
                <a:cs typeface="Arial"/>
                <a:sym typeface="Arial"/>
              </a:defRPr>
            </a:lvl1pPr>
          </a:lstStyle>
          <a:p>
            <a:pPr/>
            <a:r>
              <a:t>neutral</a:t>
            </a:r>
          </a:p>
        </p:txBody>
      </p:sp>
      <p:sp>
        <p:nvSpPr>
          <p:cNvPr id="211" name="hidden-halo"/>
          <p:cNvSpPr/>
          <p:nvPr/>
        </p:nvSpPr>
        <p:spPr>
          <a:xfrm>
            <a:off x="6359525" y="2581275"/>
            <a:ext cx="400050" cy="400050"/>
          </a:xfrm>
          <a:prstGeom prst="ellipse">
            <a:avLst/>
          </a:prstGeom>
          <a:solidFill>
            <a:srgbClr val="8E3F2D"/>
          </a:solidFill>
          <a:ln w="12700">
            <a:miter lim="400000"/>
          </a:ln>
        </p:spPr>
        <p:txBody>
          <a:bodyPr lIns="0" tIns="0" rIns="0" bIns="0"/>
          <a:lstStyle/>
          <a:p>
            <a:pPr/>
          </a:p>
        </p:txBody>
      </p:sp>
      <p:sp>
        <p:nvSpPr>
          <p:cNvPr id="212" name="hidden-state"/>
          <p:cNvSpPr/>
          <p:nvPr/>
        </p:nvSpPr>
        <p:spPr>
          <a:xfrm>
            <a:off x="6464300" y="2686050"/>
            <a:ext cx="190500" cy="190500"/>
          </a:xfrm>
          <a:prstGeom prst="ellipse">
            <a:avLst/>
          </a:prstGeom>
          <a:solidFill>
            <a:srgbClr val="FFFFFF"/>
          </a:solidFill>
          <a:ln w="28575">
            <a:solidFill>
              <a:srgbClr val="E97C50"/>
            </a:solidFill>
          </a:ln>
        </p:spPr>
        <p:txBody>
          <a:bodyPr lIns="0" tIns="0" rIns="0" bIns="0"/>
          <a:lstStyle/>
          <a:p>
            <a:pPr/>
          </a:p>
        </p:txBody>
      </p:sp>
      <p:sp>
        <p:nvSpPr>
          <p:cNvPr id="213" name="hidden-state-label"/>
          <p:cNvSpPr txBox="1"/>
          <p:nvPr/>
        </p:nvSpPr>
        <p:spPr>
          <a:xfrm>
            <a:off x="6005195" y="2998007"/>
            <a:ext cx="110871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EF2F7"/>
                </a:solidFill>
                <a:latin typeface="Arial"/>
                <a:ea typeface="Arial"/>
                <a:cs typeface="Arial"/>
                <a:sym typeface="Arial"/>
              </a:defRPr>
            </a:lvl1pPr>
          </a:lstStyle>
          <a:p>
            <a:pPr/>
            <a:r>
              <a:t>hidden activation</a:t>
            </a:r>
          </a:p>
        </p:txBody>
      </p:sp>
      <p:sp>
        <p:nvSpPr>
          <p:cNvPr id="214" name="fear-projection-mark"/>
          <p:cNvSpPr/>
          <p:nvPr/>
        </p:nvSpPr>
        <p:spPr>
          <a:xfrm>
            <a:off x="6416675" y="2638425"/>
            <a:ext cx="285750" cy="285750"/>
          </a:xfrm>
          <a:prstGeom prst="ellipse">
            <a:avLst/>
          </a:prstGeom>
          <a:ln w="28575">
            <a:solidFill>
              <a:srgbClr val="E97C50"/>
            </a:solidFill>
          </a:ln>
        </p:spPr>
        <p:txBody>
          <a:bodyPr lIns="0" tIns="0" rIns="0" bIns="0"/>
          <a:lstStyle/>
          <a:p>
            <a:pPr/>
          </a:p>
        </p:txBody>
      </p:sp>
      <p:sp>
        <p:nvSpPr>
          <p:cNvPr id="215" name="projection-label"/>
          <p:cNvSpPr txBox="1"/>
          <p:nvPr/>
        </p:nvSpPr>
        <p:spPr>
          <a:xfrm>
            <a:off x="4300220" y="1778599"/>
            <a:ext cx="12611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8FA5BB"/>
                </a:solidFill>
                <a:latin typeface="Arial"/>
                <a:ea typeface="Arial"/>
                <a:cs typeface="Arial"/>
                <a:sym typeface="Arial"/>
              </a:defRPr>
            </a:lvl1pPr>
          </a:lstStyle>
          <a:p>
            <a:pPr/>
            <a:r>
              <a:t>projection marks</a:t>
            </a:r>
          </a:p>
        </p:txBody>
      </p:sp>
      <p:sp>
        <p:nvSpPr>
          <p:cNvPr id="216" name="alignment-label"/>
          <p:cNvSpPr txBox="1"/>
          <p:nvPr/>
        </p:nvSpPr>
        <p:spPr>
          <a:xfrm>
            <a:off x="5976620" y="2363007"/>
            <a:ext cx="1470661" cy="2269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97C50"/>
                </a:solidFill>
                <a:latin typeface="Arial"/>
                <a:ea typeface="Arial"/>
                <a:cs typeface="Arial"/>
                <a:sym typeface="Arial"/>
              </a:defRPr>
            </a:lvl1pPr>
          </a:lstStyle>
          <a:p>
            <a:pPr/>
            <a:r>
              <a:t>strong alignment</a:t>
            </a:r>
          </a:p>
        </p:txBody>
      </p:sp>
      <p:sp>
        <p:nvSpPr>
          <p:cNvPr id="217" name="anthropic-citation"/>
          <p:cNvSpPr txBox="1"/>
          <p:nvPr/>
        </p:nvSpPr>
        <p:spPr>
          <a:xfrm>
            <a:off x="5760720" y="4804166"/>
            <a:ext cx="2918461"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218" name="story-cue"/>
          <p:cNvSpPr/>
          <p:nvPr/>
        </p:nvSpPr>
        <p:spPr>
          <a:xfrm>
            <a:off x="269081" y="1938338"/>
            <a:ext cx="2190751" cy="876301"/>
          </a:xfrm>
          <a:prstGeom prst="roundRect">
            <a:avLst>
              <a:gd name="adj" fmla="val 15217"/>
            </a:avLst>
          </a:prstGeom>
          <a:solidFill>
            <a:srgbClr val="1E2D45"/>
          </a:solidFill>
          <a:ln w="14288">
            <a:solidFill>
              <a:srgbClr val="2D6F86"/>
            </a:solidFill>
          </a:ln>
        </p:spPr>
        <p:txBody>
          <a:bodyPr lIns="0" tIns="0" rIns="0" bIns="0"/>
          <a:lstStyle/>
          <a:p>
            <a:pPr/>
          </a:p>
        </p:txBody>
      </p:sp>
      <p:sp>
        <p:nvSpPr>
          <p:cNvPr id="219" name="story-label"/>
          <p:cNvSpPr txBox="1"/>
          <p:nvPr/>
        </p:nvSpPr>
        <p:spPr>
          <a:xfrm>
            <a:off x="457675" y="1983387"/>
            <a:ext cx="59436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STORY</a:t>
            </a:r>
          </a:p>
        </p:txBody>
      </p:sp>
      <p:sp>
        <p:nvSpPr>
          <p:cNvPr id="220"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221" name="llm-label"/>
          <p:cNvSpPr txBox="1"/>
          <p:nvPr/>
        </p:nvSpPr>
        <p:spPr>
          <a:xfrm>
            <a:off x="3055620" y="2085477"/>
            <a:ext cx="670561" cy="3629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EEF2F7"/>
                </a:solidFill>
                <a:latin typeface="Arial"/>
                <a:ea typeface="Arial"/>
                <a:cs typeface="Arial"/>
                <a:sym typeface="Arial"/>
              </a:defRPr>
            </a:lvl1pPr>
          </a:lstStyle>
          <a:p>
            <a:pPr/>
            <a:r>
              <a:t>LLM</a:t>
            </a:r>
          </a:p>
        </p:txBody>
      </p:sp>
      <p:sp>
        <p:nvSpPr>
          <p:cNvPr id="222" name="llm-subtitle"/>
          <p:cNvSpPr txBox="1"/>
          <p:nvPr/>
        </p:nvSpPr>
        <p:spPr>
          <a:xfrm>
            <a:off x="2998470" y="2540807"/>
            <a:ext cx="78486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223"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224"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225"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226"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227"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228" name="Line"/>
          <p:cNvSpPr/>
          <p:nvPr/>
        </p:nvSpPr>
        <p:spPr>
          <a:xfrm>
            <a:off x="2507852" y="2376488"/>
            <a:ext cx="311151" cy="1"/>
          </a:xfrm>
          <a:prstGeom prst="line">
            <a:avLst/>
          </a:prstGeom>
          <a:ln w="28575">
            <a:solidFill>
              <a:srgbClr val="4A9EBA"/>
            </a:solidFill>
            <a:tailEnd type="triangle"/>
          </a:ln>
        </p:spPr>
        <p:txBody>
          <a:bodyPr lIns="0" tIns="0" rIns="0" bIns="0"/>
          <a:lstStyle/>
          <a:p>
            <a:pPr/>
          </a:p>
        </p:txBody>
      </p:sp>
      <p:sp>
        <p:nvSpPr>
          <p:cNvPr id="229" name="story-copy"/>
          <p:cNvSpPr txBox="1"/>
          <p:nvPr/>
        </p:nvSpPr>
        <p:spPr>
          <a:xfrm>
            <a:off x="457675" y="2304893"/>
            <a:ext cx="1813562" cy="2765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EEF2F7"/>
                </a:solidFill>
                <a:latin typeface="Arial"/>
                <a:ea typeface="Arial"/>
                <a:cs typeface="Arial"/>
                <a:sym typeface="Arial"/>
              </a:defRPr>
            </a:lvl1pPr>
          </a:lstStyle>
          <a:p>
            <a:pPr/>
            <a:r>
              <a:t>A very scary story.</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Shape 0"/>
          <p:cNvSpPr/>
          <p:nvPr/>
        </p:nvSpPr>
        <p:spPr>
          <a:xfrm>
            <a:off x="0" y="-1"/>
            <a:ext cx="9144001" cy="5143501"/>
          </a:xfrm>
          <a:prstGeom prst="rect">
            <a:avLst/>
          </a:prstGeom>
          <a:solidFill>
            <a:srgbClr val="12161F"/>
          </a:solidFill>
          <a:ln w="12700">
            <a:miter lim="400000"/>
          </a:ln>
        </p:spPr>
        <p:txBody>
          <a:bodyPr lIns="0" tIns="0" rIns="0" bIns="0"/>
          <a:lstStyle/>
          <a:p>
            <a:pPr/>
          </a:p>
        </p:txBody>
      </p:sp>
      <p:sp>
        <p:nvSpPr>
          <p:cNvPr id="234"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Emotion concepts become directions</a:t>
            </a:r>
          </a:p>
        </p:txBody>
      </p:sp>
      <p:sp>
        <p:nvSpPr>
          <p:cNvPr id="235"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236" name="space-label"/>
          <p:cNvSpPr txBox="1"/>
          <p:nvPr/>
        </p:nvSpPr>
        <p:spPr>
          <a:xfrm>
            <a:off x="4195445" y="1149949"/>
            <a:ext cx="22898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237"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238" name="space-particle-1"/>
          <p:cNvSpPr/>
          <p:nvPr/>
        </p:nvSpPr>
        <p:spPr>
          <a:xfrm>
            <a:off x="5235575" y="1504950"/>
            <a:ext cx="47626" cy="47626"/>
          </a:xfrm>
          <a:prstGeom prst="ellipse">
            <a:avLst/>
          </a:prstGeom>
          <a:solidFill>
            <a:srgbClr val="40566F"/>
          </a:solidFill>
          <a:ln w="12700">
            <a:miter lim="400000"/>
          </a:ln>
        </p:spPr>
        <p:txBody>
          <a:bodyPr lIns="0" tIns="0" rIns="0" bIns="0"/>
          <a:lstStyle/>
          <a:p>
            <a:pPr/>
          </a:p>
        </p:txBody>
      </p:sp>
      <p:sp>
        <p:nvSpPr>
          <p:cNvPr id="239" name="space-particle-2"/>
          <p:cNvSpPr/>
          <p:nvPr/>
        </p:nvSpPr>
        <p:spPr>
          <a:xfrm>
            <a:off x="6245225" y="1914525"/>
            <a:ext cx="47626" cy="47626"/>
          </a:xfrm>
          <a:prstGeom prst="ellipse">
            <a:avLst/>
          </a:prstGeom>
          <a:solidFill>
            <a:srgbClr val="40566F"/>
          </a:solidFill>
          <a:ln w="12700">
            <a:miter lim="400000"/>
          </a:ln>
        </p:spPr>
        <p:txBody>
          <a:bodyPr lIns="0" tIns="0" rIns="0" bIns="0"/>
          <a:lstStyle/>
          <a:p>
            <a:pPr/>
          </a:p>
        </p:txBody>
      </p:sp>
      <p:sp>
        <p:nvSpPr>
          <p:cNvPr id="240" name="space-particle-3"/>
          <p:cNvSpPr/>
          <p:nvPr/>
        </p:nvSpPr>
        <p:spPr>
          <a:xfrm>
            <a:off x="7721600" y="1628775"/>
            <a:ext cx="47626" cy="47626"/>
          </a:xfrm>
          <a:prstGeom prst="ellipse">
            <a:avLst/>
          </a:prstGeom>
          <a:solidFill>
            <a:srgbClr val="40566F"/>
          </a:solidFill>
          <a:ln w="12700">
            <a:miter lim="400000"/>
          </a:ln>
        </p:spPr>
        <p:txBody>
          <a:bodyPr lIns="0" tIns="0" rIns="0" bIns="0"/>
          <a:lstStyle/>
          <a:p>
            <a:pPr/>
          </a:p>
        </p:txBody>
      </p:sp>
      <p:sp>
        <p:nvSpPr>
          <p:cNvPr id="241" name="space-particle-4"/>
          <p:cNvSpPr/>
          <p:nvPr/>
        </p:nvSpPr>
        <p:spPr>
          <a:xfrm>
            <a:off x="4568825" y="3333750"/>
            <a:ext cx="47626" cy="47626"/>
          </a:xfrm>
          <a:prstGeom prst="ellipse">
            <a:avLst/>
          </a:prstGeom>
          <a:solidFill>
            <a:srgbClr val="40566F"/>
          </a:solidFill>
          <a:ln w="12700">
            <a:miter lim="400000"/>
          </a:ln>
        </p:spPr>
        <p:txBody>
          <a:bodyPr lIns="0" tIns="0" rIns="0" bIns="0"/>
          <a:lstStyle/>
          <a:p>
            <a:pPr/>
          </a:p>
        </p:txBody>
      </p:sp>
      <p:sp>
        <p:nvSpPr>
          <p:cNvPr id="242"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243" name="space-particle-6"/>
          <p:cNvSpPr/>
          <p:nvPr/>
        </p:nvSpPr>
        <p:spPr>
          <a:xfrm>
            <a:off x="6683375" y="3562350"/>
            <a:ext cx="47626" cy="47626"/>
          </a:xfrm>
          <a:prstGeom prst="ellipse">
            <a:avLst/>
          </a:prstGeom>
          <a:solidFill>
            <a:srgbClr val="40566F"/>
          </a:solidFill>
          <a:ln w="12700">
            <a:miter lim="400000"/>
          </a:ln>
        </p:spPr>
        <p:txBody>
          <a:bodyPr lIns="0" tIns="0" rIns="0" bIns="0"/>
          <a:lstStyle/>
          <a:p>
            <a:pPr/>
          </a:p>
        </p:txBody>
      </p:sp>
      <p:sp>
        <p:nvSpPr>
          <p:cNvPr id="244"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245" name="space-particle-8"/>
          <p:cNvSpPr/>
          <p:nvPr/>
        </p:nvSpPr>
        <p:spPr>
          <a:xfrm>
            <a:off x="8207375" y="2352675"/>
            <a:ext cx="47626" cy="47626"/>
          </a:xfrm>
          <a:prstGeom prst="ellipse">
            <a:avLst/>
          </a:prstGeom>
          <a:solidFill>
            <a:srgbClr val="40566F"/>
          </a:solidFill>
          <a:ln w="12700">
            <a:miter lim="400000"/>
          </a:ln>
        </p:spPr>
        <p:txBody>
          <a:bodyPr lIns="0" tIns="0" rIns="0" bIns="0"/>
          <a:lstStyle/>
          <a:p>
            <a:pPr/>
          </a:p>
        </p:txBody>
      </p:sp>
      <p:sp>
        <p:nvSpPr>
          <p:cNvPr id="246" name="Line"/>
          <p:cNvSpPr/>
          <p:nvPr/>
        </p:nvSpPr>
        <p:spPr>
          <a:xfrm>
            <a:off x="4873625" y="2781300"/>
            <a:ext cx="2981325" cy="0"/>
          </a:xfrm>
          <a:prstGeom prst="line">
            <a:avLst/>
          </a:prstGeom>
          <a:ln w="171450">
            <a:solidFill>
              <a:srgbClr val="8E3F2D"/>
            </a:solidFill>
          </a:ln>
        </p:spPr>
        <p:txBody>
          <a:bodyPr lIns="0" tIns="0" rIns="0" bIns="0"/>
          <a:lstStyle/>
          <a:p>
            <a:pPr/>
          </a:p>
        </p:txBody>
      </p:sp>
      <p:sp>
        <p:nvSpPr>
          <p:cNvPr id="247" name="Line"/>
          <p:cNvSpPr/>
          <p:nvPr/>
        </p:nvSpPr>
        <p:spPr>
          <a:xfrm>
            <a:off x="4873625" y="2781300"/>
            <a:ext cx="2981325" cy="0"/>
          </a:xfrm>
          <a:prstGeom prst="line">
            <a:avLst/>
          </a:prstGeom>
          <a:ln w="57150">
            <a:solidFill>
              <a:srgbClr val="E97C50"/>
            </a:solidFill>
            <a:tailEnd type="triangle"/>
          </a:ln>
        </p:spPr>
        <p:txBody>
          <a:bodyPr lIns="0" tIns="0" rIns="0" bIns="0"/>
          <a:lstStyle/>
          <a:p>
            <a:pPr/>
          </a:p>
        </p:txBody>
      </p:sp>
      <p:sp>
        <p:nvSpPr>
          <p:cNvPr id="248" name="Line"/>
          <p:cNvSpPr/>
          <p:nvPr/>
        </p:nvSpPr>
        <p:spPr>
          <a:xfrm>
            <a:off x="4873625" y="2781300"/>
            <a:ext cx="1666875" cy="0"/>
          </a:xfrm>
          <a:prstGeom prst="line">
            <a:avLst/>
          </a:prstGeom>
          <a:ln w="28575">
            <a:solidFill>
              <a:srgbClr val="FFFFFF"/>
            </a:solidFill>
            <a:tailEnd type="triangle"/>
          </a:ln>
        </p:spPr>
        <p:txBody>
          <a:bodyPr lIns="0" tIns="0" rIns="0" bIns="0"/>
          <a:lstStyle/>
          <a:p>
            <a:pPr/>
          </a:p>
        </p:txBody>
      </p:sp>
      <p:sp>
        <p:nvSpPr>
          <p:cNvPr id="249" name="Line"/>
          <p:cNvSpPr/>
          <p:nvPr/>
        </p:nvSpPr>
        <p:spPr>
          <a:xfrm flipH="1">
            <a:off x="5635624" y="2781300"/>
            <a:ext cx="904876" cy="323850"/>
          </a:xfrm>
          <a:prstGeom prst="line">
            <a:avLst/>
          </a:prstGeom>
          <a:ln w="14288">
            <a:solidFill>
              <a:srgbClr val="8FA5BB"/>
            </a:solidFill>
            <a:prstDash val="dash"/>
          </a:ln>
        </p:spPr>
        <p:txBody>
          <a:bodyPr lIns="0" tIns="0" rIns="0" bIns="0"/>
          <a:lstStyle/>
          <a:p>
            <a:pPr/>
          </a:p>
        </p:txBody>
      </p:sp>
      <p:sp>
        <p:nvSpPr>
          <p:cNvPr id="250"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251" name="origin-label"/>
          <p:cNvSpPr txBox="1"/>
          <p:nvPr/>
        </p:nvSpPr>
        <p:spPr>
          <a:xfrm>
            <a:off x="4490720" y="2893024"/>
            <a:ext cx="7277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8FA5BB"/>
                </a:solidFill>
                <a:latin typeface="Arial"/>
                <a:ea typeface="Arial"/>
                <a:cs typeface="Arial"/>
                <a:sym typeface="Arial"/>
              </a:defRPr>
            </a:lvl1pPr>
          </a:lstStyle>
          <a:p>
            <a:pPr/>
            <a:r>
              <a:t>neutral</a:t>
            </a:r>
          </a:p>
        </p:txBody>
      </p:sp>
      <p:sp>
        <p:nvSpPr>
          <p:cNvPr id="252" name="fear-node"/>
          <p:cNvSpPr/>
          <p:nvPr/>
        </p:nvSpPr>
        <p:spPr>
          <a:xfrm>
            <a:off x="7731125" y="2638425"/>
            <a:ext cx="285750" cy="285750"/>
          </a:xfrm>
          <a:prstGeom prst="diamond">
            <a:avLst/>
          </a:prstGeom>
          <a:solidFill>
            <a:srgbClr val="E97C50"/>
          </a:solidFill>
          <a:ln w="19050">
            <a:solidFill>
              <a:srgbClr val="FFFFFF"/>
            </a:solidFill>
          </a:ln>
        </p:spPr>
        <p:txBody>
          <a:bodyPr lIns="0" tIns="0" rIns="0" bIns="0"/>
          <a:lstStyle/>
          <a:p>
            <a:pPr/>
          </a:p>
        </p:txBody>
      </p:sp>
      <p:sp>
        <p:nvSpPr>
          <p:cNvPr id="253" name="fear-label"/>
          <p:cNvSpPr txBox="1"/>
          <p:nvPr/>
        </p:nvSpPr>
        <p:spPr>
          <a:xfrm>
            <a:off x="8081644" y="2630746"/>
            <a:ext cx="632461" cy="3011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i="1" sz="1500">
                <a:solidFill>
                  <a:srgbClr val="E97C50"/>
                </a:solidFill>
                <a:latin typeface="Arial"/>
                <a:ea typeface="Arial"/>
                <a:cs typeface="Arial"/>
                <a:sym typeface="Arial"/>
              </a:defRPr>
            </a:lvl1pPr>
          </a:lstStyle>
          <a:p>
            <a:pPr/>
            <a:r>
              <a:t>fear</a:t>
            </a:r>
          </a:p>
        </p:txBody>
      </p:sp>
      <p:sp>
        <p:nvSpPr>
          <p:cNvPr id="254" name="hidden-halo"/>
          <p:cNvSpPr/>
          <p:nvPr/>
        </p:nvSpPr>
        <p:spPr>
          <a:xfrm>
            <a:off x="6359525" y="2581275"/>
            <a:ext cx="400050" cy="400050"/>
          </a:xfrm>
          <a:prstGeom prst="ellipse">
            <a:avLst/>
          </a:prstGeom>
          <a:solidFill>
            <a:srgbClr val="8E3F2D"/>
          </a:solidFill>
          <a:ln w="12700">
            <a:miter lim="400000"/>
          </a:ln>
        </p:spPr>
        <p:txBody>
          <a:bodyPr lIns="0" tIns="0" rIns="0" bIns="0"/>
          <a:lstStyle/>
          <a:p>
            <a:pPr/>
          </a:p>
        </p:txBody>
      </p:sp>
      <p:sp>
        <p:nvSpPr>
          <p:cNvPr id="255" name="hidden-state"/>
          <p:cNvSpPr/>
          <p:nvPr/>
        </p:nvSpPr>
        <p:spPr>
          <a:xfrm>
            <a:off x="6464300" y="2686050"/>
            <a:ext cx="190500" cy="190500"/>
          </a:xfrm>
          <a:prstGeom prst="ellipse">
            <a:avLst/>
          </a:prstGeom>
          <a:solidFill>
            <a:srgbClr val="FFFFFF"/>
          </a:solidFill>
          <a:ln w="28575">
            <a:solidFill>
              <a:srgbClr val="E97C50"/>
            </a:solidFill>
          </a:ln>
        </p:spPr>
        <p:txBody>
          <a:bodyPr lIns="0" tIns="0" rIns="0" bIns="0"/>
          <a:lstStyle/>
          <a:p>
            <a:pPr/>
          </a:p>
        </p:txBody>
      </p:sp>
      <p:sp>
        <p:nvSpPr>
          <p:cNvPr id="256" name="hidden-state-label"/>
          <p:cNvSpPr txBox="1"/>
          <p:nvPr/>
        </p:nvSpPr>
        <p:spPr>
          <a:xfrm>
            <a:off x="6005195" y="2998007"/>
            <a:ext cx="110871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EF2F7"/>
                </a:solidFill>
                <a:latin typeface="Arial"/>
                <a:ea typeface="Arial"/>
                <a:cs typeface="Arial"/>
                <a:sym typeface="Arial"/>
              </a:defRPr>
            </a:lvl1pPr>
          </a:lstStyle>
          <a:p>
            <a:pPr/>
            <a:r>
              <a:t>hidden activation</a:t>
            </a:r>
          </a:p>
        </p:txBody>
      </p:sp>
      <p:sp>
        <p:nvSpPr>
          <p:cNvPr id="257" name="fear-projection-mark"/>
          <p:cNvSpPr/>
          <p:nvPr/>
        </p:nvSpPr>
        <p:spPr>
          <a:xfrm>
            <a:off x="6416675" y="2638425"/>
            <a:ext cx="285750" cy="285750"/>
          </a:xfrm>
          <a:prstGeom prst="ellipse">
            <a:avLst/>
          </a:prstGeom>
          <a:ln w="28575">
            <a:solidFill>
              <a:srgbClr val="E97C50"/>
            </a:solidFill>
          </a:ln>
        </p:spPr>
        <p:txBody>
          <a:bodyPr lIns="0" tIns="0" rIns="0" bIns="0"/>
          <a:lstStyle/>
          <a:p>
            <a:pPr/>
          </a:p>
        </p:txBody>
      </p:sp>
      <p:sp>
        <p:nvSpPr>
          <p:cNvPr id="258" name="projection-label"/>
          <p:cNvSpPr txBox="1"/>
          <p:nvPr/>
        </p:nvSpPr>
        <p:spPr>
          <a:xfrm>
            <a:off x="4300220" y="1778599"/>
            <a:ext cx="12611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8FA5BB"/>
                </a:solidFill>
                <a:latin typeface="Arial"/>
                <a:ea typeface="Arial"/>
                <a:cs typeface="Arial"/>
                <a:sym typeface="Arial"/>
              </a:defRPr>
            </a:lvl1pPr>
          </a:lstStyle>
          <a:p>
            <a:pPr/>
            <a:r>
              <a:t>projection marks</a:t>
            </a:r>
          </a:p>
        </p:txBody>
      </p:sp>
      <p:sp>
        <p:nvSpPr>
          <p:cNvPr id="259" name="alignment-label"/>
          <p:cNvSpPr txBox="1"/>
          <p:nvPr/>
        </p:nvSpPr>
        <p:spPr>
          <a:xfrm>
            <a:off x="5976620" y="2363007"/>
            <a:ext cx="1470661" cy="2269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97C50"/>
                </a:solidFill>
                <a:latin typeface="Arial"/>
                <a:ea typeface="Arial"/>
                <a:cs typeface="Arial"/>
                <a:sym typeface="Arial"/>
              </a:defRPr>
            </a:lvl1pPr>
          </a:lstStyle>
          <a:p>
            <a:pPr/>
            <a:r>
              <a:t>strong alignment</a:t>
            </a:r>
          </a:p>
        </p:txBody>
      </p:sp>
      <p:sp>
        <p:nvSpPr>
          <p:cNvPr id="260" name="anthropic-citation"/>
          <p:cNvSpPr txBox="1"/>
          <p:nvPr/>
        </p:nvSpPr>
        <p:spPr>
          <a:xfrm>
            <a:off x="5760720" y="4804166"/>
            <a:ext cx="2918461"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261" name="story-cue"/>
          <p:cNvSpPr/>
          <p:nvPr/>
        </p:nvSpPr>
        <p:spPr>
          <a:xfrm>
            <a:off x="269081" y="1938338"/>
            <a:ext cx="2190751" cy="876301"/>
          </a:xfrm>
          <a:prstGeom prst="roundRect">
            <a:avLst>
              <a:gd name="adj" fmla="val 15217"/>
            </a:avLst>
          </a:prstGeom>
          <a:solidFill>
            <a:srgbClr val="1E2D45"/>
          </a:solidFill>
          <a:ln w="14288">
            <a:solidFill>
              <a:srgbClr val="2D6F86"/>
            </a:solidFill>
          </a:ln>
        </p:spPr>
        <p:txBody>
          <a:bodyPr lIns="0" tIns="0" rIns="0" bIns="0"/>
          <a:lstStyle/>
          <a:p>
            <a:pPr/>
          </a:p>
        </p:txBody>
      </p:sp>
      <p:sp>
        <p:nvSpPr>
          <p:cNvPr id="262" name="story-label"/>
          <p:cNvSpPr txBox="1"/>
          <p:nvPr/>
        </p:nvSpPr>
        <p:spPr>
          <a:xfrm>
            <a:off x="457675" y="1983387"/>
            <a:ext cx="59436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STORY</a:t>
            </a:r>
          </a:p>
        </p:txBody>
      </p:sp>
      <p:sp>
        <p:nvSpPr>
          <p:cNvPr id="263"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264" name="llm-label"/>
          <p:cNvSpPr txBox="1"/>
          <p:nvPr/>
        </p:nvSpPr>
        <p:spPr>
          <a:xfrm>
            <a:off x="3055620" y="2085477"/>
            <a:ext cx="670561" cy="3629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EEF2F7"/>
                </a:solidFill>
                <a:latin typeface="Arial"/>
                <a:ea typeface="Arial"/>
                <a:cs typeface="Arial"/>
                <a:sym typeface="Arial"/>
              </a:defRPr>
            </a:lvl1pPr>
          </a:lstStyle>
          <a:p>
            <a:pPr/>
            <a:r>
              <a:t>LLM</a:t>
            </a:r>
          </a:p>
        </p:txBody>
      </p:sp>
      <p:sp>
        <p:nvSpPr>
          <p:cNvPr id="265" name="llm-subtitle"/>
          <p:cNvSpPr txBox="1"/>
          <p:nvPr/>
        </p:nvSpPr>
        <p:spPr>
          <a:xfrm>
            <a:off x="2998470" y="2540807"/>
            <a:ext cx="78486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266"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267"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268"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269"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270"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271" name="Line"/>
          <p:cNvSpPr/>
          <p:nvPr/>
        </p:nvSpPr>
        <p:spPr>
          <a:xfrm>
            <a:off x="2507852" y="2376488"/>
            <a:ext cx="311151" cy="1"/>
          </a:xfrm>
          <a:prstGeom prst="line">
            <a:avLst/>
          </a:prstGeom>
          <a:ln w="28575">
            <a:solidFill>
              <a:srgbClr val="4A9EBA"/>
            </a:solidFill>
            <a:tailEnd type="triangle"/>
          </a:ln>
        </p:spPr>
        <p:txBody>
          <a:bodyPr lIns="0" tIns="0" rIns="0" bIns="0"/>
          <a:lstStyle/>
          <a:p>
            <a:pPr/>
          </a:p>
        </p:txBody>
      </p:sp>
      <p:sp>
        <p:nvSpPr>
          <p:cNvPr id="272" name="Line"/>
          <p:cNvSpPr/>
          <p:nvPr/>
        </p:nvSpPr>
        <p:spPr>
          <a:xfrm>
            <a:off x="3889959" y="2532307"/>
            <a:ext cx="2288591" cy="191844"/>
          </a:xfrm>
          <a:prstGeom prst="line">
            <a:avLst/>
          </a:prstGeom>
          <a:ln w="28575">
            <a:solidFill>
              <a:srgbClr val="4A9EBA"/>
            </a:solidFill>
            <a:prstDash val="dash"/>
            <a:tailEnd type="triangle"/>
          </a:ln>
        </p:spPr>
        <p:txBody>
          <a:bodyPr lIns="0" tIns="0" rIns="0" bIns="0"/>
          <a:lstStyle/>
          <a:p>
            <a:pPr/>
          </a:p>
        </p:txBody>
      </p:sp>
      <p:sp>
        <p:nvSpPr>
          <p:cNvPr id="273" name="story-copy"/>
          <p:cNvSpPr txBox="1"/>
          <p:nvPr/>
        </p:nvSpPr>
        <p:spPr>
          <a:xfrm>
            <a:off x="457675" y="2304893"/>
            <a:ext cx="1813562" cy="2765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EEF2F7"/>
                </a:solidFill>
                <a:latin typeface="Arial"/>
                <a:ea typeface="Arial"/>
                <a:cs typeface="Arial"/>
                <a:sym typeface="Arial"/>
              </a:defRPr>
            </a:lvl1pPr>
          </a:lstStyle>
          <a:p>
            <a:pPr/>
            <a:r>
              <a:t>A very scary story.</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Shape 0"/>
          <p:cNvSpPr/>
          <p:nvPr/>
        </p:nvSpPr>
        <p:spPr>
          <a:xfrm>
            <a:off x="0" y="-1"/>
            <a:ext cx="9144001" cy="5143501"/>
          </a:xfrm>
          <a:prstGeom prst="rect">
            <a:avLst/>
          </a:prstGeom>
          <a:solidFill>
            <a:srgbClr val="12161F"/>
          </a:solidFill>
          <a:ln w="12700">
            <a:miter lim="400000"/>
          </a:ln>
        </p:spPr>
        <p:txBody>
          <a:bodyPr lIns="0" tIns="0" rIns="0" bIns="0"/>
          <a:lstStyle/>
          <a:p>
            <a:pPr/>
          </a:p>
        </p:txBody>
      </p:sp>
      <p:sp>
        <p:nvSpPr>
          <p:cNvPr id="278"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Emotion concepts become directions</a:t>
            </a:r>
          </a:p>
        </p:txBody>
      </p:sp>
      <p:sp>
        <p:nvSpPr>
          <p:cNvPr id="279"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280" name="space-label"/>
          <p:cNvSpPr txBox="1"/>
          <p:nvPr/>
        </p:nvSpPr>
        <p:spPr>
          <a:xfrm>
            <a:off x="4195444" y="1149949"/>
            <a:ext cx="2289812"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281"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282" name="space-particle-1"/>
          <p:cNvSpPr/>
          <p:nvPr/>
        </p:nvSpPr>
        <p:spPr>
          <a:xfrm>
            <a:off x="5235575" y="1504950"/>
            <a:ext cx="47626" cy="47626"/>
          </a:xfrm>
          <a:prstGeom prst="ellipse">
            <a:avLst/>
          </a:prstGeom>
          <a:solidFill>
            <a:srgbClr val="40566F"/>
          </a:solidFill>
          <a:ln w="12700">
            <a:miter lim="400000"/>
          </a:ln>
        </p:spPr>
        <p:txBody>
          <a:bodyPr lIns="0" tIns="0" rIns="0" bIns="0"/>
          <a:lstStyle/>
          <a:p>
            <a:pPr/>
          </a:p>
        </p:txBody>
      </p:sp>
      <p:sp>
        <p:nvSpPr>
          <p:cNvPr id="283" name="space-particle-2"/>
          <p:cNvSpPr/>
          <p:nvPr/>
        </p:nvSpPr>
        <p:spPr>
          <a:xfrm>
            <a:off x="6245225" y="1914525"/>
            <a:ext cx="47626" cy="47626"/>
          </a:xfrm>
          <a:prstGeom prst="ellipse">
            <a:avLst/>
          </a:prstGeom>
          <a:solidFill>
            <a:srgbClr val="40566F"/>
          </a:solidFill>
          <a:ln w="12700">
            <a:miter lim="400000"/>
          </a:ln>
        </p:spPr>
        <p:txBody>
          <a:bodyPr lIns="0" tIns="0" rIns="0" bIns="0"/>
          <a:lstStyle/>
          <a:p>
            <a:pPr/>
          </a:p>
        </p:txBody>
      </p:sp>
      <p:sp>
        <p:nvSpPr>
          <p:cNvPr id="284" name="space-particle-3"/>
          <p:cNvSpPr/>
          <p:nvPr/>
        </p:nvSpPr>
        <p:spPr>
          <a:xfrm>
            <a:off x="7721600" y="1628775"/>
            <a:ext cx="47626" cy="47626"/>
          </a:xfrm>
          <a:prstGeom prst="ellipse">
            <a:avLst/>
          </a:prstGeom>
          <a:solidFill>
            <a:srgbClr val="40566F"/>
          </a:solidFill>
          <a:ln w="12700">
            <a:miter lim="400000"/>
          </a:ln>
        </p:spPr>
        <p:txBody>
          <a:bodyPr lIns="0" tIns="0" rIns="0" bIns="0"/>
          <a:lstStyle/>
          <a:p>
            <a:pPr/>
          </a:p>
        </p:txBody>
      </p:sp>
      <p:sp>
        <p:nvSpPr>
          <p:cNvPr id="285" name="space-particle-4"/>
          <p:cNvSpPr/>
          <p:nvPr/>
        </p:nvSpPr>
        <p:spPr>
          <a:xfrm>
            <a:off x="4568825" y="3333750"/>
            <a:ext cx="47626" cy="47626"/>
          </a:xfrm>
          <a:prstGeom prst="ellipse">
            <a:avLst/>
          </a:prstGeom>
          <a:solidFill>
            <a:srgbClr val="40566F"/>
          </a:solidFill>
          <a:ln w="12700">
            <a:miter lim="400000"/>
          </a:ln>
        </p:spPr>
        <p:txBody>
          <a:bodyPr lIns="0" tIns="0" rIns="0" bIns="0"/>
          <a:lstStyle/>
          <a:p>
            <a:pPr/>
          </a:p>
        </p:txBody>
      </p:sp>
      <p:sp>
        <p:nvSpPr>
          <p:cNvPr id="286"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287" name="space-particle-6"/>
          <p:cNvSpPr/>
          <p:nvPr/>
        </p:nvSpPr>
        <p:spPr>
          <a:xfrm>
            <a:off x="6683375" y="3562350"/>
            <a:ext cx="47626" cy="47626"/>
          </a:xfrm>
          <a:prstGeom prst="ellipse">
            <a:avLst/>
          </a:prstGeom>
          <a:solidFill>
            <a:srgbClr val="40566F"/>
          </a:solidFill>
          <a:ln w="12700">
            <a:miter lim="400000"/>
          </a:ln>
        </p:spPr>
        <p:txBody>
          <a:bodyPr lIns="0" tIns="0" rIns="0" bIns="0"/>
          <a:lstStyle/>
          <a:p>
            <a:pPr/>
          </a:p>
        </p:txBody>
      </p:sp>
      <p:sp>
        <p:nvSpPr>
          <p:cNvPr id="288"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289" name="space-particle-8"/>
          <p:cNvSpPr/>
          <p:nvPr/>
        </p:nvSpPr>
        <p:spPr>
          <a:xfrm>
            <a:off x="8207375" y="2352675"/>
            <a:ext cx="47626" cy="47626"/>
          </a:xfrm>
          <a:prstGeom prst="ellipse">
            <a:avLst/>
          </a:prstGeom>
          <a:solidFill>
            <a:srgbClr val="40566F"/>
          </a:solidFill>
          <a:ln w="12700">
            <a:miter lim="400000"/>
          </a:ln>
        </p:spPr>
        <p:txBody>
          <a:bodyPr lIns="0" tIns="0" rIns="0" bIns="0"/>
          <a:lstStyle/>
          <a:p>
            <a:pPr/>
          </a:p>
        </p:txBody>
      </p:sp>
      <p:sp>
        <p:nvSpPr>
          <p:cNvPr id="290" name="Line"/>
          <p:cNvSpPr/>
          <p:nvPr/>
        </p:nvSpPr>
        <p:spPr>
          <a:xfrm flipV="1">
            <a:off x="4868045" y="1670819"/>
            <a:ext cx="2659110" cy="1097010"/>
          </a:xfrm>
          <a:prstGeom prst="line">
            <a:avLst/>
          </a:prstGeom>
          <a:ln w="114300">
            <a:solidFill>
              <a:srgbClr val="2F6E58"/>
            </a:solidFill>
          </a:ln>
        </p:spPr>
        <p:txBody>
          <a:bodyPr lIns="0" tIns="0" rIns="0" bIns="0"/>
          <a:lstStyle/>
          <a:p>
            <a:pPr/>
          </a:p>
        </p:txBody>
      </p:sp>
      <p:sp>
        <p:nvSpPr>
          <p:cNvPr id="291" name="Line"/>
          <p:cNvSpPr/>
          <p:nvPr/>
        </p:nvSpPr>
        <p:spPr>
          <a:xfrm flipV="1">
            <a:off x="4868045" y="1670819"/>
            <a:ext cx="2659110" cy="1097010"/>
          </a:xfrm>
          <a:prstGeom prst="line">
            <a:avLst/>
          </a:prstGeom>
          <a:ln w="38100">
            <a:solidFill>
              <a:srgbClr val="5FB58E"/>
            </a:solidFill>
            <a:tailEnd type="triangle"/>
          </a:ln>
        </p:spPr>
        <p:txBody>
          <a:bodyPr lIns="0" tIns="0" rIns="0" bIns="0"/>
          <a:lstStyle/>
          <a:p>
            <a:pPr/>
          </a:p>
        </p:txBody>
      </p:sp>
      <p:sp>
        <p:nvSpPr>
          <p:cNvPr id="292" name="Line"/>
          <p:cNvSpPr/>
          <p:nvPr/>
        </p:nvSpPr>
        <p:spPr>
          <a:xfrm>
            <a:off x="4873625" y="2781300"/>
            <a:ext cx="2981326" cy="0"/>
          </a:xfrm>
          <a:prstGeom prst="line">
            <a:avLst/>
          </a:prstGeom>
          <a:ln w="171450">
            <a:solidFill>
              <a:srgbClr val="8E3F2D"/>
            </a:solidFill>
          </a:ln>
        </p:spPr>
        <p:txBody>
          <a:bodyPr lIns="0" tIns="0" rIns="0" bIns="0"/>
          <a:lstStyle/>
          <a:p>
            <a:pPr/>
          </a:p>
        </p:txBody>
      </p:sp>
      <p:sp>
        <p:nvSpPr>
          <p:cNvPr id="293" name="Line"/>
          <p:cNvSpPr/>
          <p:nvPr/>
        </p:nvSpPr>
        <p:spPr>
          <a:xfrm>
            <a:off x="4873625" y="2781300"/>
            <a:ext cx="2981326" cy="0"/>
          </a:xfrm>
          <a:prstGeom prst="line">
            <a:avLst/>
          </a:prstGeom>
          <a:ln w="57150">
            <a:solidFill>
              <a:srgbClr val="E97C50"/>
            </a:solidFill>
            <a:tailEnd type="triangle"/>
          </a:ln>
        </p:spPr>
        <p:txBody>
          <a:bodyPr lIns="0" tIns="0" rIns="0" bIns="0"/>
          <a:lstStyle/>
          <a:p>
            <a:pPr/>
          </a:p>
        </p:txBody>
      </p:sp>
      <p:sp>
        <p:nvSpPr>
          <p:cNvPr id="294" name="Line"/>
          <p:cNvSpPr/>
          <p:nvPr/>
        </p:nvSpPr>
        <p:spPr>
          <a:xfrm>
            <a:off x="4873625" y="2781300"/>
            <a:ext cx="1666876" cy="0"/>
          </a:xfrm>
          <a:prstGeom prst="line">
            <a:avLst/>
          </a:prstGeom>
          <a:ln w="28575">
            <a:solidFill>
              <a:srgbClr val="FFFFFF"/>
            </a:solidFill>
            <a:tailEnd type="triangle"/>
          </a:ln>
        </p:spPr>
        <p:txBody>
          <a:bodyPr lIns="0" tIns="0" rIns="0" bIns="0"/>
          <a:lstStyle/>
          <a:p>
            <a:pPr/>
          </a:p>
        </p:txBody>
      </p:sp>
      <p:sp>
        <p:nvSpPr>
          <p:cNvPr id="295" name="Line"/>
          <p:cNvSpPr/>
          <p:nvPr/>
        </p:nvSpPr>
        <p:spPr>
          <a:xfrm flipH="1" flipV="1">
            <a:off x="5683249" y="2438399"/>
            <a:ext cx="857251" cy="342901"/>
          </a:xfrm>
          <a:prstGeom prst="line">
            <a:avLst/>
          </a:prstGeom>
          <a:ln w="14288">
            <a:solidFill>
              <a:srgbClr val="8FA5BB"/>
            </a:solidFill>
            <a:prstDash val="dash"/>
          </a:ln>
        </p:spPr>
        <p:txBody>
          <a:bodyPr lIns="0" tIns="0" rIns="0" bIns="0"/>
          <a:lstStyle/>
          <a:p>
            <a:pPr/>
          </a:p>
        </p:txBody>
      </p:sp>
      <p:sp>
        <p:nvSpPr>
          <p:cNvPr id="296"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297" name="origin-label"/>
          <p:cNvSpPr txBox="1"/>
          <p:nvPr/>
        </p:nvSpPr>
        <p:spPr>
          <a:xfrm>
            <a:off x="4490719" y="2893024"/>
            <a:ext cx="727712"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8FA5BB"/>
                </a:solidFill>
                <a:latin typeface="Arial"/>
                <a:ea typeface="Arial"/>
                <a:cs typeface="Arial"/>
                <a:sym typeface="Arial"/>
              </a:defRPr>
            </a:lvl1pPr>
          </a:lstStyle>
          <a:p>
            <a:pPr/>
            <a:r>
              <a:t>neutral</a:t>
            </a:r>
          </a:p>
        </p:txBody>
      </p:sp>
      <p:sp>
        <p:nvSpPr>
          <p:cNvPr id="298" name="joy-node"/>
          <p:cNvSpPr/>
          <p:nvPr/>
        </p:nvSpPr>
        <p:spPr>
          <a:xfrm>
            <a:off x="7426325" y="1543050"/>
            <a:ext cx="228600" cy="228600"/>
          </a:xfrm>
          <a:prstGeom prst="ellipse">
            <a:avLst/>
          </a:prstGeom>
          <a:solidFill>
            <a:srgbClr val="5FB58E"/>
          </a:solidFill>
          <a:ln w="19050">
            <a:solidFill>
              <a:srgbClr val="FFFFFF"/>
            </a:solidFill>
          </a:ln>
        </p:spPr>
        <p:txBody>
          <a:bodyPr lIns="0" tIns="0" rIns="0" bIns="0"/>
          <a:lstStyle/>
          <a:p>
            <a:pPr/>
          </a:p>
        </p:txBody>
      </p:sp>
      <p:sp>
        <p:nvSpPr>
          <p:cNvPr id="299" name="joy-label"/>
          <p:cNvSpPr txBox="1"/>
          <p:nvPr/>
        </p:nvSpPr>
        <p:spPr>
          <a:xfrm>
            <a:off x="7776844" y="1512938"/>
            <a:ext cx="441962" cy="28882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i="1" sz="1400">
                <a:solidFill>
                  <a:srgbClr val="5FB58E"/>
                </a:solidFill>
                <a:latin typeface="Arial"/>
                <a:ea typeface="Arial"/>
                <a:cs typeface="Arial"/>
                <a:sym typeface="Arial"/>
              </a:defRPr>
            </a:lvl1pPr>
          </a:lstStyle>
          <a:p>
            <a:pPr/>
            <a:r>
              <a:t>joy</a:t>
            </a:r>
          </a:p>
        </p:txBody>
      </p:sp>
      <p:sp>
        <p:nvSpPr>
          <p:cNvPr id="300" name="fear-node"/>
          <p:cNvSpPr/>
          <p:nvPr/>
        </p:nvSpPr>
        <p:spPr>
          <a:xfrm>
            <a:off x="7731125" y="2638425"/>
            <a:ext cx="285750" cy="285750"/>
          </a:xfrm>
          <a:prstGeom prst="diamond">
            <a:avLst/>
          </a:prstGeom>
          <a:solidFill>
            <a:srgbClr val="E97C50"/>
          </a:solidFill>
          <a:ln w="19050">
            <a:solidFill>
              <a:srgbClr val="FFFFFF"/>
            </a:solidFill>
          </a:ln>
        </p:spPr>
        <p:txBody>
          <a:bodyPr lIns="0" tIns="0" rIns="0" bIns="0"/>
          <a:lstStyle/>
          <a:p>
            <a:pPr/>
          </a:p>
        </p:txBody>
      </p:sp>
      <p:sp>
        <p:nvSpPr>
          <p:cNvPr id="301" name="fear-label"/>
          <p:cNvSpPr txBox="1"/>
          <p:nvPr/>
        </p:nvSpPr>
        <p:spPr>
          <a:xfrm>
            <a:off x="8081644" y="2630746"/>
            <a:ext cx="632462" cy="3011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i="1" sz="1500">
                <a:solidFill>
                  <a:srgbClr val="E97C50"/>
                </a:solidFill>
                <a:latin typeface="Arial"/>
                <a:ea typeface="Arial"/>
                <a:cs typeface="Arial"/>
                <a:sym typeface="Arial"/>
              </a:defRPr>
            </a:lvl1pPr>
          </a:lstStyle>
          <a:p>
            <a:pPr/>
            <a:r>
              <a:t>fear</a:t>
            </a:r>
          </a:p>
        </p:txBody>
      </p:sp>
      <p:sp>
        <p:nvSpPr>
          <p:cNvPr id="302" name="hidden-halo"/>
          <p:cNvSpPr/>
          <p:nvPr/>
        </p:nvSpPr>
        <p:spPr>
          <a:xfrm>
            <a:off x="6359525" y="2581275"/>
            <a:ext cx="400050" cy="400050"/>
          </a:xfrm>
          <a:prstGeom prst="ellipse">
            <a:avLst/>
          </a:prstGeom>
          <a:solidFill>
            <a:srgbClr val="8E3F2D"/>
          </a:solidFill>
          <a:ln w="12700">
            <a:miter lim="400000"/>
          </a:ln>
        </p:spPr>
        <p:txBody>
          <a:bodyPr lIns="0" tIns="0" rIns="0" bIns="0"/>
          <a:lstStyle/>
          <a:p>
            <a:pPr/>
          </a:p>
        </p:txBody>
      </p:sp>
      <p:sp>
        <p:nvSpPr>
          <p:cNvPr id="303" name="hidden-state"/>
          <p:cNvSpPr/>
          <p:nvPr/>
        </p:nvSpPr>
        <p:spPr>
          <a:xfrm>
            <a:off x="6464300" y="2686050"/>
            <a:ext cx="190500" cy="190500"/>
          </a:xfrm>
          <a:prstGeom prst="ellipse">
            <a:avLst/>
          </a:prstGeom>
          <a:solidFill>
            <a:srgbClr val="FFFFFF"/>
          </a:solidFill>
          <a:ln w="28575">
            <a:solidFill>
              <a:srgbClr val="E97C50"/>
            </a:solidFill>
          </a:ln>
        </p:spPr>
        <p:txBody>
          <a:bodyPr lIns="0" tIns="0" rIns="0" bIns="0"/>
          <a:lstStyle/>
          <a:p>
            <a:pPr/>
          </a:p>
        </p:txBody>
      </p:sp>
      <p:sp>
        <p:nvSpPr>
          <p:cNvPr id="304" name="hidden-state-label"/>
          <p:cNvSpPr txBox="1"/>
          <p:nvPr/>
        </p:nvSpPr>
        <p:spPr>
          <a:xfrm>
            <a:off x="6005194" y="2998007"/>
            <a:ext cx="1108712"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EF2F7"/>
                </a:solidFill>
                <a:latin typeface="Arial"/>
                <a:ea typeface="Arial"/>
                <a:cs typeface="Arial"/>
                <a:sym typeface="Arial"/>
              </a:defRPr>
            </a:lvl1pPr>
          </a:lstStyle>
          <a:p>
            <a:pPr/>
            <a:r>
              <a:t>hidden activation</a:t>
            </a:r>
          </a:p>
        </p:txBody>
      </p:sp>
      <p:sp>
        <p:nvSpPr>
          <p:cNvPr id="305" name="joy-projection-mark"/>
          <p:cNvSpPr/>
          <p:nvPr/>
        </p:nvSpPr>
        <p:spPr>
          <a:xfrm>
            <a:off x="5607050" y="2381250"/>
            <a:ext cx="114300" cy="114300"/>
          </a:xfrm>
          <a:prstGeom prst="ellipse">
            <a:avLst/>
          </a:prstGeom>
          <a:solidFill>
            <a:srgbClr val="5FB58E"/>
          </a:solidFill>
          <a:ln w="19050">
            <a:solidFill>
              <a:srgbClr val="FFFFFF"/>
            </a:solidFill>
          </a:ln>
        </p:spPr>
        <p:txBody>
          <a:bodyPr lIns="0" tIns="0" rIns="0" bIns="0"/>
          <a:lstStyle/>
          <a:p>
            <a:pPr/>
          </a:p>
        </p:txBody>
      </p:sp>
      <p:sp>
        <p:nvSpPr>
          <p:cNvPr id="306" name="fear-projection-mark"/>
          <p:cNvSpPr/>
          <p:nvPr/>
        </p:nvSpPr>
        <p:spPr>
          <a:xfrm>
            <a:off x="6416675" y="2638425"/>
            <a:ext cx="285750" cy="285750"/>
          </a:xfrm>
          <a:prstGeom prst="ellipse">
            <a:avLst/>
          </a:prstGeom>
          <a:ln w="28575">
            <a:solidFill>
              <a:srgbClr val="E97C50"/>
            </a:solidFill>
          </a:ln>
        </p:spPr>
        <p:txBody>
          <a:bodyPr lIns="0" tIns="0" rIns="0" bIns="0"/>
          <a:lstStyle/>
          <a:p>
            <a:pPr/>
          </a:p>
        </p:txBody>
      </p:sp>
      <p:sp>
        <p:nvSpPr>
          <p:cNvPr id="307" name="projection-label"/>
          <p:cNvSpPr txBox="1"/>
          <p:nvPr/>
        </p:nvSpPr>
        <p:spPr>
          <a:xfrm>
            <a:off x="4300219" y="1778599"/>
            <a:ext cx="1261112"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8FA5BB"/>
                </a:solidFill>
                <a:latin typeface="Arial"/>
                <a:ea typeface="Arial"/>
                <a:cs typeface="Arial"/>
                <a:sym typeface="Arial"/>
              </a:defRPr>
            </a:lvl1pPr>
          </a:lstStyle>
          <a:p>
            <a:pPr/>
            <a:r>
              <a:t>projection marks</a:t>
            </a:r>
          </a:p>
        </p:txBody>
      </p:sp>
      <p:sp>
        <p:nvSpPr>
          <p:cNvPr id="308" name="alignment-label"/>
          <p:cNvSpPr txBox="1"/>
          <p:nvPr/>
        </p:nvSpPr>
        <p:spPr>
          <a:xfrm>
            <a:off x="5976619" y="2363007"/>
            <a:ext cx="1470662" cy="2269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97C50"/>
                </a:solidFill>
                <a:latin typeface="Arial"/>
                <a:ea typeface="Arial"/>
                <a:cs typeface="Arial"/>
                <a:sym typeface="Arial"/>
              </a:defRPr>
            </a:lvl1pPr>
          </a:lstStyle>
          <a:p>
            <a:pPr/>
            <a:r>
              <a:t>strong alignment</a:t>
            </a:r>
          </a:p>
        </p:txBody>
      </p:sp>
      <p:sp>
        <p:nvSpPr>
          <p:cNvPr id="309" name="anthropic-citation"/>
          <p:cNvSpPr txBox="1"/>
          <p:nvPr/>
        </p:nvSpPr>
        <p:spPr>
          <a:xfrm>
            <a:off x="5760719" y="4804166"/>
            <a:ext cx="2918462"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310" name="story-cue"/>
          <p:cNvSpPr/>
          <p:nvPr/>
        </p:nvSpPr>
        <p:spPr>
          <a:xfrm>
            <a:off x="269081" y="1938338"/>
            <a:ext cx="2190751" cy="876301"/>
          </a:xfrm>
          <a:prstGeom prst="roundRect">
            <a:avLst>
              <a:gd name="adj" fmla="val 15217"/>
            </a:avLst>
          </a:prstGeom>
          <a:solidFill>
            <a:srgbClr val="1E2D45"/>
          </a:solidFill>
          <a:ln w="14288">
            <a:solidFill>
              <a:srgbClr val="2D6F86"/>
            </a:solidFill>
          </a:ln>
        </p:spPr>
        <p:txBody>
          <a:bodyPr lIns="0" tIns="0" rIns="0" bIns="0"/>
          <a:lstStyle/>
          <a:p>
            <a:pPr/>
          </a:p>
        </p:txBody>
      </p:sp>
      <p:sp>
        <p:nvSpPr>
          <p:cNvPr id="311" name="story-label"/>
          <p:cNvSpPr txBox="1"/>
          <p:nvPr/>
        </p:nvSpPr>
        <p:spPr>
          <a:xfrm>
            <a:off x="457675" y="1983387"/>
            <a:ext cx="59436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STORY</a:t>
            </a:r>
          </a:p>
        </p:txBody>
      </p:sp>
      <p:sp>
        <p:nvSpPr>
          <p:cNvPr id="312"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313" name="llm-label"/>
          <p:cNvSpPr txBox="1"/>
          <p:nvPr/>
        </p:nvSpPr>
        <p:spPr>
          <a:xfrm>
            <a:off x="3055620" y="2085477"/>
            <a:ext cx="670561" cy="3629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EEF2F7"/>
                </a:solidFill>
                <a:latin typeface="Arial"/>
                <a:ea typeface="Arial"/>
                <a:cs typeface="Arial"/>
                <a:sym typeface="Arial"/>
              </a:defRPr>
            </a:lvl1pPr>
          </a:lstStyle>
          <a:p>
            <a:pPr/>
            <a:r>
              <a:t>LLM</a:t>
            </a:r>
          </a:p>
        </p:txBody>
      </p:sp>
      <p:sp>
        <p:nvSpPr>
          <p:cNvPr id="314" name="llm-subtitle"/>
          <p:cNvSpPr txBox="1"/>
          <p:nvPr/>
        </p:nvSpPr>
        <p:spPr>
          <a:xfrm>
            <a:off x="2998470" y="2540807"/>
            <a:ext cx="78486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315"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316"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317"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318"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319"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320" name="Line"/>
          <p:cNvSpPr/>
          <p:nvPr/>
        </p:nvSpPr>
        <p:spPr>
          <a:xfrm>
            <a:off x="2507852" y="2376488"/>
            <a:ext cx="311151" cy="1"/>
          </a:xfrm>
          <a:prstGeom prst="line">
            <a:avLst/>
          </a:prstGeom>
          <a:ln w="28575">
            <a:solidFill>
              <a:srgbClr val="4A9EBA"/>
            </a:solidFill>
            <a:tailEnd type="triangle"/>
          </a:ln>
        </p:spPr>
        <p:txBody>
          <a:bodyPr lIns="0" tIns="0" rIns="0" bIns="0"/>
          <a:lstStyle/>
          <a:p>
            <a:pPr/>
          </a:p>
        </p:txBody>
      </p:sp>
      <p:sp>
        <p:nvSpPr>
          <p:cNvPr id="321" name="Line"/>
          <p:cNvSpPr/>
          <p:nvPr/>
        </p:nvSpPr>
        <p:spPr>
          <a:xfrm>
            <a:off x="3889959" y="2532307"/>
            <a:ext cx="2288592" cy="191843"/>
          </a:xfrm>
          <a:prstGeom prst="line">
            <a:avLst/>
          </a:prstGeom>
          <a:ln w="28575">
            <a:solidFill>
              <a:srgbClr val="4A9EBA"/>
            </a:solidFill>
            <a:prstDash val="dash"/>
            <a:tailEnd type="triangle"/>
          </a:ln>
        </p:spPr>
        <p:txBody>
          <a:bodyPr lIns="0" tIns="0" rIns="0" bIns="0"/>
          <a:lstStyle/>
          <a:p>
            <a:pPr/>
          </a:p>
        </p:txBody>
      </p:sp>
      <p:sp>
        <p:nvSpPr>
          <p:cNvPr id="322" name="story-copy"/>
          <p:cNvSpPr txBox="1"/>
          <p:nvPr/>
        </p:nvSpPr>
        <p:spPr>
          <a:xfrm>
            <a:off x="457675" y="2304893"/>
            <a:ext cx="1813562" cy="2765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EEF2F7"/>
                </a:solidFill>
                <a:latin typeface="Arial"/>
                <a:ea typeface="Arial"/>
                <a:cs typeface="Arial"/>
                <a:sym typeface="Arial"/>
              </a:defRPr>
            </a:lvl1pPr>
          </a:lstStyle>
          <a:p>
            <a:pPr/>
            <a:r>
              <a:t>A very fun story.</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0"/>
          <p:cNvSpPr/>
          <p:nvPr/>
        </p:nvSpPr>
        <p:spPr>
          <a:xfrm>
            <a:off x="0" y="-1"/>
            <a:ext cx="9144001" cy="5143501"/>
          </a:xfrm>
          <a:prstGeom prst="rect">
            <a:avLst/>
          </a:prstGeom>
          <a:solidFill>
            <a:srgbClr val="12161F"/>
          </a:solidFill>
          <a:ln w="12700">
            <a:miter lim="400000"/>
          </a:ln>
        </p:spPr>
        <p:txBody>
          <a:bodyPr lIns="0" tIns="0" rIns="0" bIns="0"/>
          <a:lstStyle/>
          <a:p>
            <a:pPr/>
          </a:p>
        </p:txBody>
      </p:sp>
      <p:sp>
        <p:nvSpPr>
          <p:cNvPr id="327"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Emotion concepts become directions</a:t>
            </a:r>
          </a:p>
        </p:txBody>
      </p:sp>
      <p:sp>
        <p:nvSpPr>
          <p:cNvPr id="328" name="activation-space"/>
          <p:cNvSpPr/>
          <p:nvPr/>
        </p:nvSpPr>
        <p:spPr>
          <a:xfrm>
            <a:off x="4143375" y="1000125"/>
            <a:ext cx="4581525" cy="3333750"/>
          </a:xfrm>
          <a:prstGeom prst="roundRect">
            <a:avLst>
              <a:gd name="adj" fmla="val 6286"/>
            </a:avLst>
          </a:prstGeom>
          <a:solidFill>
            <a:srgbClr val="1E2D45"/>
          </a:solidFill>
          <a:ln w="14288">
            <a:solidFill>
              <a:srgbClr val="4A9EBA"/>
            </a:solidFill>
          </a:ln>
        </p:spPr>
        <p:txBody>
          <a:bodyPr lIns="0" tIns="0" rIns="0" bIns="0"/>
          <a:lstStyle/>
          <a:p>
            <a:pPr/>
          </a:p>
        </p:txBody>
      </p:sp>
      <p:sp>
        <p:nvSpPr>
          <p:cNvPr id="329" name="space-label"/>
          <p:cNvSpPr txBox="1"/>
          <p:nvPr/>
        </p:nvSpPr>
        <p:spPr>
          <a:xfrm>
            <a:off x="4195445" y="1149949"/>
            <a:ext cx="22898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HIDDEN ACTIVATION SPACE</a:t>
            </a:r>
          </a:p>
        </p:txBody>
      </p:sp>
      <p:sp>
        <p:nvSpPr>
          <p:cNvPr id="330" name="space-particle-0"/>
          <p:cNvSpPr/>
          <p:nvPr/>
        </p:nvSpPr>
        <p:spPr>
          <a:xfrm>
            <a:off x="4591050" y="1743075"/>
            <a:ext cx="47626" cy="47626"/>
          </a:xfrm>
          <a:prstGeom prst="ellipse">
            <a:avLst/>
          </a:prstGeom>
          <a:solidFill>
            <a:srgbClr val="40566F"/>
          </a:solidFill>
          <a:ln w="12700">
            <a:miter lim="400000"/>
          </a:ln>
        </p:spPr>
        <p:txBody>
          <a:bodyPr lIns="0" tIns="0" rIns="0" bIns="0"/>
          <a:lstStyle/>
          <a:p>
            <a:pPr/>
          </a:p>
        </p:txBody>
      </p:sp>
      <p:sp>
        <p:nvSpPr>
          <p:cNvPr id="331" name="space-particle-1"/>
          <p:cNvSpPr/>
          <p:nvPr/>
        </p:nvSpPr>
        <p:spPr>
          <a:xfrm>
            <a:off x="5235575" y="1504950"/>
            <a:ext cx="47626" cy="47626"/>
          </a:xfrm>
          <a:prstGeom prst="ellipse">
            <a:avLst/>
          </a:prstGeom>
          <a:solidFill>
            <a:srgbClr val="40566F"/>
          </a:solidFill>
          <a:ln w="12700">
            <a:miter lim="400000"/>
          </a:ln>
        </p:spPr>
        <p:txBody>
          <a:bodyPr lIns="0" tIns="0" rIns="0" bIns="0"/>
          <a:lstStyle/>
          <a:p>
            <a:pPr/>
          </a:p>
        </p:txBody>
      </p:sp>
      <p:sp>
        <p:nvSpPr>
          <p:cNvPr id="332" name="space-particle-2"/>
          <p:cNvSpPr/>
          <p:nvPr/>
        </p:nvSpPr>
        <p:spPr>
          <a:xfrm>
            <a:off x="6245225" y="1914525"/>
            <a:ext cx="47626" cy="47626"/>
          </a:xfrm>
          <a:prstGeom prst="ellipse">
            <a:avLst/>
          </a:prstGeom>
          <a:solidFill>
            <a:srgbClr val="40566F"/>
          </a:solidFill>
          <a:ln w="12700">
            <a:miter lim="400000"/>
          </a:ln>
        </p:spPr>
        <p:txBody>
          <a:bodyPr lIns="0" tIns="0" rIns="0" bIns="0"/>
          <a:lstStyle/>
          <a:p>
            <a:pPr/>
          </a:p>
        </p:txBody>
      </p:sp>
      <p:sp>
        <p:nvSpPr>
          <p:cNvPr id="333" name="space-particle-3"/>
          <p:cNvSpPr/>
          <p:nvPr/>
        </p:nvSpPr>
        <p:spPr>
          <a:xfrm>
            <a:off x="7721600" y="1628775"/>
            <a:ext cx="47626" cy="47626"/>
          </a:xfrm>
          <a:prstGeom prst="ellipse">
            <a:avLst/>
          </a:prstGeom>
          <a:solidFill>
            <a:srgbClr val="40566F"/>
          </a:solidFill>
          <a:ln w="12700">
            <a:miter lim="400000"/>
          </a:ln>
        </p:spPr>
        <p:txBody>
          <a:bodyPr lIns="0" tIns="0" rIns="0" bIns="0"/>
          <a:lstStyle/>
          <a:p>
            <a:pPr/>
          </a:p>
        </p:txBody>
      </p:sp>
      <p:sp>
        <p:nvSpPr>
          <p:cNvPr id="334" name="space-particle-4"/>
          <p:cNvSpPr/>
          <p:nvPr/>
        </p:nvSpPr>
        <p:spPr>
          <a:xfrm>
            <a:off x="4568825" y="3333750"/>
            <a:ext cx="47626" cy="47626"/>
          </a:xfrm>
          <a:prstGeom prst="ellipse">
            <a:avLst/>
          </a:prstGeom>
          <a:solidFill>
            <a:srgbClr val="40566F"/>
          </a:solidFill>
          <a:ln w="12700">
            <a:miter lim="400000"/>
          </a:ln>
        </p:spPr>
        <p:txBody>
          <a:bodyPr lIns="0" tIns="0" rIns="0" bIns="0"/>
          <a:lstStyle/>
          <a:p>
            <a:pPr/>
          </a:p>
        </p:txBody>
      </p:sp>
      <p:sp>
        <p:nvSpPr>
          <p:cNvPr id="335" name="space-particle-5"/>
          <p:cNvSpPr/>
          <p:nvPr/>
        </p:nvSpPr>
        <p:spPr>
          <a:xfrm>
            <a:off x="5810250" y="3914775"/>
            <a:ext cx="47626" cy="47626"/>
          </a:xfrm>
          <a:prstGeom prst="ellipse">
            <a:avLst/>
          </a:prstGeom>
          <a:solidFill>
            <a:srgbClr val="40566F"/>
          </a:solidFill>
          <a:ln w="12700">
            <a:miter lim="400000"/>
          </a:ln>
        </p:spPr>
        <p:txBody>
          <a:bodyPr lIns="0" tIns="0" rIns="0" bIns="0"/>
          <a:lstStyle/>
          <a:p>
            <a:pPr/>
          </a:p>
        </p:txBody>
      </p:sp>
      <p:sp>
        <p:nvSpPr>
          <p:cNvPr id="336" name="space-particle-6"/>
          <p:cNvSpPr/>
          <p:nvPr/>
        </p:nvSpPr>
        <p:spPr>
          <a:xfrm>
            <a:off x="6683375" y="3562350"/>
            <a:ext cx="47626" cy="47626"/>
          </a:xfrm>
          <a:prstGeom prst="ellipse">
            <a:avLst/>
          </a:prstGeom>
          <a:solidFill>
            <a:srgbClr val="40566F"/>
          </a:solidFill>
          <a:ln w="12700">
            <a:miter lim="400000"/>
          </a:ln>
        </p:spPr>
        <p:txBody>
          <a:bodyPr lIns="0" tIns="0" rIns="0" bIns="0"/>
          <a:lstStyle/>
          <a:p>
            <a:pPr/>
          </a:p>
        </p:txBody>
      </p:sp>
      <p:sp>
        <p:nvSpPr>
          <p:cNvPr id="337" name="space-particle-7"/>
          <p:cNvSpPr/>
          <p:nvPr/>
        </p:nvSpPr>
        <p:spPr>
          <a:xfrm>
            <a:off x="8248650" y="3848100"/>
            <a:ext cx="47626" cy="47626"/>
          </a:xfrm>
          <a:prstGeom prst="ellipse">
            <a:avLst/>
          </a:prstGeom>
          <a:solidFill>
            <a:srgbClr val="40566F"/>
          </a:solidFill>
          <a:ln w="12700">
            <a:miter lim="400000"/>
          </a:ln>
        </p:spPr>
        <p:txBody>
          <a:bodyPr lIns="0" tIns="0" rIns="0" bIns="0"/>
          <a:lstStyle/>
          <a:p>
            <a:pPr/>
          </a:p>
        </p:txBody>
      </p:sp>
      <p:sp>
        <p:nvSpPr>
          <p:cNvPr id="338" name="space-particle-8"/>
          <p:cNvSpPr/>
          <p:nvPr/>
        </p:nvSpPr>
        <p:spPr>
          <a:xfrm>
            <a:off x="8207375" y="2352675"/>
            <a:ext cx="47626" cy="47626"/>
          </a:xfrm>
          <a:prstGeom prst="ellipse">
            <a:avLst/>
          </a:prstGeom>
          <a:solidFill>
            <a:srgbClr val="40566F"/>
          </a:solidFill>
          <a:ln w="12700">
            <a:miter lim="400000"/>
          </a:ln>
        </p:spPr>
        <p:txBody>
          <a:bodyPr lIns="0" tIns="0" rIns="0" bIns="0"/>
          <a:lstStyle/>
          <a:p>
            <a:pPr/>
          </a:p>
        </p:txBody>
      </p:sp>
      <p:sp>
        <p:nvSpPr>
          <p:cNvPr id="339" name="Line"/>
          <p:cNvSpPr/>
          <p:nvPr/>
        </p:nvSpPr>
        <p:spPr>
          <a:xfrm flipV="1">
            <a:off x="4868045" y="1670819"/>
            <a:ext cx="2659110" cy="1097010"/>
          </a:xfrm>
          <a:prstGeom prst="line">
            <a:avLst/>
          </a:prstGeom>
          <a:ln w="114300">
            <a:solidFill>
              <a:srgbClr val="2F6E58"/>
            </a:solidFill>
          </a:ln>
        </p:spPr>
        <p:txBody>
          <a:bodyPr lIns="0" tIns="0" rIns="0" bIns="0"/>
          <a:lstStyle/>
          <a:p>
            <a:pPr/>
          </a:p>
        </p:txBody>
      </p:sp>
      <p:sp>
        <p:nvSpPr>
          <p:cNvPr id="340" name="Line"/>
          <p:cNvSpPr/>
          <p:nvPr/>
        </p:nvSpPr>
        <p:spPr>
          <a:xfrm flipV="1">
            <a:off x="4868045" y="1670819"/>
            <a:ext cx="2659110" cy="1097010"/>
          </a:xfrm>
          <a:prstGeom prst="line">
            <a:avLst/>
          </a:prstGeom>
          <a:ln w="38100">
            <a:solidFill>
              <a:srgbClr val="5FB58E"/>
            </a:solidFill>
            <a:tailEnd type="triangle"/>
          </a:ln>
        </p:spPr>
        <p:txBody>
          <a:bodyPr lIns="0" tIns="0" rIns="0" bIns="0"/>
          <a:lstStyle/>
          <a:p>
            <a:pPr/>
          </a:p>
        </p:txBody>
      </p:sp>
      <p:sp>
        <p:nvSpPr>
          <p:cNvPr id="341" name="Line"/>
          <p:cNvSpPr/>
          <p:nvPr/>
        </p:nvSpPr>
        <p:spPr>
          <a:xfrm>
            <a:off x="4873625" y="2781300"/>
            <a:ext cx="2981325" cy="0"/>
          </a:xfrm>
          <a:prstGeom prst="line">
            <a:avLst/>
          </a:prstGeom>
          <a:ln w="171450">
            <a:solidFill>
              <a:srgbClr val="8E3F2D"/>
            </a:solidFill>
          </a:ln>
        </p:spPr>
        <p:txBody>
          <a:bodyPr lIns="0" tIns="0" rIns="0" bIns="0"/>
          <a:lstStyle/>
          <a:p>
            <a:pPr/>
          </a:p>
        </p:txBody>
      </p:sp>
      <p:sp>
        <p:nvSpPr>
          <p:cNvPr id="342" name="Line"/>
          <p:cNvSpPr/>
          <p:nvPr/>
        </p:nvSpPr>
        <p:spPr>
          <a:xfrm>
            <a:off x="4873625" y="2781300"/>
            <a:ext cx="2981325" cy="0"/>
          </a:xfrm>
          <a:prstGeom prst="line">
            <a:avLst/>
          </a:prstGeom>
          <a:ln w="57150">
            <a:solidFill>
              <a:srgbClr val="E97C50"/>
            </a:solidFill>
            <a:tailEnd type="triangle"/>
          </a:ln>
        </p:spPr>
        <p:txBody>
          <a:bodyPr lIns="0" tIns="0" rIns="0" bIns="0"/>
          <a:lstStyle/>
          <a:p>
            <a:pPr/>
          </a:p>
        </p:txBody>
      </p:sp>
      <p:sp>
        <p:nvSpPr>
          <p:cNvPr id="343" name="Line"/>
          <p:cNvSpPr/>
          <p:nvPr/>
        </p:nvSpPr>
        <p:spPr>
          <a:xfrm>
            <a:off x="4868045" y="2794769"/>
            <a:ext cx="2563860" cy="1087486"/>
          </a:xfrm>
          <a:prstGeom prst="line">
            <a:avLst/>
          </a:prstGeom>
          <a:ln w="114300">
            <a:solidFill>
              <a:srgbClr val="40566F"/>
            </a:solidFill>
          </a:ln>
        </p:spPr>
        <p:txBody>
          <a:bodyPr lIns="0" tIns="0" rIns="0" bIns="0"/>
          <a:lstStyle/>
          <a:p>
            <a:pPr/>
          </a:p>
        </p:txBody>
      </p:sp>
      <p:sp>
        <p:nvSpPr>
          <p:cNvPr id="344" name="Line"/>
          <p:cNvSpPr/>
          <p:nvPr/>
        </p:nvSpPr>
        <p:spPr>
          <a:xfrm>
            <a:off x="4868045" y="2794769"/>
            <a:ext cx="2563860" cy="1087486"/>
          </a:xfrm>
          <a:prstGeom prst="line">
            <a:avLst/>
          </a:prstGeom>
          <a:ln w="38100">
            <a:solidFill>
              <a:srgbClr val="7F97B2"/>
            </a:solidFill>
            <a:tailEnd type="triangle"/>
          </a:ln>
        </p:spPr>
        <p:txBody>
          <a:bodyPr lIns="0" tIns="0" rIns="0" bIns="0"/>
          <a:lstStyle/>
          <a:p>
            <a:pPr/>
          </a:p>
        </p:txBody>
      </p:sp>
      <p:sp>
        <p:nvSpPr>
          <p:cNvPr id="345" name="Line"/>
          <p:cNvSpPr/>
          <p:nvPr/>
        </p:nvSpPr>
        <p:spPr>
          <a:xfrm>
            <a:off x="4873625" y="2781300"/>
            <a:ext cx="1666875" cy="0"/>
          </a:xfrm>
          <a:prstGeom prst="line">
            <a:avLst/>
          </a:prstGeom>
          <a:ln w="28575">
            <a:solidFill>
              <a:srgbClr val="FFFFFF"/>
            </a:solidFill>
            <a:tailEnd type="triangle"/>
          </a:ln>
        </p:spPr>
        <p:txBody>
          <a:bodyPr lIns="0" tIns="0" rIns="0" bIns="0"/>
          <a:lstStyle/>
          <a:p>
            <a:pPr/>
          </a:p>
        </p:txBody>
      </p:sp>
      <p:sp>
        <p:nvSpPr>
          <p:cNvPr id="346" name="Line"/>
          <p:cNvSpPr/>
          <p:nvPr/>
        </p:nvSpPr>
        <p:spPr>
          <a:xfrm flipH="1" flipV="1">
            <a:off x="5683250" y="2438400"/>
            <a:ext cx="857251" cy="342900"/>
          </a:xfrm>
          <a:prstGeom prst="line">
            <a:avLst/>
          </a:prstGeom>
          <a:ln w="14288">
            <a:solidFill>
              <a:srgbClr val="8FA5BB"/>
            </a:solidFill>
            <a:prstDash val="dash"/>
          </a:ln>
        </p:spPr>
        <p:txBody>
          <a:bodyPr lIns="0" tIns="0" rIns="0" bIns="0"/>
          <a:lstStyle/>
          <a:p>
            <a:pPr/>
          </a:p>
        </p:txBody>
      </p:sp>
      <p:sp>
        <p:nvSpPr>
          <p:cNvPr id="347" name="Line"/>
          <p:cNvSpPr/>
          <p:nvPr/>
        </p:nvSpPr>
        <p:spPr>
          <a:xfrm flipH="1">
            <a:off x="5635624" y="2781300"/>
            <a:ext cx="904876" cy="323850"/>
          </a:xfrm>
          <a:prstGeom prst="line">
            <a:avLst/>
          </a:prstGeom>
          <a:ln w="14288">
            <a:solidFill>
              <a:srgbClr val="8FA5BB"/>
            </a:solidFill>
            <a:prstDash val="dash"/>
          </a:ln>
        </p:spPr>
        <p:txBody>
          <a:bodyPr lIns="0" tIns="0" rIns="0" bIns="0"/>
          <a:lstStyle/>
          <a:p>
            <a:pPr/>
          </a:p>
        </p:txBody>
      </p:sp>
      <p:sp>
        <p:nvSpPr>
          <p:cNvPr id="348" name="origin-node"/>
          <p:cNvSpPr/>
          <p:nvPr/>
        </p:nvSpPr>
        <p:spPr>
          <a:xfrm>
            <a:off x="4778375" y="2705100"/>
            <a:ext cx="152400" cy="152400"/>
          </a:xfrm>
          <a:prstGeom prst="ellipse">
            <a:avLst/>
          </a:prstGeom>
          <a:solidFill>
            <a:srgbClr val="EEF2F7"/>
          </a:solidFill>
          <a:ln w="19050">
            <a:solidFill>
              <a:srgbClr val="4A9EBA"/>
            </a:solidFill>
          </a:ln>
        </p:spPr>
        <p:txBody>
          <a:bodyPr lIns="0" tIns="0" rIns="0" bIns="0"/>
          <a:lstStyle/>
          <a:p>
            <a:pPr/>
          </a:p>
        </p:txBody>
      </p:sp>
      <p:sp>
        <p:nvSpPr>
          <p:cNvPr id="349" name="origin-label"/>
          <p:cNvSpPr txBox="1"/>
          <p:nvPr/>
        </p:nvSpPr>
        <p:spPr>
          <a:xfrm>
            <a:off x="4490720" y="2893024"/>
            <a:ext cx="7277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900">
                <a:solidFill>
                  <a:srgbClr val="8FA5BB"/>
                </a:solidFill>
                <a:latin typeface="Arial"/>
                <a:ea typeface="Arial"/>
                <a:cs typeface="Arial"/>
                <a:sym typeface="Arial"/>
              </a:defRPr>
            </a:lvl1pPr>
          </a:lstStyle>
          <a:p>
            <a:pPr/>
            <a:r>
              <a:t>neutral</a:t>
            </a:r>
          </a:p>
        </p:txBody>
      </p:sp>
      <p:sp>
        <p:nvSpPr>
          <p:cNvPr id="350" name="joy-node"/>
          <p:cNvSpPr/>
          <p:nvPr/>
        </p:nvSpPr>
        <p:spPr>
          <a:xfrm>
            <a:off x="7426325" y="1543050"/>
            <a:ext cx="228600" cy="228600"/>
          </a:xfrm>
          <a:prstGeom prst="ellipse">
            <a:avLst/>
          </a:prstGeom>
          <a:solidFill>
            <a:srgbClr val="5FB58E"/>
          </a:solidFill>
          <a:ln w="19050">
            <a:solidFill>
              <a:srgbClr val="FFFFFF"/>
            </a:solidFill>
          </a:ln>
        </p:spPr>
        <p:txBody>
          <a:bodyPr lIns="0" tIns="0" rIns="0" bIns="0"/>
          <a:lstStyle/>
          <a:p>
            <a:pPr/>
          </a:p>
        </p:txBody>
      </p:sp>
      <p:sp>
        <p:nvSpPr>
          <p:cNvPr id="351" name="joy-label"/>
          <p:cNvSpPr txBox="1"/>
          <p:nvPr/>
        </p:nvSpPr>
        <p:spPr>
          <a:xfrm>
            <a:off x="7776844" y="1512938"/>
            <a:ext cx="441961" cy="28882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i="1" sz="1400">
                <a:solidFill>
                  <a:srgbClr val="5FB58E"/>
                </a:solidFill>
                <a:latin typeface="Arial"/>
                <a:ea typeface="Arial"/>
                <a:cs typeface="Arial"/>
                <a:sym typeface="Arial"/>
              </a:defRPr>
            </a:lvl1pPr>
          </a:lstStyle>
          <a:p>
            <a:pPr/>
            <a:r>
              <a:t>joy</a:t>
            </a:r>
          </a:p>
        </p:txBody>
      </p:sp>
      <p:sp>
        <p:nvSpPr>
          <p:cNvPr id="352" name="fear-node"/>
          <p:cNvSpPr/>
          <p:nvPr/>
        </p:nvSpPr>
        <p:spPr>
          <a:xfrm>
            <a:off x="7731125" y="2638425"/>
            <a:ext cx="285750" cy="285750"/>
          </a:xfrm>
          <a:prstGeom prst="diamond">
            <a:avLst/>
          </a:prstGeom>
          <a:solidFill>
            <a:srgbClr val="E97C50"/>
          </a:solidFill>
          <a:ln w="19050">
            <a:solidFill>
              <a:srgbClr val="FFFFFF"/>
            </a:solidFill>
          </a:ln>
        </p:spPr>
        <p:txBody>
          <a:bodyPr lIns="0" tIns="0" rIns="0" bIns="0"/>
          <a:lstStyle/>
          <a:p>
            <a:pPr/>
          </a:p>
        </p:txBody>
      </p:sp>
      <p:sp>
        <p:nvSpPr>
          <p:cNvPr id="353" name="fear-label"/>
          <p:cNvSpPr txBox="1"/>
          <p:nvPr/>
        </p:nvSpPr>
        <p:spPr>
          <a:xfrm>
            <a:off x="8081644" y="2630746"/>
            <a:ext cx="632461" cy="3011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i="1" sz="1500">
                <a:solidFill>
                  <a:srgbClr val="E97C50"/>
                </a:solidFill>
                <a:latin typeface="Arial"/>
                <a:ea typeface="Arial"/>
                <a:cs typeface="Arial"/>
                <a:sym typeface="Arial"/>
              </a:defRPr>
            </a:lvl1pPr>
          </a:lstStyle>
          <a:p>
            <a:pPr/>
            <a:r>
              <a:t>fear</a:t>
            </a:r>
          </a:p>
        </p:txBody>
      </p:sp>
      <p:sp>
        <p:nvSpPr>
          <p:cNvPr id="354" name="sadness-node"/>
          <p:cNvSpPr/>
          <p:nvPr/>
        </p:nvSpPr>
        <p:spPr>
          <a:xfrm>
            <a:off x="7331075" y="3781425"/>
            <a:ext cx="228600" cy="228600"/>
          </a:xfrm>
          <a:prstGeom prst="ellipse">
            <a:avLst/>
          </a:prstGeom>
          <a:solidFill>
            <a:srgbClr val="7F97B2"/>
          </a:solidFill>
          <a:ln w="19050">
            <a:solidFill>
              <a:srgbClr val="FFFFFF"/>
            </a:solidFill>
          </a:ln>
        </p:spPr>
        <p:txBody>
          <a:bodyPr lIns="0" tIns="0" rIns="0" bIns="0"/>
          <a:lstStyle/>
          <a:p>
            <a:pPr/>
          </a:p>
        </p:txBody>
      </p:sp>
      <p:sp>
        <p:nvSpPr>
          <p:cNvPr id="355" name="sadness-label"/>
          <p:cNvSpPr txBox="1"/>
          <p:nvPr/>
        </p:nvSpPr>
        <p:spPr>
          <a:xfrm>
            <a:off x="7633969" y="3751313"/>
            <a:ext cx="1032511" cy="28882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i="1" sz="1400">
                <a:solidFill>
                  <a:srgbClr val="7F97B2"/>
                </a:solidFill>
                <a:latin typeface="Arial"/>
                <a:ea typeface="Arial"/>
                <a:cs typeface="Arial"/>
                <a:sym typeface="Arial"/>
              </a:defRPr>
            </a:lvl1pPr>
          </a:lstStyle>
          <a:p>
            <a:pPr/>
            <a:r>
              <a:t>sadness</a:t>
            </a:r>
          </a:p>
        </p:txBody>
      </p:sp>
      <p:sp>
        <p:nvSpPr>
          <p:cNvPr id="356" name="hidden-halo"/>
          <p:cNvSpPr/>
          <p:nvPr/>
        </p:nvSpPr>
        <p:spPr>
          <a:xfrm>
            <a:off x="6359525" y="2581275"/>
            <a:ext cx="400050" cy="400050"/>
          </a:xfrm>
          <a:prstGeom prst="ellipse">
            <a:avLst/>
          </a:prstGeom>
          <a:solidFill>
            <a:srgbClr val="8E3F2D"/>
          </a:solidFill>
          <a:ln w="12700">
            <a:miter lim="400000"/>
          </a:ln>
        </p:spPr>
        <p:txBody>
          <a:bodyPr lIns="0" tIns="0" rIns="0" bIns="0"/>
          <a:lstStyle/>
          <a:p>
            <a:pPr/>
          </a:p>
        </p:txBody>
      </p:sp>
      <p:sp>
        <p:nvSpPr>
          <p:cNvPr id="357" name="hidden-state"/>
          <p:cNvSpPr/>
          <p:nvPr/>
        </p:nvSpPr>
        <p:spPr>
          <a:xfrm>
            <a:off x="6464300" y="2686050"/>
            <a:ext cx="190500" cy="190500"/>
          </a:xfrm>
          <a:prstGeom prst="ellipse">
            <a:avLst/>
          </a:prstGeom>
          <a:solidFill>
            <a:srgbClr val="FFFFFF"/>
          </a:solidFill>
          <a:ln w="28575">
            <a:solidFill>
              <a:srgbClr val="E97C50"/>
            </a:solidFill>
          </a:ln>
        </p:spPr>
        <p:txBody>
          <a:bodyPr lIns="0" tIns="0" rIns="0" bIns="0"/>
          <a:lstStyle/>
          <a:p>
            <a:pPr/>
          </a:p>
        </p:txBody>
      </p:sp>
      <p:sp>
        <p:nvSpPr>
          <p:cNvPr id="358" name="hidden-state-label"/>
          <p:cNvSpPr txBox="1"/>
          <p:nvPr/>
        </p:nvSpPr>
        <p:spPr>
          <a:xfrm>
            <a:off x="6005195" y="2998007"/>
            <a:ext cx="110871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EF2F7"/>
                </a:solidFill>
                <a:latin typeface="Arial"/>
                <a:ea typeface="Arial"/>
                <a:cs typeface="Arial"/>
                <a:sym typeface="Arial"/>
              </a:defRPr>
            </a:lvl1pPr>
          </a:lstStyle>
          <a:p>
            <a:pPr/>
            <a:r>
              <a:t>hidden activation</a:t>
            </a:r>
          </a:p>
        </p:txBody>
      </p:sp>
      <p:sp>
        <p:nvSpPr>
          <p:cNvPr id="359" name="joy-projection-mark"/>
          <p:cNvSpPr/>
          <p:nvPr/>
        </p:nvSpPr>
        <p:spPr>
          <a:xfrm>
            <a:off x="5607050" y="2381250"/>
            <a:ext cx="114300" cy="114300"/>
          </a:xfrm>
          <a:prstGeom prst="ellipse">
            <a:avLst/>
          </a:prstGeom>
          <a:solidFill>
            <a:srgbClr val="5FB58E"/>
          </a:solidFill>
          <a:ln w="19050">
            <a:solidFill>
              <a:srgbClr val="FFFFFF"/>
            </a:solidFill>
          </a:ln>
        </p:spPr>
        <p:txBody>
          <a:bodyPr lIns="0" tIns="0" rIns="0" bIns="0"/>
          <a:lstStyle/>
          <a:p>
            <a:pPr/>
          </a:p>
        </p:txBody>
      </p:sp>
      <p:sp>
        <p:nvSpPr>
          <p:cNvPr id="360" name="fear-projection-mark"/>
          <p:cNvSpPr/>
          <p:nvPr/>
        </p:nvSpPr>
        <p:spPr>
          <a:xfrm>
            <a:off x="6416675" y="2638425"/>
            <a:ext cx="285750" cy="285750"/>
          </a:xfrm>
          <a:prstGeom prst="ellipse">
            <a:avLst/>
          </a:prstGeom>
          <a:ln w="28575">
            <a:solidFill>
              <a:srgbClr val="E97C50"/>
            </a:solidFill>
          </a:ln>
        </p:spPr>
        <p:txBody>
          <a:bodyPr lIns="0" tIns="0" rIns="0" bIns="0"/>
          <a:lstStyle/>
          <a:p>
            <a:pPr/>
          </a:p>
        </p:txBody>
      </p:sp>
      <p:sp>
        <p:nvSpPr>
          <p:cNvPr id="361" name="sad-projection-mark"/>
          <p:cNvSpPr/>
          <p:nvPr/>
        </p:nvSpPr>
        <p:spPr>
          <a:xfrm>
            <a:off x="5559425" y="3048000"/>
            <a:ext cx="114300" cy="114300"/>
          </a:xfrm>
          <a:prstGeom prst="ellipse">
            <a:avLst/>
          </a:prstGeom>
          <a:solidFill>
            <a:srgbClr val="7F97B2"/>
          </a:solidFill>
          <a:ln w="19050">
            <a:solidFill>
              <a:srgbClr val="FFFFFF"/>
            </a:solidFill>
          </a:ln>
        </p:spPr>
        <p:txBody>
          <a:bodyPr lIns="0" tIns="0" rIns="0" bIns="0"/>
          <a:lstStyle/>
          <a:p>
            <a:pPr/>
          </a:p>
        </p:txBody>
      </p:sp>
      <p:sp>
        <p:nvSpPr>
          <p:cNvPr id="362" name="projection-label"/>
          <p:cNvSpPr txBox="1"/>
          <p:nvPr/>
        </p:nvSpPr>
        <p:spPr>
          <a:xfrm>
            <a:off x="4300220" y="1778599"/>
            <a:ext cx="126111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8FA5BB"/>
                </a:solidFill>
                <a:latin typeface="Arial"/>
                <a:ea typeface="Arial"/>
                <a:cs typeface="Arial"/>
                <a:sym typeface="Arial"/>
              </a:defRPr>
            </a:lvl1pPr>
          </a:lstStyle>
          <a:p>
            <a:pPr/>
            <a:r>
              <a:t>projection marks</a:t>
            </a:r>
          </a:p>
        </p:txBody>
      </p:sp>
      <p:sp>
        <p:nvSpPr>
          <p:cNvPr id="363" name="alignment-label"/>
          <p:cNvSpPr txBox="1"/>
          <p:nvPr/>
        </p:nvSpPr>
        <p:spPr>
          <a:xfrm>
            <a:off x="5976620" y="2363007"/>
            <a:ext cx="1470661" cy="2269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E97C50"/>
                </a:solidFill>
                <a:latin typeface="Arial"/>
                <a:ea typeface="Arial"/>
                <a:cs typeface="Arial"/>
                <a:sym typeface="Arial"/>
              </a:defRPr>
            </a:lvl1pPr>
          </a:lstStyle>
          <a:p>
            <a:pPr/>
            <a:r>
              <a:t>strong alignment</a:t>
            </a:r>
          </a:p>
        </p:txBody>
      </p:sp>
      <p:sp>
        <p:nvSpPr>
          <p:cNvPr id="364" name="warmth-bridge"/>
          <p:cNvSpPr txBox="1"/>
          <p:nvPr/>
        </p:nvSpPr>
        <p:spPr>
          <a:xfrm>
            <a:off x="560069" y="4433730"/>
            <a:ext cx="8023861" cy="2765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1300">
                <a:solidFill>
                  <a:srgbClr val="EEF2F7"/>
                </a:solidFill>
                <a:latin typeface="Arial"/>
                <a:ea typeface="Arial"/>
                <a:cs typeface="Arial"/>
                <a:sym typeface="Arial"/>
              </a:defRPr>
            </a:pPr>
            <a:r>
              <a:t>If emotion concepts form directions, could </a:t>
            </a:r>
            <a:r>
              <a:rPr>
                <a:solidFill>
                  <a:srgbClr val="E97C50"/>
                </a:solidFill>
              </a:rPr>
              <a:t>warmth</a:t>
            </a:r>
            <a:r>
              <a:t> and </a:t>
            </a:r>
            <a:r>
              <a:rPr>
                <a:solidFill>
                  <a:srgbClr val="5FB58E"/>
                </a:solidFill>
              </a:rPr>
              <a:t>competence</a:t>
            </a:r>
            <a:r>
              <a:t> do the same?</a:t>
            </a:r>
          </a:p>
        </p:txBody>
      </p:sp>
      <p:sp>
        <p:nvSpPr>
          <p:cNvPr id="365" name="anthropic-citation"/>
          <p:cNvSpPr txBox="1"/>
          <p:nvPr/>
        </p:nvSpPr>
        <p:spPr>
          <a:xfrm>
            <a:off x="5760720" y="4804166"/>
            <a:ext cx="2918461" cy="20241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800">
                <a:solidFill>
                  <a:srgbClr val="8FA5BB"/>
                </a:solidFill>
                <a:latin typeface="Arial"/>
                <a:ea typeface="Arial"/>
                <a:cs typeface="Arial"/>
                <a:sym typeface="Arial"/>
              </a:defRPr>
            </a:lvl1pPr>
          </a:lstStyle>
          <a:p>
            <a:pPr/>
            <a:r>
              <a:t>Concept adapted from Sofroniew, Lindsey et al. (2026)</a:t>
            </a:r>
          </a:p>
        </p:txBody>
      </p:sp>
      <p:sp>
        <p:nvSpPr>
          <p:cNvPr id="366" name="story-cue"/>
          <p:cNvSpPr/>
          <p:nvPr/>
        </p:nvSpPr>
        <p:spPr>
          <a:xfrm>
            <a:off x="269081" y="1938338"/>
            <a:ext cx="2190751" cy="876301"/>
          </a:xfrm>
          <a:prstGeom prst="roundRect">
            <a:avLst>
              <a:gd name="adj" fmla="val 15217"/>
            </a:avLst>
          </a:prstGeom>
          <a:solidFill>
            <a:srgbClr val="1E2D45"/>
          </a:solidFill>
          <a:ln w="14288">
            <a:solidFill>
              <a:srgbClr val="2D6F86"/>
            </a:solidFill>
          </a:ln>
        </p:spPr>
        <p:txBody>
          <a:bodyPr lIns="0" tIns="0" rIns="0" bIns="0"/>
          <a:lstStyle/>
          <a:p>
            <a:pPr/>
          </a:p>
        </p:txBody>
      </p:sp>
      <p:sp>
        <p:nvSpPr>
          <p:cNvPr id="367" name="story-label"/>
          <p:cNvSpPr txBox="1"/>
          <p:nvPr/>
        </p:nvSpPr>
        <p:spPr>
          <a:xfrm>
            <a:off x="457675" y="1983387"/>
            <a:ext cx="594361" cy="2147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900">
                <a:solidFill>
                  <a:srgbClr val="4A9EBA"/>
                </a:solidFill>
                <a:latin typeface="Arial"/>
                <a:ea typeface="Arial"/>
                <a:cs typeface="Arial"/>
                <a:sym typeface="Arial"/>
              </a:defRPr>
            </a:lvl1pPr>
          </a:lstStyle>
          <a:p>
            <a:pPr/>
            <a:r>
              <a:t>STORY</a:t>
            </a:r>
          </a:p>
        </p:txBody>
      </p:sp>
      <p:sp>
        <p:nvSpPr>
          <p:cNvPr id="368" name="llm-gate"/>
          <p:cNvSpPr/>
          <p:nvPr/>
        </p:nvSpPr>
        <p:spPr>
          <a:xfrm>
            <a:off x="2857500" y="1504950"/>
            <a:ext cx="1066800" cy="2038350"/>
          </a:xfrm>
          <a:prstGeom prst="roundRect">
            <a:avLst>
              <a:gd name="adj" fmla="val 16071"/>
            </a:avLst>
          </a:prstGeom>
          <a:solidFill>
            <a:srgbClr val="1E2D45"/>
          </a:solidFill>
          <a:ln w="14288">
            <a:solidFill>
              <a:srgbClr val="2D6F86"/>
            </a:solidFill>
          </a:ln>
        </p:spPr>
        <p:txBody>
          <a:bodyPr lIns="0" tIns="0" rIns="0" bIns="0"/>
          <a:lstStyle/>
          <a:p>
            <a:pPr/>
          </a:p>
        </p:txBody>
      </p:sp>
      <p:sp>
        <p:nvSpPr>
          <p:cNvPr id="369" name="llm-label"/>
          <p:cNvSpPr txBox="1"/>
          <p:nvPr/>
        </p:nvSpPr>
        <p:spPr>
          <a:xfrm>
            <a:off x="3055620" y="2085477"/>
            <a:ext cx="670561" cy="36294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EEF2F7"/>
                </a:solidFill>
                <a:latin typeface="Arial"/>
                <a:ea typeface="Arial"/>
                <a:cs typeface="Arial"/>
                <a:sym typeface="Arial"/>
              </a:defRPr>
            </a:lvl1pPr>
          </a:lstStyle>
          <a:p>
            <a:pPr/>
            <a:r>
              <a:t>LLM</a:t>
            </a:r>
          </a:p>
        </p:txBody>
      </p:sp>
      <p:sp>
        <p:nvSpPr>
          <p:cNvPr id="370" name="llm-subtitle"/>
          <p:cNvSpPr txBox="1"/>
          <p:nvPr/>
        </p:nvSpPr>
        <p:spPr>
          <a:xfrm>
            <a:off x="2998470" y="2540807"/>
            <a:ext cx="784861" cy="3666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sz="1000">
                <a:solidFill>
                  <a:srgbClr val="4A9EBA"/>
                </a:solidFill>
                <a:latin typeface="Arial"/>
                <a:ea typeface="Arial"/>
                <a:cs typeface="Arial"/>
                <a:sym typeface="Arial"/>
              </a:defRPr>
            </a:pPr>
            <a:r>
              <a:t>words leads</a:t>
            </a:r>
          </a:p>
          <a:p>
            <a:pPr algn="ctr">
              <a:defRPr sz="1000">
                <a:solidFill>
                  <a:srgbClr val="4A9EBA"/>
                </a:solidFill>
                <a:latin typeface="Arial"/>
                <a:ea typeface="Arial"/>
                <a:cs typeface="Arial"/>
                <a:sym typeface="Arial"/>
              </a:defRPr>
            </a:pPr>
            <a:r>
              <a:t>activations</a:t>
            </a:r>
          </a:p>
        </p:txBody>
      </p:sp>
      <p:sp>
        <p:nvSpPr>
          <p:cNvPr id="371" name="gate-node-22-24"/>
          <p:cNvSpPr/>
          <p:nvPr/>
        </p:nvSpPr>
        <p:spPr>
          <a:xfrm>
            <a:off x="3067050" y="1733550"/>
            <a:ext cx="47626" cy="47626"/>
          </a:xfrm>
          <a:prstGeom prst="ellipse">
            <a:avLst/>
          </a:prstGeom>
          <a:solidFill>
            <a:srgbClr val="2D6F86"/>
          </a:solidFill>
          <a:ln w="12700">
            <a:miter lim="400000"/>
          </a:ln>
        </p:spPr>
        <p:txBody>
          <a:bodyPr lIns="0" tIns="0" rIns="0" bIns="0"/>
          <a:lstStyle/>
          <a:p>
            <a:pPr/>
          </a:p>
        </p:txBody>
      </p:sp>
      <p:sp>
        <p:nvSpPr>
          <p:cNvPr id="372" name="gate-node-55-31"/>
          <p:cNvSpPr/>
          <p:nvPr/>
        </p:nvSpPr>
        <p:spPr>
          <a:xfrm>
            <a:off x="3381375" y="1800225"/>
            <a:ext cx="47626" cy="47626"/>
          </a:xfrm>
          <a:prstGeom prst="ellipse">
            <a:avLst/>
          </a:prstGeom>
          <a:solidFill>
            <a:srgbClr val="2D6F86"/>
          </a:solidFill>
          <a:ln w="12700">
            <a:miter lim="400000"/>
          </a:ln>
        </p:spPr>
        <p:txBody>
          <a:bodyPr lIns="0" tIns="0" rIns="0" bIns="0"/>
          <a:lstStyle/>
          <a:p>
            <a:pPr/>
          </a:p>
        </p:txBody>
      </p:sp>
      <p:sp>
        <p:nvSpPr>
          <p:cNvPr id="373" name="gate-node-79-63"/>
          <p:cNvSpPr/>
          <p:nvPr/>
        </p:nvSpPr>
        <p:spPr>
          <a:xfrm>
            <a:off x="3609975" y="2105025"/>
            <a:ext cx="47626" cy="47626"/>
          </a:xfrm>
          <a:prstGeom prst="ellipse">
            <a:avLst/>
          </a:prstGeom>
          <a:solidFill>
            <a:srgbClr val="2D6F86"/>
          </a:solidFill>
          <a:ln w="12700">
            <a:miter lim="400000"/>
          </a:ln>
        </p:spPr>
        <p:txBody>
          <a:bodyPr lIns="0" tIns="0" rIns="0" bIns="0"/>
          <a:lstStyle/>
          <a:p>
            <a:pPr/>
          </a:p>
        </p:txBody>
      </p:sp>
      <p:sp>
        <p:nvSpPr>
          <p:cNvPr id="374" name="gate-node-28-151"/>
          <p:cNvSpPr/>
          <p:nvPr/>
        </p:nvSpPr>
        <p:spPr>
          <a:xfrm>
            <a:off x="3124200" y="2943225"/>
            <a:ext cx="47626" cy="47626"/>
          </a:xfrm>
          <a:prstGeom prst="ellipse">
            <a:avLst/>
          </a:prstGeom>
          <a:solidFill>
            <a:srgbClr val="2D6F86"/>
          </a:solidFill>
          <a:ln w="12700">
            <a:miter lim="400000"/>
          </a:ln>
        </p:spPr>
        <p:txBody>
          <a:bodyPr lIns="0" tIns="0" rIns="0" bIns="0"/>
          <a:lstStyle/>
          <a:p>
            <a:pPr/>
          </a:p>
        </p:txBody>
      </p:sp>
      <p:sp>
        <p:nvSpPr>
          <p:cNvPr id="375" name="gate-node-82-174"/>
          <p:cNvSpPr/>
          <p:nvPr/>
        </p:nvSpPr>
        <p:spPr>
          <a:xfrm>
            <a:off x="3638550" y="3162300"/>
            <a:ext cx="47626" cy="47626"/>
          </a:xfrm>
          <a:prstGeom prst="ellipse">
            <a:avLst/>
          </a:prstGeom>
          <a:solidFill>
            <a:srgbClr val="2D6F86"/>
          </a:solidFill>
          <a:ln w="12700">
            <a:miter lim="400000"/>
          </a:ln>
        </p:spPr>
        <p:txBody>
          <a:bodyPr lIns="0" tIns="0" rIns="0" bIns="0"/>
          <a:lstStyle/>
          <a:p>
            <a:pPr/>
          </a:p>
        </p:txBody>
      </p:sp>
      <p:sp>
        <p:nvSpPr>
          <p:cNvPr id="376" name="Line"/>
          <p:cNvSpPr/>
          <p:nvPr/>
        </p:nvSpPr>
        <p:spPr>
          <a:xfrm>
            <a:off x="2507852" y="2376488"/>
            <a:ext cx="311151" cy="1"/>
          </a:xfrm>
          <a:prstGeom prst="line">
            <a:avLst/>
          </a:prstGeom>
          <a:ln w="28575">
            <a:solidFill>
              <a:srgbClr val="4A9EBA"/>
            </a:solidFill>
            <a:tailEnd type="triangle"/>
          </a:ln>
        </p:spPr>
        <p:txBody>
          <a:bodyPr lIns="0" tIns="0" rIns="0" bIns="0"/>
          <a:lstStyle/>
          <a:p>
            <a:pPr/>
          </a:p>
        </p:txBody>
      </p:sp>
      <p:sp>
        <p:nvSpPr>
          <p:cNvPr id="377" name="Line"/>
          <p:cNvSpPr/>
          <p:nvPr/>
        </p:nvSpPr>
        <p:spPr>
          <a:xfrm>
            <a:off x="3889959" y="2532307"/>
            <a:ext cx="2288591" cy="191844"/>
          </a:xfrm>
          <a:prstGeom prst="line">
            <a:avLst/>
          </a:prstGeom>
          <a:ln w="28575">
            <a:solidFill>
              <a:srgbClr val="4A9EBA"/>
            </a:solidFill>
            <a:prstDash val="dash"/>
            <a:tailEnd type="triangle"/>
          </a:ln>
        </p:spPr>
        <p:txBody>
          <a:bodyPr lIns="0" tIns="0" rIns="0" bIns="0"/>
          <a:lstStyle/>
          <a:p>
            <a:pPr/>
          </a:p>
        </p:txBody>
      </p:sp>
      <p:sp>
        <p:nvSpPr>
          <p:cNvPr id="378" name="story-copy"/>
          <p:cNvSpPr txBox="1"/>
          <p:nvPr/>
        </p:nvSpPr>
        <p:spPr>
          <a:xfrm>
            <a:off x="457675" y="2304893"/>
            <a:ext cx="1813562" cy="27654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EEF2F7"/>
                </a:solidFill>
                <a:latin typeface="Arial"/>
                <a:ea typeface="Arial"/>
                <a:cs typeface="Arial"/>
                <a:sym typeface="Arial"/>
              </a:defRPr>
            </a:lvl1pPr>
          </a:lstStyle>
          <a:p>
            <a:pPr/>
            <a:r>
              <a:t>A very sad story.</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Shape 0"/>
          <p:cNvSpPr/>
          <p:nvPr/>
        </p:nvSpPr>
        <p:spPr>
          <a:xfrm>
            <a:off x="0" y="0"/>
            <a:ext cx="9144000" cy="5143500"/>
          </a:xfrm>
          <a:prstGeom prst="rect">
            <a:avLst/>
          </a:prstGeom>
          <a:solidFill>
            <a:srgbClr val="12161F"/>
          </a:solidFill>
          <a:ln w="12700">
            <a:miter lim="400000"/>
          </a:ln>
        </p:spPr>
        <p:txBody>
          <a:bodyPr lIns="0" tIns="0" rIns="0" bIns="0"/>
          <a:lstStyle/>
          <a:p>
            <a:pPr/>
          </a:p>
        </p:txBody>
      </p:sp>
      <p:sp>
        <p:nvSpPr>
          <p:cNvPr id="383" name="Text 1"/>
          <p:cNvSpPr txBox="1"/>
          <p:nvPr/>
        </p:nvSpPr>
        <p:spPr>
          <a:xfrm>
            <a:off x="411479" y="164591"/>
            <a:ext cx="8321042"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What if social perception is encoded as geometry inside the model?</a:t>
            </a:r>
          </a:p>
        </p:txBody>
      </p:sp>
      <p:sp>
        <p:nvSpPr>
          <p:cNvPr id="384" name="Text 2"/>
          <p:cNvSpPr txBox="1"/>
          <p:nvPr/>
        </p:nvSpPr>
        <p:spPr>
          <a:xfrm>
            <a:off x="411479" y="1059619"/>
            <a:ext cx="402336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EF2F7"/>
                </a:solidFill>
              </a:defRPr>
            </a:lvl1pPr>
          </a:lstStyle>
          <a:p>
            <a:pPr/>
            <a:r>
              <a:t>200 short stories · nameless protagonist · 4 conditions:</a:t>
            </a:r>
          </a:p>
        </p:txBody>
      </p:sp>
      <p:sp>
        <p:nvSpPr>
          <p:cNvPr id="385" name="Shape 3"/>
          <p:cNvSpPr/>
          <p:nvPr/>
        </p:nvSpPr>
        <p:spPr>
          <a:xfrm>
            <a:off x="411480" y="1389888"/>
            <a:ext cx="1828801" cy="301753"/>
          </a:xfrm>
          <a:prstGeom prst="roundRect">
            <a:avLst>
              <a:gd name="adj" fmla="val 21212"/>
            </a:avLst>
          </a:prstGeom>
          <a:solidFill>
            <a:srgbClr val="E07B54"/>
          </a:solidFill>
          <a:ln w="12700">
            <a:miter lim="400000"/>
          </a:ln>
        </p:spPr>
        <p:txBody>
          <a:bodyPr lIns="0" tIns="0" rIns="0" bIns="0"/>
          <a:lstStyle/>
          <a:p>
            <a:pPr/>
          </a:p>
        </p:txBody>
      </p:sp>
      <p:sp>
        <p:nvSpPr>
          <p:cNvPr id="386" name="Text 4"/>
          <p:cNvSpPr txBox="1"/>
          <p:nvPr/>
        </p:nvSpPr>
        <p:spPr>
          <a:xfrm>
            <a:off x="411480" y="1473630"/>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High Warmth</a:t>
            </a:r>
          </a:p>
        </p:txBody>
      </p:sp>
      <p:sp>
        <p:nvSpPr>
          <p:cNvPr id="387" name="Shape 5"/>
          <p:cNvSpPr/>
          <p:nvPr/>
        </p:nvSpPr>
        <p:spPr>
          <a:xfrm>
            <a:off x="2468879" y="1389888"/>
            <a:ext cx="1828801" cy="301753"/>
          </a:xfrm>
          <a:prstGeom prst="roundRect">
            <a:avLst>
              <a:gd name="adj" fmla="val 21212"/>
            </a:avLst>
          </a:prstGeom>
          <a:solidFill>
            <a:srgbClr val="4A9EBA"/>
          </a:solidFill>
          <a:ln w="12700">
            <a:miter lim="400000"/>
          </a:ln>
        </p:spPr>
        <p:txBody>
          <a:bodyPr lIns="0" tIns="0" rIns="0" bIns="0"/>
          <a:lstStyle/>
          <a:p>
            <a:pPr/>
          </a:p>
        </p:txBody>
      </p:sp>
      <p:sp>
        <p:nvSpPr>
          <p:cNvPr id="388" name="Text 6"/>
          <p:cNvSpPr txBox="1"/>
          <p:nvPr/>
        </p:nvSpPr>
        <p:spPr>
          <a:xfrm>
            <a:off x="2468879" y="1473630"/>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Low Warmth</a:t>
            </a:r>
          </a:p>
        </p:txBody>
      </p:sp>
      <p:sp>
        <p:nvSpPr>
          <p:cNvPr id="389" name="Shape 7"/>
          <p:cNvSpPr/>
          <p:nvPr/>
        </p:nvSpPr>
        <p:spPr>
          <a:xfrm>
            <a:off x="411480" y="1792223"/>
            <a:ext cx="1828801" cy="301753"/>
          </a:xfrm>
          <a:prstGeom prst="roundRect">
            <a:avLst>
              <a:gd name="adj" fmla="val 21212"/>
            </a:avLst>
          </a:prstGeom>
          <a:solidFill>
            <a:srgbClr val="5BAD8B"/>
          </a:solidFill>
          <a:ln w="12700">
            <a:miter lim="400000"/>
          </a:ln>
        </p:spPr>
        <p:txBody>
          <a:bodyPr lIns="0" tIns="0" rIns="0" bIns="0"/>
          <a:lstStyle/>
          <a:p>
            <a:pPr/>
          </a:p>
        </p:txBody>
      </p:sp>
      <p:sp>
        <p:nvSpPr>
          <p:cNvPr id="390" name="Text 8"/>
          <p:cNvSpPr txBox="1"/>
          <p:nvPr/>
        </p:nvSpPr>
        <p:spPr>
          <a:xfrm>
            <a:off x="411480" y="1875966"/>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High Competence</a:t>
            </a:r>
          </a:p>
        </p:txBody>
      </p:sp>
      <p:sp>
        <p:nvSpPr>
          <p:cNvPr id="391" name="Shape 9"/>
          <p:cNvSpPr/>
          <p:nvPr/>
        </p:nvSpPr>
        <p:spPr>
          <a:xfrm>
            <a:off x="2468879" y="1792223"/>
            <a:ext cx="1828801" cy="301753"/>
          </a:xfrm>
          <a:prstGeom prst="roundRect">
            <a:avLst>
              <a:gd name="adj" fmla="val 21212"/>
            </a:avLst>
          </a:prstGeom>
          <a:solidFill>
            <a:srgbClr val="8FA5BB"/>
          </a:solidFill>
          <a:ln w="12700">
            <a:miter lim="400000"/>
          </a:ln>
        </p:spPr>
        <p:txBody>
          <a:bodyPr lIns="0" tIns="0" rIns="0" bIns="0"/>
          <a:lstStyle/>
          <a:p>
            <a:pPr/>
          </a:p>
        </p:txBody>
      </p:sp>
      <p:sp>
        <p:nvSpPr>
          <p:cNvPr id="392" name="Text 10"/>
          <p:cNvSpPr txBox="1"/>
          <p:nvPr/>
        </p:nvSpPr>
        <p:spPr>
          <a:xfrm>
            <a:off x="2468879" y="1875966"/>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Low Competence</a:t>
            </a:r>
          </a:p>
        </p:txBody>
      </p:sp>
      <p:sp>
        <p:nvSpPr>
          <p:cNvPr id="393" name="Text 11"/>
          <p:cNvSpPr txBox="1"/>
          <p:nvPr/>
        </p:nvSpPr>
        <p:spPr>
          <a:xfrm>
            <a:off x="411479" y="2404925"/>
            <a:ext cx="402336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8FA5BB"/>
                </a:solidFill>
              </a:defRPr>
            </a:lvl1pPr>
          </a:lstStyle>
          <a:p>
            <a:pPr/>
            <a:r>
              <a:t>Nameless, gender-neutral protagonist in every story, so the vector encodes behaviour, not demographic identity.</a:t>
            </a:r>
          </a:p>
        </p:txBody>
      </p:sp>
      <p:sp>
        <p:nvSpPr>
          <p:cNvPr id="394" name="Text 12"/>
          <p:cNvSpPr txBox="1"/>
          <p:nvPr/>
        </p:nvSpPr>
        <p:spPr>
          <a:xfrm>
            <a:off x="411479" y="2960554"/>
            <a:ext cx="4023361"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4A9EBA"/>
                </a:solidFill>
              </a:defRPr>
            </a:lvl1pPr>
          </a:lstStyle>
          <a:p>
            <a:pPr/>
            <a:r>
              <a:t>Mean difference between high and low conditions gives the direction vector v</a:t>
            </a:r>
          </a:p>
        </p:txBody>
      </p:sp>
      <p:sp>
        <p:nvSpPr>
          <p:cNvPr id="395" name="Text 13"/>
          <p:cNvSpPr txBox="1"/>
          <p:nvPr/>
        </p:nvSpPr>
        <p:spPr>
          <a:xfrm>
            <a:off x="411479" y="3397811"/>
            <a:ext cx="4023361" cy="5378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If the direction generalizes to new topics never seen during training, the representation is not an artifact of the training stimuli.</a:t>
            </a:r>
          </a:p>
        </p:txBody>
      </p:sp>
      <p:pic>
        <p:nvPicPr>
          <p:cNvPr id="396" name="Image 0" descr="Image 0"/>
          <p:cNvPicPr>
            <a:picLocks noChangeAspect="1"/>
          </p:cNvPicPr>
          <p:nvPr/>
        </p:nvPicPr>
        <p:blipFill>
          <a:blip r:embed="rId3">
            <a:extLst/>
          </a:blip>
          <a:stretch>
            <a:fillRect/>
          </a:stretch>
        </p:blipFill>
        <p:spPr>
          <a:xfrm>
            <a:off x="4572000" y="868680"/>
            <a:ext cx="4297680" cy="3485947"/>
          </a:xfrm>
          <a:prstGeom prst="rect">
            <a:avLst/>
          </a:prstGeom>
          <a:ln w="12700">
            <a:miter lim="400000"/>
          </a:ln>
        </p:spPr>
      </p:pic>
      <p:sp>
        <p:nvSpPr>
          <p:cNvPr id="397" name="Text 14"/>
          <p:cNvSpPr txBox="1"/>
          <p:nvPr/>
        </p:nvSpPr>
        <p:spPr>
          <a:xfrm>
            <a:off x="4572000" y="4487258"/>
            <a:ext cx="4251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Concept direction geometry (schematic)</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Shape 0"/>
          <p:cNvSpPr/>
          <p:nvPr/>
        </p:nvSpPr>
        <p:spPr>
          <a:xfrm>
            <a:off x="0" y="0"/>
            <a:ext cx="9144000" cy="5143500"/>
          </a:xfrm>
          <a:prstGeom prst="rect">
            <a:avLst/>
          </a:prstGeom>
          <a:solidFill>
            <a:srgbClr val="1E2D45"/>
          </a:solidFill>
          <a:ln w="12700">
            <a:miter lim="400000"/>
          </a:ln>
        </p:spPr>
        <p:txBody>
          <a:bodyPr lIns="0" tIns="0" rIns="0" bIns="0"/>
          <a:lstStyle/>
          <a:p>
            <a:pPr/>
          </a:p>
        </p:txBody>
      </p:sp>
      <p:sp>
        <p:nvSpPr>
          <p:cNvPr id="402" name="Text 1"/>
          <p:cNvSpPr txBox="1"/>
          <p:nvPr/>
        </p:nvSpPr>
        <p:spPr>
          <a:xfrm>
            <a:off x="411479" y="164591"/>
            <a:ext cx="8321042"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Finding 1: Warmth and competence are linearly encoded in all four models</a:t>
            </a:r>
          </a:p>
        </p:txBody>
      </p:sp>
      <p:sp>
        <p:nvSpPr>
          <p:cNvPr id="403" name="Shape 2"/>
          <p:cNvSpPr/>
          <p:nvPr/>
        </p:nvSpPr>
        <p:spPr>
          <a:xfrm>
            <a:off x="411480" y="960119"/>
            <a:ext cx="1920240" cy="1188721"/>
          </a:xfrm>
          <a:prstGeom prst="roundRect">
            <a:avLst>
              <a:gd name="adj" fmla="val 7692"/>
            </a:avLst>
          </a:prstGeom>
          <a:solidFill>
            <a:srgbClr val="12161F"/>
          </a:solidFill>
          <a:ln w="12700">
            <a:miter lim="400000"/>
          </a:ln>
        </p:spPr>
        <p:txBody>
          <a:bodyPr lIns="0" tIns="0" rIns="0" bIns="0"/>
          <a:lstStyle/>
          <a:p>
            <a:pPr/>
          </a:p>
        </p:txBody>
      </p:sp>
      <p:sp>
        <p:nvSpPr>
          <p:cNvPr id="404" name="Text 3"/>
          <p:cNvSpPr txBox="1"/>
          <p:nvPr/>
        </p:nvSpPr>
        <p:spPr>
          <a:xfrm>
            <a:off x="411480" y="1049782"/>
            <a:ext cx="192024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3200">
                <a:solidFill>
                  <a:srgbClr val="4A9EBA"/>
                </a:solidFill>
                <a:latin typeface="Cambria"/>
                <a:ea typeface="Cambria"/>
                <a:cs typeface="Cambria"/>
                <a:sym typeface="Cambria"/>
              </a:defRPr>
            </a:lvl1pPr>
          </a:lstStyle>
          <a:p>
            <a:pPr/>
            <a:r>
              <a:t>100%</a:t>
            </a:r>
          </a:p>
        </p:txBody>
      </p:sp>
      <p:sp>
        <p:nvSpPr>
          <p:cNvPr id="405" name="Text 4"/>
          <p:cNvSpPr txBox="1"/>
          <p:nvPr/>
        </p:nvSpPr>
        <p:spPr>
          <a:xfrm>
            <a:off x="411480" y="1682286"/>
            <a:ext cx="1920241" cy="3021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8FA5BB"/>
                </a:solidFill>
              </a:defRPr>
            </a:pPr>
            <a:r>
              <a:t>accuracy, including on</a:t>
            </a:r>
          </a:p>
          <a:p>
            <a:pPr algn="ctr">
              <a:defRPr sz="1000">
                <a:solidFill>
                  <a:srgbClr val="8FA5BB"/>
                </a:solidFill>
              </a:defRPr>
            </a:pPr>
            <a:r>
              <a:t>entirely new situations</a:t>
            </a:r>
          </a:p>
        </p:txBody>
      </p:sp>
      <p:sp>
        <p:nvSpPr>
          <p:cNvPr id="406" name="Shape 5"/>
          <p:cNvSpPr/>
          <p:nvPr/>
        </p:nvSpPr>
        <p:spPr>
          <a:xfrm>
            <a:off x="2468879" y="960119"/>
            <a:ext cx="1920241" cy="1188721"/>
          </a:xfrm>
          <a:prstGeom prst="roundRect">
            <a:avLst>
              <a:gd name="adj" fmla="val 7692"/>
            </a:avLst>
          </a:prstGeom>
          <a:solidFill>
            <a:srgbClr val="12161F"/>
          </a:solidFill>
          <a:ln w="12700">
            <a:miter lim="400000"/>
          </a:ln>
        </p:spPr>
        <p:txBody>
          <a:bodyPr lIns="0" tIns="0" rIns="0" bIns="0"/>
          <a:lstStyle/>
          <a:p>
            <a:pPr/>
          </a:p>
        </p:txBody>
      </p:sp>
      <p:sp>
        <p:nvSpPr>
          <p:cNvPr id="407" name="Text 6"/>
          <p:cNvSpPr txBox="1"/>
          <p:nvPr/>
        </p:nvSpPr>
        <p:spPr>
          <a:xfrm>
            <a:off x="2468879" y="1119632"/>
            <a:ext cx="192024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4A9EBA"/>
                </a:solidFill>
                <a:latin typeface="Cambria"/>
                <a:ea typeface="Cambria"/>
                <a:cs typeface="Cambria"/>
                <a:sym typeface="Cambria"/>
              </a:defRPr>
            </a:lvl1pPr>
          </a:lstStyle>
          <a:p>
            <a:pPr/>
            <a:r>
              <a:t>ρ 0.76–0.99</a:t>
            </a:r>
          </a:p>
        </p:txBody>
      </p:sp>
      <p:sp>
        <p:nvSpPr>
          <p:cNvPr id="408" name="Text 7"/>
          <p:cNvSpPr txBox="1"/>
          <p:nvPr/>
        </p:nvSpPr>
        <p:spPr>
          <a:xfrm>
            <a:off x="2468879" y="1682286"/>
            <a:ext cx="1920241" cy="3021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1000">
                <a:solidFill>
                  <a:srgbClr val="8FA5BB"/>
                </a:solidFill>
              </a:defRPr>
            </a:pPr>
            <a:r>
              <a:t>cross-model story agreement</a:t>
            </a:r>
          </a:p>
          <a:p>
            <a:pPr algn="ctr">
              <a:defRPr sz="1000">
                <a:solidFill>
                  <a:srgbClr val="8FA5BB"/>
                </a:solidFill>
              </a:defRPr>
            </a:pPr>
            <a:r>
              <a:t>(4 models, 3 companies)</a:t>
            </a:r>
          </a:p>
        </p:txBody>
      </p:sp>
      <p:sp>
        <p:nvSpPr>
          <p:cNvPr id="409" name="Shape 8"/>
          <p:cNvSpPr/>
          <p:nvPr/>
        </p:nvSpPr>
        <p:spPr>
          <a:xfrm>
            <a:off x="411480" y="2331720"/>
            <a:ext cx="1828801" cy="301753"/>
          </a:xfrm>
          <a:prstGeom prst="roundRect">
            <a:avLst>
              <a:gd name="adj" fmla="val 21212"/>
            </a:avLst>
          </a:prstGeom>
          <a:solidFill>
            <a:srgbClr val="253650"/>
          </a:solidFill>
          <a:ln w="12700">
            <a:miter lim="400000"/>
          </a:ln>
        </p:spPr>
        <p:txBody>
          <a:bodyPr lIns="0" tIns="0" rIns="0" bIns="0"/>
          <a:lstStyle/>
          <a:p>
            <a:pPr/>
          </a:p>
        </p:txBody>
      </p:sp>
      <p:sp>
        <p:nvSpPr>
          <p:cNvPr id="410" name="Text 9"/>
          <p:cNvSpPr txBox="1"/>
          <p:nvPr/>
        </p:nvSpPr>
        <p:spPr>
          <a:xfrm>
            <a:off x="411480" y="2415462"/>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Gemma-3-12B</a:t>
            </a:r>
          </a:p>
        </p:txBody>
      </p:sp>
      <p:sp>
        <p:nvSpPr>
          <p:cNvPr id="411" name="Shape 10"/>
          <p:cNvSpPr/>
          <p:nvPr/>
        </p:nvSpPr>
        <p:spPr>
          <a:xfrm>
            <a:off x="2560320" y="2331720"/>
            <a:ext cx="1828801" cy="301753"/>
          </a:xfrm>
          <a:prstGeom prst="roundRect">
            <a:avLst>
              <a:gd name="adj" fmla="val 21212"/>
            </a:avLst>
          </a:prstGeom>
          <a:solidFill>
            <a:srgbClr val="253650"/>
          </a:solidFill>
          <a:ln w="12700">
            <a:miter lim="400000"/>
          </a:ln>
        </p:spPr>
        <p:txBody>
          <a:bodyPr lIns="0" tIns="0" rIns="0" bIns="0"/>
          <a:lstStyle/>
          <a:p>
            <a:pPr/>
          </a:p>
        </p:txBody>
      </p:sp>
      <p:sp>
        <p:nvSpPr>
          <p:cNvPr id="412" name="Text 11"/>
          <p:cNvSpPr txBox="1"/>
          <p:nvPr/>
        </p:nvSpPr>
        <p:spPr>
          <a:xfrm>
            <a:off x="2560320" y="2415462"/>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Gemma-3-27B</a:t>
            </a:r>
          </a:p>
        </p:txBody>
      </p:sp>
      <p:sp>
        <p:nvSpPr>
          <p:cNvPr id="413" name="Shape 12"/>
          <p:cNvSpPr/>
          <p:nvPr/>
        </p:nvSpPr>
        <p:spPr>
          <a:xfrm>
            <a:off x="411480" y="2734055"/>
            <a:ext cx="1828801" cy="301753"/>
          </a:xfrm>
          <a:prstGeom prst="roundRect">
            <a:avLst>
              <a:gd name="adj" fmla="val 21212"/>
            </a:avLst>
          </a:prstGeom>
          <a:solidFill>
            <a:srgbClr val="253650"/>
          </a:solidFill>
          <a:ln w="12700">
            <a:miter lim="400000"/>
          </a:ln>
        </p:spPr>
        <p:txBody>
          <a:bodyPr lIns="0" tIns="0" rIns="0" bIns="0"/>
          <a:lstStyle/>
          <a:p>
            <a:pPr/>
          </a:p>
        </p:txBody>
      </p:sp>
      <p:sp>
        <p:nvSpPr>
          <p:cNvPr id="414" name="Text 13"/>
          <p:cNvSpPr txBox="1"/>
          <p:nvPr/>
        </p:nvSpPr>
        <p:spPr>
          <a:xfrm>
            <a:off x="411480" y="2817798"/>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Llama-3.1-8B</a:t>
            </a:r>
          </a:p>
        </p:txBody>
      </p:sp>
      <p:sp>
        <p:nvSpPr>
          <p:cNvPr id="415" name="Shape 14"/>
          <p:cNvSpPr/>
          <p:nvPr/>
        </p:nvSpPr>
        <p:spPr>
          <a:xfrm>
            <a:off x="2560320" y="2734055"/>
            <a:ext cx="1828801" cy="301753"/>
          </a:xfrm>
          <a:prstGeom prst="roundRect">
            <a:avLst>
              <a:gd name="adj" fmla="val 21212"/>
            </a:avLst>
          </a:prstGeom>
          <a:solidFill>
            <a:srgbClr val="253650"/>
          </a:solidFill>
          <a:ln w="12700">
            <a:miter lim="400000"/>
          </a:ln>
        </p:spPr>
        <p:txBody>
          <a:bodyPr lIns="0" tIns="0" rIns="0" bIns="0"/>
          <a:lstStyle/>
          <a:p>
            <a:pPr/>
          </a:p>
        </p:txBody>
      </p:sp>
      <p:sp>
        <p:nvSpPr>
          <p:cNvPr id="416" name="Text 15"/>
          <p:cNvSpPr txBox="1"/>
          <p:nvPr/>
        </p:nvSpPr>
        <p:spPr>
          <a:xfrm>
            <a:off x="2560320" y="2817798"/>
            <a:ext cx="18288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Qwen3-14B</a:t>
            </a:r>
          </a:p>
        </p:txBody>
      </p:sp>
      <p:sp>
        <p:nvSpPr>
          <p:cNvPr id="417" name="Text 16"/>
          <p:cNvSpPr txBox="1"/>
          <p:nvPr/>
        </p:nvSpPr>
        <p:spPr>
          <a:xfrm>
            <a:off x="411480" y="3265985"/>
            <a:ext cx="4114801" cy="728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8FA5BB"/>
                </a:solidFill>
              </a:defRPr>
            </a:lvl1pPr>
          </a:lstStyle>
          <a:p>
            <a:pPr/>
            <a:r>
              <a:t>All four models, trained independently at three different organisations, converge on the same warmth/competence ordering of stories. That convergence is strong evidence this reflects the training data, not a quirk of one architecture.</a:t>
            </a:r>
          </a:p>
        </p:txBody>
      </p:sp>
      <p:pic>
        <p:nvPicPr>
          <p:cNvPr id="418" name="Image 0" descr="Image 0"/>
          <p:cNvPicPr>
            <a:picLocks noChangeAspect="1"/>
          </p:cNvPicPr>
          <p:nvPr/>
        </p:nvPicPr>
        <p:blipFill>
          <a:blip r:embed="rId3">
            <a:extLst/>
          </a:blip>
          <a:stretch>
            <a:fillRect/>
          </a:stretch>
        </p:blipFill>
        <p:spPr>
          <a:xfrm>
            <a:off x="4572000" y="868680"/>
            <a:ext cx="4343400" cy="1843879"/>
          </a:xfrm>
          <a:prstGeom prst="rect">
            <a:avLst/>
          </a:prstGeom>
          <a:ln w="12700">
            <a:miter lim="400000"/>
          </a:ln>
        </p:spPr>
      </p:pic>
      <p:sp>
        <p:nvSpPr>
          <p:cNvPr id="419" name="Text 17"/>
          <p:cNvSpPr txBox="1"/>
          <p:nvPr/>
        </p:nvSpPr>
        <p:spPr>
          <a:xfrm>
            <a:off x="4572000" y="2845191"/>
            <a:ext cx="4251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Layer emergence, Cohen's d by depth</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Shape 0"/>
          <p:cNvSpPr/>
          <p:nvPr/>
        </p:nvSpPr>
        <p:spPr>
          <a:xfrm>
            <a:off x="0" y="0"/>
            <a:ext cx="9144000" cy="5143500"/>
          </a:xfrm>
          <a:prstGeom prst="rect">
            <a:avLst/>
          </a:prstGeom>
          <a:solidFill>
            <a:srgbClr val="1E2D45"/>
          </a:solidFill>
          <a:ln w="12700">
            <a:miter lim="400000"/>
          </a:ln>
        </p:spPr>
        <p:txBody>
          <a:bodyPr lIns="0" tIns="0" rIns="0" bIns="0"/>
          <a:lstStyle/>
          <a:p>
            <a:pPr/>
          </a:p>
        </p:txBody>
      </p:sp>
      <p:sp>
        <p:nvSpPr>
          <p:cNvPr id="424" name="Text 1"/>
          <p:cNvSpPr txBox="1"/>
          <p:nvPr/>
        </p:nvSpPr>
        <p:spPr>
          <a:xfrm>
            <a:off x="411479" y="336041"/>
            <a:ext cx="8321042" cy="342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Finding 2: We can steer these directions and flip hiring decisions</a:t>
            </a:r>
          </a:p>
        </p:txBody>
      </p:sp>
      <p:sp>
        <p:nvSpPr>
          <p:cNvPr id="425" name="Shape 2"/>
          <p:cNvSpPr/>
          <p:nvPr/>
        </p:nvSpPr>
        <p:spPr>
          <a:xfrm>
            <a:off x="411480" y="960119"/>
            <a:ext cx="4114801" cy="841249"/>
          </a:xfrm>
          <a:prstGeom prst="roundRect">
            <a:avLst>
              <a:gd name="adj" fmla="val 10870"/>
            </a:avLst>
          </a:prstGeom>
          <a:solidFill>
            <a:srgbClr val="12161F"/>
          </a:solidFill>
          <a:ln w="12700">
            <a:miter lim="400000"/>
          </a:ln>
        </p:spPr>
        <p:txBody>
          <a:bodyPr lIns="0" tIns="0" rIns="0" bIns="0"/>
          <a:lstStyle/>
          <a:p>
            <a:pPr/>
          </a:p>
        </p:txBody>
      </p:sp>
      <p:sp>
        <p:nvSpPr>
          <p:cNvPr id="426" name="Text 3"/>
          <p:cNvSpPr txBox="1"/>
          <p:nvPr/>
        </p:nvSpPr>
        <p:spPr>
          <a:xfrm>
            <a:off x="502919" y="1111811"/>
            <a:ext cx="3931922" cy="537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Injecting the warmth direction during resume evaluation shifts the callback recommendation, crossing the Yes/No boundary for every name tested.</a:t>
            </a:r>
          </a:p>
        </p:txBody>
      </p:sp>
      <p:sp>
        <p:nvSpPr>
          <p:cNvPr id="427" name="Shape 4"/>
          <p:cNvSpPr/>
          <p:nvPr/>
        </p:nvSpPr>
        <p:spPr>
          <a:xfrm>
            <a:off x="411480" y="1920239"/>
            <a:ext cx="3200401" cy="301753"/>
          </a:xfrm>
          <a:prstGeom prst="roundRect">
            <a:avLst>
              <a:gd name="adj" fmla="val 21212"/>
            </a:avLst>
          </a:prstGeom>
          <a:solidFill>
            <a:srgbClr val="E07B54"/>
          </a:solidFill>
          <a:ln w="12700">
            <a:miter lim="400000"/>
          </a:ln>
        </p:spPr>
        <p:txBody>
          <a:bodyPr lIns="0" tIns="0" rIns="0" bIns="0"/>
          <a:lstStyle/>
          <a:p>
            <a:pPr/>
          </a:p>
        </p:txBody>
      </p:sp>
      <p:sp>
        <p:nvSpPr>
          <p:cNvPr id="428" name="Text 5"/>
          <p:cNvSpPr txBox="1"/>
          <p:nvPr/>
        </p:nvSpPr>
        <p:spPr>
          <a:xfrm>
            <a:off x="411480" y="2003982"/>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FFFFFF"/>
                </a:solidFill>
              </a:defRPr>
            </a:lvl1pPr>
          </a:lstStyle>
          <a:p>
            <a:pPr/>
            <a:r>
              <a:t>Caveat: 12B measurement-limited (bf16)</a:t>
            </a:r>
          </a:p>
        </p:txBody>
      </p:sp>
      <p:sp>
        <p:nvSpPr>
          <p:cNvPr id="429" name="Shape 6"/>
          <p:cNvSpPr/>
          <p:nvPr/>
        </p:nvSpPr>
        <p:spPr>
          <a:xfrm>
            <a:off x="411480" y="2468879"/>
            <a:ext cx="146305" cy="146305"/>
          </a:xfrm>
          <a:prstGeom prst="ellipse">
            <a:avLst/>
          </a:prstGeom>
          <a:solidFill>
            <a:srgbClr val="4A9EBA"/>
          </a:solidFill>
          <a:ln w="12700">
            <a:miter lim="400000"/>
          </a:ln>
        </p:spPr>
        <p:txBody>
          <a:bodyPr lIns="0" tIns="0" rIns="0" bIns="0"/>
          <a:lstStyle/>
          <a:p>
            <a:pPr/>
          </a:p>
        </p:txBody>
      </p:sp>
      <p:sp>
        <p:nvSpPr>
          <p:cNvPr id="430" name="Text 7"/>
          <p:cNvSpPr txBox="1"/>
          <p:nvPr/>
        </p:nvSpPr>
        <p:spPr>
          <a:xfrm>
            <a:off x="658368" y="2536751"/>
            <a:ext cx="384048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Baseline circle: where each name starts before steering</a:t>
            </a:r>
          </a:p>
        </p:txBody>
      </p:sp>
      <p:sp>
        <p:nvSpPr>
          <p:cNvPr id="431" name="Shape 8"/>
          <p:cNvSpPr/>
          <p:nvPr/>
        </p:nvSpPr>
        <p:spPr>
          <a:xfrm>
            <a:off x="411480" y="2944367"/>
            <a:ext cx="146305" cy="146305"/>
          </a:xfrm>
          <a:prstGeom prst="ellipse">
            <a:avLst/>
          </a:prstGeom>
          <a:solidFill>
            <a:srgbClr val="4A9EBA"/>
          </a:solidFill>
          <a:ln w="12700">
            <a:miter lim="400000"/>
          </a:ln>
        </p:spPr>
        <p:txBody>
          <a:bodyPr lIns="0" tIns="0" rIns="0" bIns="0"/>
          <a:lstStyle/>
          <a:p>
            <a:pPr/>
          </a:p>
        </p:txBody>
      </p:sp>
      <p:sp>
        <p:nvSpPr>
          <p:cNvPr id="432" name="Text 9"/>
          <p:cNvSpPr txBox="1"/>
          <p:nvPr/>
        </p:nvSpPr>
        <p:spPr>
          <a:xfrm>
            <a:off x="658368" y="3012239"/>
            <a:ext cx="384048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Arrow: how far the decision shifts with each push</a:t>
            </a:r>
          </a:p>
        </p:txBody>
      </p:sp>
      <p:sp>
        <p:nvSpPr>
          <p:cNvPr id="433" name="Shape 10"/>
          <p:cNvSpPr/>
          <p:nvPr/>
        </p:nvSpPr>
        <p:spPr>
          <a:xfrm>
            <a:off x="411480" y="3419855"/>
            <a:ext cx="146305" cy="146305"/>
          </a:xfrm>
          <a:prstGeom prst="ellipse">
            <a:avLst/>
          </a:prstGeom>
          <a:solidFill>
            <a:srgbClr val="4A9EBA"/>
          </a:solidFill>
          <a:ln w="12700">
            <a:miter lim="400000"/>
          </a:ln>
        </p:spPr>
        <p:txBody>
          <a:bodyPr lIns="0" tIns="0" rIns="0" bIns="0"/>
          <a:lstStyle/>
          <a:p>
            <a:pPr/>
          </a:p>
        </p:txBody>
      </p:sp>
      <p:sp>
        <p:nvSpPr>
          <p:cNvPr id="434" name="Text 11"/>
          <p:cNvSpPr txBox="1"/>
          <p:nvPr/>
        </p:nvSpPr>
        <p:spPr>
          <a:xfrm>
            <a:off x="658368" y="3487727"/>
            <a:ext cx="384048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Dashed line: the Yes / No decision boundary (x = 0)</a:t>
            </a:r>
          </a:p>
        </p:txBody>
      </p:sp>
      <p:sp>
        <p:nvSpPr>
          <p:cNvPr id="435" name="Shape 12"/>
          <p:cNvSpPr/>
          <p:nvPr/>
        </p:nvSpPr>
        <p:spPr>
          <a:xfrm>
            <a:off x="411480" y="3895344"/>
            <a:ext cx="146305" cy="146305"/>
          </a:xfrm>
          <a:prstGeom prst="ellipse">
            <a:avLst/>
          </a:prstGeom>
          <a:solidFill>
            <a:srgbClr val="4A9EBA"/>
          </a:solidFill>
          <a:ln w="12700">
            <a:miter lim="400000"/>
          </a:ln>
        </p:spPr>
        <p:txBody>
          <a:bodyPr lIns="0" tIns="0" rIns="0" bIns="0"/>
          <a:lstStyle/>
          <a:p>
            <a:pPr/>
          </a:p>
        </p:txBody>
      </p:sp>
      <p:sp>
        <p:nvSpPr>
          <p:cNvPr id="436" name="Text 13"/>
          <p:cNvSpPr txBox="1"/>
          <p:nvPr/>
        </p:nvSpPr>
        <p:spPr>
          <a:xfrm>
            <a:off x="658368" y="3867965"/>
            <a:ext cx="384048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27B: a small push works; a larger push reverses the effect, suggesting a narrow causal window</a:t>
            </a:r>
          </a:p>
        </p:txBody>
      </p:sp>
      <p:pic>
        <p:nvPicPr>
          <p:cNvPr id="437" name="Image 0" descr="Image 0"/>
          <p:cNvPicPr>
            <a:picLocks noChangeAspect="1"/>
          </p:cNvPicPr>
          <p:nvPr/>
        </p:nvPicPr>
        <p:blipFill>
          <a:blip r:embed="rId3">
            <a:extLst/>
          </a:blip>
          <a:stretch>
            <a:fillRect/>
          </a:stretch>
        </p:blipFill>
        <p:spPr>
          <a:xfrm>
            <a:off x="4572000" y="868680"/>
            <a:ext cx="4343400" cy="1850546"/>
          </a:xfrm>
          <a:prstGeom prst="rect">
            <a:avLst/>
          </a:prstGeom>
          <a:ln w="12700">
            <a:miter lim="400000"/>
          </a:ln>
        </p:spPr>
      </p:pic>
      <p:sp>
        <p:nvSpPr>
          <p:cNvPr id="438" name="Text 14"/>
          <p:cNvSpPr txBox="1"/>
          <p:nvPr/>
        </p:nvSpPr>
        <p:spPr>
          <a:xfrm>
            <a:off x="4572000" y="2851857"/>
            <a:ext cx="4251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Diverging steering, Gemma-3-12B and 27B</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2" name="Shape 0"/>
          <p:cNvSpPr/>
          <p:nvPr/>
        </p:nvSpPr>
        <p:spPr>
          <a:xfrm>
            <a:off x="0" y="0"/>
            <a:ext cx="9144000" cy="5143500"/>
          </a:xfrm>
          <a:prstGeom prst="rect">
            <a:avLst/>
          </a:prstGeom>
          <a:solidFill>
            <a:srgbClr val="12161F"/>
          </a:solidFill>
          <a:ln w="12700">
            <a:miter lim="400000"/>
          </a:ln>
        </p:spPr>
        <p:txBody>
          <a:bodyPr lIns="0" tIns="0" rIns="0" bIns="0"/>
          <a:lstStyle/>
          <a:p>
            <a:pPr/>
          </a:p>
        </p:txBody>
      </p:sp>
      <p:sp>
        <p:nvSpPr>
          <p:cNvPr id="443" name="Text 1"/>
          <p:cNvSpPr txBox="1"/>
          <p:nvPr/>
        </p:nvSpPr>
        <p:spPr>
          <a:xfrm>
            <a:off x="411479" y="164591"/>
            <a:ext cx="8321042"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Finding 3: Model disparities run opposite to the human benchmark</a:t>
            </a:r>
          </a:p>
        </p:txBody>
      </p:sp>
      <p:sp>
        <p:nvSpPr>
          <p:cNvPr id="444" name="Shape 2"/>
          <p:cNvSpPr/>
          <p:nvPr/>
        </p:nvSpPr>
        <p:spPr>
          <a:xfrm>
            <a:off x="411480" y="960119"/>
            <a:ext cx="4114801" cy="841249"/>
          </a:xfrm>
          <a:prstGeom prst="roundRect">
            <a:avLst>
              <a:gd name="adj" fmla="val 10870"/>
            </a:avLst>
          </a:prstGeom>
          <a:solidFill>
            <a:srgbClr val="1E2D45"/>
          </a:solidFill>
          <a:ln w="12700">
            <a:miter lim="400000"/>
          </a:ln>
        </p:spPr>
        <p:txBody>
          <a:bodyPr lIns="0" tIns="0" rIns="0" bIns="0"/>
          <a:lstStyle/>
          <a:p>
            <a:pPr/>
          </a:p>
        </p:txBody>
      </p:sp>
      <p:sp>
        <p:nvSpPr>
          <p:cNvPr id="445" name="Text 3"/>
          <p:cNvSpPr txBox="1"/>
          <p:nvPr/>
        </p:nvSpPr>
        <p:spPr>
          <a:xfrm>
            <a:off x="502919" y="1048434"/>
            <a:ext cx="393192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4A9EBA"/>
                </a:solidFill>
              </a:defRPr>
            </a:lvl1pPr>
          </a:lstStyle>
          <a:p>
            <a:pPr/>
            <a:r>
              <a:t>Human benchmark (Gallo &amp; Hausladen, 2024):</a:t>
            </a:r>
          </a:p>
        </p:txBody>
      </p:sp>
      <p:sp>
        <p:nvSpPr>
          <p:cNvPr id="446" name="Text 4"/>
          <p:cNvSpPr txBox="1"/>
          <p:nvPr/>
        </p:nvSpPr>
        <p:spPr>
          <a:xfrm>
            <a:off x="502919" y="1339649"/>
            <a:ext cx="3931922"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EEF2F7"/>
                </a:solidFill>
              </a:defRPr>
            </a:pPr>
            <a:r>
              <a:t>White names receive more callbacks than Black names</a:t>
            </a:r>
          </a:p>
          <a:p>
            <a:pPr>
              <a:defRPr sz="1200">
                <a:solidFill>
                  <a:srgbClr val="EEF2F7"/>
                </a:solidFill>
              </a:defRPr>
            </a:pPr>
            <a:r>
              <a:t>Males receive slightly more callbacks than females</a:t>
            </a:r>
          </a:p>
        </p:txBody>
      </p:sp>
      <p:sp>
        <p:nvSpPr>
          <p:cNvPr id="447" name="Shape 5"/>
          <p:cNvSpPr/>
          <p:nvPr/>
        </p:nvSpPr>
        <p:spPr>
          <a:xfrm>
            <a:off x="411480" y="1920239"/>
            <a:ext cx="4114801" cy="1417321"/>
          </a:xfrm>
          <a:prstGeom prst="roundRect">
            <a:avLst>
              <a:gd name="adj" fmla="val 6452"/>
            </a:avLst>
          </a:prstGeom>
          <a:solidFill>
            <a:srgbClr val="1E0F0F"/>
          </a:solidFill>
          <a:ln w="12700">
            <a:miter lim="400000"/>
          </a:ln>
        </p:spPr>
        <p:txBody>
          <a:bodyPr lIns="0" tIns="0" rIns="0" bIns="0"/>
          <a:lstStyle/>
          <a:p>
            <a:pPr/>
          </a:p>
        </p:txBody>
      </p:sp>
      <p:sp>
        <p:nvSpPr>
          <p:cNvPr id="448" name="Text 6"/>
          <p:cNvSpPr txBox="1"/>
          <p:nvPr/>
        </p:nvSpPr>
        <p:spPr>
          <a:xfrm>
            <a:off x="502919" y="2017698"/>
            <a:ext cx="393192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E07B54"/>
                </a:solidFill>
              </a:defRPr>
            </a:lvl1pPr>
          </a:lstStyle>
          <a:p>
            <a:pPr/>
            <a:r>
              <a:t>What the models do:</a:t>
            </a:r>
          </a:p>
        </p:txBody>
      </p:sp>
      <p:sp>
        <p:nvSpPr>
          <p:cNvPr id="449" name="Shape 7"/>
          <p:cNvSpPr/>
          <p:nvPr/>
        </p:nvSpPr>
        <p:spPr>
          <a:xfrm>
            <a:off x="502919" y="2304288"/>
            <a:ext cx="146305" cy="146305"/>
          </a:xfrm>
          <a:prstGeom prst="ellipse">
            <a:avLst/>
          </a:prstGeom>
          <a:solidFill>
            <a:srgbClr val="E07B54"/>
          </a:solidFill>
          <a:ln w="12700">
            <a:miter lim="400000"/>
          </a:ln>
        </p:spPr>
        <p:txBody>
          <a:bodyPr lIns="0" tIns="0" rIns="0" bIns="0"/>
          <a:lstStyle/>
          <a:p>
            <a:pPr/>
          </a:p>
        </p:txBody>
      </p:sp>
      <p:sp>
        <p:nvSpPr>
          <p:cNvPr id="450" name="Text 8"/>
          <p:cNvSpPr txBox="1"/>
          <p:nvPr/>
        </p:nvSpPr>
        <p:spPr>
          <a:xfrm>
            <a:off x="713231" y="2259760"/>
            <a:ext cx="3749042"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EF2F7"/>
                </a:solidFill>
              </a:defRPr>
            </a:lvl1pPr>
          </a:lstStyle>
          <a:p>
            <a:pPr/>
            <a:r>
              <a:t>All 3 models with reliable data favor Black-signalling names, opposite the human pattern</a:t>
            </a:r>
          </a:p>
        </p:txBody>
      </p:sp>
      <p:sp>
        <p:nvSpPr>
          <p:cNvPr id="451" name="Shape 9"/>
          <p:cNvSpPr/>
          <p:nvPr/>
        </p:nvSpPr>
        <p:spPr>
          <a:xfrm>
            <a:off x="502919" y="2642616"/>
            <a:ext cx="146305" cy="146305"/>
          </a:xfrm>
          <a:prstGeom prst="ellipse">
            <a:avLst/>
          </a:prstGeom>
          <a:solidFill>
            <a:srgbClr val="E07B54"/>
          </a:solidFill>
          <a:ln w="12700">
            <a:miter lim="400000"/>
          </a:ln>
        </p:spPr>
        <p:txBody>
          <a:bodyPr lIns="0" tIns="0" rIns="0" bIns="0"/>
          <a:lstStyle/>
          <a:p>
            <a:pPr/>
          </a:p>
        </p:txBody>
      </p:sp>
      <p:sp>
        <p:nvSpPr>
          <p:cNvPr id="452" name="Text 10"/>
          <p:cNvSpPr txBox="1"/>
          <p:nvPr/>
        </p:nvSpPr>
        <p:spPr>
          <a:xfrm>
            <a:off x="713231" y="2598088"/>
            <a:ext cx="3749042" cy="2993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EF2F7"/>
                </a:solidFill>
              </a:defRPr>
            </a:lvl1pPr>
          </a:lstStyle>
          <a:p>
            <a:pPr/>
            <a:r>
              <a:t>Gemma-27B: race gap +1.18 SD, more than 1 SD above White names</a:t>
            </a:r>
          </a:p>
        </p:txBody>
      </p:sp>
      <p:sp>
        <p:nvSpPr>
          <p:cNvPr id="453" name="Shape 11"/>
          <p:cNvSpPr/>
          <p:nvPr/>
        </p:nvSpPr>
        <p:spPr>
          <a:xfrm>
            <a:off x="502919" y="2980944"/>
            <a:ext cx="146305" cy="146305"/>
          </a:xfrm>
          <a:prstGeom prst="ellipse">
            <a:avLst/>
          </a:prstGeom>
          <a:solidFill>
            <a:srgbClr val="E07B54"/>
          </a:solidFill>
          <a:ln w="12700">
            <a:miter lim="400000"/>
          </a:ln>
        </p:spPr>
        <p:txBody>
          <a:bodyPr lIns="0" tIns="0" rIns="0" bIns="0"/>
          <a:lstStyle/>
          <a:p>
            <a:pPr/>
          </a:p>
        </p:txBody>
      </p:sp>
      <p:sp>
        <p:nvSpPr>
          <p:cNvPr id="454" name="Text 12"/>
          <p:cNvSpPr txBox="1"/>
          <p:nvPr/>
        </p:nvSpPr>
        <p:spPr>
          <a:xfrm>
            <a:off x="713231" y="3018966"/>
            <a:ext cx="37490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EEF2F7"/>
                </a:solidFill>
              </a:defRPr>
            </a:lvl1pPr>
          </a:lstStyle>
          <a:p>
            <a:pPr/>
            <a:r>
              <a:t>27B matches human gender direction; Llama and Qwen reverse it</a:t>
            </a:r>
          </a:p>
        </p:txBody>
      </p:sp>
      <p:sp>
        <p:nvSpPr>
          <p:cNvPr id="455" name="Shape 13"/>
          <p:cNvSpPr/>
          <p:nvPr/>
        </p:nvSpPr>
        <p:spPr>
          <a:xfrm>
            <a:off x="411480" y="3474720"/>
            <a:ext cx="4114801" cy="566929"/>
          </a:xfrm>
          <a:prstGeom prst="roundRect">
            <a:avLst>
              <a:gd name="adj" fmla="val 16129"/>
            </a:avLst>
          </a:prstGeom>
          <a:solidFill>
            <a:srgbClr val="4A9EBA">
              <a:alpha val="22000"/>
            </a:srgbClr>
          </a:solidFill>
          <a:ln w="12700">
            <a:miter lim="400000"/>
          </a:ln>
        </p:spPr>
        <p:txBody>
          <a:bodyPr lIns="0" tIns="0" rIns="0" bIns="0"/>
          <a:lstStyle/>
          <a:p>
            <a:pPr/>
          </a:p>
        </p:txBody>
      </p:sp>
      <p:sp>
        <p:nvSpPr>
          <p:cNvPr id="456" name="Text 14"/>
          <p:cNvSpPr txBox="1"/>
          <p:nvPr/>
        </p:nvSpPr>
        <p:spPr>
          <a:xfrm>
            <a:off x="502919" y="3613072"/>
            <a:ext cx="3931922"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EEF2F7"/>
                </a:solidFill>
              </a:defRPr>
            </a:lvl1pPr>
          </a:lstStyle>
          <a:p>
            <a:pPr/>
            <a:r>
              <a:t>One possible explanation: safety fine-tuning may have overcorrected for racial associations, reversing the gap rather than removing it.</a:t>
            </a:r>
          </a:p>
        </p:txBody>
      </p:sp>
      <p:pic>
        <p:nvPicPr>
          <p:cNvPr id="457" name="Image 0" descr="Image 0"/>
          <p:cNvPicPr>
            <a:picLocks noChangeAspect="1"/>
          </p:cNvPicPr>
          <p:nvPr/>
        </p:nvPicPr>
        <p:blipFill>
          <a:blip r:embed="rId3">
            <a:extLst/>
          </a:blip>
          <a:stretch>
            <a:fillRect/>
          </a:stretch>
        </p:blipFill>
        <p:spPr>
          <a:xfrm>
            <a:off x="4572000" y="868680"/>
            <a:ext cx="4343400" cy="1543833"/>
          </a:xfrm>
          <a:prstGeom prst="rect">
            <a:avLst/>
          </a:prstGeom>
          <a:ln w="12700">
            <a:miter lim="400000"/>
          </a:ln>
        </p:spPr>
      </p:pic>
      <p:sp>
        <p:nvSpPr>
          <p:cNvPr id="458" name="Text 15"/>
          <p:cNvSpPr txBox="1"/>
          <p:nvPr/>
        </p:nvSpPr>
        <p:spPr>
          <a:xfrm>
            <a:off x="4572000" y="2545144"/>
            <a:ext cx="4251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Model disparity vs human benchmark</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2" name="Shape 0"/>
          <p:cNvSpPr/>
          <p:nvPr/>
        </p:nvSpPr>
        <p:spPr>
          <a:xfrm>
            <a:off x="0" y="0"/>
            <a:ext cx="9144000" cy="5143500"/>
          </a:xfrm>
          <a:prstGeom prst="rect">
            <a:avLst/>
          </a:prstGeom>
          <a:solidFill>
            <a:srgbClr val="1E2D45"/>
          </a:solidFill>
          <a:ln w="12700">
            <a:miter lim="400000"/>
          </a:ln>
        </p:spPr>
        <p:txBody>
          <a:bodyPr lIns="0" tIns="0" rIns="0" bIns="0"/>
          <a:lstStyle/>
          <a:p>
            <a:pPr/>
          </a:p>
        </p:txBody>
      </p:sp>
      <p:sp>
        <p:nvSpPr>
          <p:cNvPr id="463" name="Text 1"/>
          <p:cNvSpPr txBox="1"/>
          <p:nvPr/>
        </p:nvSpPr>
        <p:spPr>
          <a:xfrm>
            <a:off x="411479" y="164591"/>
            <a:ext cx="8321042"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300">
                <a:solidFill>
                  <a:srgbClr val="EEF2F7"/>
                </a:solidFill>
                <a:latin typeface="Cambria"/>
                <a:ea typeface="Cambria"/>
                <a:cs typeface="Cambria"/>
                <a:sym typeface="Cambria"/>
              </a:defRPr>
            </a:lvl1pPr>
          </a:lstStyle>
          <a:p>
            <a:pPr/>
            <a:r>
              <a:t>The representation mediates the decision, but not where you would expect</a:t>
            </a:r>
          </a:p>
        </p:txBody>
      </p:sp>
      <p:sp>
        <p:nvSpPr>
          <p:cNvPr id="464" name="Shape 2"/>
          <p:cNvSpPr/>
          <p:nvPr/>
        </p:nvSpPr>
        <p:spPr>
          <a:xfrm>
            <a:off x="411480" y="960119"/>
            <a:ext cx="4114801" cy="1234441"/>
          </a:xfrm>
          <a:prstGeom prst="roundRect">
            <a:avLst>
              <a:gd name="adj" fmla="val 7407"/>
            </a:avLst>
          </a:prstGeom>
          <a:solidFill>
            <a:srgbClr val="12161F"/>
          </a:solidFill>
          <a:ln w="12700">
            <a:miter lim="400000"/>
          </a:ln>
        </p:spPr>
        <p:txBody>
          <a:bodyPr lIns="0" tIns="0" rIns="0" bIns="0"/>
          <a:lstStyle/>
          <a:p>
            <a:pPr/>
          </a:p>
        </p:txBody>
      </p:sp>
      <p:sp>
        <p:nvSpPr>
          <p:cNvPr id="465" name="Text 3"/>
          <p:cNvSpPr txBox="1"/>
          <p:nvPr/>
        </p:nvSpPr>
        <p:spPr>
          <a:xfrm>
            <a:off x="502919" y="1079045"/>
            <a:ext cx="393192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EEF2F7"/>
                </a:solidFill>
              </a:defRPr>
            </a:lvl1pPr>
          </a:lstStyle>
          <a:p>
            <a:pPr/>
            <a:r>
              <a:t>Does the warmth/competence probe score carry the name-group signal into the callback decision?</a:t>
            </a:r>
          </a:p>
        </p:txBody>
      </p:sp>
      <p:sp>
        <p:nvSpPr>
          <p:cNvPr id="466" name="Text 4"/>
          <p:cNvSpPr txBox="1"/>
          <p:nvPr/>
        </p:nvSpPr>
        <p:spPr>
          <a:xfrm>
            <a:off x="502919" y="1599115"/>
            <a:ext cx="393192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300">
                <a:solidFill>
                  <a:srgbClr val="4A9EBA"/>
                </a:solidFill>
              </a:defRPr>
            </a:lvl1pPr>
          </a:lstStyle>
          <a:p>
            <a:pPr/>
            <a:r>
              <a:t>name group  →  probe score  →  callback margin</a:t>
            </a:r>
          </a:p>
        </p:txBody>
      </p:sp>
      <p:sp>
        <p:nvSpPr>
          <p:cNvPr id="467" name="Text 5"/>
          <p:cNvSpPr txBox="1"/>
          <p:nvPr/>
        </p:nvSpPr>
        <p:spPr>
          <a:xfrm>
            <a:off x="502919" y="1939974"/>
            <a:ext cx="393192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8FA5BB"/>
                </a:solidFill>
              </a:defRPr>
            </a:lvl1pPr>
          </a:lstStyle>
          <a:p>
            <a:pPr/>
            <a:r>
              <a:t>Significant for Llama (race × warmth). Not significant for Gemma.</a:t>
            </a:r>
          </a:p>
        </p:txBody>
      </p:sp>
      <p:sp>
        <p:nvSpPr>
          <p:cNvPr id="468" name="Shape 6"/>
          <p:cNvSpPr/>
          <p:nvPr/>
        </p:nvSpPr>
        <p:spPr>
          <a:xfrm>
            <a:off x="411480" y="2286000"/>
            <a:ext cx="4114801" cy="1417320"/>
          </a:xfrm>
          <a:prstGeom prst="roundRect">
            <a:avLst>
              <a:gd name="adj" fmla="val 6452"/>
            </a:avLst>
          </a:prstGeom>
          <a:solidFill>
            <a:srgbClr val="150D22"/>
          </a:solidFill>
          <a:ln w="12700">
            <a:miter lim="400000"/>
          </a:ln>
        </p:spPr>
        <p:txBody>
          <a:bodyPr lIns="0" tIns="0" rIns="0" bIns="0"/>
          <a:lstStyle/>
          <a:p>
            <a:pPr/>
          </a:p>
        </p:txBody>
      </p:sp>
      <p:sp>
        <p:nvSpPr>
          <p:cNvPr id="469" name="Text 7"/>
          <p:cNvSpPr txBox="1"/>
          <p:nvPr/>
        </p:nvSpPr>
        <p:spPr>
          <a:xfrm>
            <a:off x="502919" y="2371852"/>
            <a:ext cx="3931922"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E07B54"/>
                </a:solidFill>
                <a:latin typeface="Cambria"/>
                <a:ea typeface="Cambria"/>
                <a:cs typeface="Cambria"/>
                <a:sym typeface="Cambria"/>
              </a:defRPr>
            </a:lvl1pPr>
          </a:lstStyle>
          <a:p>
            <a:pPr/>
            <a:r>
              <a:t>Steerability Paradox</a:t>
            </a:r>
          </a:p>
        </p:txBody>
      </p:sp>
      <p:sp>
        <p:nvSpPr>
          <p:cNvPr id="470" name="Text 8"/>
          <p:cNvSpPr txBox="1"/>
          <p:nvPr/>
        </p:nvSpPr>
        <p:spPr>
          <a:xfrm>
            <a:off x="502919" y="2607617"/>
            <a:ext cx="3931922" cy="728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EEF2F7"/>
                </a:solidFill>
              </a:defRPr>
            </a:pPr>
            <a:r>
              <a:t>Gemma-12B: easiest to steer externally  →  no significant mediation</a:t>
            </a:r>
          </a:p>
          <a:p>
            <a:pPr>
              <a:defRPr sz="1200">
                <a:solidFill>
                  <a:srgbClr val="EEF2F7"/>
                </a:solidFill>
              </a:defRPr>
            </a:pPr>
            <a:r>
              <a:t>Llama-8B: hardest to steer externally  →  strongest mediation effect</a:t>
            </a:r>
          </a:p>
        </p:txBody>
      </p:sp>
      <p:sp>
        <p:nvSpPr>
          <p:cNvPr id="471" name="Text 9"/>
          <p:cNvSpPr txBox="1"/>
          <p:nvPr/>
        </p:nvSpPr>
        <p:spPr>
          <a:xfrm>
            <a:off x="411480" y="3827955"/>
            <a:ext cx="4114801" cy="2993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8FA5BB"/>
                </a:solidFill>
              </a:defRPr>
            </a:lvl1pPr>
          </a:lstStyle>
          <a:p>
            <a:pPr/>
            <a:r>
              <a:t>Concept-level steerability and natural causal mediation measure different things.</a:t>
            </a:r>
          </a:p>
        </p:txBody>
      </p:sp>
      <p:pic>
        <p:nvPicPr>
          <p:cNvPr id="472" name="Image 0" descr="Image 0"/>
          <p:cNvPicPr>
            <a:picLocks noChangeAspect="1"/>
          </p:cNvPicPr>
          <p:nvPr/>
        </p:nvPicPr>
        <p:blipFill>
          <a:blip r:embed="rId3">
            <a:extLst/>
          </a:blip>
          <a:stretch>
            <a:fillRect/>
          </a:stretch>
        </p:blipFill>
        <p:spPr>
          <a:xfrm>
            <a:off x="4800600" y="822960"/>
            <a:ext cx="3749039" cy="3678330"/>
          </a:xfrm>
          <a:prstGeom prst="rect">
            <a:avLst/>
          </a:prstGeom>
          <a:ln w="12700">
            <a:miter lim="400000"/>
          </a:ln>
        </p:spPr>
      </p:pic>
      <p:sp>
        <p:nvSpPr>
          <p:cNvPr id="473" name="Text 10"/>
          <p:cNvSpPr txBox="1"/>
          <p:nvPr/>
        </p:nvSpPr>
        <p:spPr>
          <a:xfrm>
            <a:off x="4800600" y="4633921"/>
            <a:ext cx="4251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FA5BB"/>
                </a:solidFill>
              </a:defRPr>
            </a:lvl1pPr>
          </a:lstStyle>
          <a:p>
            <a:pPr/>
            <a:r>
              <a:t>Fig: Bootstrap mediation forest plot, indirect effects with 95% CI</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7" name="Shape 0"/>
          <p:cNvSpPr/>
          <p:nvPr/>
        </p:nvSpPr>
        <p:spPr>
          <a:xfrm>
            <a:off x="0" y="0"/>
            <a:ext cx="9144000" cy="5143500"/>
          </a:xfrm>
          <a:prstGeom prst="rect">
            <a:avLst/>
          </a:prstGeom>
          <a:solidFill>
            <a:srgbClr val="12161F"/>
          </a:solidFill>
          <a:ln w="12700">
            <a:miter lim="400000"/>
          </a:ln>
        </p:spPr>
        <p:txBody>
          <a:bodyPr lIns="0" tIns="0" rIns="0" bIns="0"/>
          <a:lstStyle/>
          <a:p>
            <a:pPr/>
          </a:p>
        </p:txBody>
      </p:sp>
      <p:sp>
        <p:nvSpPr>
          <p:cNvPr id="478" name="Shape 1"/>
          <p:cNvSpPr/>
          <p:nvPr/>
        </p:nvSpPr>
        <p:spPr>
          <a:xfrm>
            <a:off x="-1188720" y="3108960"/>
            <a:ext cx="5029201" cy="5029201"/>
          </a:xfrm>
          <a:prstGeom prst="ellipse">
            <a:avLst/>
          </a:prstGeom>
          <a:solidFill>
            <a:srgbClr val="4A9EBA">
              <a:alpha val="12000"/>
            </a:srgbClr>
          </a:solidFill>
          <a:ln w="12700">
            <a:miter lim="400000"/>
          </a:ln>
        </p:spPr>
        <p:txBody>
          <a:bodyPr lIns="0" tIns="0" rIns="0" bIns="0"/>
          <a:lstStyle/>
          <a:p>
            <a:pPr/>
          </a:p>
        </p:txBody>
      </p:sp>
      <p:sp>
        <p:nvSpPr>
          <p:cNvPr id="479" name="Text 2"/>
          <p:cNvSpPr txBox="1"/>
          <p:nvPr/>
        </p:nvSpPr>
        <p:spPr>
          <a:xfrm>
            <a:off x="502920" y="366522"/>
            <a:ext cx="8138160"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EEF2F7"/>
                </a:solidFill>
                <a:latin typeface="Cambria"/>
                <a:ea typeface="Cambria"/>
                <a:cs typeface="Cambria"/>
                <a:sym typeface="Cambria"/>
              </a:defRPr>
            </a:lvl1pPr>
          </a:lstStyle>
          <a:p>
            <a:pPr/>
            <a:r>
              <a:t>What this means</a:t>
            </a:r>
          </a:p>
        </p:txBody>
      </p:sp>
      <p:sp>
        <p:nvSpPr>
          <p:cNvPr id="480" name="Shape 3"/>
          <p:cNvSpPr/>
          <p:nvPr/>
        </p:nvSpPr>
        <p:spPr>
          <a:xfrm>
            <a:off x="502919" y="877824"/>
            <a:ext cx="822961" cy="36577"/>
          </a:xfrm>
          <a:prstGeom prst="rect">
            <a:avLst/>
          </a:prstGeom>
          <a:solidFill>
            <a:srgbClr val="4A9EBA"/>
          </a:solidFill>
          <a:ln w="12700">
            <a:miter lim="400000"/>
          </a:ln>
        </p:spPr>
        <p:txBody>
          <a:bodyPr lIns="0" tIns="0" rIns="0" bIns="0"/>
          <a:lstStyle/>
          <a:p>
            <a:pPr/>
          </a:p>
        </p:txBody>
      </p:sp>
      <p:sp>
        <p:nvSpPr>
          <p:cNvPr id="481" name="Shape 4"/>
          <p:cNvSpPr/>
          <p:nvPr/>
        </p:nvSpPr>
        <p:spPr>
          <a:xfrm>
            <a:off x="502919" y="1005839"/>
            <a:ext cx="8229601" cy="1115569"/>
          </a:xfrm>
          <a:prstGeom prst="roundRect">
            <a:avLst>
              <a:gd name="adj" fmla="val 8197"/>
            </a:avLst>
          </a:prstGeom>
          <a:solidFill>
            <a:srgbClr val="1E2D45"/>
          </a:solidFill>
          <a:ln w="12700">
            <a:miter lim="400000"/>
          </a:ln>
        </p:spPr>
        <p:txBody>
          <a:bodyPr lIns="0" tIns="0" rIns="0" bIns="0"/>
          <a:lstStyle/>
          <a:p>
            <a:pPr/>
          </a:p>
        </p:txBody>
      </p:sp>
      <p:sp>
        <p:nvSpPr>
          <p:cNvPr id="482" name="Shape 5"/>
          <p:cNvSpPr/>
          <p:nvPr/>
        </p:nvSpPr>
        <p:spPr>
          <a:xfrm>
            <a:off x="502919" y="1005839"/>
            <a:ext cx="457201" cy="1115569"/>
          </a:xfrm>
          <a:prstGeom prst="roundRect">
            <a:avLst>
              <a:gd name="adj" fmla="val 20000"/>
            </a:avLst>
          </a:prstGeom>
          <a:solidFill>
            <a:srgbClr val="4A9EBA"/>
          </a:solidFill>
          <a:ln w="12700">
            <a:miter lim="400000"/>
          </a:ln>
        </p:spPr>
        <p:txBody>
          <a:bodyPr lIns="0" tIns="0" rIns="0" bIns="0"/>
          <a:lstStyle/>
          <a:p>
            <a:pPr/>
          </a:p>
        </p:txBody>
      </p:sp>
      <p:sp>
        <p:nvSpPr>
          <p:cNvPr id="483" name="Text 6"/>
          <p:cNvSpPr txBox="1"/>
          <p:nvPr/>
        </p:nvSpPr>
        <p:spPr>
          <a:xfrm>
            <a:off x="502919" y="1436623"/>
            <a:ext cx="45720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FFFFFF"/>
                </a:solidFill>
                <a:latin typeface="Cambria"/>
                <a:ea typeface="Cambria"/>
                <a:cs typeface="Cambria"/>
                <a:sym typeface="Cambria"/>
              </a:defRPr>
            </a:lvl1pPr>
          </a:lstStyle>
          <a:p>
            <a:pPr/>
            <a:r>
              <a:t>01</a:t>
            </a:r>
          </a:p>
        </p:txBody>
      </p:sp>
      <p:sp>
        <p:nvSpPr>
          <p:cNvPr id="484" name="Text 7"/>
          <p:cNvSpPr txBox="1"/>
          <p:nvPr/>
        </p:nvSpPr>
        <p:spPr>
          <a:xfrm>
            <a:off x="1042416" y="1169416"/>
            <a:ext cx="758951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EEF2F7"/>
                </a:solidFill>
                <a:latin typeface="Cambria"/>
                <a:ea typeface="Cambria"/>
                <a:cs typeface="Cambria"/>
                <a:sym typeface="Cambria"/>
              </a:defRPr>
            </a:lvl1pPr>
          </a:lstStyle>
          <a:p>
            <a:pPr/>
            <a:r>
              <a:t>The representations are real</a:t>
            </a:r>
          </a:p>
        </p:txBody>
      </p:sp>
      <p:sp>
        <p:nvSpPr>
          <p:cNvPr id="485" name="Text 8"/>
          <p:cNvSpPr txBox="1"/>
          <p:nvPr/>
        </p:nvSpPr>
        <p:spPr>
          <a:xfrm>
            <a:off x="1042416" y="1586537"/>
            <a:ext cx="7589519"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8FA5BB"/>
                </a:solidFill>
              </a:defRPr>
            </a:lvl1pPr>
          </a:lstStyle>
          <a:p>
            <a:pPr/>
            <a:r>
              <a:t>LLMs encode warmth and competence in a structure consistent with human social perception: linearly separable, causally functional, and consistent across four architectures.</a:t>
            </a:r>
          </a:p>
        </p:txBody>
      </p:sp>
      <p:sp>
        <p:nvSpPr>
          <p:cNvPr id="486" name="Shape 9"/>
          <p:cNvSpPr/>
          <p:nvPr/>
        </p:nvSpPr>
        <p:spPr>
          <a:xfrm>
            <a:off x="502919" y="2240279"/>
            <a:ext cx="8229601" cy="1115569"/>
          </a:xfrm>
          <a:prstGeom prst="roundRect">
            <a:avLst>
              <a:gd name="adj" fmla="val 8197"/>
            </a:avLst>
          </a:prstGeom>
          <a:solidFill>
            <a:srgbClr val="1E2D45"/>
          </a:solidFill>
          <a:ln w="12700">
            <a:miter lim="400000"/>
          </a:ln>
        </p:spPr>
        <p:txBody>
          <a:bodyPr lIns="0" tIns="0" rIns="0" bIns="0"/>
          <a:lstStyle/>
          <a:p>
            <a:pPr/>
          </a:p>
        </p:txBody>
      </p:sp>
      <p:sp>
        <p:nvSpPr>
          <p:cNvPr id="487" name="Shape 10"/>
          <p:cNvSpPr/>
          <p:nvPr/>
        </p:nvSpPr>
        <p:spPr>
          <a:xfrm>
            <a:off x="502919" y="2240279"/>
            <a:ext cx="457201" cy="1115569"/>
          </a:xfrm>
          <a:prstGeom prst="roundRect">
            <a:avLst>
              <a:gd name="adj" fmla="val 20000"/>
            </a:avLst>
          </a:prstGeom>
          <a:solidFill>
            <a:srgbClr val="E07B54"/>
          </a:solidFill>
          <a:ln w="12700">
            <a:miter lim="400000"/>
          </a:ln>
        </p:spPr>
        <p:txBody>
          <a:bodyPr lIns="0" tIns="0" rIns="0" bIns="0"/>
          <a:lstStyle/>
          <a:p>
            <a:pPr/>
          </a:p>
        </p:txBody>
      </p:sp>
      <p:sp>
        <p:nvSpPr>
          <p:cNvPr id="488" name="Text 11"/>
          <p:cNvSpPr txBox="1"/>
          <p:nvPr/>
        </p:nvSpPr>
        <p:spPr>
          <a:xfrm>
            <a:off x="502919" y="2671063"/>
            <a:ext cx="45720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FFFFFF"/>
                </a:solidFill>
                <a:latin typeface="Cambria"/>
                <a:ea typeface="Cambria"/>
                <a:cs typeface="Cambria"/>
                <a:sym typeface="Cambria"/>
              </a:defRPr>
            </a:lvl1pPr>
          </a:lstStyle>
          <a:p>
            <a:pPr/>
            <a:r>
              <a:t>02</a:t>
            </a:r>
          </a:p>
        </p:txBody>
      </p:sp>
      <p:sp>
        <p:nvSpPr>
          <p:cNvPr id="489" name="Text 12"/>
          <p:cNvSpPr txBox="1"/>
          <p:nvPr/>
        </p:nvSpPr>
        <p:spPr>
          <a:xfrm>
            <a:off x="1042416" y="2403856"/>
            <a:ext cx="758951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EEF2F7"/>
                </a:solidFill>
                <a:latin typeface="Cambria"/>
                <a:ea typeface="Cambria"/>
                <a:cs typeface="Cambria"/>
                <a:sym typeface="Cambria"/>
              </a:defRPr>
            </a:lvl1pPr>
          </a:lstStyle>
          <a:p>
            <a:pPr/>
            <a:r>
              <a:t>Disparities persist, but point in the opposite direction</a:t>
            </a:r>
          </a:p>
        </p:txBody>
      </p:sp>
      <p:sp>
        <p:nvSpPr>
          <p:cNvPr id="490" name="Text 13"/>
          <p:cNvSpPr txBox="1"/>
          <p:nvPr/>
        </p:nvSpPr>
        <p:spPr>
          <a:xfrm>
            <a:off x="1042416" y="2820977"/>
            <a:ext cx="7589519"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8FA5BB"/>
                </a:solidFill>
              </a:defRPr>
            </a:lvl1pPr>
          </a:lstStyle>
          <a:p>
            <a:pPr/>
            <a:r>
              <a:t>Name-driven hiring disparities remain. Across the models with reliable data, the racial gap reversed direction compared to the human baseline and grew in magnitude.</a:t>
            </a:r>
          </a:p>
        </p:txBody>
      </p:sp>
      <p:sp>
        <p:nvSpPr>
          <p:cNvPr id="491" name="Shape 14"/>
          <p:cNvSpPr/>
          <p:nvPr/>
        </p:nvSpPr>
        <p:spPr>
          <a:xfrm>
            <a:off x="502919" y="3474720"/>
            <a:ext cx="8229601" cy="1115569"/>
          </a:xfrm>
          <a:prstGeom prst="roundRect">
            <a:avLst>
              <a:gd name="adj" fmla="val 8197"/>
            </a:avLst>
          </a:prstGeom>
          <a:solidFill>
            <a:srgbClr val="1E2D45"/>
          </a:solidFill>
          <a:ln w="12700">
            <a:miter lim="400000"/>
          </a:ln>
        </p:spPr>
        <p:txBody>
          <a:bodyPr lIns="0" tIns="0" rIns="0" bIns="0"/>
          <a:lstStyle/>
          <a:p>
            <a:pPr/>
          </a:p>
        </p:txBody>
      </p:sp>
      <p:sp>
        <p:nvSpPr>
          <p:cNvPr id="492" name="Shape 15"/>
          <p:cNvSpPr/>
          <p:nvPr/>
        </p:nvSpPr>
        <p:spPr>
          <a:xfrm>
            <a:off x="502919" y="3474720"/>
            <a:ext cx="457201" cy="1115569"/>
          </a:xfrm>
          <a:prstGeom prst="roundRect">
            <a:avLst>
              <a:gd name="adj" fmla="val 20000"/>
            </a:avLst>
          </a:prstGeom>
          <a:solidFill>
            <a:srgbClr val="5BAD8B"/>
          </a:solidFill>
          <a:ln w="12700">
            <a:miter lim="400000"/>
          </a:ln>
        </p:spPr>
        <p:txBody>
          <a:bodyPr lIns="0" tIns="0" rIns="0" bIns="0"/>
          <a:lstStyle/>
          <a:p>
            <a:pPr/>
          </a:p>
        </p:txBody>
      </p:sp>
      <p:sp>
        <p:nvSpPr>
          <p:cNvPr id="493" name="Text 16"/>
          <p:cNvSpPr txBox="1"/>
          <p:nvPr/>
        </p:nvSpPr>
        <p:spPr>
          <a:xfrm>
            <a:off x="502919" y="3905504"/>
            <a:ext cx="45720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700">
                <a:solidFill>
                  <a:srgbClr val="FFFFFF"/>
                </a:solidFill>
                <a:latin typeface="Cambria"/>
                <a:ea typeface="Cambria"/>
                <a:cs typeface="Cambria"/>
                <a:sym typeface="Cambria"/>
              </a:defRPr>
            </a:lvl1pPr>
          </a:lstStyle>
          <a:p>
            <a:pPr/>
            <a:r>
              <a:t>03</a:t>
            </a:r>
          </a:p>
        </p:txBody>
      </p:sp>
      <p:sp>
        <p:nvSpPr>
          <p:cNvPr id="494" name="Text 17"/>
          <p:cNvSpPr txBox="1"/>
          <p:nvPr/>
        </p:nvSpPr>
        <p:spPr>
          <a:xfrm>
            <a:off x="1042416" y="3638295"/>
            <a:ext cx="758951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EEF2F7"/>
                </a:solidFill>
                <a:latin typeface="Cambria"/>
                <a:ea typeface="Cambria"/>
                <a:cs typeface="Cambria"/>
                <a:sym typeface="Cambria"/>
              </a:defRPr>
            </a:lvl1pPr>
          </a:lstStyle>
          <a:p>
            <a:pPr/>
            <a:r>
              <a:t>You need both probing and behavioral audits</a:t>
            </a:r>
          </a:p>
        </p:txBody>
      </p:sp>
      <p:sp>
        <p:nvSpPr>
          <p:cNvPr id="495" name="Text 18"/>
          <p:cNvSpPr txBox="1"/>
          <p:nvPr/>
        </p:nvSpPr>
        <p:spPr>
          <a:xfrm>
            <a:off x="1042416" y="4055417"/>
            <a:ext cx="7589519"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8FA5BB"/>
                </a:solidFill>
              </a:defRPr>
            </a:lvl1pPr>
          </a:lstStyle>
          <a:p>
            <a:pPr/>
            <a:r>
              <a:t>Internal representation probing and output-level disparity measurement capture different things. Neither alone is sufficient.</a:t>
            </a:r>
          </a:p>
        </p:txBody>
      </p:sp>
      <p:sp>
        <p:nvSpPr>
          <p:cNvPr id="496" name="Text 19"/>
          <p:cNvSpPr txBox="1"/>
          <p:nvPr/>
        </p:nvSpPr>
        <p:spPr>
          <a:xfrm>
            <a:off x="502920" y="4814360"/>
            <a:ext cx="81381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8FA5BB"/>
                </a:solidFill>
              </a:defRPr>
            </a:lvl1pPr>
          </a:lstStyle>
          <a:p>
            <a:pPr/>
            <a:r>
              <a:t>Ulu · Lastra Cerda · University of Konstanz</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Neue"/>
        <a:ea typeface="Helvetica Neue"/>
        <a:cs typeface="Helvetica Neue"/>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