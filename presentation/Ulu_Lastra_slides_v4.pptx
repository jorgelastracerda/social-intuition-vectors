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9fd7bf490dd4a9a" /><Relationship Type="http://schemas.openxmlformats.org/officeDocument/2006/relationships/extended-properties" Target="/docProps/app.xml" Id="R038347a234084e5c" /><Relationship Type="http://schemas.openxmlformats.org/officeDocument/2006/relationships/officeDocument" Target="/ppt/presentation.xml" Id="Ref4b601455274e04" /></Relationships>
</file>

<file path=ppt/presentation.xml><?xml version="1.0" encoding="utf-8"?>
<p:presentation xmlns:p="http://schemas.openxmlformats.org/presentationml/2006/main">
  <p:sldMasterIdLst>
    <p:sldMasterId xmlns:r="http://schemas.openxmlformats.org/officeDocument/2006/relationships" id="2147483648" r:id="R7dff65b80a6d432e"/>
  </p:sldMasterIdLst>
  <p:notesMasterIdLst>
    <p:notesMasterId xmlns:r="http://schemas.openxmlformats.org/officeDocument/2006/relationships" r:id="R04ec86c38a874e64"/>
  </p:notesMasterIdLst>
  <p:sldIdLst>
    <p:sldId xmlns:r="http://schemas.openxmlformats.org/officeDocument/2006/relationships" id="256" r:id="R3cabca4e0242476f"/>
    <p:sldId xmlns:r="http://schemas.openxmlformats.org/officeDocument/2006/relationships" id="257" r:id="R609531a2fd4c4b29"/>
    <p:sldId xmlns:r="http://schemas.openxmlformats.org/officeDocument/2006/relationships" id="258" r:id="R6c5a2669243d441a"/>
    <p:sldId xmlns:r="http://schemas.openxmlformats.org/officeDocument/2006/relationships" id="259" r:id="R55e569441e0f41c1"/>
    <p:sldId xmlns:r="http://schemas.openxmlformats.org/officeDocument/2006/relationships" id="260" r:id="Re7ab4268c3d248fd"/>
    <p:sldId xmlns:r="http://schemas.openxmlformats.org/officeDocument/2006/relationships" id="261" r:id="R5c796338d8ea46a9"/>
    <p:sldId xmlns:r="http://schemas.openxmlformats.org/officeDocument/2006/relationships" id="262" r:id="Refd5646be5074b02"/>
    <p:sldId xmlns:r="http://schemas.openxmlformats.org/officeDocument/2006/relationships" id="263" r:id="R03fdbca8c8994301"/>
    <p:sldId xmlns:r="http://schemas.openxmlformats.org/officeDocument/2006/relationships" id="264" r:id="R3dfacdae6b654909"/>
    <p:sldId xmlns:r="http://schemas.openxmlformats.org/officeDocument/2006/relationships" id="265" r:id="Rde3681d296cb4218"/>
  </p:sldIdLst>
  <p:sldSz cx="9144000" cy="51435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630e51959fe484c" /><Relationship Type="http://schemas.openxmlformats.org/officeDocument/2006/relationships/slideMaster" Target="/ppt/slideMasters/slideMaster1.xml" Id="R7dff65b80a6d432e" /><Relationship Type="http://schemas.openxmlformats.org/officeDocument/2006/relationships/notesMaster" Target="/ppt/notesMasters/notesMaster1.xml" Id="R04ec86c38a874e64" /><Relationship Type="http://schemas.openxmlformats.org/officeDocument/2006/relationships/presProps" Target="/ppt/presProps.xml" Id="R0826c672273347b1" /><Relationship Type="http://schemas.openxmlformats.org/officeDocument/2006/relationships/viewProps" Target="/ppt/viewProps.xml" Id="R13a06d2719d745c3" /><Relationship Type="http://schemas.openxmlformats.org/officeDocument/2006/relationships/tableStyles" Target="/ppt/tableStyles.xml" Id="R1e5149c2220a4c26" /><Relationship Type="http://schemas.openxmlformats.org/officeDocument/2006/relationships/slide" Target="/ppt/slides/slide1.xml" Id="R3cabca4e0242476f" /><Relationship Type="http://schemas.openxmlformats.org/officeDocument/2006/relationships/slide" Target="/ppt/slides/slide2.xml" Id="R609531a2fd4c4b29" /><Relationship Type="http://schemas.openxmlformats.org/officeDocument/2006/relationships/slide" Target="/ppt/slides/slide3.xml" Id="R6c5a2669243d441a" /><Relationship Type="http://schemas.openxmlformats.org/officeDocument/2006/relationships/slide" Target="/ppt/slides/slide4.xml" Id="R55e569441e0f41c1" /><Relationship Type="http://schemas.openxmlformats.org/officeDocument/2006/relationships/slide" Target="/ppt/slides/slide5.xml" Id="Re7ab4268c3d248fd" /><Relationship Type="http://schemas.openxmlformats.org/officeDocument/2006/relationships/slide" Target="/ppt/slides/slide6.xml" Id="R5c796338d8ea46a9" /><Relationship Type="http://schemas.openxmlformats.org/officeDocument/2006/relationships/slide" Target="/ppt/slides/slide7.xml" Id="Refd5646be5074b02" /><Relationship Type="http://schemas.openxmlformats.org/officeDocument/2006/relationships/slide" Target="/ppt/slides/slide8.xml" Id="R03fdbca8c8994301" /><Relationship Type="http://schemas.openxmlformats.org/officeDocument/2006/relationships/slide" Target="/ppt/slides/slide9.xml" Id="R3dfacdae6b654909" /><Relationship Type="http://schemas.openxmlformats.org/officeDocument/2006/relationships/slide" Target="/ppt/slides/slide10.xml" Id="Rde3681d296cb421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cde053027643b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985fc840f0461b" /><Relationship Type="http://schemas.openxmlformats.org/officeDocument/2006/relationships/notesMaster" Target="/ppt/notesMasters/notesMaster1.xml" Id="R2b41442585874f28"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35ba552a6647c8" /><Relationship Type="http://schemas.openxmlformats.org/officeDocument/2006/relationships/notesMaster" Target="/ppt/notesMasters/notesMaster1.xml" Id="Rf4b54a95e9a942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5f3f621b574eee" /><Relationship Type="http://schemas.openxmlformats.org/officeDocument/2006/relationships/notesMaster" Target="/ppt/notesMasters/notesMaster1.xml" Id="Rfa777528c2204f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b4e3d2f6b34666" /><Relationship Type="http://schemas.openxmlformats.org/officeDocument/2006/relationships/notesMaster" Target="/ppt/notesMasters/notesMaster1.xml" Id="Rc5d15ce0a2ec43c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be7cd7e905d4849" /><Relationship Type="http://schemas.openxmlformats.org/officeDocument/2006/relationships/notesMaster" Target="/ppt/notesMasters/notesMaster1.xml" Id="R7e1765f38c53433c"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cf7ff042304f3a" /><Relationship Type="http://schemas.openxmlformats.org/officeDocument/2006/relationships/notesMaster" Target="/ppt/notesMasters/notesMaster1.xml" Id="R51de43c6902748f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c9188b76bf941ca" /><Relationship Type="http://schemas.openxmlformats.org/officeDocument/2006/relationships/notesMaster" Target="/ppt/notesMasters/notesMaster1.xml" Id="Rfb0d4f3c1a1641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5d5b24c0cd462b" /><Relationship Type="http://schemas.openxmlformats.org/officeDocument/2006/relationships/notesMaster" Target="/ppt/notesMasters/notesMaster1.xml" Id="R8fadf845802c457b" /></Relationships>
</file>

<file path=ppt/notesSlides/_rels/notesSlide9.xml.rels>&#65279;<?xml version="1.0" encoding="utf-8"?><Relationships xmlns="http://schemas.openxmlformats.org/package/2006/relationships"><Relationship Type="http://schemas.openxmlformats.org/officeDocument/2006/relationships/slide" Target="/ppt/slides/slide9.xml" Id="Rb928344df3594827" /><Relationship Type="http://schemas.openxmlformats.org/officeDocument/2006/relationships/notesMaster" Target="/ppt/notesMasters/notesMaster1.xml" Id="R5d685608ae0943f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9d5c0151e24811" /><Relationship Type="http://schemas.openxmlformats.org/officeDocument/2006/relationships/notesMaster" Target="/ppt/notesMasters/notesMaster1.xml" Id="R619d5e739b11491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nothing — let the slide sit 5 seconds while the audience settles.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"We know LLMs discriminate in hiring. But every existing study stops at the output. We wanted to go inside the model and find the mechanism."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Imagine a short story about a person. The model transforms the words into a high-dimensional activation. We cannot draw thousands of dimensions directly, so we represent that activation as a point and a direction inside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Anthropic showed that abstract emotion concepts can be recovered as linear directions in this space. We can compare the model’s current activation with directions such as joy, fear, and sadness. In this example, the story aligns most strongly with fear. This does not mean the model feels fear; it means the model represents the concept in a measurable way. If emotions form directions, social concepts such as warmth and competence may form directions too.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"We ran stories through the model, took internal activations at one layer, and computed the mean difference between conditions. That gives us a direction vector for warmth. We then test whether it generalizes to entirely new topics the model has never seen."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probe generalizes to new topics never seen during training. And four models from three companies all agree on which stories are warm or cold — strong evidence this is in the training data, not one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"This is the causal test. We inject the warmth direction directly while the model reads a resume. Every single name crosses the decision boundary. At 27B the effect reverses at higher strength — the causal pathway is fragile at larger scale."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REVEAL HUMAN BENCHMARK FIRST, then model results.
SAY: "None of the models reproduce the human racial discrimination pattern. All favor Black-signalling names — the opposite. At 27B the gap is more than 1 SD. The model is not a faithful copy of human prejudice. It is a differently biased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 use if time allows]
SAY: "The model easiest to steer via direct intervention is not the model where the representation naturally governs the decision. Steering measures causal sensitivity to an external push. Mediation measures whether the natural activation propagates to the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SAY: "The contribution is methodological as well as empirical. We connected mechanistic interpretability to the correspondence study tradition, and the combination reveals something that neither approach would find alone."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3fa33123bed4b9a"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c8f4d954d7a4b02" /><Relationship Type="http://schemas.openxmlformats.org/officeDocument/2006/relationships/slideLayout" Target="/ppt/slideLayouts/slideLayout1.xml" Id="R73372d08078b47c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3372d08078b47c1"/>
  </p:sldLayoutIdLst>
  <p:hf sldNum="0" hdr="0" ftr="0" dt="0"/>
  <p:txStyles>
    <p:titleStyle>
      <a:lvl1pPr xmlns:a="http://schemas.openxmlformats.org/drawingml/2006/main" algn="ctr">
        <a:buNone/>
        <a:defRPr sz="4400">
          <a:solidFill>
            <a:schemeClr val="tx1"/>
          </a:solidFill>
          <a:latin typeface="+mj-lt"/>
          <a:ea typeface="+mj-lt"/>
          <a:cs typeface="+mj-lt"/>
        </a:defRPr>
      </a:lvl1pPr>
    </p:titleStyle>
    <p:bodyStyle>
      <a:lvl1pPr xmlns:a="http://schemas.openxmlformats.org/drawingml/2006/main" marL="342900" indent="-342900" algn="l">
        <a:buChar char="•"/>
        <a:defRPr sz="3200">
          <a:solidFill>
            <a:schemeClr val="tx1"/>
          </a:solidFill>
          <a:latin typeface="+mn-lt"/>
          <a:ea typeface="+mn-lt"/>
          <a:cs typeface="+mn-lt"/>
        </a:defRPr>
      </a:lvl1pPr>
      <a:lvl2pPr xmlns:a="http://schemas.openxmlformats.org/drawingml/2006/main" marL="742950" indent="-285750" algn="l">
        <a:buChar char="–"/>
        <a:defRPr sz="2800">
          <a:solidFill>
            <a:schemeClr val="tx1"/>
          </a:solidFill>
          <a:latin typeface="+mn-lt"/>
          <a:ea typeface="+mn-lt"/>
          <a:cs typeface="+mn-lt"/>
        </a:defRPr>
      </a:lvl2pPr>
      <a:lvl3pPr xmlns:a="http://schemas.openxmlformats.org/drawingml/2006/main" marL="1143000" indent="-228600" algn="l">
        <a:buChar char="•"/>
        <a:defRPr sz="2400">
          <a:solidFill>
            <a:schemeClr val="tx1"/>
          </a:solidFill>
          <a:latin typeface="+mn-lt"/>
          <a:ea typeface="+mn-lt"/>
          <a:cs typeface="+mn-lt"/>
        </a:defRPr>
      </a:lvl3pPr>
      <a:lvl4pPr xmlns:a="http://schemas.openxmlformats.org/drawingml/2006/main" marL="1600200" indent="-228600" algn="l">
        <a:buChar char="–"/>
        <a:defRPr sz="2000">
          <a:solidFill>
            <a:schemeClr val="tx1"/>
          </a:solidFill>
          <a:latin typeface="+mn-lt"/>
          <a:ea typeface="+mn-lt"/>
          <a:cs typeface="+mn-lt"/>
        </a:defRPr>
      </a:lvl4pPr>
      <a:lvl5pPr xmlns:a="http://schemas.openxmlformats.org/drawingml/2006/main" marL="2057400" indent="-228600" algn="l">
        <a:buChar char="»"/>
        <a:defRPr sz="2000">
          <a:solidFill>
            <a:schemeClr val="tx1"/>
          </a:solidFill>
          <a:latin typeface="+mn-lt"/>
          <a:ea typeface="+mn-lt"/>
          <a:cs typeface="+mn-lt"/>
        </a:defRPr>
      </a:lvl5pPr>
      <a:lvl6pPr xmlns:a="http://schemas.openxmlformats.org/drawingml/2006/main" marL="2514600" indent="-228600" algn="l">
        <a:buChar char="•"/>
        <a:defRPr sz="2000">
          <a:solidFill>
            <a:schemeClr val="tx1"/>
          </a:solidFill>
          <a:latin typeface="+mn-lt"/>
          <a:ea typeface="+mn-lt"/>
          <a:cs typeface="+mn-lt"/>
        </a:defRPr>
      </a:lvl6pPr>
      <a:lvl7pPr xmlns:a="http://schemas.openxmlformats.org/drawingml/2006/main" marL="2971800" indent="-228600" algn="l">
        <a:buChar char="•"/>
        <a:defRPr sz="2000">
          <a:solidFill>
            <a:schemeClr val="tx1"/>
          </a:solidFill>
          <a:latin typeface="+mn-lt"/>
          <a:ea typeface="+mn-lt"/>
          <a:cs typeface="+mn-lt"/>
        </a:defRPr>
      </a:lvl7pPr>
      <a:lvl8pPr xmlns:a="http://schemas.openxmlformats.org/drawingml/2006/main" marL="3429000" indent="-228600" algn="l">
        <a:buChar char="•"/>
        <a:defRPr sz="2000">
          <a:solidFill>
            <a:schemeClr val="tx1"/>
          </a:solidFill>
          <a:latin typeface="+mn-lt"/>
          <a:ea typeface="+mn-lt"/>
          <a:cs typeface="+mn-lt"/>
        </a:defRPr>
      </a:lvl8pPr>
      <a:lvl9pPr xmlns:a="http://schemas.openxmlformats.org/drawingml/2006/main" marL="3886200" indent="-228600" algn="l">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4ca32200e014bad" /><Relationship Type="http://schemas.openxmlformats.org/officeDocument/2006/relationships/notesSlide" Target="/ppt/notesSlides/notesSlide1.xml" Id="R17b28ff50fc045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8f6512c46574493" /><Relationship Type="http://schemas.openxmlformats.org/officeDocument/2006/relationships/notesSlide" Target="/ppt/notesSlides/notesSlide2.xml" Id="R8921ac1ef907424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13e4bcc6554a89" /><Relationship Type="http://schemas.openxmlformats.org/officeDocument/2006/relationships/notesSlide" Target="/ppt/notesSlides/notesSlide3.xml" Id="Rcb20153783d648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634d2a91c9643b1" /><Relationship Type="http://schemas.openxmlformats.org/officeDocument/2006/relationships/notesSlide" Target="/ppt/notesSlides/notesSlide4.xml" Id="Rde97a40deae243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918f26bab4473d" /><Relationship Type="http://schemas.openxmlformats.org/officeDocument/2006/relationships/image" Target="/ppt/media/image.png" Id="R1bf65f0a86b4426e" /><Relationship Type="http://schemas.openxmlformats.org/officeDocument/2006/relationships/notesSlide" Target="/ppt/notesSlides/notesSlide5.xml" Id="R44e0e93add6346e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4c40700771445a4" /><Relationship Type="http://schemas.openxmlformats.org/officeDocument/2006/relationships/image" Target="/ppt/media/image2.png" Id="R7b0b9acf40814f06" /><Relationship Type="http://schemas.openxmlformats.org/officeDocument/2006/relationships/notesSlide" Target="/ppt/notesSlides/notesSlide6.xml" Id="Rb9b403b12a494e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4e18f6bb12f41f4" /><Relationship Type="http://schemas.openxmlformats.org/officeDocument/2006/relationships/image" Target="/ppt/media/image3.png" Id="Rddf77118d74a4727" /><Relationship Type="http://schemas.openxmlformats.org/officeDocument/2006/relationships/notesSlide" Target="/ppt/notesSlides/notesSlide7.xml" Id="Ra874e37748d24b4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f3fad91ef484dee" /><Relationship Type="http://schemas.openxmlformats.org/officeDocument/2006/relationships/image" Target="/ppt/media/image4.png" Id="R79291529d29246a4" /><Relationship Type="http://schemas.openxmlformats.org/officeDocument/2006/relationships/notesSlide" Target="/ppt/notesSlides/notesSlide8.xml" Id="R197065e398874e0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4d0aa7cfe754d85" /><Relationship Type="http://schemas.openxmlformats.org/officeDocument/2006/relationships/image" Target="/ppt/media/image5.png" Id="Rf811c5a94f11453c" /><Relationship Type="http://schemas.openxmlformats.org/officeDocument/2006/relationships/notesSlide" Target="/ppt/notesSlides/notesSlide9.xml" Id="R5e6088581b9e412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72364b186554720" /><Relationship Type="http://schemas.openxmlformats.org/officeDocument/2006/relationships/notesSlide" Target="/ppt/notesSlides/notesSlide10.xml" Id="Rbf7c078a08ef44d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4B50791-130D-44AF-BE02-E35331AB1BE4}"/>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p:spPr>
      </p:sp>
      <p:sp>
        <p:nvSpPr>
          <p:cNvPr id="3" name="Shape 1">
            <a:extLst xmlns:a="http://schemas.openxmlformats.org/drawingml/2006/main">
              <a:ext uri="{FF2B5EF4-FFF2-40B4-BE49-F238E27FC236}">
                <a16:creationId xmlns:a16="http://schemas.microsoft.com/office/drawing/2014/main" id="{27B480CA-5BC7-4784-A90A-7CD12341C956}"/>
              </a:ext>
            </a:extLst>
          </p:cNvPr>
          <p:cNvSpPr>
            <a:spLocks xmlns:a="http://schemas.openxmlformats.org/drawingml/2006/main" noGrp="1"/>
          </p:cNvSpPr>
          <p:nvPr/>
        </p:nvSpPr>
        <p:spPr>
          <a:xfrm xmlns:a="http://schemas.openxmlformats.org/drawingml/2006/main">
            <a:off x="6400800" y="-822960"/>
            <a:ext cx="3840480" cy="3840480"/>
          </a:xfrm>
          <a:prstGeom xmlns:a="http://schemas.openxmlformats.org/drawingml/2006/main" prst="ellipse">
            <a:avLst/>
          </a:prstGeom>
          <a:solidFill xmlns:a="http://schemas.openxmlformats.org/drawingml/2006/main">
            <a:srgbClr val="4A9EBA">
              <a:alpha val="16000"/>
            </a:srgbClr>
          </a:solidFill>
        </p:spPr>
      </p:sp>
      <p:sp>
        <p:nvSpPr>
          <p:cNvPr id="4" name="Shape 2">
            <a:extLst xmlns:a="http://schemas.openxmlformats.org/drawingml/2006/main">
              <a:ext uri="{FF2B5EF4-FFF2-40B4-BE49-F238E27FC236}">
                <a16:creationId xmlns:a16="http://schemas.microsoft.com/office/drawing/2014/main" id="{253374D3-D44C-4241-A318-D453DBB08B2D}"/>
              </a:ext>
            </a:extLst>
          </p:cNvPr>
          <p:cNvSpPr>
            <a:spLocks xmlns:a="http://schemas.openxmlformats.org/drawingml/2006/main" noGrp="1"/>
          </p:cNvSpPr>
          <p:nvPr/>
        </p:nvSpPr>
        <p:spPr>
          <a:xfrm xmlns:a="http://schemas.openxmlformats.org/drawingml/2006/main">
            <a:off x="7223760" y="2377440"/>
            <a:ext cx="2286000" cy="2286000"/>
          </a:xfrm>
          <a:prstGeom xmlns:a="http://schemas.openxmlformats.org/drawingml/2006/main" prst="ellipse">
            <a:avLst/>
          </a:prstGeom>
          <a:solidFill xmlns:a="http://schemas.openxmlformats.org/drawingml/2006/main">
            <a:srgbClr val="E07B54">
              <a:alpha val="13000"/>
            </a:srgbClr>
          </a:solidFill>
        </p:spPr>
      </p:sp>
      <p:sp>
        <p:nvSpPr>
          <p:cNvPr id="5" name="Text 3">
            <a:extLst xmlns:a="http://schemas.openxmlformats.org/drawingml/2006/main">
              <a:ext uri="{FF2B5EF4-FFF2-40B4-BE49-F238E27FC236}">
                <a16:creationId xmlns:a16="http://schemas.microsoft.com/office/drawing/2014/main" id="{AA4A51D7-6008-4328-9193-548F5F01C002}"/>
              </a:ext>
            </a:extLst>
          </p:cNvPr>
          <p:cNvSpPr>
            <a:spLocks xmlns:a="http://schemas.openxmlformats.org/drawingml/2006/main" noGrp="1"/>
          </p:cNvSpPr>
          <p:nvPr/>
        </p:nvSpPr>
        <p:spPr>
          <a:xfrm xmlns:a="http://schemas.openxmlformats.org/drawingml/2006/main">
            <a:off x="502920" y="1005840"/>
            <a:ext cx="6400800"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3000" b="1">
                <a:solidFill>
                  <a:srgbClr val="EEF2F7"/>
                </a:solidFill>
                <a:latin typeface="Cambria"/>
                <a:ea typeface="Cambria"/>
                <a:cs typeface="Cambria"/>
              </a:rPr>
              <a:t>Probing Warmth and Competence</a:t>
            </a:r>
          </a:p>
          <a:p xmlns:a="http://schemas.openxmlformats.org/drawingml/2006/main">
            <a:pPr marL="0" indent="0" algn="l">
              <a:buNone/>
            </a:pPr>
            <a:r>
              <a:rPr sz="3000" b="1">
                <a:solidFill>
                  <a:srgbClr val="EEF2F7"/>
                </a:solidFill>
                <a:latin typeface="Cambria"/>
                <a:ea typeface="Cambria"/>
                <a:cs typeface="Cambria"/>
              </a:rPr>
              <a:t>Representations in LLM Hiring Decisions</a:t>
            </a:r>
          </a:p>
        </p:txBody>
      </p:sp>
      <p:sp>
        <p:nvSpPr>
          <p:cNvPr id="6" name="Text 4">
            <a:extLst xmlns:a="http://schemas.openxmlformats.org/drawingml/2006/main">
              <a:ext uri="{FF2B5EF4-FFF2-40B4-BE49-F238E27FC236}">
                <a16:creationId xmlns:a16="http://schemas.microsoft.com/office/drawing/2014/main" id="{35F180A6-982E-4E30-B7F2-F21BB809E286}"/>
              </a:ext>
            </a:extLst>
          </p:cNvPr>
          <p:cNvSpPr>
            <a:spLocks xmlns:a="http://schemas.openxmlformats.org/drawingml/2006/main" noGrp="1"/>
          </p:cNvSpPr>
          <p:nvPr/>
        </p:nvSpPr>
        <p:spPr>
          <a:xfrm xmlns:a="http://schemas.openxmlformats.org/drawingml/2006/main">
            <a:off x="502920" y="283464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500">
                <a:solidFill>
                  <a:srgbClr val="4A9EBA"/>
                </a:solidFill>
                <a:latin typeface="Calibri"/>
                <a:ea typeface="Calibri"/>
                <a:cs typeface="Calibri"/>
              </a:rPr>
              <a:t>Emrecan Ulu  ·  Jorge Lastra Cerda</a:t>
            </a:r>
          </a:p>
        </p:txBody>
      </p:sp>
      <p:sp>
        <p:nvSpPr>
          <p:cNvPr id="7" name="Text 5">
            <a:extLst xmlns:a="http://schemas.openxmlformats.org/drawingml/2006/main">
              <a:ext uri="{FF2B5EF4-FFF2-40B4-BE49-F238E27FC236}">
                <a16:creationId xmlns:a16="http://schemas.microsoft.com/office/drawing/2014/main" id="{5AE71A60-BA9B-423E-959A-0B84095429E4}"/>
              </a:ext>
            </a:extLst>
          </p:cNvPr>
          <p:cNvSpPr>
            <a:spLocks xmlns:a="http://schemas.openxmlformats.org/drawingml/2006/main" noGrp="1"/>
          </p:cNvSpPr>
          <p:nvPr/>
        </p:nvSpPr>
        <p:spPr>
          <a:xfrm xmlns:a="http://schemas.openxmlformats.org/drawingml/2006/main">
            <a:off x="502920" y="3200400"/>
            <a:ext cx="54864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a:solidFill>
                  <a:srgbClr val="8FA5BB"/>
                </a:solidFill>
                <a:latin typeface="Calibri"/>
                <a:ea typeface="Calibri"/>
                <a:cs typeface="Calibri"/>
              </a:rPr>
              <a:t>University of Konstanz</a:t>
            </a:r>
          </a:p>
        </p:txBody>
      </p:sp>
      <p:sp>
        <p:nvSpPr>
          <p:cNvPr id="8" name="Text 6">
            <a:extLst xmlns:a="http://schemas.openxmlformats.org/drawingml/2006/main">
              <a:ext uri="{FF2B5EF4-FFF2-40B4-BE49-F238E27FC236}">
                <a16:creationId xmlns:a16="http://schemas.microsoft.com/office/drawing/2014/main" id="{22F31D23-0023-4880-817A-1AC2E06B8197}"/>
              </a:ext>
            </a:extLst>
          </p:cNvPr>
          <p:cNvSpPr>
            <a:spLocks xmlns:a="http://schemas.openxmlformats.org/drawingml/2006/main" noGrp="1"/>
          </p:cNvSpPr>
          <p:nvPr/>
        </p:nvSpPr>
        <p:spPr>
          <a:xfrm xmlns:a="http://schemas.openxmlformats.org/drawingml/2006/main">
            <a:off x="502920" y="4663440"/>
            <a:ext cx="8138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a:solidFill>
                  <a:srgbClr val="8FA5BB"/>
                </a:solidFill>
                <a:latin typeface="Calibri"/>
                <a:ea typeface="Calibri"/>
                <a:cs typeface="Calibri"/>
              </a:rPr>
              <a:t>Master's Seminar · Fairness and Collective Decision-Making in AI</a:t>
            </a:r>
          </a:p>
        </p:txBody>
      </p:sp>
    </p:spTree>
    <p:extLst>
      <p:ext uri="{BB962C8B-B14F-4D97-AF65-F5344CB8AC3E}">
        <p14:creationId xmlns:p14="http://schemas.microsoft.com/office/powerpoint/2010/main" val="200283942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816D93E-8D6C-4ABA-8693-A2F530A03A63}"/>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p:spPr>
      </p:sp>
      <p:sp>
        <p:nvSpPr>
          <p:cNvPr id="3" name="Text 1">
            <a:extLst xmlns:a="http://schemas.openxmlformats.org/drawingml/2006/main">
              <a:ext uri="{FF2B5EF4-FFF2-40B4-BE49-F238E27FC236}">
                <a16:creationId xmlns:a16="http://schemas.microsoft.com/office/drawing/2014/main" id="{E365EA53-C155-443C-8B39-8006AF67E417}"/>
              </a:ext>
            </a:extLst>
          </p:cNvPr>
          <p:cNvSpPr>
            <a:spLocks xmlns:a="http://schemas.openxmlformats.org/drawingml/2006/main" noGrp="1"/>
          </p:cNvSpPr>
          <p:nvPr/>
        </p:nvSpPr>
        <p:spPr>
          <a:xfrm xmlns:a="http://schemas.openxmlformats.org/drawingml/2006/main">
            <a:off x="411480" y="256032"/>
            <a:ext cx="8321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300" b="1">
                <a:solidFill>
                  <a:srgbClr val="EEF2F7"/>
                </a:solidFill>
                <a:latin typeface="Cambria"/>
                <a:ea typeface="Cambria"/>
                <a:cs typeface="Cambria"/>
              </a:rPr>
              <a:t>AI is now screening job applications, and it discriminates</a:t>
            </a:r>
          </a:p>
        </p:txBody>
      </p:sp>
      <p:sp>
        <p:nvSpPr>
          <p:cNvPr id="4" name="Shape 2">
            <a:extLst xmlns:a="http://schemas.openxmlformats.org/drawingml/2006/main">
              <a:ext uri="{FF2B5EF4-FFF2-40B4-BE49-F238E27FC236}">
                <a16:creationId xmlns:a16="http://schemas.microsoft.com/office/drawing/2014/main" id="{5A950F64-3F47-45FD-87E8-DAF985EC3416}"/>
              </a:ext>
            </a:extLst>
          </p:cNvPr>
          <p:cNvSpPr>
            <a:spLocks xmlns:a="http://schemas.openxmlformats.org/drawingml/2006/main" noGrp="1"/>
          </p:cNvSpPr>
          <p:nvPr/>
        </p:nvSpPr>
        <p:spPr>
          <a:xfrm xmlns:a="http://schemas.openxmlformats.org/drawingml/2006/main">
            <a:off x="411480" y="1783080"/>
            <a:ext cx="1371600" cy="548640"/>
          </a:xfrm>
          <a:prstGeom xmlns:a="http://schemas.openxmlformats.org/drawingml/2006/main" prst="roundRect">
            <a:avLst>
              <a:gd name="adj" fmla="val 13333"/>
            </a:avLst>
          </a:prstGeom>
          <a:solidFill xmlns:a="http://schemas.openxmlformats.org/drawingml/2006/main">
            <a:srgbClr val="1E2D45"/>
          </a:solidFill>
        </p:spPr>
      </p:sp>
      <p:sp>
        <p:nvSpPr>
          <p:cNvPr id="5" name="Text 3">
            <a:extLst xmlns:a="http://schemas.openxmlformats.org/drawingml/2006/main">
              <a:ext uri="{FF2B5EF4-FFF2-40B4-BE49-F238E27FC236}">
                <a16:creationId xmlns:a16="http://schemas.microsoft.com/office/drawing/2014/main" id="{5EE8DB86-5B20-4EE9-A0FA-4A35D9E9F7B6}"/>
              </a:ext>
            </a:extLst>
          </p:cNvPr>
          <p:cNvSpPr>
            <a:spLocks xmlns:a="http://schemas.openxmlformats.org/drawingml/2006/main" noGrp="1"/>
          </p:cNvSpPr>
          <p:nvPr/>
        </p:nvSpPr>
        <p:spPr>
          <a:xfrm xmlns:a="http://schemas.openxmlformats.org/drawingml/2006/main">
            <a:off x="411480" y="1783080"/>
            <a:ext cx="13716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EEF2F7"/>
                </a:solidFill>
                <a:latin typeface="Calibri"/>
                <a:ea typeface="Calibri"/>
                <a:cs typeface="Calibri"/>
              </a:rPr>
              <a:t>Applicant</a:t>
            </a:r>
          </a:p>
          <a:p xmlns:a="http://schemas.openxmlformats.org/drawingml/2006/main">
            <a:pPr marL="0" indent="0" algn="ctr">
              <a:buNone/>
            </a:pPr>
            <a:r>
              <a:rPr sz="1100" b="1">
                <a:solidFill>
                  <a:srgbClr val="EEF2F7"/>
                </a:solidFill>
                <a:latin typeface="Calibri"/>
                <a:ea typeface="Calibri"/>
                <a:cs typeface="Calibri"/>
              </a:rPr>
              <a:t>Name</a:t>
            </a:r>
          </a:p>
        </p:txBody>
      </p:sp>
      <p:sp>
        <p:nvSpPr>
          <p:cNvPr id="6" name="Shape 4">
            <a:extLst xmlns:a="http://schemas.openxmlformats.org/drawingml/2006/main">
              <a:ext uri="{FF2B5EF4-FFF2-40B4-BE49-F238E27FC236}">
                <a16:creationId xmlns:a16="http://schemas.microsoft.com/office/drawing/2014/main" id="{B91BB650-6736-44A3-A3DC-430ECA622B34}"/>
              </a:ext>
            </a:extLst>
          </p:cNvPr>
          <p:cNvSpPr>
            <a:spLocks xmlns:a="http://schemas.openxmlformats.org/drawingml/2006/main" noGrp="1"/>
          </p:cNvSpPr>
          <p:nvPr/>
        </p:nvSpPr>
        <p:spPr>
          <a:xfrm xmlns:a="http://schemas.openxmlformats.org/drawingml/2006/main">
            <a:off x="1828800" y="2057400"/>
            <a:ext cx="457200" cy="0"/>
          </a:xfrm>
          <a:prstGeom xmlns:a="http://schemas.openxmlformats.org/drawingml/2006/main" prst="line">
            <a:avLst/>
          </a:prstGeom>
          <a:noFill xmlns:a="http://schemas.openxmlformats.org/drawingml/2006/main"/>
          <a:ln xmlns:a="http://schemas.openxmlformats.org/drawingml/2006/main" w="25400">
            <a:solidFill>
              <a:srgbClr val="8FA5BB"/>
            </a:solidFill>
            <a:prstDash val="solid"/>
          </a:ln>
        </p:spPr>
      </p:sp>
      <p:sp>
        <p:nvSpPr>
          <p:cNvPr id="7" name="Shape 5">
            <a:extLst xmlns:a="http://schemas.openxmlformats.org/drawingml/2006/main">
              <a:ext uri="{FF2B5EF4-FFF2-40B4-BE49-F238E27FC236}">
                <a16:creationId xmlns:a16="http://schemas.microsoft.com/office/drawing/2014/main" id="{A2926FDC-4659-4405-80A3-0A79A11BBCFA}"/>
              </a:ext>
            </a:extLst>
          </p:cNvPr>
          <p:cNvSpPr>
            <a:spLocks xmlns:a="http://schemas.openxmlformats.org/drawingml/2006/main" noGrp="1"/>
          </p:cNvSpPr>
          <p:nvPr/>
        </p:nvSpPr>
        <p:spPr>
          <a:xfrm xmlns:a="http://schemas.openxmlformats.org/drawingml/2006/main">
            <a:off x="2331720" y="1627632"/>
            <a:ext cx="1920240" cy="868680"/>
          </a:xfrm>
          <a:prstGeom xmlns:a="http://schemas.openxmlformats.org/drawingml/2006/main" prst="roundRect">
            <a:avLst>
              <a:gd name="adj" fmla="val 10526"/>
            </a:avLst>
          </a:prstGeom>
          <a:solidFill xmlns:a="http://schemas.openxmlformats.org/drawingml/2006/main">
            <a:srgbClr val="4A9EBA">
              <a:alpha val="65000"/>
            </a:srgbClr>
          </a:solidFill>
        </p:spPr>
      </p:sp>
      <p:sp>
        <p:nvSpPr>
          <p:cNvPr id="8" name="Text 6">
            <a:extLst xmlns:a="http://schemas.openxmlformats.org/drawingml/2006/main">
              <a:ext uri="{FF2B5EF4-FFF2-40B4-BE49-F238E27FC236}">
                <a16:creationId xmlns:a16="http://schemas.microsoft.com/office/drawing/2014/main" id="{2CD9628D-7F46-40E5-BB1B-E101B29F8713}"/>
              </a:ext>
            </a:extLst>
          </p:cNvPr>
          <p:cNvSpPr>
            <a:spLocks xmlns:a="http://schemas.openxmlformats.org/drawingml/2006/main" noGrp="1"/>
          </p:cNvSpPr>
          <p:nvPr/>
        </p:nvSpPr>
        <p:spPr>
          <a:xfrm xmlns:a="http://schemas.openxmlformats.org/drawingml/2006/main">
            <a:off x="2331720" y="1627632"/>
            <a:ext cx="192024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FFFFFF"/>
                </a:solidFill>
                <a:latin typeface="Cambria"/>
                <a:ea typeface="Cambria"/>
                <a:cs typeface="Cambria"/>
              </a:rPr>
              <a:t>LLM   ?</a:t>
            </a:r>
          </a:p>
        </p:txBody>
      </p:sp>
      <p:sp>
        <p:nvSpPr>
          <p:cNvPr id="9" name="Shape 7">
            <a:extLst xmlns:a="http://schemas.openxmlformats.org/drawingml/2006/main">
              <a:ext uri="{FF2B5EF4-FFF2-40B4-BE49-F238E27FC236}">
                <a16:creationId xmlns:a16="http://schemas.microsoft.com/office/drawing/2014/main" id="{757D853B-8A40-41D2-BD56-ACA1C482055F}"/>
              </a:ext>
            </a:extLst>
          </p:cNvPr>
          <p:cNvSpPr>
            <a:spLocks xmlns:a="http://schemas.openxmlformats.org/drawingml/2006/main" noGrp="1"/>
          </p:cNvSpPr>
          <p:nvPr/>
        </p:nvSpPr>
        <p:spPr>
          <a:xfrm xmlns:a="http://schemas.openxmlformats.org/drawingml/2006/main">
            <a:off x="4297680" y="2057400"/>
            <a:ext cx="457200" cy="0"/>
          </a:xfrm>
          <a:prstGeom xmlns:a="http://schemas.openxmlformats.org/drawingml/2006/main" prst="line">
            <a:avLst/>
          </a:prstGeom>
          <a:noFill xmlns:a="http://schemas.openxmlformats.org/drawingml/2006/main"/>
          <a:ln xmlns:a="http://schemas.openxmlformats.org/drawingml/2006/main" w="25400">
            <a:solidFill>
              <a:srgbClr val="8FA5BB"/>
            </a:solidFill>
            <a:prstDash val="solid"/>
          </a:ln>
        </p:spPr>
      </p:sp>
      <p:sp>
        <p:nvSpPr>
          <p:cNvPr id="10" name="Shape 8">
            <a:extLst xmlns:a="http://schemas.openxmlformats.org/drawingml/2006/main">
              <a:ext uri="{FF2B5EF4-FFF2-40B4-BE49-F238E27FC236}">
                <a16:creationId xmlns:a16="http://schemas.microsoft.com/office/drawing/2014/main" id="{44CA96F5-9CE5-46DD-B964-0BC4ADB5DC08}"/>
              </a:ext>
            </a:extLst>
          </p:cNvPr>
          <p:cNvSpPr>
            <a:spLocks xmlns:a="http://schemas.openxmlformats.org/drawingml/2006/main" noGrp="1"/>
          </p:cNvSpPr>
          <p:nvPr/>
        </p:nvSpPr>
        <p:spPr>
          <a:xfrm xmlns:a="http://schemas.openxmlformats.org/drawingml/2006/main">
            <a:off x="4800600" y="1719072"/>
            <a:ext cx="1508760" cy="685800"/>
          </a:xfrm>
          <a:prstGeom xmlns:a="http://schemas.openxmlformats.org/drawingml/2006/main" prst="roundRect">
            <a:avLst>
              <a:gd name="adj" fmla="val 10667"/>
            </a:avLst>
          </a:prstGeom>
          <a:solidFill xmlns:a="http://schemas.openxmlformats.org/drawingml/2006/main">
            <a:srgbClr val="5BAD8B">
              <a:alpha val="70000"/>
            </a:srgbClr>
          </a:solidFill>
        </p:spPr>
      </p:sp>
      <p:sp>
        <p:nvSpPr>
          <p:cNvPr id="11" name="Text 9">
            <a:extLst xmlns:a="http://schemas.openxmlformats.org/drawingml/2006/main">
              <a:ext uri="{FF2B5EF4-FFF2-40B4-BE49-F238E27FC236}">
                <a16:creationId xmlns:a16="http://schemas.microsoft.com/office/drawing/2014/main" id="{4DBAED0E-F9D1-41F0-991D-CA92047FA99B}"/>
              </a:ext>
            </a:extLst>
          </p:cNvPr>
          <p:cNvSpPr>
            <a:spLocks xmlns:a="http://schemas.openxmlformats.org/drawingml/2006/main" noGrp="1"/>
          </p:cNvSpPr>
          <p:nvPr/>
        </p:nvSpPr>
        <p:spPr>
          <a:xfrm xmlns:a="http://schemas.openxmlformats.org/drawingml/2006/main">
            <a:off x="4800600" y="1719072"/>
            <a:ext cx="15087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00" b="1">
                <a:solidFill>
                  <a:srgbClr val="FFFFFF"/>
                </a:solidFill>
                <a:latin typeface="Calibri"/>
                <a:ea typeface="Calibri"/>
                <a:cs typeface="Calibri"/>
              </a:rPr>
              <a:t>Callback?</a:t>
            </a:r>
          </a:p>
        </p:txBody>
      </p:sp>
      <p:sp>
        <p:nvSpPr>
          <p:cNvPr id="12" name="Text 10">
            <a:extLst xmlns:a="http://schemas.openxmlformats.org/drawingml/2006/main">
              <a:ext uri="{FF2B5EF4-FFF2-40B4-BE49-F238E27FC236}">
                <a16:creationId xmlns:a16="http://schemas.microsoft.com/office/drawing/2014/main" id="{219CE939-C32F-482A-97AE-F677283A939C}"/>
              </a:ext>
            </a:extLst>
          </p:cNvPr>
          <p:cNvSpPr>
            <a:spLocks xmlns:a="http://schemas.openxmlformats.org/drawingml/2006/main" noGrp="1"/>
          </p:cNvSpPr>
          <p:nvPr/>
        </p:nvSpPr>
        <p:spPr>
          <a:xfrm xmlns:a="http://schemas.openxmlformats.org/drawingml/2006/main">
            <a:off x="2286000" y="2578608"/>
            <a:ext cx="47548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07B54"/>
                </a:solidFill>
                <a:latin typeface="Calibri"/>
                <a:ea typeface="Calibri"/>
                <a:cs typeface="Calibri"/>
              </a:rPr>
              <a:t>All existing audits stop here: they see the output, not the mechanism</a:t>
            </a:r>
          </a:p>
        </p:txBody>
      </p:sp>
      <p:sp>
        <p:nvSpPr>
          <p:cNvPr id="13" name="Shape 11">
            <a:extLst xmlns:a="http://schemas.openxmlformats.org/drawingml/2006/main">
              <a:ext uri="{FF2B5EF4-FFF2-40B4-BE49-F238E27FC236}">
                <a16:creationId xmlns:a16="http://schemas.microsoft.com/office/drawing/2014/main" id="{AAEBB17B-5344-4589-BD55-8A012A13E960}"/>
              </a:ext>
            </a:extLst>
          </p:cNvPr>
          <p:cNvSpPr>
            <a:spLocks xmlns:a="http://schemas.openxmlformats.org/drawingml/2006/main" noGrp="1"/>
          </p:cNvSpPr>
          <p:nvPr/>
        </p:nvSpPr>
        <p:spPr>
          <a:xfrm xmlns:a="http://schemas.openxmlformats.org/drawingml/2006/main">
            <a:off x="411480" y="3035808"/>
            <a:ext cx="146304" cy="146304"/>
          </a:xfrm>
          <a:prstGeom xmlns:a="http://schemas.openxmlformats.org/drawingml/2006/main" prst="ellipse">
            <a:avLst/>
          </a:prstGeom>
          <a:solidFill xmlns:a="http://schemas.openxmlformats.org/drawingml/2006/main">
            <a:srgbClr val="4A9EBA"/>
          </a:solidFill>
        </p:spPr>
      </p:sp>
      <p:sp>
        <p:nvSpPr>
          <p:cNvPr id="14" name="Text 12">
            <a:extLst xmlns:a="http://schemas.openxmlformats.org/drawingml/2006/main">
              <a:ext uri="{FF2B5EF4-FFF2-40B4-BE49-F238E27FC236}">
                <a16:creationId xmlns:a16="http://schemas.microsoft.com/office/drawing/2014/main" id="{A4ED15FD-DFF3-4AF7-8631-4792565F080D}"/>
              </a:ext>
            </a:extLst>
          </p:cNvPr>
          <p:cNvSpPr>
            <a:spLocks xmlns:a="http://schemas.openxmlformats.org/drawingml/2006/main" noGrp="1"/>
          </p:cNvSpPr>
          <p:nvPr/>
        </p:nvSpPr>
        <p:spPr>
          <a:xfrm xmlns:a="http://schemas.openxmlformats.org/drawingml/2006/main">
            <a:off x="658368" y="2990088"/>
            <a:ext cx="80467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a:solidFill>
                  <a:srgbClr val="EEF2F7"/>
                </a:solidFill>
                <a:latin typeface="Calibri"/>
                <a:ea typeface="Calibri"/>
                <a:cs typeface="Calibri"/>
              </a:rPr>
              <a:t>50% of US organizations use AI in recruiting  (SHRM, 2025)</a:t>
            </a:r>
          </a:p>
        </p:txBody>
      </p:sp>
      <p:sp>
        <p:nvSpPr>
          <p:cNvPr id="15" name="Shape 13">
            <a:extLst xmlns:a="http://schemas.openxmlformats.org/drawingml/2006/main">
              <a:ext uri="{FF2B5EF4-FFF2-40B4-BE49-F238E27FC236}">
                <a16:creationId xmlns:a16="http://schemas.microsoft.com/office/drawing/2014/main" id="{B0A04A52-77D7-4678-A686-0AC368720BC5}"/>
              </a:ext>
            </a:extLst>
          </p:cNvPr>
          <p:cNvSpPr>
            <a:spLocks xmlns:a="http://schemas.openxmlformats.org/drawingml/2006/main" noGrp="1"/>
          </p:cNvSpPr>
          <p:nvPr/>
        </p:nvSpPr>
        <p:spPr>
          <a:xfrm xmlns:a="http://schemas.openxmlformats.org/drawingml/2006/main">
            <a:off x="411480" y="3538728"/>
            <a:ext cx="146304" cy="146304"/>
          </a:xfrm>
          <a:prstGeom xmlns:a="http://schemas.openxmlformats.org/drawingml/2006/main" prst="ellipse">
            <a:avLst/>
          </a:prstGeom>
          <a:solidFill xmlns:a="http://schemas.openxmlformats.org/drawingml/2006/main">
            <a:srgbClr val="4A9EBA"/>
          </a:solidFill>
        </p:spPr>
      </p:sp>
      <p:sp>
        <p:nvSpPr>
          <p:cNvPr id="16" name="Text 14">
            <a:extLst xmlns:a="http://schemas.openxmlformats.org/drawingml/2006/main">
              <a:ext uri="{FF2B5EF4-FFF2-40B4-BE49-F238E27FC236}">
                <a16:creationId xmlns:a16="http://schemas.microsoft.com/office/drawing/2014/main" id="{2F1D7759-AFA4-46C2-81C2-CCF3C54926FB}"/>
              </a:ext>
            </a:extLst>
          </p:cNvPr>
          <p:cNvSpPr>
            <a:spLocks xmlns:a="http://schemas.openxmlformats.org/drawingml/2006/main" noGrp="1"/>
          </p:cNvSpPr>
          <p:nvPr/>
        </p:nvSpPr>
        <p:spPr>
          <a:xfrm xmlns:a="http://schemas.openxmlformats.org/drawingml/2006/main">
            <a:off x="658368" y="3493008"/>
            <a:ext cx="80467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a:solidFill>
                  <a:srgbClr val="EEF2F7"/>
                </a:solidFill>
                <a:latin typeface="Calibri"/>
                <a:ea typeface="Calibri"/>
                <a:cs typeface="Calibri"/>
              </a:rPr>
              <a:t>Behavioral audits show name-driven disparities across race and gender</a:t>
            </a:r>
          </a:p>
        </p:txBody>
      </p:sp>
      <p:sp>
        <p:nvSpPr>
          <p:cNvPr id="17" name="Shape 15">
            <a:extLst xmlns:a="http://schemas.openxmlformats.org/drawingml/2006/main">
              <a:ext uri="{FF2B5EF4-FFF2-40B4-BE49-F238E27FC236}">
                <a16:creationId xmlns:a16="http://schemas.microsoft.com/office/drawing/2014/main" id="{71F254EE-5CA2-407F-8F3F-F11EA6139625}"/>
              </a:ext>
            </a:extLst>
          </p:cNvPr>
          <p:cNvSpPr>
            <a:spLocks xmlns:a="http://schemas.openxmlformats.org/drawingml/2006/main" noGrp="1"/>
          </p:cNvSpPr>
          <p:nvPr/>
        </p:nvSpPr>
        <p:spPr>
          <a:xfrm xmlns:a="http://schemas.openxmlformats.org/drawingml/2006/main">
            <a:off x="411480" y="4041648"/>
            <a:ext cx="146304" cy="146304"/>
          </a:xfrm>
          <a:prstGeom xmlns:a="http://schemas.openxmlformats.org/drawingml/2006/main" prst="ellipse">
            <a:avLst/>
          </a:prstGeom>
          <a:solidFill xmlns:a="http://schemas.openxmlformats.org/drawingml/2006/main">
            <a:srgbClr val="4A9EBA"/>
          </a:solidFill>
        </p:spPr>
      </p:sp>
      <p:sp>
        <p:nvSpPr>
          <p:cNvPr id="18" name="Text 16">
            <a:extLst xmlns:a="http://schemas.openxmlformats.org/drawingml/2006/main">
              <a:ext uri="{FF2B5EF4-FFF2-40B4-BE49-F238E27FC236}">
                <a16:creationId xmlns:a16="http://schemas.microsoft.com/office/drawing/2014/main" id="{E25B630D-6765-4580-BEEB-295BC9CC6403}"/>
              </a:ext>
            </a:extLst>
          </p:cNvPr>
          <p:cNvSpPr>
            <a:spLocks xmlns:a="http://schemas.openxmlformats.org/drawingml/2006/main" noGrp="1"/>
          </p:cNvSpPr>
          <p:nvPr/>
        </p:nvSpPr>
        <p:spPr>
          <a:xfrm xmlns:a="http://schemas.openxmlformats.org/drawingml/2006/main">
            <a:off x="658368" y="3995928"/>
            <a:ext cx="804672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a:solidFill>
                  <a:srgbClr val="EEF2F7"/>
                </a:solidFill>
                <a:latin typeface="Calibri"/>
                <a:ea typeface="Calibri"/>
                <a:cs typeface="Calibri"/>
              </a:rPr>
              <a:t>But they treat the model as a black box: that it discriminates, not how</a:t>
            </a:r>
          </a:p>
        </p:txBody>
      </p:sp>
    </p:spTree>
    <p:extLst>
      <p:ext uri="{BB962C8B-B14F-4D97-AF65-F5344CB8AC3E}">
        <p14:creationId xmlns:p14="http://schemas.microsoft.com/office/powerpoint/2010/main" val="96713910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77DDB0-A702-411B-99C2-CCB483F6EE0D}"/>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p:spPr>
      </p:sp>
      <p:sp>
        <p:nvSpPr>
          <p:cNvPr id="3" name="Text 1">
            <a:extLst xmlns:a="http://schemas.openxmlformats.org/drawingml/2006/main">
              <a:ext uri="{FF2B5EF4-FFF2-40B4-BE49-F238E27FC236}">
                <a16:creationId xmlns:a16="http://schemas.microsoft.com/office/drawing/2014/main" id="{A9126BA9-6719-4617-8231-3DB5AF365C7D}"/>
              </a:ext>
            </a:extLst>
          </p:cNvPr>
          <p:cNvSpPr>
            <a:spLocks xmlns:a="http://schemas.openxmlformats.org/drawingml/2006/main" noGrp="1"/>
          </p:cNvSpPr>
          <p:nvPr/>
        </p:nvSpPr>
        <p:spPr>
          <a:xfrm xmlns:a="http://schemas.openxmlformats.org/drawingml/2006/main">
            <a:off x="411480" y="256032"/>
            <a:ext cx="8321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300" b="1">
                <a:solidFill>
                  <a:srgbClr val="EEF2F7"/>
                </a:solidFill>
                <a:latin typeface="Cambria"/>
                <a:ea typeface="Cambria"/>
                <a:cs typeface="Cambria"/>
              </a:rPr>
              <a:t>A story becomes a hidden activation</a:t>
            </a:r>
          </a:p>
        </p:txBody>
      </p:sp>
      <p:sp>
        <p:nvSpPr>
          <p:cNvPr id="4" name="story-cue">
            <a:extLst xmlns:a="http://schemas.openxmlformats.org/drawingml/2006/main">
              <a:ext uri="{FF2B5EF4-FFF2-40B4-BE49-F238E27FC236}">
                <a16:creationId xmlns:a16="http://schemas.microsoft.com/office/drawing/2014/main" id="{A228FF34-E3A0-48BE-8382-919572B19FF9}"/>
              </a:ext>
            </a:extLst>
          </p:cNvPr>
          <p:cNvSpPr>
            <a:spLocks xmlns:a="http://schemas.openxmlformats.org/drawingml/2006/main" noGrp="1"/>
          </p:cNvSpPr>
          <p:nvPr/>
        </p:nvSpPr>
        <p:spPr>
          <a:xfrm xmlns:a="http://schemas.openxmlformats.org/drawingml/2006/main">
            <a:off x="457200" y="1162050"/>
            <a:ext cx="2552700" cy="742950"/>
          </a:xfrm>
          <a:prstGeom xmlns:a="http://schemas.openxmlformats.org/drawingml/2006/main" prst="roundRect">
            <a:avLst>
              <a:gd name="adj" fmla="val 17949"/>
            </a:avLst>
          </a:prstGeom>
          <a:solidFill xmlns:a="http://schemas.openxmlformats.org/drawingml/2006/main">
            <a:srgbClr val="1E2D45"/>
          </a:solidFill>
          <a:ln xmlns:a="http://schemas.openxmlformats.org/drawingml/2006/main" w="14288">
            <a:solidFill>
              <a:srgbClr val="2D6F86"/>
            </a:solidFill>
            <a:prstDash val="solid"/>
          </a:ln>
        </p:spPr>
      </p:sp>
      <p:sp>
        <p:nvSpPr>
          <p:cNvPr id="5" name="story-label">
            <a:extLst xmlns:a="http://schemas.openxmlformats.org/drawingml/2006/main">
              <a:ext uri="{FF2B5EF4-FFF2-40B4-BE49-F238E27FC236}">
                <a16:creationId xmlns:a16="http://schemas.microsoft.com/office/drawing/2014/main" id="{88A3269A-E5E0-4EDA-A138-7EBFB92F5783}"/>
              </a:ext>
            </a:extLst>
          </p:cNvPr>
          <p:cNvSpPr>
            <a:spLocks xmlns:a="http://schemas.openxmlformats.org/drawingml/2006/main" noGrp="1"/>
          </p:cNvSpPr>
          <p:nvPr/>
        </p:nvSpPr>
        <p:spPr>
          <a:xfrm xmlns:a="http://schemas.openxmlformats.org/drawingml/2006/main">
            <a:off x="600075" y="12192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4A9EBA"/>
                </a:solidFill>
                <a:latin typeface="Arial"/>
                <a:ea typeface="Arial"/>
                <a:cs typeface="Arial"/>
              </a:defRPr>
            </a:pPr>
            <a:r>
              <a:rPr sz="900" b="1" i="0">
                <a:solidFill>
                  <a:srgbClr val="4A9EBA"/>
                </a:solidFill>
                <a:latin typeface="Arial"/>
                <a:ea typeface="Arial"/>
                <a:cs typeface="Arial"/>
              </a:rPr>
              <a:t>STORY</a:t>
            </a:r>
          </a:p>
        </p:txBody>
      </p:sp>
      <p:sp>
        <p:nvSpPr>
          <p:cNvPr id="6" name="story-copy">
            <a:extLst xmlns:a="http://schemas.openxmlformats.org/drawingml/2006/main">
              <a:ext uri="{FF2B5EF4-FFF2-40B4-BE49-F238E27FC236}">
                <a16:creationId xmlns:a16="http://schemas.microsoft.com/office/drawing/2014/main" id="{BD27F51C-93BF-4880-8EF3-14EFF4C21FCE}"/>
              </a:ext>
            </a:extLst>
          </p:cNvPr>
          <p:cNvSpPr>
            <a:spLocks xmlns:a="http://schemas.openxmlformats.org/drawingml/2006/main" noGrp="1"/>
          </p:cNvSpPr>
          <p:nvPr/>
        </p:nvSpPr>
        <p:spPr>
          <a:xfrm xmlns:a="http://schemas.openxmlformats.org/drawingml/2006/main">
            <a:off x="600075" y="14097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EEF2F7"/>
                </a:solidFill>
                <a:latin typeface="Arial"/>
                <a:ea typeface="Arial"/>
                <a:cs typeface="Arial"/>
              </a:defRPr>
            </a:pPr>
            <a:r>
              <a:rPr sz="1350" b="0" i="0">
                <a:solidFill>
                  <a:srgbClr val="EEF2F7"/>
                </a:solidFill>
                <a:latin typeface="Arial"/>
                <a:ea typeface="Arial"/>
                <a:cs typeface="Arial"/>
              </a:rPr>
              <a:t>“The footsteps behind them grew closer.”</a:t>
            </a:r>
          </a:p>
        </p:txBody>
      </p:sp>
      <p:sp>
        <p:nvSpPr>
          <p:cNvPr id="7" name="character-head">
            <a:extLst xmlns:a="http://schemas.openxmlformats.org/drawingml/2006/main">
              <a:ext uri="{FF2B5EF4-FFF2-40B4-BE49-F238E27FC236}">
                <a16:creationId xmlns:a16="http://schemas.microsoft.com/office/drawing/2014/main" id="{24FDFBAE-4A31-4017-A017-15C9F890F3D4}"/>
              </a:ext>
            </a:extLst>
          </p:cNvPr>
          <p:cNvSpPr>
            <a:spLocks xmlns:a="http://schemas.openxmlformats.org/drawingml/2006/main" noGrp="1"/>
          </p:cNvSpPr>
          <p:nvPr/>
        </p:nvSpPr>
        <p:spPr>
          <a:xfrm xmlns:a="http://schemas.openxmlformats.org/drawingml/2006/main">
            <a:off x="1590675" y="2381250"/>
            <a:ext cx="238125" cy="238125"/>
          </a:xfrm>
          <a:prstGeom xmlns:a="http://schemas.openxmlformats.org/drawingml/2006/main" prst="ellipse">
            <a:avLst/>
          </a:prstGeom>
          <a:solidFill xmlns:a="http://schemas.openxmlformats.org/drawingml/2006/main">
            <a:srgbClr val="EEF2F7"/>
          </a:solidFill>
          <a:ln xmlns:a="http://schemas.openxmlformats.org/drawingml/2006/main" w="0">
            <a:noFill/>
            <a:prstDash val="solid"/>
          </a:ln>
        </p:spPr>
      </p:sp>
      <p:sp>
        <p:nvSpPr>
          <p:cNvPr id="8" name="character-body">
            <a:extLst xmlns:a="http://schemas.openxmlformats.org/drawingml/2006/main">
              <a:ext uri="{FF2B5EF4-FFF2-40B4-BE49-F238E27FC236}">
                <a16:creationId xmlns:a16="http://schemas.microsoft.com/office/drawing/2014/main" id="{DC9EA0EA-581F-44A2-9ED7-12E3B399260B}"/>
              </a:ext>
            </a:extLst>
          </p:cNvPr>
          <p:cNvSpPr>
            <a:spLocks xmlns:a="http://schemas.openxmlformats.org/drawingml/2006/main" noGrp="1"/>
          </p:cNvSpPr>
          <p:nvPr/>
        </p:nvSpPr>
        <p:spPr>
          <a:xfrm xmlns:a="http://schemas.openxmlformats.org/drawingml/2006/main">
            <a:off x="1562100" y="2609850"/>
            <a:ext cx="152400" cy="609600"/>
          </a:xfrm>
          <a:prstGeom xmlns:a="http://schemas.openxmlformats.org/drawingml/2006/main" prst="line">
            <a:avLst/>
          </a:prstGeom>
          <a:noFill xmlns:a="http://schemas.openxmlformats.org/drawingml/2006/main"/>
          <a:ln xmlns:a="http://schemas.openxmlformats.org/drawingml/2006/main" w="76200">
            <a:solidFill>
              <a:srgbClr val="EEF2F7"/>
            </a:solidFill>
            <a:prstDash val="solid"/>
          </a:ln>
        </p:spPr>
      </p:sp>
      <p:sp>
        <p:nvSpPr>
          <p:cNvPr id="9" name="character-arm-back">
            <a:extLst xmlns:a="http://schemas.openxmlformats.org/drawingml/2006/main">
              <a:ext uri="{FF2B5EF4-FFF2-40B4-BE49-F238E27FC236}">
                <a16:creationId xmlns:a16="http://schemas.microsoft.com/office/drawing/2014/main" id="{CFC7A600-DF10-4C73-B195-D25D46221FDD}"/>
              </a:ext>
            </a:extLst>
          </p:cNvPr>
          <p:cNvSpPr>
            <a:spLocks xmlns:a="http://schemas.openxmlformats.org/drawingml/2006/main" noGrp="1"/>
          </p:cNvSpPr>
          <p:nvPr/>
        </p:nvSpPr>
        <p:spPr>
          <a:xfrm xmlns:a="http://schemas.openxmlformats.org/drawingml/2006/main">
            <a:off x="1400175" y="2781300"/>
            <a:ext cx="228600" cy="190500"/>
          </a:xfrm>
          <a:prstGeom xmlns:a="http://schemas.openxmlformats.org/drawingml/2006/main" prst="line">
            <a:avLst/>
          </a:prstGeom>
          <a:noFill xmlns:a="http://schemas.openxmlformats.org/drawingml/2006/main"/>
          <a:ln xmlns:a="http://schemas.openxmlformats.org/drawingml/2006/main" w="57150">
            <a:solidFill>
              <a:srgbClr val="EEF2F7"/>
            </a:solidFill>
            <a:prstDash val="solid"/>
          </a:ln>
        </p:spPr>
      </p:sp>
      <p:sp>
        <p:nvSpPr>
          <p:cNvPr id="10" name="character-arm-front">
            <a:extLst xmlns:a="http://schemas.openxmlformats.org/drawingml/2006/main">
              <a:ext uri="{FF2B5EF4-FFF2-40B4-BE49-F238E27FC236}">
                <a16:creationId xmlns:a16="http://schemas.microsoft.com/office/drawing/2014/main" id="{E326928A-485B-4B52-84C4-4C46FE2E122D}"/>
              </a:ext>
            </a:extLst>
          </p:cNvPr>
          <p:cNvSpPr>
            <a:spLocks xmlns:a="http://schemas.openxmlformats.org/drawingml/2006/main" noGrp="1"/>
          </p:cNvSpPr>
          <p:nvPr/>
        </p:nvSpPr>
        <p:spPr>
          <a:xfrm xmlns:a="http://schemas.openxmlformats.org/drawingml/2006/main">
            <a:off x="1647825" y="2809875"/>
            <a:ext cx="295275" cy="171450"/>
          </a:xfrm>
          <a:prstGeom xmlns:a="http://schemas.openxmlformats.org/drawingml/2006/main" prst="line">
            <a:avLst/>
          </a:prstGeom>
          <a:noFill xmlns:a="http://schemas.openxmlformats.org/drawingml/2006/main"/>
          <a:ln xmlns:a="http://schemas.openxmlformats.org/drawingml/2006/main" w="57150">
            <a:solidFill>
              <a:srgbClr val="EEF2F7"/>
            </a:solidFill>
            <a:prstDash val="solid"/>
          </a:ln>
        </p:spPr>
      </p:sp>
      <p:sp>
        <p:nvSpPr>
          <p:cNvPr id="11" name="character-leg-back">
            <a:extLst xmlns:a="http://schemas.openxmlformats.org/drawingml/2006/main">
              <a:ext uri="{FF2B5EF4-FFF2-40B4-BE49-F238E27FC236}">
                <a16:creationId xmlns:a16="http://schemas.microsoft.com/office/drawing/2014/main" id="{D106BBAF-CA69-484A-B2D1-337091AC600B}"/>
              </a:ext>
            </a:extLst>
          </p:cNvPr>
          <p:cNvSpPr>
            <a:spLocks xmlns:a="http://schemas.openxmlformats.org/drawingml/2006/main" noGrp="1"/>
          </p:cNvSpPr>
          <p:nvPr/>
        </p:nvSpPr>
        <p:spPr>
          <a:xfrm xmlns:a="http://schemas.openxmlformats.org/drawingml/2006/main">
            <a:off x="1400175" y="3171825"/>
            <a:ext cx="238125" cy="457200"/>
          </a:xfrm>
          <a:prstGeom xmlns:a="http://schemas.openxmlformats.org/drawingml/2006/main" prst="line">
            <a:avLst/>
          </a:prstGeom>
          <a:noFill xmlns:a="http://schemas.openxmlformats.org/drawingml/2006/main"/>
          <a:ln xmlns:a="http://schemas.openxmlformats.org/drawingml/2006/main" w="66675">
            <a:solidFill>
              <a:srgbClr val="EEF2F7"/>
            </a:solidFill>
            <a:prstDash val="solid"/>
          </a:ln>
        </p:spPr>
      </p:sp>
      <p:sp>
        <p:nvSpPr>
          <p:cNvPr id="12" name="character-leg-front">
            <a:extLst xmlns:a="http://schemas.openxmlformats.org/drawingml/2006/main">
              <a:ext uri="{FF2B5EF4-FFF2-40B4-BE49-F238E27FC236}">
                <a16:creationId xmlns:a16="http://schemas.microsoft.com/office/drawing/2014/main" id="{B50CFAF8-7C01-4E0F-9667-D2419029D0D8}"/>
              </a:ext>
            </a:extLst>
          </p:cNvPr>
          <p:cNvSpPr>
            <a:spLocks xmlns:a="http://schemas.openxmlformats.org/drawingml/2006/main" noGrp="1"/>
          </p:cNvSpPr>
          <p:nvPr/>
        </p:nvSpPr>
        <p:spPr>
          <a:xfrm xmlns:a="http://schemas.openxmlformats.org/drawingml/2006/main">
            <a:off x="1647825" y="3171825"/>
            <a:ext cx="333375" cy="409575"/>
          </a:xfrm>
          <a:prstGeom xmlns:a="http://schemas.openxmlformats.org/drawingml/2006/main" prst="line">
            <a:avLst/>
          </a:prstGeom>
          <a:noFill xmlns:a="http://schemas.openxmlformats.org/drawingml/2006/main"/>
          <a:ln xmlns:a="http://schemas.openxmlformats.org/drawingml/2006/main" w="66675">
            <a:solidFill>
              <a:srgbClr val="EEF2F7"/>
            </a:solidFill>
            <a:prstDash val="solid"/>
          </a:ln>
        </p:spPr>
      </p:sp>
      <p:sp>
        <p:nvSpPr>
          <p:cNvPr id="13" name="recoil-accent-1">
            <a:extLst xmlns:a="http://schemas.openxmlformats.org/drawingml/2006/main">
              <a:ext uri="{FF2B5EF4-FFF2-40B4-BE49-F238E27FC236}">
                <a16:creationId xmlns:a16="http://schemas.microsoft.com/office/drawing/2014/main" id="{676C2A4E-880C-4FB9-BA7B-82A3C0EA037E}"/>
              </a:ext>
            </a:extLst>
          </p:cNvPr>
          <p:cNvSpPr>
            <a:spLocks xmlns:a="http://schemas.openxmlformats.org/drawingml/2006/main" noGrp="1"/>
          </p:cNvSpPr>
          <p:nvPr/>
        </p:nvSpPr>
        <p:spPr>
          <a:xfrm xmlns:a="http://schemas.openxmlformats.org/drawingml/2006/main">
            <a:off x="1866900" y="2447925"/>
            <a:ext cx="171450" cy="-57150"/>
          </a:xfrm>
          <a:prstGeom xmlns:a="http://schemas.openxmlformats.org/drawingml/2006/main" prst="line">
            <a:avLst/>
          </a:prstGeom>
          <a:noFill xmlns:a="http://schemas.openxmlformats.org/drawingml/2006/main"/>
          <a:ln xmlns:a="http://schemas.openxmlformats.org/drawingml/2006/main" w="28575">
            <a:solidFill>
              <a:srgbClr val="E97C50"/>
            </a:solidFill>
            <a:prstDash val="solid"/>
          </a:ln>
        </p:spPr>
      </p:sp>
      <p:sp>
        <p:nvSpPr>
          <p:cNvPr id="14" name="recoil-accent-2">
            <a:extLst xmlns:a="http://schemas.openxmlformats.org/drawingml/2006/main">
              <a:ext uri="{FF2B5EF4-FFF2-40B4-BE49-F238E27FC236}">
                <a16:creationId xmlns:a16="http://schemas.microsoft.com/office/drawing/2014/main" id="{25E75751-C8D6-4B1F-9CC0-B3AFFFFC0104}"/>
              </a:ext>
            </a:extLst>
          </p:cNvPr>
          <p:cNvSpPr>
            <a:spLocks xmlns:a="http://schemas.openxmlformats.org/drawingml/2006/main" noGrp="1"/>
          </p:cNvSpPr>
          <p:nvPr/>
        </p:nvSpPr>
        <p:spPr>
          <a:xfrm xmlns:a="http://schemas.openxmlformats.org/drawingml/2006/main">
            <a:off x="1905000" y="2552700"/>
            <a:ext cx="161925" cy="9525"/>
          </a:xfrm>
          <a:prstGeom xmlns:a="http://schemas.openxmlformats.org/drawingml/2006/main" prst="line">
            <a:avLst/>
          </a:prstGeom>
          <a:noFill xmlns:a="http://schemas.openxmlformats.org/drawingml/2006/main"/>
          <a:ln xmlns:a="http://schemas.openxmlformats.org/drawingml/2006/main" w="28575">
            <a:solidFill>
              <a:srgbClr val="E97C50"/>
            </a:solidFill>
            <a:prstDash val="solid"/>
          </a:ln>
        </p:spPr>
      </p:sp>
      <p:sp>
        <p:nvSpPr>
          <p:cNvPr id="15" name="footstep-1">
            <a:extLst xmlns:a="http://schemas.openxmlformats.org/drawingml/2006/main">
              <a:ext uri="{FF2B5EF4-FFF2-40B4-BE49-F238E27FC236}">
                <a16:creationId xmlns:a16="http://schemas.microsoft.com/office/drawing/2014/main" id="{DEDE1814-4738-481E-A6BB-867E5CC90BB8}"/>
              </a:ext>
            </a:extLst>
          </p:cNvPr>
          <p:cNvSpPr>
            <a:spLocks xmlns:a="http://schemas.openxmlformats.org/drawingml/2006/main" noGrp="1"/>
          </p:cNvSpPr>
          <p:nvPr/>
        </p:nvSpPr>
        <p:spPr>
          <a:xfrm xmlns:a="http://schemas.openxmlformats.org/drawingml/2006/main" rot="-1320000">
            <a:off x="1095375" y="3381375"/>
            <a:ext cx="133350" cy="66675"/>
          </a:xfrm>
          <a:prstGeom xmlns:a="http://schemas.openxmlformats.org/drawingml/2006/main" prst="ellipse">
            <a:avLst/>
          </a:prstGeom>
          <a:solidFill xmlns:a="http://schemas.openxmlformats.org/drawingml/2006/main">
            <a:srgbClr val="E97C50"/>
          </a:solidFill>
          <a:ln xmlns:a="http://schemas.openxmlformats.org/drawingml/2006/main" w="0">
            <a:noFill/>
            <a:prstDash val="solid"/>
          </a:ln>
        </p:spPr>
      </p:sp>
      <p:sp>
        <p:nvSpPr>
          <p:cNvPr id="16" name="footstep-2">
            <a:extLst xmlns:a="http://schemas.openxmlformats.org/drawingml/2006/main">
              <a:ext uri="{FF2B5EF4-FFF2-40B4-BE49-F238E27FC236}">
                <a16:creationId xmlns:a16="http://schemas.microsoft.com/office/drawing/2014/main" id="{27C6421F-8A99-4F9F-A63A-79D4E9F56622}"/>
              </a:ext>
            </a:extLst>
          </p:cNvPr>
          <p:cNvSpPr>
            <a:spLocks xmlns:a="http://schemas.openxmlformats.org/drawingml/2006/main" noGrp="1"/>
          </p:cNvSpPr>
          <p:nvPr/>
        </p:nvSpPr>
        <p:spPr>
          <a:xfrm xmlns:a="http://schemas.openxmlformats.org/drawingml/2006/main" rot="-1320000">
            <a:off x="1228725" y="3209925"/>
            <a:ext cx="114300" cy="57150"/>
          </a:xfrm>
          <a:prstGeom xmlns:a="http://schemas.openxmlformats.org/drawingml/2006/main" prst="ellipse">
            <a:avLst/>
          </a:prstGeom>
          <a:solidFill xmlns:a="http://schemas.openxmlformats.org/drawingml/2006/main">
            <a:srgbClr val="E97C50"/>
          </a:solidFill>
          <a:ln xmlns:a="http://schemas.openxmlformats.org/drawingml/2006/main" w="0">
            <a:noFill/>
            <a:prstDash val="solid"/>
          </a:ln>
        </p:spPr>
      </p:sp>
      <p:sp>
        <p:nvSpPr>
          <p:cNvPr id="17" name="footstep-3">
            <a:extLst xmlns:a="http://schemas.openxmlformats.org/drawingml/2006/main">
              <a:ext uri="{FF2B5EF4-FFF2-40B4-BE49-F238E27FC236}">
                <a16:creationId xmlns:a16="http://schemas.microsoft.com/office/drawing/2014/main" id="{E7BBB811-1CE6-41C3-AD58-DC31B2FFA806}"/>
              </a:ext>
            </a:extLst>
          </p:cNvPr>
          <p:cNvSpPr>
            <a:spLocks xmlns:a="http://schemas.openxmlformats.org/drawingml/2006/main" noGrp="1"/>
          </p:cNvSpPr>
          <p:nvPr/>
        </p:nvSpPr>
        <p:spPr>
          <a:xfrm xmlns:a="http://schemas.openxmlformats.org/drawingml/2006/main" rot="-1320000">
            <a:off x="1333500" y="3067050"/>
            <a:ext cx="95250" cy="47625"/>
          </a:xfrm>
          <a:prstGeom xmlns:a="http://schemas.openxmlformats.org/drawingml/2006/main" prst="ellipse">
            <a:avLst/>
          </a:prstGeom>
          <a:solidFill xmlns:a="http://schemas.openxmlformats.org/drawingml/2006/main">
            <a:srgbClr val="E97C50"/>
          </a:solidFill>
          <a:ln xmlns:a="http://schemas.openxmlformats.org/drawingml/2006/main" w="0">
            <a:noFill/>
            <a:prstDash val="solid"/>
          </a:ln>
        </p:spPr>
      </p:sp>
      <p:sp>
        <p:nvSpPr>
          <p:cNvPr id="18" name="character-ground">
            <a:extLst xmlns:a="http://schemas.openxmlformats.org/drawingml/2006/main">
              <a:ext uri="{FF2B5EF4-FFF2-40B4-BE49-F238E27FC236}">
                <a16:creationId xmlns:a16="http://schemas.microsoft.com/office/drawing/2014/main" id="{C13C241C-C6DD-43EA-9273-C19B7549BA25}"/>
              </a:ext>
            </a:extLst>
          </p:cNvPr>
          <p:cNvSpPr>
            <a:spLocks xmlns:a="http://schemas.openxmlformats.org/drawingml/2006/main" noGrp="1"/>
          </p:cNvSpPr>
          <p:nvPr/>
        </p:nvSpPr>
        <p:spPr>
          <a:xfrm xmlns:a="http://schemas.openxmlformats.org/drawingml/2006/main">
            <a:off x="657225" y="3695700"/>
            <a:ext cx="2190750" cy="0"/>
          </a:xfrm>
          <a:prstGeom xmlns:a="http://schemas.openxmlformats.org/drawingml/2006/main" prst="line">
            <a:avLst/>
          </a:prstGeom>
          <a:noFill xmlns:a="http://schemas.openxmlformats.org/drawingml/2006/main"/>
          <a:ln xmlns:a="http://schemas.openxmlformats.org/drawingml/2006/main" w="19050">
            <a:solidFill>
              <a:srgbClr val="1E2D45"/>
            </a:solidFill>
            <a:prstDash val="solid"/>
          </a:ln>
        </p:spPr>
      </p:sp>
      <p:sp>
        <p:nvSpPr>
          <p:cNvPr id="19" name="llm-gate">
            <a:extLst xmlns:a="http://schemas.openxmlformats.org/drawingml/2006/main">
              <a:ext uri="{FF2B5EF4-FFF2-40B4-BE49-F238E27FC236}">
                <a16:creationId xmlns:a16="http://schemas.microsoft.com/office/drawing/2014/main" id="{D5926E0E-DBDE-4126-921D-DB68EAFF5853}"/>
              </a:ext>
            </a:extLst>
          </p:cNvPr>
          <p:cNvSpPr>
            <a:spLocks xmlns:a="http://schemas.openxmlformats.org/drawingml/2006/main" noGrp="1"/>
          </p:cNvSpPr>
          <p:nvPr/>
        </p:nvSpPr>
        <p:spPr>
          <a:xfrm xmlns:a="http://schemas.openxmlformats.org/drawingml/2006/main">
            <a:off x="3267075" y="1543050"/>
            <a:ext cx="1066800" cy="2038350"/>
          </a:xfrm>
          <a:prstGeom xmlns:a="http://schemas.openxmlformats.org/drawingml/2006/main" prst="roundRect">
            <a:avLst>
              <a:gd name="adj" fmla="val 16071"/>
            </a:avLst>
          </a:prstGeom>
          <a:solidFill xmlns:a="http://schemas.openxmlformats.org/drawingml/2006/main">
            <a:srgbClr val="1E2D45"/>
          </a:solidFill>
          <a:ln xmlns:a="http://schemas.openxmlformats.org/drawingml/2006/main" w="14288">
            <a:solidFill>
              <a:srgbClr val="2D6F86"/>
            </a:solidFill>
            <a:prstDash val="solid"/>
          </a:ln>
        </p:spPr>
      </p:sp>
      <p:sp>
        <p:nvSpPr>
          <p:cNvPr id="20" name="llm-label">
            <a:extLst xmlns:a="http://schemas.openxmlformats.org/drawingml/2006/main">
              <a:ext uri="{FF2B5EF4-FFF2-40B4-BE49-F238E27FC236}">
                <a16:creationId xmlns:a16="http://schemas.microsoft.com/office/drawing/2014/main" id="{A1AFE04C-8CFE-4203-BBF1-812E70AD4411}"/>
              </a:ext>
            </a:extLst>
          </p:cNvPr>
          <p:cNvSpPr>
            <a:spLocks xmlns:a="http://schemas.openxmlformats.org/drawingml/2006/main" noGrp="1"/>
          </p:cNvSpPr>
          <p:nvPr/>
        </p:nvSpPr>
        <p:spPr>
          <a:xfrm xmlns:a="http://schemas.openxmlformats.org/drawingml/2006/main">
            <a:off x="3419475" y="2143125"/>
            <a:ext cx="76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EEF2F7"/>
                </a:solidFill>
                <a:latin typeface="Arial"/>
                <a:ea typeface="Arial"/>
                <a:cs typeface="Arial"/>
              </a:defRPr>
            </a:pPr>
            <a:r>
              <a:rPr sz="1950" b="1" i="0">
                <a:solidFill>
                  <a:srgbClr val="EEF2F7"/>
                </a:solidFill>
                <a:latin typeface="Arial"/>
                <a:ea typeface="Arial"/>
                <a:cs typeface="Arial"/>
              </a:rPr>
              <a:t>LLM</a:t>
            </a:r>
          </a:p>
        </p:txBody>
      </p:sp>
      <p:sp>
        <p:nvSpPr>
          <p:cNvPr id="21" name="llm-subtitle">
            <a:extLst xmlns:a="http://schemas.openxmlformats.org/drawingml/2006/main">
              <a:ext uri="{FF2B5EF4-FFF2-40B4-BE49-F238E27FC236}">
                <a16:creationId xmlns:a16="http://schemas.microsoft.com/office/drawing/2014/main" id="{FD6E2926-E7B4-40F5-BFE4-2D54958E43C3}"/>
              </a:ext>
            </a:extLst>
          </p:cNvPr>
          <p:cNvSpPr>
            <a:spLocks xmlns:a="http://schemas.openxmlformats.org/drawingml/2006/main" noGrp="1"/>
          </p:cNvSpPr>
          <p:nvPr/>
        </p:nvSpPr>
        <p:spPr>
          <a:xfrm xmlns:a="http://schemas.openxmlformats.org/drawingml/2006/main">
            <a:off x="3362325" y="2533650"/>
            <a:ext cx="87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i="0">
                <a:solidFill>
                  <a:srgbClr val="4A9EBA"/>
                </a:solidFill>
                <a:latin typeface="Arial"/>
                <a:ea typeface="Arial"/>
                <a:cs typeface="Arial"/>
              </a:defRPr>
            </a:pPr>
            <a:r>
              <a:rPr sz="1050" b="0" i="0">
                <a:solidFill>
                  <a:srgbClr val="4A9EBA"/>
                </a:solidFill>
                <a:latin typeface="Arial"/>
                <a:ea typeface="Arial"/>
                <a:cs typeface="Arial"/>
              </a:rPr>
              <a:t>words →</a:t>
            </a:r>
          </a:p>
          <a:p xmlns:a="http://schemas.openxmlformats.org/drawingml/2006/main">
            <a:pPr algn="ctr">
              <a:defRPr sz="1050" b="0" i="0">
                <a:solidFill>
                  <a:srgbClr val="4A9EBA"/>
                </a:solidFill>
                <a:latin typeface="Arial"/>
                <a:ea typeface="Arial"/>
                <a:cs typeface="Arial"/>
              </a:defRPr>
            </a:pPr>
            <a:r>
              <a:rPr sz="1050" b="0" i="0">
                <a:solidFill>
                  <a:srgbClr val="4A9EBA"/>
                </a:solidFill>
                <a:latin typeface="Arial"/>
                <a:ea typeface="Arial"/>
                <a:cs typeface="Arial"/>
              </a:rPr>
              <a:t>activations</a:t>
            </a:r>
          </a:p>
        </p:txBody>
      </p:sp>
      <p:sp>
        <p:nvSpPr>
          <p:cNvPr id="22" name="gate-node-22-24">
            <a:extLst xmlns:a="http://schemas.openxmlformats.org/drawingml/2006/main">
              <a:ext uri="{FF2B5EF4-FFF2-40B4-BE49-F238E27FC236}">
                <a16:creationId xmlns:a16="http://schemas.microsoft.com/office/drawing/2014/main" id="{E514B2BB-91FF-446D-9268-5199A58BE1E2}"/>
              </a:ext>
            </a:extLst>
          </p:cNvPr>
          <p:cNvSpPr>
            <a:spLocks xmlns:a="http://schemas.openxmlformats.org/drawingml/2006/main" noGrp="1"/>
          </p:cNvSpPr>
          <p:nvPr/>
        </p:nvSpPr>
        <p:spPr>
          <a:xfrm xmlns:a="http://schemas.openxmlformats.org/drawingml/2006/main">
            <a:off x="3476625" y="1771650"/>
            <a:ext cx="47625" cy="47625"/>
          </a:xfrm>
          <a:prstGeom xmlns:a="http://schemas.openxmlformats.org/drawingml/2006/main" prst="ellipse">
            <a:avLst/>
          </a:prstGeom>
          <a:solidFill xmlns:a="http://schemas.openxmlformats.org/drawingml/2006/main">
            <a:srgbClr val="2D6F86"/>
          </a:solidFill>
          <a:ln xmlns:a="http://schemas.openxmlformats.org/drawingml/2006/main" w="0">
            <a:noFill/>
            <a:prstDash val="solid"/>
          </a:ln>
        </p:spPr>
      </p:sp>
      <p:sp>
        <p:nvSpPr>
          <p:cNvPr id="23" name="gate-node-55-31">
            <a:extLst xmlns:a="http://schemas.openxmlformats.org/drawingml/2006/main">
              <a:ext uri="{FF2B5EF4-FFF2-40B4-BE49-F238E27FC236}">
                <a16:creationId xmlns:a16="http://schemas.microsoft.com/office/drawing/2014/main" id="{050166A5-2CBF-40D1-B4FC-C9B6132BE273}"/>
              </a:ext>
            </a:extLst>
          </p:cNvPr>
          <p:cNvSpPr>
            <a:spLocks xmlns:a="http://schemas.openxmlformats.org/drawingml/2006/main" noGrp="1"/>
          </p:cNvSpPr>
          <p:nvPr/>
        </p:nvSpPr>
        <p:spPr>
          <a:xfrm xmlns:a="http://schemas.openxmlformats.org/drawingml/2006/main">
            <a:off x="3790950" y="1838325"/>
            <a:ext cx="47625" cy="47625"/>
          </a:xfrm>
          <a:prstGeom xmlns:a="http://schemas.openxmlformats.org/drawingml/2006/main" prst="ellipse">
            <a:avLst/>
          </a:prstGeom>
          <a:solidFill xmlns:a="http://schemas.openxmlformats.org/drawingml/2006/main">
            <a:srgbClr val="2D6F86"/>
          </a:solidFill>
          <a:ln xmlns:a="http://schemas.openxmlformats.org/drawingml/2006/main" w="0">
            <a:noFill/>
            <a:prstDash val="solid"/>
          </a:ln>
        </p:spPr>
      </p:sp>
      <p:sp>
        <p:nvSpPr>
          <p:cNvPr id="24" name="gate-node-79-63">
            <a:extLst xmlns:a="http://schemas.openxmlformats.org/drawingml/2006/main">
              <a:ext uri="{FF2B5EF4-FFF2-40B4-BE49-F238E27FC236}">
                <a16:creationId xmlns:a16="http://schemas.microsoft.com/office/drawing/2014/main" id="{E3BEB8AB-4629-464F-9B86-C80C6BA73B19}"/>
              </a:ext>
            </a:extLst>
          </p:cNvPr>
          <p:cNvSpPr>
            <a:spLocks xmlns:a="http://schemas.openxmlformats.org/drawingml/2006/main" noGrp="1"/>
          </p:cNvSpPr>
          <p:nvPr/>
        </p:nvSpPr>
        <p:spPr>
          <a:xfrm xmlns:a="http://schemas.openxmlformats.org/drawingml/2006/main">
            <a:off x="4019550" y="2143125"/>
            <a:ext cx="47625" cy="47625"/>
          </a:xfrm>
          <a:prstGeom xmlns:a="http://schemas.openxmlformats.org/drawingml/2006/main" prst="ellipse">
            <a:avLst/>
          </a:prstGeom>
          <a:solidFill xmlns:a="http://schemas.openxmlformats.org/drawingml/2006/main">
            <a:srgbClr val="2D6F86"/>
          </a:solidFill>
          <a:ln xmlns:a="http://schemas.openxmlformats.org/drawingml/2006/main" w="0">
            <a:noFill/>
            <a:prstDash val="solid"/>
          </a:ln>
        </p:spPr>
      </p:sp>
      <p:sp>
        <p:nvSpPr>
          <p:cNvPr id="25" name="gate-node-31-83">
            <a:extLst xmlns:a="http://schemas.openxmlformats.org/drawingml/2006/main">
              <a:ext uri="{FF2B5EF4-FFF2-40B4-BE49-F238E27FC236}">
                <a16:creationId xmlns:a16="http://schemas.microsoft.com/office/drawing/2014/main" id="{FCBC9FAE-3D46-4CAF-83BF-1C8C3912CD81}"/>
              </a:ext>
            </a:extLst>
          </p:cNvPr>
          <p:cNvSpPr>
            <a:spLocks xmlns:a="http://schemas.openxmlformats.org/drawingml/2006/main" noGrp="1"/>
          </p:cNvSpPr>
          <p:nvPr/>
        </p:nvSpPr>
        <p:spPr>
          <a:xfrm xmlns:a="http://schemas.openxmlformats.org/drawingml/2006/main">
            <a:off x="3562350" y="2333625"/>
            <a:ext cx="47625" cy="47625"/>
          </a:xfrm>
          <a:prstGeom xmlns:a="http://schemas.openxmlformats.org/drawingml/2006/main" prst="ellipse">
            <a:avLst/>
          </a:prstGeom>
          <a:solidFill xmlns:a="http://schemas.openxmlformats.org/drawingml/2006/main">
            <a:srgbClr val="2D6F86"/>
          </a:solidFill>
          <a:ln xmlns:a="http://schemas.openxmlformats.org/drawingml/2006/main" w="0">
            <a:noFill/>
            <a:prstDash val="solid"/>
          </a:ln>
        </p:spPr>
      </p:sp>
      <p:sp>
        <p:nvSpPr>
          <p:cNvPr id="26" name="gate-node-68-119">
            <a:extLst xmlns:a="http://schemas.openxmlformats.org/drawingml/2006/main">
              <a:ext uri="{FF2B5EF4-FFF2-40B4-BE49-F238E27FC236}">
                <a16:creationId xmlns:a16="http://schemas.microsoft.com/office/drawing/2014/main" id="{36A9225F-CBA6-4541-A1ED-DE71A9EE9F57}"/>
              </a:ext>
            </a:extLst>
          </p:cNvPr>
          <p:cNvSpPr>
            <a:spLocks xmlns:a="http://schemas.openxmlformats.org/drawingml/2006/main" noGrp="1"/>
          </p:cNvSpPr>
          <p:nvPr/>
        </p:nvSpPr>
        <p:spPr>
          <a:xfrm xmlns:a="http://schemas.openxmlformats.org/drawingml/2006/main">
            <a:off x="3914775" y="2676525"/>
            <a:ext cx="47625" cy="47625"/>
          </a:xfrm>
          <a:prstGeom xmlns:a="http://schemas.openxmlformats.org/drawingml/2006/main" prst="ellipse">
            <a:avLst/>
          </a:prstGeom>
          <a:solidFill xmlns:a="http://schemas.openxmlformats.org/drawingml/2006/main">
            <a:srgbClr val="2D6F86"/>
          </a:solidFill>
          <a:ln xmlns:a="http://schemas.openxmlformats.org/drawingml/2006/main" w="0">
            <a:noFill/>
            <a:prstDash val="solid"/>
          </a:ln>
        </p:spPr>
      </p:sp>
      <p:sp>
        <p:nvSpPr>
          <p:cNvPr id="27" name="gate-node-28-151">
            <a:extLst xmlns:a="http://schemas.openxmlformats.org/drawingml/2006/main">
              <a:ext uri="{FF2B5EF4-FFF2-40B4-BE49-F238E27FC236}">
                <a16:creationId xmlns:a16="http://schemas.microsoft.com/office/drawing/2014/main" id="{903701F3-D27E-4F90-B6C1-603EEF7EE689}"/>
              </a:ext>
            </a:extLst>
          </p:cNvPr>
          <p:cNvSpPr>
            <a:spLocks xmlns:a="http://schemas.openxmlformats.org/drawingml/2006/main" noGrp="1"/>
          </p:cNvSpPr>
          <p:nvPr/>
        </p:nvSpPr>
        <p:spPr>
          <a:xfrm xmlns:a="http://schemas.openxmlformats.org/drawingml/2006/main">
            <a:off x="3533775" y="2981325"/>
            <a:ext cx="47625" cy="47625"/>
          </a:xfrm>
          <a:prstGeom xmlns:a="http://schemas.openxmlformats.org/drawingml/2006/main" prst="ellipse">
            <a:avLst/>
          </a:prstGeom>
          <a:solidFill xmlns:a="http://schemas.openxmlformats.org/drawingml/2006/main">
            <a:srgbClr val="2D6F86"/>
          </a:solidFill>
          <a:ln xmlns:a="http://schemas.openxmlformats.org/drawingml/2006/main" w="0">
            <a:noFill/>
            <a:prstDash val="solid"/>
          </a:ln>
        </p:spPr>
      </p:sp>
      <p:sp>
        <p:nvSpPr>
          <p:cNvPr id="28" name="gate-node-82-174">
            <a:extLst xmlns:a="http://schemas.openxmlformats.org/drawingml/2006/main">
              <a:ext uri="{FF2B5EF4-FFF2-40B4-BE49-F238E27FC236}">
                <a16:creationId xmlns:a16="http://schemas.microsoft.com/office/drawing/2014/main" id="{EE0CF032-AB39-43F0-A4D1-369037F7C46E}"/>
              </a:ext>
            </a:extLst>
          </p:cNvPr>
          <p:cNvSpPr>
            <a:spLocks xmlns:a="http://schemas.openxmlformats.org/drawingml/2006/main" noGrp="1"/>
          </p:cNvSpPr>
          <p:nvPr/>
        </p:nvSpPr>
        <p:spPr>
          <a:xfrm xmlns:a="http://schemas.openxmlformats.org/drawingml/2006/main">
            <a:off x="4048125" y="3200400"/>
            <a:ext cx="47625" cy="47625"/>
          </a:xfrm>
          <a:prstGeom xmlns:a="http://schemas.openxmlformats.org/drawingml/2006/main" prst="ellipse">
            <a:avLst/>
          </a:prstGeom>
          <a:solidFill xmlns:a="http://schemas.openxmlformats.org/drawingml/2006/main">
            <a:srgbClr val="2D6F86"/>
          </a:solidFill>
          <a:ln xmlns:a="http://schemas.openxmlformats.org/drawingml/2006/main" w="0">
            <a:noFill/>
            <a:prstDash val="solid"/>
          </a:ln>
        </p:spPr>
      </p:sp>
      <p:sp>
        <p:nvSpPr>
          <p:cNvPr id="29" name="activation-space">
            <a:extLst xmlns:a="http://schemas.openxmlformats.org/drawingml/2006/main">
              <a:ext uri="{FF2B5EF4-FFF2-40B4-BE49-F238E27FC236}">
                <a16:creationId xmlns:a16="http://schemas.microsoft.com/office/drawing/2014/main" id="{D6D6A393-A5E7-49CB-977B-56B7518F85EE}"/>
              </a:ext>
            </a:extLst>
          </p:cNvPr>
          <p:cNvSpPr>
            <a:spLocks xmlns:a="http://schemas.openxmlformats.org/drawingml/2006/main" noGrp="1"/>
          </p:cNvSpPr>
          <p:nvPr/>
        </p:nvSpPr>
        <p:spPr>
          <a:xfrm xmlns:a="http://schemas.openxmlformats.org/drawingml/2006/main">
            <a:off x="4667250" y="1066800"/>
            <a:ext cx="4057650" cy="3276600"/>
          </a:xfrm>
          <a:prstGeom xmlns:a="http://schemas.openxmlformats.org/drawingml/2006/main" prst="roundRect">
            <a:avLst>
              <a:gd name="adj" fmla="val 6395"/>
            </a:avLst>
          </a:prstGeom>
          <a:solidFill xmlns:a="http://schemas.openxmlformats.org/drawingml/2006/main">
            <a:srgbClr val="1E2D45"/>
          </a:solidFill>
          <a:ln xmlns:a="http://schemas.openxmlformats.org/drawingml/2006/main" w="14288">
            <a:solidFill>
              <a:srgbClr val="4A9EBA"/>
            </a:solidFill>
            <a:prstDash val="solid"/>
          </a:ln>
        </p:spPr>
      </p:sp>
      <p:sp>
        <p:nvSpPr>
          <p:cNvPr id="30" name="space-label">
            <a:extLst xmlns:a="http://schemas.openxmlformats.org/drawingml/2006/main">
              <a:ext uri="{FF2B5EF4-FFF2-40B4-BE49-F238E27FC236}">
                <a16:creationId xmlns:a16="http://schemas.microsoft.com/office/drawing/2014/main" id="{6333878A-9CDD-4456-99F4-093630B54229}"/>
              </a:ext>
            </a:extLst>
          </p:cNvPr>
          <p:cNvSpPr>
            <a:spLocks xmlns:a="http://schemas.openxmlformats.org/drawingml/2006/main" noGrp="1"/>
          </p:cNvSpPr>
          <p:nvPr/>
        </p:nvSpPr>
        <p:spPr>
          <a:xfrm xmlns:a="http://schemas.openxmlformats.org/drawingml/2006/main">
            <a:off x="4914900" y="12001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4A9EBA"/>
                </a:solidFill>
                <a:latin typeface="Arial"/>
                <a:ea typeface="Arial"/>
                <a:cs typeface="Arial"/>
              </a:defRPr>
            </a:pPr>
            <a:r>
              <a:rPr sz="900" b="1" i="0">
                <a:solidFill>
                  <a:srgbClr val="4A9EBA"/>
                </a:solidFill>
                <a:latin typeface="Arial"/>
                <a:ea typeface="Arial"/>
                <a:cs typeface="Arial"/>
              </a:rPr>
              <a:t>HIDDEN ACTIVATION SPACE</a:t>
            </a:r>
          </a:p>
        </p:txBody>
      </p:sp>
      <p:sp>
        <p:nvSpPr>
          <p:cNvPr id="31" name="space-particle-0">
            <a:extLst xmlns:a="http://schemas.openxmlformats.org/drawingml/2006/main">
              <a:ext uri="{FF2B5EF4-FFF2-40B4-BE49-F238E27FC236}">
                <a16:creationId xmlns:a16="http://schemas.microsoft.com/office/drawing/2014/main" id="{6DE38DE5-359E-4A6B-B855-025D6B0A7A48}"/>
              </a:ext>
            </a:extLst>
          </p:cNvPr>
          <p:cNvSpPr>
            <a:spLocks xmlns:a="http://schemas.openxmlformats.org/drawingml/2006/main" noGrp="1"/>
          </p:cNvSpPr>
          <p:nvPr/>
        </p:nvSpPr>
        <p:spPr>
          <a:xfrm xmlns:a="http://schemas.openxmlformats.org/drawingml/2006/main">
            <a:off x="5162550" y="175260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2" name="space-particle-1">
            <a:extLst xmlns:a="http://schemas.openxmlformats.org/drawingml/2006/main">
              <a:ext uri="{FF2B5EF4-FFF2-40B4-BE49-F238E27FC236}">
                <a16:creationId xmlns:a16="http://schemas.microsoft.com/office/drawing/2014/main" id="{108C6E23-DD33-4E79-826C-6131CA8CE088}"/>
              </a:ext>
            </a:extLst>
          </p:cNvPr>
          <p:cNvSpPr>
            <a:spLocks xmlns:a="http://schemas.openxmlformats.org/drawingml/2006/main" noGrp="1"/>
          </p:cNvSpPr>
          <p:nvPr/>
        </p:nvSpPr>
        <p:spPr>
          <a:xfrm xmlns:a="http://schemas.openxmlformats.org/drawingml/2006/main">
            <a:off x="5953125" y="1552575"/>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3" name="space-particle-2">
            <a:extLst xmlns:a="http://schemas.openxmlformats.org/drawingml/2006/main">
              <a:ext uri="{FF2B5EF4-FFF2-40B4-BE49-F238E27FC236}">
                <a16:creationId xmlns:a16="http://schemas.microsoft.com/office/drawing/2014/main" id="{7536BE6F-ED7B-46B0-AD49-3325E8FDCD69}"/>
              </a:ext>
            </a:extLst>
          </p:cNvPr>
          <p:cNvSpPr>
            <a:spLocks xmlns:a="http://schemas.openxmlformats.org/drawingml/2006/main" noGrp="1"/>
          </p:cNvSpPr>
          <p:nvPr/>
        </p:nvSpPr>
        <p:spPr>
          <a:xfrm xmlns:a="http://schemas.openxmlformats.org/drawingml/2006/main">
            <a:off x="6715125" y="1914525"/>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4" name="space-particle-3">
            <a:extLst xmlns:a="http://schemas.openxmlformats.org/drawingml/2006/main">
              <a:ext uri="{FF2B5EF4-FFF2-40B4-BE49-F238E27FC236}">
                <a16:creationId xmlns:a16="http://schemas.microsoft.com/office/drawing/2014/main" id="{93EEED5D-454D-4193-B2AD-345EDB068F9A}"/>
              </a:ext>
            </a:extLst>
          </p:cNvPr>
          <p:cNvSpPr>
            <a:spLocks xmlns:a="http://schemas.openxmlformats.org/drawingml/2006/main" noGrp="1"/>
          </p:cNvSpPr>
          <p:nvPr/>
        </p:nvSpPr>
        <p:spPr>
          <a:xfrm xmlns:a="http://schemas.openxmlformats.org/drawingml/2006/main">
            <a:off x="7962900" y="165735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5" name="space-particle-4">
            <a:extLst xmlns:a="http://schemas.openxmlformats.org/drawingml/2006/main">
              <a:ext uri="{FF2B5EF4-FFF2-40B4-BE49-F238E27FC236}">
                <a16:creationId xmlns:a16="http://schemas.microsoft.com/office/drawing/2014/main" id="{3FBEC43E-17D8-4802-9895-95EEC5D553AA}"/>
              </a:ext>
            </a:extLst>
          </p:cNvPr>
          <p:cNvSpPr>
            <a:spLocks xmlns:a="http://schemas.openxmlformats.org/drawingml/2006/main" noGrp="1"/>
          </p:cNvSpPr>
          <p:nvPr/>
        </p:nvSpPr>
        <p:spPr>
          <a:xfrm xmlns:a="http://schemas.openxmlformats.org/drawingml/2006/main">
            <a:off x="5334000" y="3343275"/>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6" name="space-particle-5">
            <a:extLst xmlns:a="http://schemas.openxmlformats.org/drawingml/2006/main">
              <a:ext uri="{FF2B5EF4-FFF2-40B4-BE49-F238E27FC236}">
                <a16:creationId xmlns:a16="http://schemas.microsoft.com/office/drawing/2014/main" id="{05B3D868-1678-4E89-A1ED-FB653A74006E}"/>
              </a:ext>
            </a:extLst>
          </p:cNvPr>
          <p:cNvSpPr>
            <a:spLocks xmlns:a="http://schemas.openxmlformats.org/drawingml/2006/main" noGrp="1"/>
          </p:cNvSpPr>
          <p:nvPr/>
        </p:nvSpPr>
        <p:spPr>
          <a:xfrm xmlns:a="http://schemas.openxmlformats.org/drawingml/2006/main">
            <a:off x="6172200" y="390525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7" name="space-particle-6">
            <a:extLst xmlns:a="http://schemas.openxmlformats.org/drawingml/2006/main">
              <a:ext uri="{FF2B5EF4-FFF2-40B4-BE49-F238E27FC236}">
                <a16:creationId xmlns:a16="http://schemas.microsoft.com/office/drawing/2014/main" id="{2781B704-F41F-4991-AE02-A2F8EABD11B4}"/>
              </a:ext>
            </a:extLst>
          </p:cNvPr>
          <p:cNvSpPr>
            <a:spLocks xmlns:a="http://schemas.openxmlformats.org/drawingml/2006/main" noGrp="1"/>
          </p:cNvSpPr>
          <p:nvPr/>
        </p:nvSpPr>
        <p:spPr>
          <a:xfrm xmlns:a="http://schemas.openxmlformats.org/drawingml/2006/main">
            <a:off x="7096125" y="356235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8" name="space-particle-7">
            <a:extLst xmlns:a="http://schemas.openxmlformats.org/drawingml/2006/main">
              <a:ext uri="{FF2B5EF4-FFF2-40B4-BE49-F238E27FC236}">
                <a16:creationId xmlns:a16="http://schemas.microsoft.com/office/drawing/2014/main" id="{8B04CA4C-867F-43A0-AF92-B3549ECF0569}"/>
              </a:ext>
            </a:extLst>
          </p:cNvPr>
          <p:cNvSpPr>
            <a:spLocks xmlns:a="http://schemas.openxmlformats.org/drawingml/2006/main" noGrp="1"/>
          </p:cNvSpPr>
          <p:nvPr/>
        </p:nvSpPr>
        <p:spPr>
          <a:xfrm xmlns:a="http://schemas.openxmlformats.org/drawingml/2006/main">
            <a:off x="8248650" y="3857625"/>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9" name="space-particle-8">
            <a:extLst xmlns:a="http://schemas.openxmlformats.org/drawingml/2006/main">
              <a:ext uri="{FF2B5EF4-FFF2-40B4-BE49-F238E27FC236}">
                <a16:creationId xmlns:a16="http://schemas.microsoft.com/office/drawing/2014/main" id="{038F159D-BDE6-4CC5-B95B-EA785B7CBC2C}"/>
              </a:ext>
            </a:extLst>
          </p:cNvPr>
          <p:cNvSpPr>
            <a:spLocks xmlns:a="http://schemas.openxmlformats.org/drawingml/2006/main" noGrp="1"/>
          </p:cNvSpPr>
          <p:nvPr/>
        </p:nvSpPr>
        <p:spPr>
          <a:xfrm xmlns:a="http://schemas.openxmlformats.org/drawingml/2006/main">
            <a:off x="8439150" y="236220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40" name="story-flow-start">
            <a:extLst xmlns:a="http://schemas.openxmlformats.org/drawingml/2006/main">
              <a:ext uri="{FF2B5EF4-FFF2-40B4-BE49-F238E27FC236}">
                <a16:creationId xmlns:a16="http://schemas.microsoft.com/office/drawing/2014/main" id="{D85B8448-8107-4CB6-A53B-D4DB99DA3BCA}"/>
              </a:ext>
            </a:extLst>
          </p:cNvPr>
          <p:cNvSpPr>
            <a:spLocks xmlns:a="http://schemas.openxmlformats.org/drawingml/2006/main" noGrp="1"/>
          </p:cNvSpPr>
          <p:nvPr/>
        </p:nvSpPr>
        <p:spPr>
          <a:xfrm xmlns:a="http://schemas.openxmlformats.org/drawingml/2006/main">
            <a:off x="2895600" y="2105025"/>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1" name="story-flow-gate">
            <a:extLst xmlns:a="http://schemas.openxmlformats.org/drawingml/2006/main">
              <a:ext uri="{FF2B5EF4-FFF2-40B4-BE49-F238E27FC236}">
                <a16:creationId xmlns:a16="http://schemas.microsoft.com/office/drawing/2014/main" id="{1F0D767B-1D93-44A5-A428-E6B3694DF0D7}"/>
              </a:ext>
            </a:extLst>
          </p:cNvPr>
          <p:cNvSpPr>
            <a:spLocks xmlns:a="http://schemas.openxmlformats.org/drawingml/2006/main" noGrp="1"/>
          </p:cNvSpPr>
          <p:nvPr/>
        </p:nvSpPr>
        <p:spPr>
          <a:xfrm xmlns:a="http://schemas.openxmlformats.org/drawingml/2006/main">
            <a:off x="3248025" y="2105025"/>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95" name=""/>
          <p:cNvCxnSpPr>
            <a:stCxn xmlns:a="http://schemas.openxmlformats.org/drawingml/2006/main" id="40" idx="6"/>
            <a:endCxn xmlns:a="http://schemas.openxmlformats.org/drawingml/2006/main" id="41" idx="2"/>
          </p:cNvCxnSpPr>
          <p:nvPr/>
        </p:nvCxnSpPr>
        <p:spPr>
          <a:xfrm xmlns:a="http://schemas.openxmlformats.org/drawingml/2006/main">
            <a:off x="2933700" y="2124075"/>
            <a:ext cx="314325" cy="0"/>
          </a:xfrm>
          <a:prstGeom xmlns:a="http://schemas.openxmlformats.org/drawingml/2006/main" prst="straightConnector1">
            <a:avLst/>
          </a:prstGeom>
          <a:ln xmlns:a="http://schemas.openxmlformats.org/drawingml/2006/main" w="28575">
            <a:solidFill>
              <a:srgbClr val="4A9EBA"/>
            </a:solidFill>
            <a:prstDash val="solid"/>
            <a:tailEnd type="arrow" w="med" len="med"/>
          </a:ln>
        </p:spPr>
      </p:cxnSp>
      <p:sp>
        <p:nvSpPr>
          <p:cNvPr id="43" name="activation-flow-start">
            <a:extLst xmlns:a="http://schemas.openxmlformats.org/drawingml/2006/main">
              <a:ext uri="{FF2B5EF4-FFF2-40B4-BE49-F238E27FC236}">
                <a16:creationId xmlns:a16="http://schemas.microsoft.com/office/drawing/2014/main" id="{FCD4D19F-5289-47EE-ADAA-E73EF3D5A888}"/>
              </a:ext>
            </a:extLst>
          </p:cNvPr>
          <p:cNvSpPr>
            <a:spLocks xmlns:a="http://schemas.openxmlformats.org/drawingml/2006/main" noGrp="1"/>
          </p:cNvSpPr>
          <p:nvPr/>
        </p:nvSpPr>
        <p:spPr>
          <a:xfrm xmlns:a="http://schemas.openxmlformats.org/drawingml/2006/main">
            <a:off x="4314825" y="2543175"/>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4" name="hidden-activation-anchor">
            <a:extLst xmlns:a="http://schemas.openxmlformats.org/drawingml/2006/main">
              <a:ext uri="{FF2B5EF4-FFF2-40B4-BE49-F238E27FC236}">
                <a16:creationId xmlns:a16="http://schemas.microsoft.com/office/drawing/2014/main" id="{A20F8CE1-7F90-47DE-B6E2-1A88B0F8B42B}"/>
              </a:ext>
            </a:extLst>
          </p:cNvPr>
          <p:cNvSpPr>
            <a:spLocks xmlns:a="http://schemas.openxmlformats.org/drawingml/2006/main" noGrp="1"/>
          </p:cNvSpPr>
          <p:nvPr/>
        </p:nvSpPr>
        <p:spPr>
          <a:xfrm xmlns:a="http://schemas.openxmlformats.org/drawingml/2006/main">
            <a:off x="6686550" y="2724150"/>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98" name=""/>
          <p:cNvCxnSpPr>
            <a:stCxn xmlns:a="http://schemas.openxmlformats.org/drawingml/2006/main" id="43" idx="6"/>
            <a:endCxn xmlns:a="http://schemas.openxmlformats.org/drawingml/2006/main" id="44" idx="2"/>
          </p:cNvCxnSpPr>
          <p:nvPr/>
        </p:nvCxnSpPr>
        <p:spPr>
          <a:xfrm xmlns:a="http://schemas.openxmlformats.org/drawingml/2006/main">
            <a:off x="4352925" y="2562225"/>
            <a:ext cx="2333625" cy="180975"/>
          </a:xfrm>
          <a:prstGeom xmlns:a="http://schemas.openxmlformats.org/drawingml/2006/main" prst="straightConnector1">
            <a:avLst/>
          </a:prstGeom>
          <a:ln xmlns:a="http://schemas.openxmlformats.org/drawingml/2006/main" w="28575">
            <a:solidFill>
              <a:srgbClr val="4A9EBA"/>
            </a:solidFill>
            <a:prstDash val="dash"/>
            <a:tailEnd type="arrow" w="med" len="med"/>
          </a:ln>
        </p:spPr>
      </p:cxnSp>
      <p:sp>
        <p:nvSpPr>
          <p:cNvPr id="46" name="ghost-current-up">
            <a:extLst xmlns:a="http://schemas.openxmlformats.org/drawingml/2006/main">
              <a:ext uri="{FF2B5EF4-FFF2-40B4-BE49-F238E27FC236}">
                <a16:creationId xmlns:a16="http://schemas.microsoft.com/office/drawing/2014/main" id="{F878AA2F-37F3-4CA6-A740-FB1871ACC36B}"/>
              </a:ext>
            </a:extLst>
          </p:cNvPr>
          <p:cNvSpPr>
            <a:spLocks xmlns:a="http://schemas.openxmlformats.org/drawingml/2006/main" noGrp="1"/>
          </p:cNvSpPr>
          <p:nvPr/>
        </p:nvSpPr>
        <p:spPr>
          <a:xfrm xmlns:a="http://schemas.openxmlformats.org/drawingml/2006/main">
            <a:off x="6048375" y="2276475"/>
            <a:ext cx="1876425" cy="-561975"/>
          </a:xfrm>
          <a:prstGeom xmlns:a="http://schemas.openxmlformats.org/drawingml/2006/main" prst="line">
            <a:avLst/>
          </a:prstGeom>
          <a:noFill xmlns:a="http://schemas.openxmlformats.org/drawingml/2006/main"/>
          <a:ln xmlns:a="http://schemas.openxmlformats.org/drawingml/2006/main" w="47625">
            <a:solidFill>
              <a:srgbClr val="2A3850"/>
            </a:solidFill>
            <a:prstDash val="solid"/>
          </a:ln>
        </p:spPr>
      </p:sp>
      <p:sp>
        <p:nvSpPr>
          <p:cNvPr id="47" name="ghost-current-mid">
            <a:extLst xmlns:a="http://schemas.openxmlformats.org/drawingml/2006/main">
              <a:ext uri="{FF2B5EF4-FFF2-40B4-BE49-F238E27FC236}">
                <a16:creationId xmlns:a16="http://schemas.microsoft.com/office/drawing/2014/main" id="{814E1268-7141-4742-9C2F-A11C59CAAEBB}"/>
              </a:ext>
            </a:extLst>
          </p:cNvPr>
          <p:cNvSpPr>
            <a:spLocks xmlns:a="http://schemas.openxmlformats.org/drawingml/2006/main" noGrp="1"/>
          </p:cNvSpPr>
          <p:nvPr/>
        </p:nvSpPr>
        <p:spPr>
          <a:xfrm xmlns:a="http://schemas.openxmlformats.org/drawingml/2006/main">
            <a:off x="6048375" y="2743200"/>
            <a:ext cx="2133600" cy="0"/>
          </a:xfrm>
          <a:prstGeom xmlns:a="http://schemas.openxmlformats.org/drawingml/2006/main" prst="line">
            <a:avLst/>
          </a:prstGeom>
          <a:noFill xmlns:a="http://schemas.openxmlformats.org/drawingml/2006/main"/>
          <a:ln xmlns:a="http://schemas.openxmlformats.org/drawingml/2006/main" w="47625">
            <a:solidFill>
              <a:srgbClr val="2A3850"/>
            </a:solidFill>
            <a:prstDash val="solid"/>
          </a:ln>
        </p:spPr>
      </p:sp>
      <p:sp>
        <p:nvSpPr>
          <p:cNvPr id="48" name="ghost-current-down">
            <a:extLst xmlns:a="http://schemas.openxmlformats.org/drawingml/2006/main">
              <a:ext uri="{FF2B5EF4-FFF2-40B4-BE49-F238E27FC236}">
                <a16:creationId xmlns:a16="http://schemas.microsoft.com/office/drawing/2014/main" id="{9D862999-6E94-49E9-B3A3-9F640CCA24A1}"/>
              </a:ext>
            </a:extLst>
          </p:cNvPr>
          <p:cNvSpPr>
            <a:spLocks xmlns:a="http://schemas.openxmlformats.org/drawingml/2006/main" noGrp="1"/>
          </p:cNvSpPr>
          <p:nvPr/>
        </p:nvSpPr>
        <p:spPr>
          <a:xfrm xmlns:a="http://schemas.openxmlformats.org/drawingml/2006/main">
            <a:off x="6048375" y="3171825"/>
            <a:ext cx="1714500" cy="581025"/>
          </a:xfrm>
          <a:prstGeom xmlns:a="http://schemas.openxmlformats.org/drawingml/2006/main" prst="line">
            <a:avLst/>
          </a:prstGeom>
          <a:noFill xmlns:a="http://schemas.openxmlformats.org/drawingml/2006/main"/>
          <a:ln xmlns:a="http://schemas.openxmlformats.org/drawingml/2006/main" w="47625">
            <a:solidFill>
              <a:srgbClr val="2A3850"/>
            </a:solidFill>
            <a:prstDash val="solid"/>
          </a:ln>
        </p:spPr>
      </p:sp>
      <p:sp>
        <p:nvSpPr>
          <p:cNvPr id="49" name="activation-halo-outer">
            <a:extLst xmlns:a="http://schemas.openxmlformats.org/drawingml/2006/main">
              <a:ext uri="{FF2B5EF4-FFF2-40B4-BE49-F238E27FC236}">
                <a16:creationId xmlns:a16="http://schemas.microsoft.com/office/drawing/2014/main" id="{18FAD54D-0289-44DF-8519-63AD9C0434A3}"/>
              </a:ext>
            </a:extLst>
          </p:cNvPr>
          <p:cNvSpPr>
            <a:spLocks xmlns:a="http://schemas.openxmlformats.org/drawingml/2006/main" noGrp="1"/>
          </p:cNvSpPr>
          <p:nvPr/>
        </p:nvSpPr>
        <p:spPr>
          <a:xfrm xmlns:a="http://schemas.openxmlformats.org/drawingml/2006/main">
            <a:off x="6457950" y="2495550"/>
            <a:ext cx="495300" cy="495300"/>
          </a:xfrm>
          <a:prstGeom xmlns:a="http://schemas.openxmlformats.org/drawingml/2006/main" prst="ellipse">
            <a:avLst/>
          </a:prstGeom>
          <a:solidFill xmlns:a="http://schemas.openxmlformats.org/drawingml/2006/main">
            <a:srgbClr val="2D6F86"/>
          </a:solidFill>
          <a:ln xmlns:a="http://schemas.openxmlformats.org/drawingml/2006/main" w="0">
            <a:noFill/>
            <a:prstDash val="solid"/>
          </a:ln>
        </p:spPr>
      </p:sp>
      <p:sp>
        <p:nvSpPr>
          <p:cNvPr id="50" name="activation-halo-inner">
            <a:extLst xmlns:a="http://schemas.openxmlformats.org/drawingml/2006/main">
              <a:ext uri="{FF2B5EF4-FFF2-40B4-BE49-F238E27FC236}">
                <a16:creationId xmlns:a16="http://schemas.microsoft.com/office/drawing/2014/main" id="{5D153F97-87D5-4514-B593-5462E427D3DD}"/>
              </a:ext>
            </a:extLst>
          </p:cNvPr>
          <p:cNvSpPr>
            <a:spLocks xmlns:a="http://schemas.openxmlformats.org/drawingml/2006/main" noGrp="1"/>
          </p:cNvSpPr>
          <p:nvPr/>
        </p:nvSpPr>
        <p:spPr>
          <a:xfrm xmlns:a="http://schemas.openxmlformats.org/drawingml/2006/main">
            <a:off x="6553200" y="2590800"/>
            <a:ext cx="304800" cy="304800"/>
          </a:xfrm>
          <a:prstGeom xmlns:a="http://schemas.openxmlformats.org/drawingml/2006/main" prst="ellipse">
            <a:avLst/>
          </a:prstGeom>
          <a:solidFill xmlns:a="http://schemas.openxmlformats.org/drawingml/2006/main">
            <a:srgbClr val="4A9EBA"/>
          </a:solidFill>
          <a:ln xmlns:a="http://schemas.openxmlformats.org/drawingml/2006/main" w="28575">
            <a:solidFill>
              <a:srgbClr val="FFFFFF"/>
            </a:solidFill>
            <a:prstDash val="solid"/>
          </a:ln>
        </p:spPr>
      </p:sp>
      <p:sp>
        <p:nvSpPr>
          <p:cNvPr id="51" name="activation-core">
            <a:extLst xmlns:a="http://schemas.openxmlformats.org/drawingml/2006/main">
              <a:ext uri="{FF2B5EF4-FFF2-40B4-BE49-F238E27FC236}">
                <a16:creationId xmlns:a16="http://schemas.microsoft.com/office/drawing/2014/main" id="{A6FEEA52-A551-44FB-888B-5567B067895B}"/>
              </a:ext>
            </a:extLst>
          </p:cNvPr>
          <p:cNvSpPr>
            <a:spLocks xmlns:a="http://schemas.openxmlformats.org/drawingml/2006/main" noGrp="1"/>
          </p:cNvSpPr>
          <p:nvPr/>
        </p:nvSpPr>
        <p:spPr>
          <a:xfrm xmlns:a="http://schemas.openxmlformats.org/drawingml/2006/main">
            <a:off x="6638925" y="2676525"/>
            <a:ext cx="133350" cy="1333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52" name="activation-label">
            <a:extLst xmlns:a="http://schemas.openxmlformats.org/drawingml/2006/main">
              <a:ext uri="{FF2B5EF4-FFF2-40B4-BE49-F238E27FC236}">
                <a16:creationId xmlns:a16="http://schemas.microsoft.com/office/drawing/2014/main" id="{58F26943-6B02-45C2-8410-C64AE8792115}"/>
              </a:ext>
            </a:extLst>
          </p:cNvPr>
          <p:cNvSpPr>
            <a:spLocks xmlns:a="http://schemas.openxmlformats.org/drawingml/2006/main" noGrp="1"/>
          </p:cNvSpPr>
          <p:nvPr/>
        </p:nvSpPr>
        <p:spPr>
          <a:xfrm xmlns:a="http://schemas.openxmlformats.org/drawingml/2006/main">
            <a:off x="7000875" y="2619375"/>
            <a:ext cx="1428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75" b="1" i="0">
                <a:solidFill>
                  <a:srgbClr val="EEF2F7"/>
                </a:solidFill>
                <a:latin typeface="Arial"/>
                <a:ea typeface="Arial"/>
                <a:cs typeface="Arial"/>
              </a:defRPr>
            </a:pPr>
            <a:r>
              <a:rPr sz="1275" b="1" i="0">
                <a:solidFill>
                  <a:srgbClr val="EEF2F7"/>
                </a:solidFill>
                <a:latin typeface="Arial"/>
                <a:ea typeface="Arial"/>
                <a:cs typeface="Arial"/>
              </a:rPr>
              <a:t>hidden activation</a:t>
            </a:r>
          </a:p>
        </p:txBody>
      </p:sp>
      <p:sp>
        <p:nvSpPr>
          <p:cNvPr id="53" name="activation-explainer">
            <a:extLst xmlns:a="http://schemas.openxmlformats.org/drawingml/2006/main">
              <a:ext uri="{FF2B5EF4-FFF2-40B4-BE49-F238E27FC236}">
                <a16:creationId xmlns:a16="http://schemas.microsoft.com/office/drawing/2014/main" id="{F3AD6D59-AF17-4EC6-B059-7BC0B938EF10}"/>
              </a:ext>
            </a:extLst>
          </p:cNvPr>
          <p:cNvSpPr>
            <a:spLocks xmlns:a="http://schemas.openxmlformats.org/drawingml/2006/main" noGrp="1"/>
          </p:cNvSpPr>
          <p:nvPr/>
        </p:nvSpPr>
        <p:spPr>
          <a:xfrm xmlns:a="http://schemas.openxmlformats.org/drawingml/2006/main">
            <a:off x="5467350" y="3333750"/>
            <a:ext cx="25717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275" b="0" i="0">
                <a:solidFill>
                  <a:srgbClr val="8FA5BB"/>
                </a:solidFill>
                <a:latin typeface="Arial"/>
                <a:ea typeface="Arial"/>
                <a:cs typeface="Arial"/>
              </a:defRPr>
            </a:pPr>
            <a:r>
              <a:rPr sz="1275" b="0" i="0">
                <a:solidFill>
                  <a:srgbClr val="8FA5BB"/>
                </a:solidFill>
                <a:latin typeface="Arial"/>
                <a:ea typeface="Arial"/>
                <a:cs typeface="Arial"/>
              </a:rPr>
              <a:t>Text becomes a location in the model’s internal space.</a:t>
            </a:r>
          </a:p>
        </p:txBody>
      </p:sp>
      <p:sp>
        <p:nvSpPr>
          <p:cNvPr id="54" name="anthropic-citation">
            <a:extLst xmlns:a="http://schemas.openxmlformats.org/drawingml/2006/main">
              <a:ext uri="{FF2B5EF4-FFF2-40B4-BE49-F238E27FC236}">
                <a16:creationId xmlns:a16="http://schemas.microsoft.com/office/drawing/2014/main" id="{161EC336-AA46-4D96-A84D-51E1112C6A78}"/>
              </a:ext>
            </a:extLst>
          </p:cNvPr>
          <p:cNvSpPr>
            <a:spLocks xmlns:a="http://schemas.openxmlformats.org/drawingml/2006/main" noGrp="1"/>
          </p:cNvSpPr>
          <p:nvPr/>
        </p:nvSpPr>
        <p:spPr>
          <a:xfrm xmlns:a="http://schemas.openxmlformats.org/drawingml/2006/main">
            <a:off x="5715000" y="481965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8FA5BB"/>
                </a:solidFill>
                <a:latin typeface="Arial"/>
                <a:ea typeface="Arial"/>
                <a:cs typeface="Arial"/>
              </a:defRPr>
            </a:pPr>
            <a:r>
              <a:rPr sz="825" b="0" i="0">
                <a:solidFill>
                  <a:srgbClr val="8FA5BB"/>
                </a:solidFill>
                <a:latin typeface="Arial"/>
                <a:ea typeface="Arial"/>
                <a:cs typeface="Arial"/>
              </a:rPr>
              <a:t>Concept adapted from Sofroniew, Lindsey et al. (2026)</a:t>
            </a:r>
          </a:p>
        </p:txBody>
      </p:sp>
    </p:spTree>
    <p:extLst>
      <p:ext uri="{BB962C8B-B14F-4D97-AF65-F5344CB8AC3E}">
        <p14:creationId xmlns:p14="http://schemas.microsoft.com/office/powerpoint/2010/main" val="5933194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5977DDB0-A702-411B-99C2-CCB483F6EE0D}"/>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p:spPr>
      </p:sp>
      <p:sp>
        <p:nvSpPr>
          <p:cNvPr id="3" name="Text 1">
            <a:extLst xmlns:a="http://schemas.openxmlformats.org/drawingml/2006/main">
              <a:ext uri="{FF2B5EF4-FFF2-40B4-BE49-F238E27FC236}">
                <a16:creationId xmlns:a16="http://schemas.microsoft.com/office/drawing/2014/main" id="{A9126BA9-6719-4617-8231-3DB5AF365C7D}"/>
              </a:ext>
            </a:extLst>
          </p:cNvPr>
          <p:cNvSpPr>
            <a:spLocks xmlns:a="http://schemas.openxmlformats.org/drawingml/2006/main" noGrp="1"/>
          </p:cNvSpPr>
          <p:nvPr/>
        </p:nvSpPr>
        <p:spPr>
          <a:xfrm xmlns:a="http://schemas.openxmlformats.org/drawingml/2006/main">
            <a:off x="411480" y="256032"/>
            <a:ext cx="8321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300" b="1">
                <a:solidFill>
                  <a:srgbClr val="EEF2F7"/>
                </a:solidFill>
                <a:latin typeface="Cambria"/>
                <a:ea typeface="Cambria"/>
                <a:cs typeface="Cambria"/>
              </a:rPr>
              <a:t>Emotion concepts become directions</a:t>
            </a:r>
          </a:p>
        </p:txBody>
      </p:sp>
      <p:sp>
        <p:nvSpPr>
          <p:cNvPr id="4" name="story-cue">
            <a:extLst xmlns:a="http://schemas.openxmlformats.org/drawingml/2006/main">
              <a:ext uri="{FF2B5EF4-FFF2-40B4-BE49-F238E27FC236}">
                <a16:creationId xmlns:a16="http://schemas.microsoft.com/office/drawing/2014/main" id="{E2F501FC-5357-4DEC-8CC0-1CCDC9D5D02B}"/>
              </a:ext>
            </a:extLst>
          </p:cNvPr>
          <p:cNvSpPr>
            <a:spLocks xmlns:a="http://schemas.openxmlformats.org/drawingml/2006/main" noGrp="1"/>
          </p:cNvSpPr>
          <p:nvPr/>
        </p:nvSpPr>
        <p:spPr>
          <a:xfrm xmlns:a="http://schemas.openxmlformats.org/drawingml/2006/main">
            <a:off x="457200" y="1162050"/>
            <a:ext cx="2552700" cy="742950"/>
          </a:xfrm>
          <a:prstGeom xmlns:a="http://schemas.openxmlformats.org/drawingml/2006/main" prst="roundRect">
            <a:avLst>
              <a:gd name="adj" fmla="val 17949"/>
            </a:avLst>
          </a:prstGeom>
          <a:solidFill xmlns:a="http://schemas.openxmlformats.org/drawingml/2006/main">
            <a:srgbClr val="172235"/>
          </a:solidFill>
          <a:ln xmlns:a="http://schemas.openxmlformats.org/drawingml/2006/main" w="14288">
            <a:solidFill>
              <a:srgbClr val="2A3850"/>
            </a:solidFill>
            <a:prstDash val="solid"/>
          </a:ln>
        </p:spPr>
      </p:sp>
      <p:sp>
        <p:nvSpPr>
          <p:cNvPr id="5" name="story-label">
            <a:extLst xmlns:a="http://schemas.openxmlformats.org/drawingml/2006/main">
              <a:ext uri="{FF2B5EF4-FFF2-40B4-BE49-F238E27FC236}">
                <a16:creationId xmlns:a16="http://schemas.microsoft.com/office/drawing/2014/main" id="{3880603F-CFDC-4AA9-8124-82E7A14F3ED8}"/>
              </a:ext>
            </a:extLst>
          </p:cNvPr>
          <p:cNvSpPr>
            <a:spLocks xmlns:a="http://schemas.openxmlformats.org/drawingml/2006/main" noGrp="1"/>
          </p:cNvSpPr>
          <p:nvPr/>
        </p:nvSpPr>
        <p:spPr>
          <a:xfrm xmlns:a="http://schemas.openxmlformats.org/drawingml/2006/main">
            <a:off x="600075" y="1219200"/>
            <a:ext cx="685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8FA5BB"/>
                </a:solidFill>
                <a:latin typeface="Arial"/>
                <a:ea typeface="Arial"/>
                <a:cs typeface="Arial"/>
              </a:defRPr>
            </a:pPr>
            <a:r>
              <a:rPr sz="900" b="1" i="0">
                <a:solidFill>
                  <a:srgbClr val="8FA5BB"/>
                </a:solidFill>
                <a:latin typeface="Arial"/>
                <a:ea typeface="Arial"/>
                <a:cs typeface="Arial"/>
              </a:rPr>
              <a:t>STORY</a:t>
            </a:r>
          </a:p>
        </p:txBody>
      </p:sp>
      <p:sp>
        <p:nvSpPr>
          <p:cNvPr id="6" name="story-copy">
            <a:extLst xmlns:a="http://schemas.openxmlformats.org/drawingml/2006/main">
              <a:ext uri="{FF2B5EF4-FFF2-40B4-BE49-F238E27FC236}">
                <a16:creationId xmlns:a16="http://schemas.microsoft.com/office/drawing/2014/main" id="{C0E7204C-883C-44DA-A4E6-2611F1DEF05C}"/>
              </a:ext>
            </a:extLst>
          </p:cNvPr>
          <p:cNvSpPr>
            <a:spLocks xmlns:a="http://schemas.openxmlformats.org/drawingml/2006/main" noGrp="1"/>
          </p:cNvSpPr>
          <p:nvPr/>
        </p:nvSpPr>
        <p:spPr>
          <a:xfrm xmlns:a="http://schemas.openxmlformats.org/drawingml/2006/main">
            <a:off x="600075" y="1409700"/>
            <a:ext cx="22669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350" b="0" i="0">
                <a:solidFill>
                  <a:srgbClr val="8FA5BB"/>
                </a:solidFill>
                <a:latin typeface="Arial"/>
                <a:ea typeface="Arial"/>
                <a:cs typeface="Arial"/>
              </a:defRPr>
            </a:pPr>
            <a:r>
              <a:rPr sz="1350" b="0" i="0">
                <a:solidFill>
                  <a:srgbClr val="8FA5BB"/>
                </a:solidFill>
                <a:latin typeface="Arial"/>
                <a:ea typeface="Arial"/>
                <a:cs typeface="Arial"/>
              </a:rPr>
              <a:t>“The footsteps behind them grew closer.”</a:t>
            </a:r>
          </a:p>
        </p:txBody>
      </p:sp>
      <p:sp>
        <p:nvSpPr>
          <p:cNvPr id="7" name="character-head">
            <a:extLst xmlns:a="http://schemas.openxmlformats.org/drawingml/2006/main">
              <a:ext uri="{FF2B5EF4-FFF2-40B4-BE49-F238E27FC236}">
                <a16:creationId xmlns:a16="http://schemas.microsoft.com/office/drawing/2014/main" id="{3EAC09A5-F8CE-4A62-AF87-A99D4F10F3B6}"/>
              </a:ext>
            </a:extLst>
          </p:cNvPr>
          <p:cNvSpPr>
            <a:spLocks xmlns:a="http://schemas.openxmlformats.org/drawingml/2006/main" noGrp="1"/>
          </p:cNvSpPr>
          <p:nvPr/>
        </p:nvSpPr>
        <p:spPr>
          <a:xfrm xmlns:a="http://schemas.openxmlformats.org/drawingml/2006/main">
            <a:off x="1590675" y="2381250"/>
            <a:ext cx="238125" cy="238125"/>
          </a:xfrm>
          <a:prstGeom xmlns:a="http://schemas.openxmlformats.org/drawingml/2006/main" prst="ellipse">
            <a:avLst/>
          </a:prstGeom>
          <a:solidFill xmlns:a="http://schemas.openxmlformats.org/drawingml/2006/main">
            <a:srgbClr val="8FA5BB"/>
          </a:solidFill>
          <a:ln xmlns:a="http://schemas.openxmlformats.org/drawingml/2006/main" w="0">
            <a:noFill/>
            <a:prstDash val="solid"/>
          </a:ln>
        </p:spPr>
      </p:sp>
      <p:sp>
        <p:nvSpPr>
          <p:cNvPr id="8" name="character-body">
            <a:extLst xmlns:a="http://schemas.openxmlformats.org/drawingml/2006/main">
              <a:ext uri="{FF2B5EF4-FFF2-40B4-BE49-F238E27FC236}">
                <a16:creationId xmlns:a16="http://schemas.microsoft.com/office/drawing/2014/main" id="{1B3D8D16-E415-4E63-95E2-A6F5D12EDB03}"/>
              </a:ext>
            </a:extLst>
          </p:cNvPr>
          <p:cNvSpPr>
            <a:spLocks xmlns:a="http://schemas.openxmlformats.org/drawingml/2006/main" noGrp="1"/>
          </p:cNvSpPr>
          <p:nvPr/>
        </p:nvSpPr>
        <p:spPr>
          <a:xfrm xmlns:a="http://schemas.openxmlformats.org/drawingml/2006/main">
            <a:off x="1562100" y="2609850"/>
            <a:ext cx="152400" cy="609600"/>
          </a:xfrm>
          <a:prstGeom xmlns:a="http://schemas.openxmlformats.org/drawingml/2006/main" prst="line">
            <a:avLst/>
          </a:prstGeom>
          <a:noFill xmlns:a="http://schemas.openxmlformats.org/drawingml/2006/main"/>
          <a:ln xmlns:a="http://schemas.openxmlformats.org/drawingml/2006/main" w="76200">
            <a:solidFill>
              <a:srgbClr val="8FA5BB"/>
            </a:solidFill>
            <a:prstDash val="solid"/>
          </a:ln>
        </p:spPr>
      </p:sp>
      <p:sp>
        <p:nvSpPr>
          <p:cNvPr id="9" name="character-arm-back">
            <a:extLst xmlns:a="http://schemas.openxmlformats.org/drawingml/2006/main">
              <a:ext uri="{FF2B5EF4-FFF2-40B4-BE49-F238E27FC236}">
                <a16:creationId xmlns:a16="http://schemas.microsoft.com/office/drawing/2014/main" id="{0F3DA122-7131-40A2-8F7C-E29074537EC2}"/>
              </a:ext>
            </a:extLst>
          </p:cNvPr>
          <p:cNvSpPr>
            <a:spLocks xmlns:a="http://schemas.openxmlformats.org/drawingml/2006/main" noGrp="1"/>
          </p:cNvSpPr>
          <p:nvPr/>
        </p:nvSpPr>
        <p:spPr>
          <a:xfrm xmlns:a="http://schemas.openxmlformats.org/drawingml/2006/main">
            <a:off x="1400175" y="2781300"/>
            <a:ext cx="228600" cy="190500"/>
          </a:xfrm>
          <a:prstGeom xmlns:a="http://schemas.openxmlformats.org/drawingml/2006/main" prst="line">
            <a:avLst/>
          </a:prstGeom>
          <a:noFill xmlns:a="http://schemas.openxmlformats.org/drawingml/2006/main"/>
          <a:ln xmlns:a="http://schemas.openxmlformats.org/drawingml/2006/main" w="57150">
            <a:solidFill>
              <a:srgbClr val="8FA5BB"/>
            </a:solidFill>
            <a:prstDash val="solid"/>
          </a:ln>
        </p:spPr>
      </p:sp>
      <p:sp>
        <p:nvSpPr>
          <p:cNvPr id="10" name="character-arm-front">
            <a:extLst xmlns:a="http://schemas.openxmlformats.org/drawingml/2006/main">
              <a:ext uri="{FF2B5EF4-FFF2-40B4-BE49-F238E27FC236}">
                <a16:creationId xmlns:a16="http://schemas.microsoft.com/office/drawing/2014/main" id="{1D33D980-674D-458C-AA7B-98EF4B1E340D}"/>
              </a:ext>
            </a:extLst>
          </p:cNvPr>
          <p:cNvSpPr>
            <a:spLocks xmlns:a="http://schemas.openxmlformats.org/drawingml/2006/main" noGrp="1"/>
          </p:cNvSpPr>
          <p:nvPr/>
        </p:nvSpPr>
        <p:spPr>
          <a:xfrm xmlns:a="http://schemas.openxmlformats.org/drawingml/2006/main">
            <a:off x="1647825" y="2809875"/>
            <a:ext cx="295275" cy="171450"/>
          </a:xfrm>
          <a:prstGeom xmlns:a="http://schemas.openxmlformats.org/drawingml/2006/main" prst="line">
            <a:avLst/>
          </a:prstGeom>
          <a:noFill xmlns:a="http://schemas.openxmlformats.org/drawingml/2006/main"/>
          <a:ln xmlns:a="http://schemas.openxmlformats.org/drawingml/2006/main" w="57150">
            <a:solidFill>
              <a:srgbClr val="8FA5BB"/>
            </a:solidFill>
            <a:prstDash val="solid"/>
          </a:ln>
        </p:spPr>
      </p:sp>
      <p:sp>
        <p:nvSpPr>
          <p:cNvPr id="11" name="character-leg-back">
            <a:extLst xmlns:a="http://schemas.openxmlformats.org/drawingml/2006/main">
              <a:ext uri="{FF2B5EF4-FFF2-40B4-BE49-F238E27FC236}">
                <a16:creationId xmlns:a16="http://schemas.microsoft.com/office/drawing/2014/main" id="{B276192B-5A12-4CC9-B772-CEDEBEE2970E}"/>
              </a:ext>
            </a:extLst>
          </p:cNvPr>
          <p:cNvSpPr>
            <a:spLocks xmlns:a="http://schemas.openxmlformats.org/drawingml/2006/main" noGrp="1"/>
          </p:cNvSpPr>
          <p:nvPr/>
        </p:nvSpPr>
        <p:spPr>
          <a:xfrm xmlns:a="http://schemas.openxmlformats.org/drawingml/2006/main">
            <a:off x="1400175" y="3171825"/>
            <a:ext cx="238125" cy="457200"/>
          </a:xfrm>
          <a:prstGeom xmlns:a="http://schemas.openxmlformats.org/drawingml/2006/main" prst="line">
            <a:avLst/>
          </a:prstGeom>
          <a:noFill xmlns:a="http://schemas.openxmlformats.org/drawingml/2006/main"/>
          <a:ln xmlns:a="http://schemas.openxmlformats.org/drawingml/2006/main" w="66675">
            <a:solidFill>
              <a:srgbClr val="8FA5BB"/>
            </a:solidFill>
            <a:prstDash val="solid"/>
          </a:ln>
        </p:spPr>
      </p:sp>
      <p:sp>
        <p:nvSpPr>
          <p:cNvPr id="12" name="character-leg-front">
            <a:extLst xmlns:a="http://schemas.openxmlformats.org/drawingml/2006/main">
              <a:ext uri="{FF2B5EF4-FFF2-40B4-BE49-F238E27FC236}">
                <a16:creationId xmlns:a16="http://schemas.microsoft.com/office/drawing/2014/main" id="{80043DB8-3D75-43BD-8E66-FEF678F6E39D}"/>
              </a:ext>
            </a:extLst>
          </p:cNvPr>
          <p:cNvSpPr>
            <a:spLocks xmlns:a="http://schemas.openxmlformats.org/drawingml/2006/main" noGrp="1"/>
          </p:cNvSpPr>
          <p:nvPr/>
        </p:nvSpPr>
        <p:spPr>
          <a:xfrm xmlns:a="http://schemas.openxmlformats.org/drawingml/2006/main">
            <a:off x="1647825" y="3171825"/>
            <a:ext cx="333375" cy="409575"/>
          </a:xfrm>
          <a:prstGeom xmlns:a="http://schemas.openxmlformats.org/drawingml/2006/main" prst="line">
            <a:avLst/>
          </a:prstGeom>
          <a:noFill xmlns:a="http://schemas.openxmlformats.org/drawingml/2006/main"/>
          <a:ln xmlns:a="http://schemas.openxmlformats.org/drawingml/2006/main" w="66675">
            <a:solidFill>
              <a:srgbClr val="8FA5BB"/>
            </a:solidFill>
            <a:prstDash val="solid"/>
          </a:ln>
        </p:spPr>
      </p:sp>
      <p:sp>
        <p:nvSpPr>
          <p:cNvPr id="13" name="recoil-accent-1">
            <a:extLst xmlns:a="http://schemas.openxmlformats.org/drawingml/2006/main">
              <a:ext uri="{FF2B5EF4-FFF2-40B4-BE49-F238E27FC236}">
                <a16:creationId xmlns:a16="http://schemas.microsoft.com/office/drawing/2014/main" id="{118D6E6A-F8CB-4A92-9532-A75D0CEB27C3}"/>
              </a:ext>
            </a:extLst>
          </p:cNvPr>
          <p:cNvSpPr>
            <a:spLocks xmlns:a="http://schemas.openxmlformats.org/drawingml/2006/main" noGrp="1"/>
          </p:cNvSpPr>
          <p:nvPr/>
        </p:nvSpPr>
        <p:spPr>
          <a:xfrm xmlns:a="http://schemas.openxmlformats.org/drawingml/2006/main">
            <a:off x="1866900" y="2447925"/>
            <a:ext cx="171450" cy="-57150"/>
          </a:xfrm>
          <a:prstGeom xmlns:a="http://schemas.openxmlformats.org/drawingml/2006/main" prst="line">
            <a:avLst/>
          </a:prstGeom>
          <a:noFill xmlns:a="http://schemas.openxmlformats.org/drawingml/2006/main"/>
          <a:ln xmlns:a="http://schemas.openxmlformats.org/drawingml/2006/main" w="28575">
            <a:solidFill>
              <a:srgbClr val="40566F"/>
            </a:solidFill>
            <a:prstDash val="solid"/>
          </a:ln>
        </p:spPr>
      </p:sp>
      <p:sp>
        <p:nvSpPr>
          <p:cNvPr id="14" name="recoil-accent-2">
            <a:extLst xmlns:a="http://schemas.openxmlformats.org/drawingml/2006/main">
              <a:ext uri="{FF2B5EF4-FFF2-40B4-BE49-F238E27FC236}">
                <a16:creationId xmlns:a16="http://schemas.microsoft.com/office/drawing/2014/main" id="{3D2879D4-4790-48BC-93EA-DF1407BE33F6}"/>
              </a:ext>
            </a:extLst>
          </p:cNvPr>
          <p:cNvSpPr>
            <a:spLocks xmlns:a="http://schemas.openxmlformats.org/drawingml/2006/main" noGrp="1"/>
          </p:cNvSpPr>
          <p:nvPr/>
        </p:nvSpPr>
        <p:spPr>
          <a:xfrm xmlns:a="http://schemas.openxmlformats.org/drawingml/2006/main">
            <a:off x="1905000" y="2552700"/>
            <a:ext cx="161925" cy="9525"/>
          </a:xfrm>
          <a:prstGeom xmlns:a="http://schemas.openxmlformats.org/drawingml/2006/main" prst="line">
            <a:avLst/>
          </a:prstGeom>
          <a:noFill xmlns:a="http://schemas.openxmlformats.org/drawingml/2006/main"/>
          <a:ln xmlns:a="http://schemas.openxmlformats.org/drawingml/2006/main" w="28575">
            <a:solidFill>
              <a:srgbClr val="40566F"/>
            </a:solidFill>
            <a:prstDash val="solid"/>
          </a:ln>
        </p:spPr>
      </p:sp>
      <p:sp>
        <p:nvSpPr>
          <p:cNvPr id="15" name="footstep-1">
            <a:extLst xmlns:a="http://schemas.openxmlformats.org/drawingml/2006/main">
              <a:ext uri="{FF2B5EF4-FFF2-40B4-BE49-F238E27FC236}">
                <a16:creationId xmlns:a16="http://schemas.microsoft.com/office/drawing/2014/main" id="{7E84821F-CF99-4F79-BD33-E04D95562D7A}"/>
              </a:ext>
            </a:extLst>
          </p:cNvPr>
          <p:cNvSpPr>
            <a:spLocks xmlns:a="http://schemas.openxmlformats.org/drawingml/2006/main" noGrp="1"/>
          </p:cNvSpPr>
          <p:nvPr/>
        </p:nvSpPr>
        <p:spPr>
          <a:xfrm xmlns:a="http://schemas.openxmlformats.org/drawingml/2006/main" rot="-1320000">
            <a:off x="1095375" y="3381375"/>
            <a:ext cx="133350" cy="6667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16" name="footstep-2">
            <a:extLst xmlns:a="http://schemas.openxmlformats.org/drawingml/2006/main">
              <a:ext uri="{FF2B5EF4-FFF2-40B4-BE49-F238E27FC236}">
                <a16:creationId xmlns:a16="http://schemas.microsoft.com/office/drawing/2014/main" id="{113CF988-18E8-4297-BC7F-2427766574F6}"/>
              </a:ext>
            </a:extLst>
          </p:cNvPr>
          <p:cNvSpPr>
            <a:spLocks xmlns:a="http://schemas.openxmlformats.org/drawingml/2006/main" noGrp="1"/>
          </p:cNvSpPr>
          <p:nvPr/>
        </p:nvSpPr>
        <p:spPr>
          <a:xfrm xmlns:a="http://schemas.openxmlformats.org/drawingml/2006/main" rot="-1320000">
            <a:off x="1228725" y="3209925"/>
            <a:ext cx="114300" cy="57150"/>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17" name="footstep-3">
            <a:extLst xmlns:a="http://schemas.openxmlformats.org/drawingml/2006/main">
              <a:ext uri="{FF2B5EF4-FFF2-40B4-BE49-F238E27FC236}">
                <a16:creationId xmlns:a16="http://schemas.microsoft.com/office/drawing/2014/main" id="{CBCACA37-D2F2-4972-AB37-3F509537B601}"/>
              </a:ext>
            </a:extLst>
          </p:cNvPr>
          <p:cNvSpPr>
            <a:spLocks xmlns:a="http://schemas.openxmlformats.org/drawingml/2006/main" noGrp="1"/>
          </p:cNvSpPr>
          <p:nvPr/>
        </p:nvSpPr>
        <p:spPr>
          <a:xfrm xmlns:a="http://schemas.openxmlformats.org/drawingml/2006/main" rot="-1320000">
            <a:off x="1333500" y="3067050"/>
            <a:ext cx="95250"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18" name="character-ground">
            <a:extLst xmlns:a="http://schemas.openxmlformats.org/drawingml/2006/main">
              <a:ext uri="{FF2B5EF4-FFF2-40B4-BE49-F238E27FC236}">
                <a16:creationId xmlns:a16="http://schemas.microsoft.com/office/drawing/2014/main" id="{011F1B2D-AE88-42A7-AE3E-80C3B411A8EC}"/>
              </a:ext>
            </a:extLst>
          </p:cNvPr>
          <p:cNvSpPr>
            <a:spLocks xmlns:a="http://schemas.openxmlformats.org/drawingml/2006/main" noGrp="1"/>
          </p:cNvSpPr>
          <p:nvPr/>
        </p:nvSpPr>
        <p:spPr>
          <a:xfrm xmlns:a="http://schemas.openxmlformats.org/drawingml/2006/main">
            <a:off x="657225" y="3695700"/>
            <a:ext cx="2190750" cy="0"/>
          </a:xfrm>
          <a:prstGeom xmlns:a="http://schemas.openxmlformats.org/drawingml/2006/main" prst="line">
            <a:avLst/>
          </a:prstGeom>
          <a:noFill xmlns:a="http://schemas.openxmlformats.org/drawingml/2006/main"/>
          <a:ln xmlns:a="http://schemas.openxmlformats.org/drawingml/2006/main" w="19050">
            <a:solidFill>
              <a:srgbClr val="2A3850"/>
            </a:solidFill>
            <a:prstDash val="solid"/>
          </a:ln>
        </p:spPr>
      </p:sp>
      <p:sp>
        <p:nvSpPr>
          <p:cNvPr id="19" name="llm-gate">
            <a:extLst xmlns:a="http://schemas.openxmlformats.org/drawingml/2006/main">
              <a:ext uri="{FF2B5EF4-FFF2-40B4-BE49-F238E27FC236}">
                <a16:creationId xmlns:a16="http://schemas.microsoft.com/office/drawing/2014/main" id="{4C3A07D4-3385-4746-87C9-6CEDE666A5A1}"/>
              </a:ext>
            </a:extLst>
          </p:cNvPr>
          <p:cNvSpPr>
            <a:spLocks xmlns:a="http://schemas.openxmlformats.org/drawingml/2006/main" noGrp="1"/>
          </p:cNvSpPr>
          <p:nvPr/>
        </p:nvSpPr>
        <p:spPr>
          <a:xfrm xmlns:a="http://schemas.openxmlformats.org/drawingml/2006/main">
            <a:off x="3267075" y="1543050"/>
            <a:ext cx="1066800" cy="2038350"/>
          </a:xfrm>
          <a:prstGeom xmlns:a="http://schemas.openxmlformats.org/drawingml/2006/main" prst="roundRect">
            <a:avLst>
              <a:gd name="adj" fmla="val 16071"/>
            </a:avLst>
          </a:prstGeom>
          <a:solidFill xmlns:a="http://schemas.openxmlformats.org/drawingml/2006/main">
            <a:srgbClr val="172235"/>
          </a:solidFill>
          <a:ln xmlns:a="http://schemas.openxmlformats.org/drawingml/2006/main" w="14288">
            <a:solidFill>
              <a:srgbClr val="2A3850"/>
            </a:solidFill>
            <a:prstDash val="solid"/>
          </a:ln>
        </p:spPr>
      </p:sp>
      <p:sp>
        <p:nvSpPr>
          <p:cNvPr id="20" name="llm-label">
            <a:extLst xmlns:a="http://schemas.openxmlformats.org/drawingml/2006/main">
              <a:ext uri="{FF2B5EF4-FFF2-40B4-BE49-F238E27FC236}">
                <a16:creationId xmlns:a16="http://schemas.microsoft.com/office/drawing/2014/main" id="{ECA689D7-41C9-4F8F-9F61-A6BA506A6588}"/>
              </a:ext>
            </a:extLst>
          </p:cNvPr>
          <p:cNvSpPr>
            <a:spLocks xmlns:a="http://schemas.openxmlformats.org/drawingml/2006/main" noGrp="1"/>
          </p:cNvSpPr>
          <p:nvPr/>
        </p:nvSpPr>
        <p:spPr>
          <a:xfrm xmlns:a="http://schemas.openxmlformats.org/drawingml/2006/main">
            <a:off x="3419475" y="2143125"/>
            <a:ext cx="76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950" b="1" i="0">
                <a:solidFill>
                  <a:srgbClr val="8FA5BB"/>
                </a:solidFill>
                <a:latin typeface="Arial"/>
                <a:ea typeface="Arial"/>
                <a:cs typeface="Arial"/>
              </a:defRPr>
            </a:pPr>
            <a:r>
              <a:rPr sz="1950" b="1" i="0">
                <a:solidFill>
                  <a:srgbClr val="8FA5BB"/>
                </a:solidFill>
                <a:latin typeface="Arial"/>
                <a:ea typeface="Arial"/>
                <a:cs typeface="Arial"/>
              </a:rPr>
              <a:t>LLM</a:t>
            </a:r>
          </a:p>
        </p:txBody>
      </p:sp>
      <p:sp>
        <p:nvSpPr>
          <p:cNvPr id="21" name="llm-subtitle">
            <a:extLst xmlns:a="http://schemas.openxmlformats.org/drawingml/2006/main">
              <a:ext uri="{FF2B5EF4-FFF2-40B4-BE49-F238E27FC236}">
                <a16:creationId xmlns:a16="http://schemas.microsoft.com/office/drawing/2014/main" id="{28842D83-5043-4848-ACDF-3D15A7872CFB}"/>
              </a:ext>
            </a:extLst>
          </p:cNvPr>
          <p:cNvSpPr>
            <a:spLocks xmlns:a="http://schemas.openxmlformats.org/drawingml/2006/main" noGrp="1"/>
          </p:cNvSpPr>
          <p:nvPr/>
        </p:nvSpPr>
        <p:spPr>
          <a:xfrm xmlns:a="http://schemas.openxmlformats.org/drawingml/2006/main">
            <a:off x="3362325" y="2533650"/>
            <a:ext cx="8763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0" i="0">
                <a:solidFill>
                  <a:srgbClr val="8FA5BB"/>
                </a:solidFill>
                <a:latin typeface="Arial"/>
                <a:ea typeface="Arial"/>
                <a:cs typeface="Arial"/>
              </a:defRPr>
            </a:pPr>
            <a:r>
              <a:rPr sz="1050" b="0" i="0">
                <a:solidFill>
                  <a:srgbClr val="8FA5BB"/>
                </a:solidFill>
                <a:latin typeface="Arial"/>
                <a:ea typeface="Arial"/>
                <a:cs typeface="Arial"/>
              </a:rPr>
              <a:t>words →</a:t>
            </a:r>
          </a:p>
          <a:p xmlns:a="http://schemas.openxmlformats.org/drawingml/2006/main">
            <a:pPr algn="ctr">
              <a:defRPr sz="1050" b="0" i="0">
                <a:solidFill>
                  <a:srgbClr val="8FA5BB"/>
                </a:solidFill>
                <a:latin typeface="Arial"/>
                <a:ea typeface="Arial"/>
                <a:cs typeface="Arial"/>
              </a:defRPr>
            </a:pPr>
            <a:r>
              <a:rPr sz="1050" b="0" i="0">
                <a:solidFill>
                  <a:srgbClr val="8FA5BB"/>
                </a:solidFill>
                <a:latin typeface="Arial"/>
                <a:ea typeface="Arial"/>
                <a:cs typeface="Arial"/>
              </a:rPr>
              <a:t>activations</a:t>
            </a:r>
          </a:p>
        </p:txBody>
      </p:sp>
      <p:sp>
        <p:nvSpPr>
          <p:cNvPr id="22" name="gate-node-22-24">
            <a:extLst xmlns:a="http://schemas.openxmlformats.org/drawingml/2006/main">
              <a:ext uri="{FF2B5EF4-FFF2-40B4-BE49-F238E27FC236}">
                <a16:creationId xmlns:a16="http://schemas.microsoft.com/office/drawing/2014/main" id="{85FE8B89-F7B8-4272-9892-CC5A94A82E3B}"/>
              </a:ext>
            </a:extLst>
          </p:cNvPr>
          <p:cNvSpPr>
            <a:spLocks xmlns:a="http://schemas.openxmlformats.org/drawingml/2006/main" noGrp="1"/>
          </p:cNvSpPr>
          <p:nvPr/>
        </p:nvSpPr>
        <p:spPr>
          <a:xfrm xmlns:a="http://schemas.openxmlformats.org/drawingml/2006/main">
            <a:off x="3476625" y="1771650"/>
            <a:ext cx="47625" cy="47625"/>
          </a:xfrm>
          <a:prstGeom xmlns:a="http://schemas.openxmlformats.org/drawingml/2006/main" prst="ellipse">
            <a:avLst/>
          </a:prstGeom>
          <a:solidFill xmlns:a="http://schemas.openxmlformats.org/drawingml/2006/main">
            <a:srgbClr val="2A3850"/>
          </a:solidFill>
          <a:ln xmlns:a="http://schemas.openxmlformats.org/drawingml/2006/main" w="0">
            <a:noFill/>
            <a:prstDash val="solid"/>
          </a:ln>
        </p:spPr>
      </p:sp>
      <p:sp>
        <p:nvSpPr>
          <p:cNvPr id="23" name="gate-node-55-31">
            <a:extLst xmlns:a="http://schemas.openxmlformats.org/drawingml/2006/main">
              <a:ext uri="{FF2B5EF4-FFF2-40B4-BE49-F238E27FC236}">
                <a16:creationId xmlns:a16="http://schemas.microsoft.com/office/drawing/2014/main" id="{FE7338B7-6930-4948-98EF-624F9DCCB695}"/>
              </a:ext>
            </a:extLst>
          </p:cNvPr>
          <p:cNvSpPr>
            <a:spLocks xmlns:a="http://schemas.openxmlformats.org/drawingml/2006/main" noGrp="1"/>
          </p:cNvSpPr>
          <p:nvPr/>
        </p:nvSpPr>
        <p:spPr>
          <a:xfrm xmlns:a="http://schemas.openxmlformats.org/drawingml/2006/main">
            <a:off x="3790950" y="1838325"/>
            <a:ext cx="47625" cy="47625"/>
          </a:xfrm>
          <a:prstGeom xmlns:a="http://schemas.openxmlformats.org/drawingml/2006/main" prst="ellipse">
            <a:avLst/>
          </a:prstGeom>
          <a:solidFill xmlns:a="http://schemas.openxmlformats.org/drawingml/2006/main">
            <a:srgbClr val="2A3850"/>
          </a:solidFill>
          <a:ln xmlns:a="http://schemas.openxmlformats.org/drawingml/2006/main" w="0">
            <a:noFill/>
            <a:prstDash val="solid"/>
          </a:ln>
        </p:spPr>
      </p:sp>
      <p:sp>
        <p:nvSpPr>
          <p:cNvPr id="24" name="gate-node-79-63">
            <a:extLst xmlns:a="http://schemas.openxmlformats.org/drawingml/2006/main">
              <a:ext uri="{FF2B5EF4-FFF2-40B4-BE49-F238E27FC236}">
                <a16:creationId xmlns:a16="http://schemas.microsoft.com/office/drawing/2014/main" id="{D4B10E38-68A3-418F-9938-6FCE144FCD02}"/>
              </a:ext>
            </a:extLst>
          </p:cNvPr>
          <p:cNvSpPr>
            <a:spLocks xmlns:a="http://schemas.openxmlformats.org/drawingml/2006/main" noGrp="1"/>
          </p:cNvSpPr>
          <p:nvPr/>
        </p:nvSpPr>
        <p:spPr>
          <a:xfrm xmlns:a="http://schemas.openxmlformats.org/drawingml/2006/main">
            <a:off x="4019550" y="2143125"/>
            <a:ext cx="47625" cy="47625"/>
          </a:xfrm>
          <a:prstGeom xmlns:a="http://schemas.openxmlformats.org/drawingml/2006/main" prst="ellipse">
            <a:avLst/>
          </a:prstGeom>
          <a:solidFill xmlns:a="http://schemas.openxmlformats.org/drawingml/2006/main">
            <a:srgbClr val="2A3850"/>
          </a:solidFill>
          <a:ln xmlns:a="http://schemas.openxmlformats.org/drawingml/2006/main" w="0">
            <a:noFill/>
            <a:prstDash val="solid"/>
          </a:ln>
        </p:spPr>
      </p:sp>
      <p:sp>
        <p:nvSpPr>
          <p:cNvPr id="25" name="gate-node-31-83">
            <a:extLst xmlns:a="http://schemas.openxmlformats.org/drawingml/2006/main">
              <a:ext uri="{FF2B5EF4-FFF2-40B4-BE49-F238E27FC236}">
                <a16:creationId xmlns:a16="http://schemas.microsoft.com/office/drawing/2014/main" id="{AA092E9B-63C2-4CFD-A5BA-F6D1D0FB54A2}"/>
              </a:ext>
            </a:extLst>
          </p:cNvPr>
          <p:cNvSpPr>
            <a:spLocks xmlns:a="http://schemas.openxmlformats.org/drawingml/2006/main" noGrp="1"/>
          </p:cNvSpPr>
          <p:nvPr/>
        </p:nvSpPr>
        <p:spPr>
          <a:xfrm xmlns:a="http://schemas.openxmlformats.org/drawingml/2006/main">
            <a:off x="3562350" y="2333625"/>
            <a:ext cx="47625" cy="47625"/>
          </a:xfrm>
          <a:prstGeom xmlns:a="http://schemas.openxmlformats.org/drawingml/2006/main" prst="ellipse">
            <a:avLst/>
          </a:prstGeom>
          <a:solidFill xmlns:a="http://schemas.openxmlformats.org/drawingml/2006/main">
            <a:srgbClr val="2A3850"/>
          </a:solidFill>
          <a:ln xmlns:a="http://schemas.openxmlformats.org/drawingml/2006/main" w="0">
            <a:noFill/>
            <a:prstDash val="solid"/>
          </a:ln>
        </p:spPr>
      </p:sp>
      <p:sp>
        <p:nvSpPr>
          <p:cNvPr id="26" name="gate-node-68-119">
            <a:extLst xmlns:a="http://schemas.openxmlformats.org/drawingml/2006/main">
              <a:ext uri="{FF2B5EF4-FFF2-40B4-BE49-F238E27FC236}">
                <a16:creationId xmlns:a16="http://schemas.microsoft.com/office/drawing/2014/main" id="{57199B41-E2D8-4D75-A98E-11128E25C4C8}"/>
              </a:ext>
            </a:extLst>
          </p:cNvPr>
          <p:cNvSpPr>
            <a:spLocks xmlns:a="http://schemas.openxmlformats.org/drawingml/2006/main" noGrp="1"/>
          </p:cNvSpPr>
          <p:nvPr/>
        </p:nvSpPr>
        <p:spPr>
          <a:xfrm xmlns:a="http://schemas.openxmlformats.org/drawingml/2006/main">
            <a:off x="3914775" y="2676525"/>
            <a:ext cx="47625" cy="47625"/>
          </a:xfrm>
          <a:prstGeom xmlns:a="http://schemas.openxmlformats.org/drawingml/2006/main" prst="ellipse">
            <a:avLst/>
          </a:prstGeom>
          <a:solidFill xmlns:a="http://schemas.openxmlformats.org/drawingml/2006/main">
            <a:srgbClr val="2A3850"/>
          </a:solidFill>
          <a:ln xmlns:a="http://schemas.openxmlformats.org/drawingml/2006/main" w="0">
            <a:noFill/>
            <a:prstDash val="solid"/>
          </a:ln>
        </p:spPr>
      </p:sp>
      <p:sp>
        <p:nvSpPr>
          <p:cNvPr id="27" name="gate-node-28-151">
            <a:extLst xmlns:a="http://schemas.openxmlformats.org/drawingml/2006/main">
              <a:ext uri="{FF2B5EF4-FFF2-40B4-BE49-F238E27FC236}">
                <a16:creationId xmlns:a16="http://schemas.microsoft.com/office/drawing/2014/main" id="{163B6094-D631-4916-9CDF-40A7C2300574}"/>
              </a:ext>
            </a:extLst>
          </p:cNvPr>
          <p:cNvSpPr>
            <a:spLocks xmlns:a="http://schemas.openxmlformats.org/drawingml/2006/main" noGrp="1"/>
          </p:cNvSpPr>
          <p:nvPr/>
        </p:nvSpPr>
        <p:spPr>
          <a:xfrm xmlns:a="http://schemas.openxmlformats.org/drawingml/2006/main">
            <a:off x="3533775" y="2981325"/>
            <a:ext cx="47625" cy="47625"/>
          </a:xfrm>
          <a:prstGeom xmlns:a="http://schemas.openxmlformats.org/drawingml/2006/main" prst="ellipse">
            <a:avLst/>
          </a:prstGeom>
          <a:solidFill xmlns:a="http://schemas.openxmlformats.org/drawingml/2006/main">
            <a:srgbClr val="2A3850"/>
          </a:solidFill>
          <a:ln xmlns:a="http://schemas.openxmlformats.org/drawingml/2006/main" w="0">
            <a:noFill/>
            <a:prstDash val="solid"/>
          </a:ln>
        </p:spPr>
      </p:sp>
      <p:sp>
        <p:nvSpPr>
          <p:cNvPr id="28" name="gate-node-82-174">
            <a:extLst xmlns:a="http://schemas.openxmlformats.org/drawingml/2006/main">
              <a:ext uri="{FF2B5EF4-FFF2-40B4-BE49-F238E27FC236}">
                <a16:creationId xmlns:a16="http://schemas.microsoft.com/office/drawing/2014/main" id="{E35AAEF5-FD54-455D-B600-380FA0BFE7D4}"/>
              </a:ext>
            </a:extLst>
          </p:cNvPr>
          <p:cNvSpPr>
            <a:spLocks xmlns:a="http://schemas.openxmlformats.org/drawingml/2006/main" noGrp="1"/>
          </p:cNvSpPr>
          <p:nvPr/>
        </p:nvSpPr>
        <p:spPr>
          <a:xfrm xmlns:a="http://schemas.openxmlformats.org/drawingml/2006/main">
            <a:off x="4048125" y="3200400"/>
            <a:ext cx="47625" cy="47625"/>
          </a:xfrm>
          <a:prstGeom xmlns:a="http://schemas.openxmlformats.org/drawingml/2006/main" prst="ellipse">
            <a:avLst/>
          </a:prstGeom>
          <a:solidFill xmlns:a="http://schemas.openxmlformats.org/drawingml/2006/main">
            <a:srgbClr val="2A3850"/>
          </a:solidFill>
          <a:ln xmlns:a="http://schemas.openxmlformats.org/drawingml/2006/main" w="0">
            <a:noFill/>
            <a:prstDash val="solid"/>
          </a:ln>
        </p:spPr>
      </p:sp>
      <p:sp>
        <p:nvSpPr>
          <p:cNvPr id="29" name="activation-space">
            <a:extLst xmlns:a="http://schemas.openxmlformats.org/drawingml/2006/main">
              <a:ext uri="{FF2B5EF4-FFF2-40B4-BE49-F238E27FC236}">
                <a16:creationId xmlns:a16="http://schemas.microsoft.com/office/drawing/2014/main" id="{98A44412-F35F-416B-9CCA-60A2F160F445}"/>
              </a:ext>
            </a:extLst>
          </p:cNvPr>
          <p:cNvSpPr>
            <a:spLocks xmlns:a="http://schemas.openxmlformats.org/drawingml/2006/main" noGrp="1"/>
          </p:cNvSpPr>
          <p:nvPr/>
        </p:nvSpPr>
        <p:spPr>
          <a:xfrm xmlns:a="http://schemas.openxmlformats.org/drawingml/2006/main">
            <a:off x="4667250" y="1066800"/>
            <a:ext cx="4057650" cy="3276600"/>
          </a:xfrm>
          <a:prstGeom xmlns:a="http://schemas.openxmlformats.org/drawingml/2006/main" prst="roundRect">
            <a:avLst>
              <a:gd name="adj" fmla="val 6395"/>
            </a:avLst>
          </a:prstGeom>
          <a:solidFill xmlns:a="http://schemas.openxmlformats.org/drawingml/2006/main">
            <a:srgbClr val="1E2D45"/>
          </a:solidFill>
          <a:ln xmlns:a="http://schemas.openxmlformats.org/drawingml/2006/main" w="14288">
            <a:solidFill>
              <a:srgbClr val="4A9EBA"/>
            </a:solidFill>
            <a:prstDash val="solid"/>
          </a:ln>
        </p:spPr>
      </p:sp>
      <p:sp>
        <p:nvSpPr>
          <p:cNvPr id="30" name="space-label">
            <a:extLst xmlns:a="http://schemas.openxmlformats.org/drawingml/2006/main">
              <a:ext uri="{FF2B5EF4-FFF2-40B4-BE49-F238E27FC236}">
                <a16:creationId xmlns:a16="http://schemas.microsoft.com/office/drawing/2014/main" id="{F0FC5AAD-AB36-437C-AF34-6572049CD756}"/>
              </a:ext>
            </a:extLst>
          </p:cNvPr>
          <p:cNvSpPr>
            <a:spLocks xmlns:a="http://schemas.openxmlformats.org/drawingml/2006/main" noGrp="1"/>
          </p:cNvSpPr>
          <p:nvPr/>
        </p:nvSpPr>
        <p:spPr>
          <a:xfrm xmlns:a="http://schemas.openxmlformats.org/drawingml/2006/main">
            <a:off x="4914900" y="1200150"/>
            <a:ext cx="2381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00" b="1" i="0">
                <a:solidFill>
                  <a:srgbClr val="4A9EBA"/>
                </a:solidFill>
                <a:latin typeface="Arial"/>
                <a:ea typeface="Arial"/>
                <a:cs typeface="Arial"/>
              </a:defRPr>
            </a:pPr>
            <a:r>
              <a:rPr sz="900" b="1" i="0">
                <a:solidFill>
                  <a:srgbClr val="4A9EBA"/>
                </a:solidFill>
                <a:latin typeface="Arial"/>
                <a:ea typeface="Arial"/>
                <a:cs typeface="Arial"/>
              </a:rPr>
              <a:t>HIDDEN ACTIVATION SPACE</a:t>
            </a:r>
          </a:p>
        </p:txBody>
      </p:sp>
      <p:sp>
        <p:nvSpPr>
          <p:cNvPr id="31" name="space-particle-0">
            <a:extLst xmlns:a="http://schemas.openxmlformats.org/drawingml/2006/main">
              <a:ext uri="{FF2B5EF4-FFF2-40B4-BE49-F238E27FC236}">
                <a16:creationId xmlns:a16="http://schemas.microsoft.com/office/drawing/2014/main" id="{B6542D2C-1F5E-4004-A0D2-0098DF61E0B9}"/>
              </a:ext>
            </a:extLst>
          </p:cNvPr>
          <p:cNvSpPr>
            <a:spLocks xmlns:a="http://schemas.openxmlformats.org/drawingml/2006/main" noGrp="1"/>
          </p:cNvSpPr>
          <p:nvPr/>
        </p:nvSpPr>
        <p:spPr>
          <a:xfrm xmlns:a="http://schemas.openxmlformats.org/drawingml/2006/main">
            <a:off x="5162550" y="175260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2" name="space-particle-1">
            <a:extLst xmlns:a="http://schemas.openxmlformats.org/drawingml/2006/main">
              <a:ext uri="{FF2B5EF4-FFF2-40B4-BE49-F238E27FC236}">
                <a16:creationId xmlns:a16="http://schemas.microsoft.com/office/drawing/2014/main" id="{B72AEF1D-EC2C-43B0-A03C-189876942A7C}"/>
              </a:ext>
            </a:extLst>
          </p:cNvPr>
          <p:cNvSpPr>
            <a:spLocks xmlns:a="http://schemas.openxmlformats.org/drawingml/2006/main" noGrp="1"/>
          </p:cNvSpPr>
          <p:nvPr/>
        </p:nvSpPr>
        <p:spPr>
          <a:xfrm xmlns:a="http://schemas.openxmlformats.org/drawingml/2006/main">
            <a:off x="5953125" y="1552575"/>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3" name="space-particle-2">
            <a:extLst xmlns:a="http://schemas.openxmlformats.org/drawingml/2006/main">
              <a:ext uri="{FF2B5EF4-FFF2-40B4-BE49-F238E27FC236}">
                <a16:creationId xmlns:a16="http://schemas.microsoft.com/office/drawing/2014/main" id="{27716F83-9E2D-4031-9180-A2CA82A79B5A}"/>
              </a:ext>
            </a:extLst>
          </p:cNvPr>
          <p:cNvSpPr>
            <a:spLocks xmlns:a="http://schemas.openxmlformats.org/drawingml/2006/main" noGrp="1"/>
          </p:cNvSpPr>
          <p:nvPr/>
        </p:nvSpPr>
        <p:spPr>
          <a:xfrm xmlns:a="http://schemas.openxmlformats.org/drawingml/2006/main">
            <a:off x="6715125" y="1914525"/>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4" name="space-particle-3">
            <a:extLst xmlns:a="http://schemas.openxmlformats.org/drawingml/2006/main">
              <a:ext uri="{FF2B5EF4-FFF2-40B4-BE49-F238E27FC236}">
                <a16:creationId xmlns:a16="http://schemas.microsoft.com/office/drawing/2014/main" id="{8A708766-9B4E-4746-AE6C-013D6D4C8284}"/>
              </a:ext>
            </a:extLst>
          </p:cNvPr>
          <p:cNvSpPr>
            <a:spLocks xmlns:a="http://schemas.openxmlformats.org/drawingml/2006/main" noGrp="1"/>
          </p:cNvSpPr>
          <p:nvPr/>
        </p:nvSpPr>
        <p:spPr>
          <a:xfrm xmlns:a="http://schemas.openxmlformats.org/drawingml/2006/main">
            <a:off x="7962900" y="165735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5" name="space-particle-4">
            <a:extLst xmlns:a="http://schemas.openxmlformats.org/drawingml/2006/main">
              <a:ext uri="{FF2B5EF4-FFF2-40B4-BE49-F238E27FC236}">
                <a16:creationId xmlns:a16="http://schemas.microsoft.com/office/drawing/2014/main" id="{604E25B3-C973-439E-BB86-34730FBE5EFB}"/>
              </a:ext>
            </a:extLst>
          </p:cNvPr>
          <p:cNvSpPr>
            <a:spLocks xmlns:a="http://schemas.openxmlformats.org/drawingml/2006/main" noGrp="1"/>
          </p:cNvSpPr>
          <p:nvPr/>
        </p:nvSpPr>
        <p:spPr>
          <a:xfrm xmlns:a="http://schemas.openxmlformats.org/drawingml/2006/main">
            <a:off x="5334000" y="3343275"/>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6" name="space-particle-5">
            <a:extLst xmlns:a="http://schemas.openxmlformats.org/drawingml/2006/main">
              <a:ext uri="{FF2B5EF4-FFF2-40B4-BE49-F238E27FC236}">
                <a16:creationId xmlns:a16="http://schemas.microsoft.com/office/drawing/2014/main" id="{BD902B89-E921-4808-84AC-BCFE4D59EF38}"/>
              </a:ext>
            </a:extLst>
          </p:cNvPr>
          <p:cNvSpPr>
            <a:spLocks xmlns:a="http://schemas.openxmlformats.org/drawingml/2006/main" noGrp="1"/>
          </p:cNvSpPr>
          <p:nvPr/>
        </p:nvSpPr>
        <p:spPr>
          <a:xfrm xmlns:a="http://schemas.openxmlformats.org/drawingml/2006/main">
            <a:off x="6172200" y="390525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7" name="space-particle-6">
            <a:extLst xmlns:a="http://schemas.openxmlformats.org/drawingml/2006/main">
              <a:ext uri="{FF2B5EF4-FFF2-40B4-BE49-F238E27FC236}">
                <a16:creationId xmlns:a16="http://schemas.microsoft.com/office/drawing/2014/main" id="{D469E2A3-DA58-4CA2-9E02-4434FFB2A82B}"/>
              </a:ext>
            </a:extLst>
          </p:cNvPr>
          <p:cNvSpPr>
            <a:spLocks xmlns:a="http://schemas.openxmlformats.org/drawingml/2006/main" noGrp="1"/>
          </p:cNvSpPr>
          <p:nvPr/>
        </p:nvSpPr>
        <p:spPr>
          <a:xfrm xmlns:a="http://schemas.openxmlformats.org/drawingml/2006/main">
            <a:off x="7096125" y="356235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8" name="space-particle-7">
            <a:extLst xmlns:a="http://schemas.openxmlformats.org/drawingml/2006/main">
              <a:ext uri="{FF2B5EF4-FFF2-40B4-BE49-F238E27FC236}">
                <a16:creationId xmlns:a16="http://schemas.microsoft.com/office/drawing/2014/main" id="{25DEB88F-AD46-4B90-85C7-D0FF8228D984}"/>
              </a:ext>
            </a:extLst>
          </p:cNvPr>
          <p:cNvSpPr>
            <a:spLocks xmlns:a="http://schemas.openxmlformats.org/drawingml/2006/main" noGrp="1"/>
          </p:cNvSpPr>
          <p:nvPr/>
        </p:nvSpPr>
        <p:spPr>
          <a:xfrm xmlns:a="http://schemas.openxmlformats.org/drawingml/2006/main">
            <a:off x="8248650" y="3857625"/>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39" name="space-particle-8">
            <a:extLst xmlns:a="http://schemas.openxmlformats.org/drawingml/2006/main">
              <a:ext uri="{FF2B5EF4-FFF2-40B4-BE49-F238E27FC236}">
                <a16:creationId xmlns:a16="http://schemas.microsoft.com/office/drawing/2014/main" id="{C2847A30-740A-4D73-B7ED-121E5A725484}"/>
              </a:ext>
            </a:extLst>
          </p:cNvPr>
          <p:cNvSpPr>
            <a:spLocks xmlns:a="http://schemas.openxmlformats.org/drawingml/2006/main" noGrp="1"/>
          </p:cNvSpPr>
          <p:nvPr/>
        </p:nvSpPr>
        <p:spPr>
          <a:xfrm xmlns:a="http://schemas.openxmlformats.org/drawingml/2006/main">
            <a:off x="8439150" y="2362200"/>
            <a:ext cx="47625" cy="47625"/>
          </a:xfrm>
          <a:prstGeom xmlns:a="http://schemas.openxmlformats.org/drawingml/2006/main" prst="ellipse">
            <a:avLst/>
          </a:prstGeom>
          <a:solidFill xmlns:a="http://schemas.openxmlformats.org/drawingml/2006/main">
            <a:srgbClr val="40566F"/>
          </a:solidFill>
          <a:ln xmlns:a="http://schemas.openxmlformats.org/drawingml/2006/main" w="0">
            <a:noFill/>
            <a:prstDash val="solid"/>
          </a:ln>
        </p:spPr>
      </p:sp>
      <p:sp>
        <p:nvSpPr>
          <p:cNvPr id="40" name="story-flow-start">
            <a:extLst xmlns:a="http://schemas.openxmlformats.org/drawingml/2006/main">
              <a:ext uri="{FF2B5EF4-FFF2-40B4-BE49-F238E27FC236}">
                <a16:creationId xmlns:a16="http://schemas.microsoft.com/office/drawing/2014/main" id="{F0A71683-B572-4712-82AE-01A058158439}"/>
              </a:ext>
            </a:extLst>
          </p:cNvPr>
          <p:cNvSpPr>
            <a:spLocks xmlns:a="http://schemas.openxmlformats.org/drawingml/2006/main" noGrp="1"/>
          </p:cNvSpPr>
          <p:nvPr/>
        </p:nvSpPr>
        <p:spPr>
          <a:xfrm xmlns:a="http://schemas.openxmlformats.org/drawingml/2006/main">
            <a:off x="2895600" y="2105025"/>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1" name="story-flow-gate">
            <a:extLst xmlns:a="http://schemas.openxmlformats.org/drawingml/2006/main">
              <a:ext uri="{FF2B5EF4-FFF2-40B4-BE49-F238E27FC236}">
                <a16:creationId xmlns:a16="http://schemas.microsoft.com/office/drawing/2014/main" id="{109422EA-576C-4A16-B480-1522C8FD4D79}"/>
              </a:ext>
            </a:extLst>
          </p:cNvPr>
          <p:cNvSpPr>
            <a:spLocks xmlns:a="http://schemas.openxmlformats.org/drawingml/2006/main" noGrp="1"/>
          </p:cNvSpPr>
          <p:nvPr/>
        </p:nvSpPr>
        <p:spPr>
          <a:xfrm xmlns:a="http://schemas.openxmlformats.org/drawingml/2006/main">
            <a:off x="3248025" y="2105025"/>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117" name=""/>
          <p:cNvCxnSpPr>
            <a:stCxn xmlns:a="http://schemas.openxmlformats.org/drawingml/2006/main" id="40" idx="6"/>
            <a:endCxn xmlns:a="http://schemas.openxmlformats.org/drawingml/2006/main" id="41" idx="2"/>
          </p:cNvCxnSpPr>
          <p:nvPr/>
        </p:nvCxnSpPr>
        <p:spPr>
          <a:xfrm xmlns:a="http://schemas.openxmlformats.org/drawingml/2006/main">
            <a:off x="2933700" y="2124075"/>
            <a:ext cx="314325" cy="0"/>
          </a:xfrm>
          <a:prstGeom xmlns:a="http://schemas.openxmlformats.org/drawingml/2006/main" prst="straightConnector1">
            <a:avLst/>
          </a:prstGeom>
          <a:ln xmlns:a="http://schemas.openxmlformats.org/drawingml/2006/main" w="19050">
            <a:solidFill>
              <a:srgbClr val="2A3850"/>
            </a:solidFill>
            <a:prstDash val="solid"/>
            <a:tailEnd type="arrow" w="sm" len="sm"/>
          </a:ln>
        </p:spPr>
      </p:cxnSp>
      <p:sp>
        <p:nvSpPr>
          <p:cNvPr id="43" name="vector-origin-anchor">
            <a:extLst xmlns:a="http://schemas.openxmlformats.org/drawingml/2006/main">
              <a:ext uri="{FF2B5EF4-FFF2-40B4-BE49-F238E27FC236}">
                <a16:creationId xmlns:a16="http://schemas.microsoft.com/office/drawing/2014/main" id="{94C21F70-D646-4414-962B-9BD3C2FA2C2D}"/>
              </a:ext>
            </a:extLst>
          </p:cNvPr>
          <p:cNvSpPr>
            <a:spLocks xmlns:a="http://schemas.openxmlformats.org/drawingml/2006/main" noGrp="1"/>
          </p:cNvSpPr>
          <p:nvPr/>
        </p:nvSpPr>
        <p:spPr>
          <a:xfrm xmlns:a="http://schemas.openxmlformats.org/drawingml/2006/main">
            <a:off x="5600700" y="2762250"/>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4" name="joy-end-anchor">
            <a:extLst xmlns:a="http://schemas.openxmlformats.org/drawingml/2006/main">
              <a:ext uri="{FF2B5EF4-FFF2-40B4-BE49-F238E27FC236}">
                <a16:creationId xmlns:a16="http://schemas.microsoft.com/office/drawing/2014/main" id="{2C45C1C3-CB1C-4C10-A63B-1374AF02D0E7}"/>
              </a:ext>
            </a:extLst>
          </p:cNvPr>
          <p:cNvSpPr>
            <a:spLocks xmlns:a="http://schemas.openxmlformats.org/drawingml/2006/main" noGrp="1"/>
          </p:cNvSpPr>
          <p:nvPr/>
        </p:nvSpPr>
        <p:spPr>
          <a:xfrm xmlns:a="http://schemas.openxmlformats.org/drawingml/2006/main">
            <a:off x="7839075" y="1666875"/>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5" name="fear-end-anchor">
            <a:extLst xmlns:a="http://schemas.openxmlformats.org/drawingml/2006/main">
              <a:ext uri="{FF2B5EF4-FFF2-40B4-BE49-F238E27FC236}">
                <a16:creationId xmlns:a16="http://schemas.microsoft.com/office/drawing/2014/main" id="{EE321A54-6A35-49A1-A699-0790B4E31DDE}"/>
              </a:ext>
            </a:extLst>
          </p:cNvPr>
          <p:cNvSpPr>
            <a:spLocks xmlns:a="http://schemas.openxmlformats.org/drawingml/2006/main" noGrp="1"/>
          </p:cNvSpPr>
          <p:nvPr/>
        </p:nvSpPr>
        <p:spPr>
          <a:xfrm xmlns:a="http://schemas.openxmlformats.org/drawingml/2006/main">
            <a:off x="8143875" y="2762250"/>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6" name="sadness-end-anchor">
            <a:extLst xmlns:a="http://schemas.openxmlformats.org/drawingml/2006/main">
              <a:ext uri="{FF2B5EF4-FFF2-40B4-BE49-F238E27FC236}">
                <a16:creationId xmlns:a16="http://schemas.microsoft.com/office/drawing/2014/main" id="{163C14C9-A1E4-4EE4-952F-6A65B2099802}"/>
              </a:ext>
            </a:extLst>
          </p:cNvPr>
          <p:cNvSpPr>
            <a:spLocks xmlns:a="http://schemas.openxmlformats.org/drawingml/2006/main" noGrp="1"/>
          </p:cNvSpPr>
          <p:nvPr/>
        </p:nvSpPr>
        <p:spPr>
          <a:xfrm xmlns:a="http://schemas.openxmlformats.org/drawingml/2006/main">
            <a:off x="7743825" y="3867150"/>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7" name="hidden-state-anchor">
            <a:extLst xmlns:a="http://schemas.openxmlformats.org/drawingml/2006/main">
              <a:ext uri="{FF2B5EF4-FFF2-40B4-BE49-F238E27FC236}">
                <a16:creationId xmlns:a16="http://schemas.microsoft.com/office/drawing/2014/main" id="{E406FD03-3EC1-4CE0-A3BC-D8A064116C8E}"/>
              </a:ext>
            </a:extLst>
          </p:cNvPr>
          <p:cNvSpPr>
            <a:spLocks xmlns:a="http://schemas.openxmlformats.org/drawingml/2006/main" noGrp="1"/>
          </p:cNvSpPr>
          <p:nvPr/>
        </p:nvSpPr>
        <p:spPr>
          <a:xfrm xmlns:a="http://schemas.openxmlformats.org/drawingml/2006/main">
            <a:off x="7162800" y="2762250"/>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8" name="joy-projection-anchor">
            <a:extLst xmlns:a="http://schemas.openxmlformats.org/drawingml/2006/main">
              <a:ext uri="{FF2B5EF4-FFF2-40B4-BE49-F238E27FC236}">
                <a16:creationId xmlns:a16="http://schemas.microsoft.com/office/drawing/2014/main" id="{9E1A37DE-048E-496A-8EB4-C1F9CC511C35}"/>
              </a:ext>
            </a:extLst>
          </p:cNvPr>
          <p:cNvSpPr>
            <a:spLocks xmlns:a="http://schemas.openxmlformats.org/drawingml/2006/main" noGrp="1"/>
          </p:cNvSpPr>
          <p:nvPr/>
        </p:nvSpPr>
        <p:spPr>
          <a:xfrm xmlns:a="http://schemas.openxmlformats.org/drawingml/2006/main">
            <a:off x="6200775" y="2466975"/>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sp>
        <p:nvSpPr>
          <p:cNvPr id="49" name="sadness-projection-anchor">
            <a:extLst xmlns:a="http://schemas.openxmlformats.org/drawingml/2006/main">
              <a:ext uri="{FF2B5EF4-FFF2-40B4-BE49-F238E27FC236}">
                <a16:creationId xmlns:a16="http://schemas.microsoft.com/office/drawing/2014/main" id="{C57C0CEF-062C-4E1E-9FF3-5D9E2DD400A9}"/>
              </a:ext>
            </a:extLst>
          </p:cNvPr>
          <p:cNvSpPr>
            <a:spLocks xmlns:a="http://schemas.openxmlformats.org/drawingml/2006/main" noGrp="1"/>
          </p:cNvSpPr>
          <p:nvPr/>
        </p:nvSpPr>
        <p:spPr>
          <a:xfrm xmlns:a="http://schemas.openxmlformats.org/drawingml/2006/main">
            <a:off x="6153150" y="3048000"/>
            <a:ext cx="38100" cy="38100"/>
          </a:xfrm>
          <a:prstGeom xmlns:a="http://schemas.openxmlformats.org/drawingml/2006/main" prst="ellipse">
            <a:avLst/>
          </a:prstGeom>
          <a:noFill xmlns:a="http://schemas.openxmlformats.org/drawingml/2006/main"/>
          <a:ln xmlns:a="http://schemas.openxmlformats.org/drawingml/2006/main" w="0">
            <a:noFill/>
            <a:prstDash val="solid"/>
          </a:ln>
        </p:spPr>
      </p:sp>
      <p:cxnSp>
        <p:nvCxnSpPr>
          <p:cNvPr id="125" name=""/>
          <p:cNvCxnSpPr>
            <a:stCxn xmlns:a="http://schemas.openxmlformats.org/drawingml/2006/main" id="43" idx="7"/>
            <a:endCxn xmlns:a="http://schemas.openxmlformats.org/drawingml/2006/main" id="44" idx="3"/>
          </p:cNvCxnSpPr>
          <p:nvPr/>
        </p:nvCxnSpPr>
        <p:spPr>
          <a:xfrm xmlns:a="http://schemas.openxmlformats.org/drawingml/2006/main" flipV="1">
            <a:off x="5633220" y="1699395"/>
            <a:ext cx="2211434" cy="1068434"/>
          </a:xfrm>
          <a:prstGeom xmlns:a="http://schemas.openxmlformats.org/drawingml/2006/main" prst="straightConnector1">
            <a:avLst/>
          </a:prstGeom>
          <a:ln xmlns:a="http://schemas.openxmlformats.org/drawingml/2006/main" w="114300">
            <a:solidFill>
              <a:srgbClr val="2F6E58"/>
            </a:solidFill>
            <a:prstDash val="solid"/>
          </a:ln>
        </p:spPr>
      </p:cxnSp>
      <p:cxnSp>
        <p:nvCxnSpPr>
          <p:cNvPr id="126" name=""/>
          <p:cNvCxnSpPr>
            <a:stCxn xmlns:a="http://schemas.openxmlformats.org/drawingml/2006/main" id="43" idx="7"/>
            <a:endCxn xmlns:a="http://schemas.openxmlformats.org/drawingml/2006/main" id="44" idx="3"/>
          </p:cNvCxnSpPr>
          <p:nvPr/>
        </p:nvCxnSpPr>
        <p:spPr>
          <a:xfrm xmlns:a="http://schemas.openxmlformats.org/drawingml/2006/main" flipV="1">
            <a:off x="5633220" y="1699395"/>
            <a:ext cx="2211434" cy="1068434"/>
          </a:xfrm>
          <a:prstGeom xmlns:a="http://schemas.openxmlformats.org/drawingml/2006/main" prst="straightConnector1">
            <a:avLst/>
          </a:prstGeom>
          <a:ln xmlns:a="http://schemas.openxmlformats.org/drawingml/2006/main" w="38100">
            <a:solidFill>
              <a:srgbClr val="5FB58E"/>
            </a:solidFill>
            <a:prstDash val="solid"/>
            <a:tailEnd type="arrow" w="sm" len="sm"/>
          </a:ln>
        </p:spPr>
      </p:cxnSp>
      <p:cxnSp>
        <p:nvCxnSpPr>
          <p:cNvPr id="127" name=""/>
          <p:cNvCxnSpPr>
            <a:stCxn xmlns:a="http://schemas.openxmlformats.org/drawingml/2006/main" id="43" idx="6"/>
            <a:endCxn xmlns:a="http://schemas.openxmlformats.org/drawingml/2006/main" id="45" idx="2"/>
          </p:cNvCxnSpPr>
          <p:nvPr/>
        </p:nvCxnSpPr>
        <p:spPr>
          <a:xfrm xmlns:a="http://schemas.openxmlformats.org/drawingml/2006/main">
            <a:off x="5638800" y="2781300"/>
            <a:ext cx="2505075" cy="0"/>
          </a:xfrm>
          <a:prstGeom xmlns:a="http://schemas.openxmlformats.org/drawingml/2006/main" prst="straightConnector1">
            <a:avLst/>
          </a:prstGeom>
          <a:ln xmlns:a="http://schemas.openxmlformats.org/drawingml/2006/main" w="171450">
            <a:solidFill>
              <a:srgbClr val="8E3F2D"/>
            </a:solidFill>
            <a:prstDash val="solid"/>
          </a:ln>
        </p:spPr>
      </p:cxnSp>
      <p:cxnSp>
        <p:nvCxnSpPr>
          <p:cNvPr id="128" name=""/>
          <p:cNvCxnSpPr>
            <a:stCxn xmlns:a="http://schemas.openxmlformats.org/drawingml/2006/main" id="43" idx="6"/>
            <a:endCxn xmlns:a="http://schemas.openxmlformats.org/drawingml/2006/main" id="45" idx="2"/>
          </p:cNvCxnSpPr>
          <p:nvPr/>
        </p:nvCxnSpPr>
        <p:spPr>
          <a:xfrm xmlns:a="http://schemas.openxmlformats.org/drawingml/2006/main">
            <a:off x="5638800" y="2781300"/>
            <a:ext cx="2505075" cy="0"/>
          </a:xfrm>
          <a:prstGeom xmlns:a="http://schemas.openxmlformats.org/drawingml/2006/main" prst="straightConnector1">
            <a:avLst/>
          </a:prstGeom>
          <a:ln xmlns:a="http://schemas.openxmlformats.org/drawingml/2006/main" w="57150">
            <a:solidFill>
              <a:srgbClr val="E97C50"/>
            </a:solidFill>
            <a:prstDash val="solid"/>
            <a:tailEnd type="arrow" w="med" len="med"/>
          </a:ln>
        </p:spPr>
      </p:cxnSp>
      <p:cxnSp>
        <p:nvCxnSpPr>
          <p:cNvPr id="129" name=""/>
          <p:cNvCxnSpPr>
            <a:stCxn xmlns:a="http://schemas.openxmlformats.org/drawingml/2006/main" id="43" idx="5"/>
            <a:endCxn xmlns:a="http://schemas.openxmlformats.org/drawingml/2006/main" id="46" idx="1"/>
          </p:cNvCxnSpPr>
          <p:nvPr/>
        </p:nvCxnSpPr>
        <p:spPr>
          <a:xfrm xmlns:a="http://schemas.openxmlformats.org/drawingml/2006/main">
            <a:off x="5633220" y="2794770"/>
            <a:ext cx="2116184" cy="1077959"/>
          </a:xfrm>
          <a:prstGeom xmlns:a="http://schemas.openxmlformats.org/drawingml/2006/main" prst="straightConnector1">
            <a:avLst/>
          </a:prstGeom>
          <a:ln xmlns:a="http://schemas.openxmlformats.org/drawingml/2006/main" w="114300">
            <a:solidFill>
              <a:srgbClr val="40566F"/>
            </a:solidFill>
            <a:prstDash val="solid"/>
          </a:ln>
        </p:spPr>
      </p:cxnSp>
      <p:cxnSp>
        <p:nvCxnSpPr>
          <p:cNvPr id="130" name=""/>
          <p:cNvCxnSpPr>
            <a:stCxn xmlns:a="http://schemas.openxmlformats.org/drawingml/2006/main" id="43" idx="5"/>
            <a:endCxn xmlns:a="http://schemas.openxmlformats.org/drawingml/2006/main" id="46" idx="1"/>
          </p:cNvCxnSpPr>
          <p:nvPr/>
        </p:nvCxnSpPr>
        <p:spPr>
          <a:xfrm xmlns:a="http://schemas.openxmlformats.org/drawingml/2006/main">
            <a:off x="5633220" y="2794770"/>
            <a:ext cx="2116184" cy="1077959"/>
          </a:xfrm>
          <a:prstGeom xmlns:a="http://schemas.openxmlformats.org/drawingml/2006/main" prst="straightConnector1">
            <a:avLst/>
          </a:prstGeom>
          <a:ln xmlns:a="http://schemas.openxmlformats.org/drawingml/2006/main" w="38100">
            <a:solidFill>
              <a:srgbClr val="7F97B2"/>
            </a:solidFill>
            <a:prstDash val="solid"/>
            <a:tailEnd type="arrow" w="sm" len="sm"/>
          </a:ln>
        </p:spPr>
      </p:cxnSp>
      <p:cxnSp>
        <p:nvCxnSpPr>
          <p:cNvPr id="131" name=""/>
          <p:cNvCxnSpPr>
            <a:stCxn xmlns:a="http://schemas.openxmlformats.org/drawingml/2006/main" id="43" idx="6"/>
            <a:endCxn xmlns:a="http://schemas.openxmlformats.org/drawingml/2006/main" id="47" idx="2"/>
          </p:cNvCxnSpPr>
          <p:nvPr/>
        </p:nvCxnSpPr>
        <p:spPr>
          <a:xfrm xmlns:a="http://schemas.openxmlformats.org/drawingml/2006/main">
            <a:off x="5638800" y="2781300"/>
            <a:ext cx="1524000" cy="0"/>
          </a:xfrm>
          <a:prstGeom xmlns:a="http://schemas.openxmlformats.org/drawingml/2006/main" prst="straightConnector1">
            <a:avLst/>
          </a:prstGeom>
          <a:ln xmlns:a="http://schemas.openxmlformats.org/drawingml/2006/main" w="28575">
            <a:solidFill>
              <a:srgbClr val="FFFFFF"/>
            </a:solidFill>
            <a:prstDash val="solid"/>
            <a:tailEnd type="arrow" w="med" len="med"/>
          </a:ln>
        </p:spPr>
      </p:cxnSp>
      <p:cxnSp>
        <p:nvCxnSpPr>
          <p:cNvPr id="132" name=""/>
          <p:cNvCxnSpPr>
            <a:stCxn xmlns:a="http://schemas.openxmlformats.org/drawingml/2006/main" id="47" idx="2"/>
            <a:endCxn xmlns:a="http://schemas.openxmlformats.org/drawingml/2006/main" id="48" idx="6"/>
          </p:cNvCxnSpPr>
          <p:nvPr/>
        </p:nvCxnSpPr>
        <p:spPr>
          <a:xfrm xmlns:a="http://schemas.openxmlformats.org/drawingml/2006/main" flipH="1" flipV="1">
            <a:off x="6238875" y="2486025"/>
            <a:ext cx="923925" cy="295275"/>
          </a:xfrm>
          <a:prstGeom xmlns:a="http://schemas.openxmlformats.org/drawingml/2006/main" prst="straightConnector1">
            <a:avLst/>
          </a:prstGeom>
          <a:ln xmlns:a="http://schemas.openxmlformats.org/drawingml/2006/main" w="14288">
            <a:solidFill>
              <a:srgbClr val="8FA5BB"/>
            </a:solidFill>
            <a:prstDash val="dash"/>
          </a:ln>
        </p:spPr>
      </p:cxnSp>
      <p:cxnSp>
        <p:nvCxnSpPr>
          <p:cNvPr id="133" name=""/>
          <p:cNvCxnSpPr>
            <a:stCxn xmlns:a="http://schemas.openxmlformats.org/drawingml/2006/main" id="47" idx="2"/>
            <a:endCxn xmlns:a="http://schemas.openxmlformats.org/drawingml/2006/main" id="49" idx="6"/>
          </p:cNvCxnSpPr>
          <p:nvPr/>
        </p:nvCxnSpPr>
        <p:spPr>
          <a:xfrm xmlns:a="http://schemas.openxmlformats.org/drawingml/2006/main" flipH="1">
            <a:off x="6191250" y="2781300"/>
            <a:ext cx="971550" cy="285750"/>
          </a:xfrm>
          <a:prstGeom xmlns:a="http://schemas.openxmlformats.org/drawingml/2006/main" prst="straightConnector1">
            <a:avLst/>
          </a:prstGeom>
          <a:ln xmlns:a="http://schemas.openxmlformats.org/drawingml/2006/main" w="14288">
            <a:solidFill>
              <a:srgbClr val="8FA5BB"/>
            </a:solidFill>
            <a:prstDash val="dash"/>
          </a:ln>
        </p:spPr>
      </p:cxnSp>
      <p:sp>
        <p:nvSpPr>
          <p:cNvPr id="59" name="origin-node">
            <a:extLst xmlns:a="http://schemas.openxmlformats.org/drawingml/2006/main">
              <a:ext uri="{FF2B5EF4-FFF2-40B4-BE49-F238E27FC236}">
                <a16:creationId xmlns:a16="http://schemas.microsoft.com/office/drawing/2014/main" id="{6A74C935-9058-490A-BFE0-565A22B511FA}"/>
              </a:ext>
            </a:extLst>
          </p:cNvPr>
          <p:cNvSpPr>
            <a:spLocks xmlns:a="http://schemas.openxmlformats.org/drawingml/2006/main" noGrp="1"/>
          </p:cNvSpPr>
          <p:nvPr/>
        </p:nvSpPr>
        <p:spPr>
          <a:xfrm xmlns:a="http://schemas.openxmlformats.org/drawingml/2006/main">
            <a:off x="5543550" y="2705100"/>
            <a:ext cx="152400" cy="152400"/>
          </a:xfrm>
          <a:prstGeom xmlns:a="http://schemas.openxmlformats.org/drawingml/2006/main" prst="ellipse">
            <a:avLst/>
          </a:prstGeom>
          <a:solidFill xmlns:a="http://schemas.openxmlformats.org/drawingml/2006/main">
            <a:srgbClr val="EEF2F7"/>
          </a:solidFill>
          <a:ln xmlns:a="http://schemas.openxmlformats.org/drawingml/2006/main" w="19050">
            <a:solidFill>
              <a:srgbClr val="4A9EBA"/>
            </a:solidFill>
            <a:prstDash val="solid"/>
          </a:ln>
        </p:spPr>
      </p:sp>
      <p:sp>
        <p:nvSpPr>
          <p:cNvPr id="60" name="origin-label">
            <a:extLst xmlns:a="http://schemas.openxmlformats.org/drawingml/2006/main">
              <a:ext uri="{FF2B5EF4-FFF2-40B4-BE49-F238E27FC236}">
                <a16:creationId xmlns:a16="http://schemas.microsoft.com/office/drawing/2014/main" id="{099BA98E-F818-4603-A48F-1C5FE6FC6FCC}"/>
              </a:ext>
            </a:extLst>
          </p:cNvPr>
          <p:cNvSpPr>
            <a:spLocks xmlns:a="http://schemas.openxmlformats.org/drawingml/2006/main" noGrp="1"/>
          </p:cNvSpPr>
          <p:nvPr/>
        </p:nvSpPr>
        <p:spPr>
          <a:xfrm xmlns:a="http://schemas.openxmlformats.org/drawingml/2006/main">
            <a:off x="5191125" y="2895600"/>
            <a:ext cx="819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975" b="0" i="0">
                <a:solidFill>
                  <a:srgbClr val="8FA5BB"/>
                </a:solidFill>
                <a:latin typeface="Arial"/>
                <a:ea typeface="Arial"/>
                <a:cs typeface="Arial"/>
              </a:defRPr>
            </a:pPr>
            <a:r>
              <a:rPr sz="975" b="0" i="0">
                <a:solidFill>
                  <a:srgbClr val="8FA5BB"/>
                </a:solidFill>
                <a:latin typeface="Arial"/>
                <a:ea typeface="Arial"/>
                <a:cs typeface="Arial"/>
              </a:rPr>
              <a:t>neutral</a:t>
            </a:r>
          </a:p>
        </p:txBody>
      </p:sp>
      <p:sp>
        <p:nvSpPr>
          <p:cNvPr id="61" name="joy-node">
            <a:extLst xmlns:a="http://schemas.openxmlformats.org/drawingml/2006/main">
              <a:ext uri="{FF2B5EF4-FFF2-40B4-BE49-F238E27FC236}">
                <a16:creationId xmlns:a16="http://schemas.microsoft.com/office/drawing/2014/main" id="{0E1B18E3-89EF-4552-BF16-3930CE7050D9}"/>
              </a:ext>
            </a:extLst>
          </p:cNvPr>
          <p:cNvSpPr>
            <a:spLocks xmlns:a="http://schemas.openxmlformats.org/drawingml/2006/main" noGrp="1"/>
          </p:cNvSpPr>
          <p:nvPr/>
        </p:nvSpPr>
        <p:spPr>
          <a:xfrm xmlns:a="http://schemas.openxmlformats.org/drawingml/2006/main">
            <a:off x="7743825" y="1571625"/>
            <a:ext cx="228600" cy="2286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prstDash val="solid"/>
          </a:ln>
        </p:spPr>
      </p:sp>
      <p:sp>
        <p:nvSpPr>
          <p:cNvPr id="62" name="joy-label">
            <a:extLst xmlns:a="http://schemas.openxmlformats.org/drawingml/2006/main">
              <a:ext uri="{FF2B5EF4-FFF2-40B4-BE49-F238E27FC236}">
                <a16:creationId xmlns:a16="http://schemas.microsoft.com/office/drawing/2014/main" id="{7C56DA6A-7B10-4812-9FEE-1E618061D689}"/>
              </a:ext>
            </a:extLst>
          </p:cNvPr>
          <p:cNvSpPr>
            <a:spLocks xmlns:a="http://schemas.openxmlformats.org/drawingml/2006/main" noGrp="1"/>
          </p:cNvSpPr>
          <p:nvPr/>
        </p:nvSpPr>
        <p:spPr>
          <a:xfrm xmlns:a="http://schemas.openxmlformats.org/drawingml/2006/main">
            <a:off x="8048625" y="1552575"/>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1" i="1">
                <a:solidFill>
                  <a:srgbClr val="5FB58E"/>
                </a:solidFill>
                <a:latin typeface="Arial"/>
                <a:ea typeface="Arial"/>
                <a:cs typeface="Arial"/>
              </a:defRPr>
            </a:pPr>
            <a:r>
              <a:rPr sz="1425" b="1" i="1">
                <a:solidFill>
                  <a:srgbClr val="5FB58E"/>
                </a:solidFill>
                <a:latin typeface="Arial"/>
                <a:ea typeface="Arial"/>
                <a:cs typeface="Arial"/>
              </a:rPr>
              <a:t>joy</a:t>
            </a:r>
          </a:p>
        </p:txBody>
      </p:sp>
      <p:sp>
        <p:nvSpPr>
          <p:cNvPr id="63" name="fear-node">
            <a:extLst xmlns:a="http://schemas.openxmlformats.org/drawingml/2006/main">
              <a:ext uri="{FF2B5EF4-FFF2-40B4-BE49-F238E27FC236}">
                <a16:creationId xmlns:a16="http://schemas.microsoft.com/office/drawing/2014/main" id="{49FC1550-ECF9-4C78-A4FF-0B35868565B5}"/>
              </a:ext>
            </a:extLst>
          </p:cNvPr>
          <p:cNvSpPr>
            <a:spLocks xmlns:a="http://schemas.openxmlformats.org/drawingml/2006/main" noGrp="1"/>
          </p:cNvSpPr>
          <p:nvPr/>
        </p:nvSpPr>
        <p:spPr>
          <a:xfrm xmlns:a="http://schemas.openxmlformats.org/drawingml/2006/main">
            <a:off x="8020050" y="2638425"/>
            <a:ext cx="285750" cy="285750"/>
          </a:xfrm>
          <a:prstGeom xmlns:a="http://schemas.openxmlformats.org/drawingml/2006/main" prst="diamond">
            <a:avLst/>
          </a:prstGeom>
          <a:solidFill xmlns:a="http://schemas.openxmlformats.org/drawingml/2006/main">
            <a:srgbClr val="E97C50"/>
          </a:solidFill>
          <a:ln xmlns:a="http://schemas.openxmlformats.org/drawingml/2006/main" w="19050">
            <a:solidFill>
              <a:srgbClr val="FFFFFF"/>
            </a:solidFill>
            <a:prstDash val="solid"/>
          </a:ln>
        </p:spPr>
      </p:sp>
      <p:sp>
        <p:nvSpPr>
          <p:cNvPr id="64" name="fear-label">
            <a:extLst xmlns:a="http://schemas.openxmlformats.org/drawingml/2006/main">
              <a:ext uri="{FF2B5EF4-FFF2-40B4-BE49-F238E27FC236}">
                <a16:creationId xmlns:a16="http://schemas.microsoft.com/office/drawing/2014/main" id="{F5FEA7B7-2514-4655-BBA2-A7EBCE82275D}"/>
              </a:ext>
            </a:extLst>
          </p:cNvPr>
          <p:cNvSpPr>
            <a:spLocks xmlns:a="http://schemas.openxmlformats.org/drawingml/2006/main" noGrp="1"/>
          </p:cNvSpPr>
          <p:nvPr/>
        </p:nvSpPr>
        <p:spPr>
          <a:xfrm xmlns:a="http://schemas.openxmlformats.org/drawingml/2006/main">
            <a:off x="8324850" y="2647950"/>
            <a:ext cx="723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500" b="1" i="1">
                <a:solidFill>
                  <a:srgbClr val="E97C50"/>
                </a:solidFill>
                <a:latin typeface="Arial"/>
                <a:ea typeface="Arial"/>
                <a:cs typeface="Arial"/>
              </a:defRPr>
            </a:pPr>
            <a:r>
              <a:rPr sz="1500" b="1" i="1">
                <a:solidFill>
                  <a:srgbClr val="E97C50"/>
                </a:solidFill>
                <a:latin typeface="Arial"/>
                <a:ea typeface="Arial"/>
                <a:cs typeface="Arial"/>
              </a:rPr>
              <a:t>fear</a:t>
            </a:r>
          </a:p>
        </p:txBody>
      </p:sp>
      <p:sp>
        <p:nvSpPr>
          <p:cNvPr id="65" name="sadness-node">
            <a:extLst xmlns:a="http://schemas.openxmlformats.org/drawingml/2006/main">
              <a:ext uri="{FF2B5EF4-FFF2-40B4-BE49-F238E27FC236}">
                <a16:creationId xmlns:a16="http://schemas.microsoft.com/office/drawing/2014/main" id="{B990EDD8-28BD-405D-AA65-03C7890A1935}"/>
              </a:ext>
            </a:extLst>
          </p:cNvPr>
          <p:cNvSpPr>
            <a:spLocks xmlns:a="http://schemas.openxmlformats.org/drawingml/2006/main" noGrp="1"/>
          </p:cNvSpPr>
          <p:nvPr/>
        </p:nvSpPr>
        <p:spPr>
          <a:xfrm xmlns:a="http://schemas.openxmlformats.org/drawingml/2006/main">
            <a:off x="7648575" y="3771900"/>
            <a:ext cx="228600" cy="228600"/>
          </a:xfrm>
          <a:prstGeom xmlns:a="http://schemas.openxmlformats.org/drawingml/2006/main" prst="ellipse">
            <a:avLst/>
          </a:prstGeom>
          <a:solidFill xmlns:a="http://schemas.openxmlformats.org/drawingml/2006/main">
            <a:srgbClr val="7F97B2"/>
          </a:solidFill>
          <a:ln xmlns:a="http://schemas.openxmlformats.org/drawingml/2006/main" w="19050">
            <a:solidFill>
              <a:srgbClr val="FFFFFF"/>
            </a:solidFill>
            <a:prstDash val="solid"/>
          </a:ln>
        </p:spPr>
      </p:sp>
      <p:sp>
        <p:nvSpPr>
          <p:cNvPr id="66" name="sadness-label">
            <a:extLst xmlns:a="http://schemas.openxmlformats.org/drawingml/2006/main">
              <a:ext uri="{FF2B5EF4-FFF2-40B4-BE49-F238E27FC236}">
                <a16:creationId xmlns:a16="http://schemas.microsoft.com/office/drawing/2014/main" id="{EBE5C46B-E60A-4AEE-A79B-33AF459AC1CB}"/>
              </a:ext>
            </a:extLst>
          </p:cNvPr>
          <p:cNvSpPr>
            <a:spLocks xmlns:a="http://schemas.openxmlformats.org/drawingml/2006/main" noGrp="1"/>
          </p:cNvSpPr>
          <p:nvPr/>
        </p:nvSpPr>
        <p:spPr>
          <a:xfrm xmlns:a="http://schemas.openxmlformats.org/drawingml/2006/main">
            <a:off x="7905750" y="3752850"/>
            <a:ext cx="11239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425" b="0" i="1">
                <a:solidFill>
                  <a:srgbClr val="7F97B2"/>
                </a:solidFill>
                <a:latin typeface="Arial"/>
                <a:ea typeface="Arial"/>
                <a:cs typeface="Arial"/>
              </a:defRPr>
            </a:pPr>
            <a:r>
              <a:rPr sz="1425" b="0" i="1">
                <a:solidFill>
                  <a:srgbClr val="7F97B2"/>
                </a:solidFill>
                <a:latin typeface="Arial"/>
                <a:ea typeface="Arial"/>
                <a:cs typeface="Arial"/>
              </a:rPr>
              <a:t>sadness</a:t>
            </a:r>
          </a:p>
        </p:txBody>
      </p:sp>
      <p:sp>
        <p:nvSpPr>
          <p:cNvPr id="67" name="hidden-halo">
            <a:extLst xmlns:a="http://schemas.openxmlformats.org/drawingml/2006/main">
              <a:ext uri="{FF2B5EF4-FFF2-40B4-BE49-F238E27FC236}">
                <a16:creationId xmlns:a16="http://schemas.microsoft.com/office/drawing/2014/main" id="{88379E68-B45A-498D-946F-E09D99A1DD00}"/>
              </a:ext>
            </a:extLst>
          </p:cNvPr>
          <p:cNvSpPr>
            <a:spLocks xmlns:a="http://schemas.openxmlformats.org/drawingml/2006/main" noGrp="1"/>
          </p:cNvSpPr>
          <p:nvPr/>
        </p:nvSpPr>
        <p:spPr>
          <a:xfrm xmlns:a="http://schemas.openxmlformats.org/drawingml/2006/main">
            <a:off x="6981825" y="2581275"/>
            <a:ext cx="400050" cy="400050"/>
          </a:xfrm>
          <a:prstGeom xmlns:a="http://schemas.openxmlformats.org/drawingml/2006/main" prst="ellipse">
            <a:avLst/>
          </a:prstGeom>
          <a:solidFill xmlns:a="http://schemas.openxmlformats.org/drawingml/2006/main">
            <a:srgbClr val="8E3F2D"/>
          </a:solidFill>
          <a:ln xmlns:a="http://schemas.openxmlformats.org/drawingml/2006/main" w="0">
            <a:noFill/>
            <a:prstDash val="solid"/>
          </a:ln>
        </p:spPr>
      </p:sp>
      <p:sp>
        <p:nvSpPr>
          <p:cNvPr id="68" name="hidden-state">
            <a:extLst xmlns:a="http://schemas.openxmlformats.org/drawingml/2006/main">
              <a:ext uri="{FF2B5EF4-FFF2-40B4-BE49-F238E27FC236}">
                <a16:creationId xmlns:a16="http://schemas.microsoft.com/office/drawing/2014/main" id="{DB34B37B-75DC-4452-AFC6-D491AF16ED3F}"/>
              </a:ext>
            </a:extLst>
          </p:cNvPr>
          <p:cNvSpPr>
            <a:spLocks xmlns:a="http://schemas.openxmlformats.org/drawingml/2006/main" noGrp="1"/>
          </p:cNvSpPr>
          <p:nvPr/>
        </p:nvSpPr>
        <p:spPr>
          <a:xfrm xmlns:a="http://schemas.openxmlformats.org/drawingml/2006/main">
            <a:off x="7086600" y="2686050"/>
            <a:ext cx="190500" cy="1905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97C50"/>
            </a:solidFill>
            <a:prstDash val="solid"/>
          </a:ln>
        </p:spPr>
      </p:sp>
      <p:sp>
        <p:nvSpPr>
          <p:cNvPr id="69" name="hidden-state-label">
            <a:extLst xmlns:a="http://schemas.openxmlformats.org/drawingml/2006/main">
              <a:ext uri="{FF2B5EF4-FFF2-40B4-BE49-F238E27FC236}">
                <a16:creationId xmlns:a16="http://schemas.microsoft.com/office/drawing/2014/main" id="{0AB5505D-F0E9-4409-B094-EB734E524A8C}"/>
              </a:ext>
            </a:extLst>
          </p:cNvPr>
          <p:cNvSpPr>
            <a:spLocks xmlns:a="http://schemas.openxmlformats.org/drawingml/2006/main" noGrp="1"/>
          </p:cNvSpPr>
          <p:nvPr/>
        </p:nvSpPr>
        <p:spPr>
          <a:xfrm xmlns:a="http://schemas.openxmlformats.org/drawingml/2006/main">
            <a:off x="6648450" y="3000375"/>
            <a:ext cx="12001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EEF2F7"/>
                </a:solidFill>
                <a:latin typeface="Arial"/>
                <a:ea typeface="Arial"/>
                <a:cs typeface="Arial"/>
              </a:defRPr>
            </a:pPr>
            <a:r>
              <a:rPr sz="1050" b="1" i="0">
                <a:solidFill>
                  <a:srgbClr val="EEF2F7"/>
                </a:solidFill>
                <a:latin typeface="Arial"/>
                <a:ea typeface="Arial"/>
                <a:cs typeface="Arial"/>
              </a:rPr>
              <a:t>hidden activation</a:t>
            </a:r>
          </a:p>
        </p:txBody>
      </p:sp>
      <p:sp>
        <p:nvSpPr>
          <p:cNvPr id="70" name="joy-projection-mark">
            <a:extLst xmlns:a="http://schemas.openxmlformats.org/drawingml/2006/main">
              <a:ext uri="{FF2B5EF4-FFF2-40B4-BE49-F238E27FC236}">
                <a16:creationId xmlns:a16="http://schemas.microsoft.com/office/drawing/2014/main" id="{04BD4942-DC16-4C3A-89BC-90DFAE8F335C}"/>
              </a:ext>
            </a:extLst>
          </p:cNvPr>
          <p:cNvSpPr>
            <a:spLocks xmlns:a="http://schemas.openxmlformats.org/drawingml/2006/main" noGrp="1"/>
          </p:cNvSpPr>
          <p:nvPr/>
        </p:nvSpPr>
        <p:spPr>
          <a:xfrm xmlns:a="http://schemas.openxmlformats.org/drawingml/2006/main">
            <a:off x="6162675" y="2428875"/>
            <a:ext cx="114300" cy="114300"/>
          </a:xfrm>
          <a:prstGeom xmlns:a="http://schemas.openxmlformats.org/drawingml/2006/main" prst="ellipse">
            <a:avLst/>
          </a:prstGeom>
          <a:solidFill xmlns:a="http://schemas.openxmlformats.org/drawingml/2006/main">
            <a:srgbClr val="5FB58E"/>
          </a:solidFill>
          <a:ln xmlns:a="http://schemas.openxmlformats.org/drawingml/2006/main" w="19050">
            <a:solidFill>
              <a:srgbClr val="FFFFFF"/>
            </a:solidFill>
            <a:prstDash val="solid"/>
          </a:ln>
        </p:spPr>
      </p:sp>
      <p:sp>
        <p:nvSpPr>
          <p:cNvPr id="71" name="fear-projection-mark">
            <a:extLst xmlns:a="http://schemas.openxmlformats.org/drawingml/2006/main">
              <a:ext uri="{FF2B5EF4-FFF2-40B4-BE49-F238E27FC236}">
                <a16:creationId xmlns:a16="http://schemas.microsoft.com/office/drawing/2014/main" id="{9CE53483-10A9-434B-9A0E-C476EE7C370D}"/>
              </a:ext>
            </a:extLst>
          </p:cNvPr>
          <p:cNvSpPr>
            <a:spLocks xmlns:a="http://schemas.openxmlformats.org/drawingml/2006/main" noGrp="1"/>
          </p:cNvSpPr>
          <p:nvPr/>
        </p:nvSpPr>
        <p:spPr>
          <a:xfrm xmlns:a="http://schemas.openxmlformats.org/drawingml/2006/main">
            <a:off x="7038975" y="2638425"/>
            <a:ext cx="285750" cy="285750"/>
          </a:xfrm>
          <a:prstGeom xmlns:a="http://schemas.openxmlformats.org/drawingml/2006/main" prst="ellipse">
            <a:avLst/>
          </a:prstGeom>
          <a:noFill xmlns:a="http://schemas.openxmlformats.org/drawingml/2006/main"/>
          <a:ln xmlns:a="http://schemas.openxmlformats.org/drawingml/2006/main" w="28575">
            <a:solidFill>
              <a:srgbClr val="E97C50"/>
            </a:solidFill>
            <a:prstDash val="solid"/>
          </a:ln>
        </p:spPr>
      </p:sp>
      <p:sp>
        <p:nvSpPr>
          <p:cNvPr id="72" name="sad-projection-mark">
            <a:extLst xmlns:a="http://schemas.openxmlformats.org/drawingml/2006/main">
              <a:ext uri="{FF2B5EF4-FFF2-40B4-BE49-F238E27FC236}">
                <a16:creationId xmlns:a16="http://schemas.microsoft.com/office/drawing/2014/main" id="{AF585C44-18AE-4BE8-9F92-CAC300E251BE}"/>
              </a:ext>
            </a:extLst>
          </p:cNvPr>
          <p:cNvSpPr>
            <a:spLocks xmlns:a="http://schemas.openxmlformats.org/drawingml/2006/main" noGrp="1"/>
          </p:cNvSpPr>
          <p:nvPr/>
        </p:nvSpPr>
        <p:spPr>
          <a:xfrm xmlns:a="http://schemas.openxmlformats.org/drawingml/2006/main">
            <a:off x="6115050" y="3009900"/>
            <a:ext cx="114300" cy="114300"/>
          </a:xfrm>
          <a:prstGeom xmlns:a="http://schemas.openxmlformats.org/drawingml/2006/main" prst="ellipse">
            <a:avLst/>
          </a:prstGeom>
          <a:solidFill xmlns:a="http://schemas.openxmlformats.org/drawingml/2006/main">
            <a:srgbClr val="7F97B2"/>
          </a:solidFill>
          <a:ln xmlns:a="http://schemas.openxmlformats.org/drawingml/2006/main" w="19050">
            <a:solidFill>
              <a:srgbClr val="FFFFFF"/>
            </a:solidFill>
            <a:prstDash val="solid"/>
          </a:ln>
        </p:spPr>
      </p:sp>
      <p:sp>
        <p:nvSpPr>
          <p:cNvPr id="73" name="projection-label">
            <a:extLst xmlns:a="http://schemas.openxmlformats.org/drawingml/2006/main">
              <a:ext uri="{FF2B5EF4-FFF2-40B4-BE49-F238E27FC236}">
                <a16:creationId xmlns:a16="http://schemas.microsoft.com/office/drawing/2014/main" id="{01F23564-760F-4606-B8C3-5BAE8B9BE84C}"/>
              </a:ext>
            </a:extLst>
          </p:cNvPr>
          <p:cNvSpPr>
            <a:spLocks xmlns:a="http://schemas.openxmlformats.org/drawingml/2006/main" noGrp="1"/>
          </p:cNvSpPr>
          <p:nvPr/>
        </p:nvSpPr>
        <p:spPr>
          <a:xfrm xmlns:a="http://schemas.openxmlformats.org/drawingml/2006/main">
            <a:off x="4953000" y="1809750"/>
            <a:ext cx="13525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i="0">
                <a:solidFill>
                  <a:srgbClr val="8FA5BB"/>
                </a:solidFill>
                <a:latin typeface="Arial"/>
                <a:ea typeface="Arial"/>
                <a:cs typeface="Arial"/>
              </a:defRPr>
            </a:pPr>
            <a:r>
              <a:rPr sz="975" b="0" i="0">
                <a:solidFill>
                  <a:srgbClr val="8FA5BB"/>
                </a:solidFill>
                <a:latin typeface="Arial"/>
                <a:ea typeface="Arial"/>
                <a:cs typeface="Arial"/>
              </a:rPr>
              <a:t>projection marks</a:t>
            </a:r>
          </a:p>
        </p:txBody>
      </p:sp>
      <p:sp>
        <p:nvSpPr>
          <p:cNvPr id="74" name="alignment-label">
            <a:extLst xmlns:a="http://schemas.openxmlformats.org/drawingml/2006/main">
              <a:ext uri="{FF2B5EF4-FFF2-40B4-BE49-F238E27FC236}">
                <a16:creationId xmlns:a16="http://schemas.microsoft.com/office/drawing/2014/main" id="{4B8F33C0-7EAD-4195-9F2A-663C72F62F28}"/>
              </a:ext>
            </a:extLst>
          </p:cNvPr>
          <p:cNvSpPr>
            <a:spLocks xmlns:a="http://schemas.openxmlformats.org/drawingml/2006/main" noGrp="1"/>
          </p:cNvSpPr>
          <p:nvPr/>
        </p:nvSpPr>
        <p:spPr>
          <a:xfrm xmlns:a="http://schemas.openxmlformats.org/drawingml/2006/main">
            <a:off x="6524625" y="2371725"/>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050" b="1" i="0">
                <a:solidFill>
                  <a:srgbClr val="E97C50"/>
                </a:solidFill>
                <a:latin typeface="Arial"/>
                <a:ea typeface="Arial"/>
                <a:cs typeface="Arial"/>
              </a:defRPr>
            </a:pPr>
            <a:r>
              <a:rPr sz="1050" b="1" i="0">
                <a:solidFill>
                  <a:srgbClr val="E97C50"/>
                </a:solidFill>
                <a:latin typeface="Arial"/>
                <a:ea typeface="Arial"/>
                <a:cs typeface="Arial"/>
              </a:rPr>
              <a:t>strong alignment</a:t>
            </a:r>
          </a:p>
        </p:txBody>
      </p:sp>
      <p:sp>
        <p:nvSpPr>
          <p:cNvPr id="75" name="warmth-bridge">
            <a:extLst xmlns:a="http://schemas.openxmlformats.org/drawingml/2006/main">
              <a:ext uri="{FF2B5EF4-FFF2-40B4-BE49-F238E27FC236}">
                <a16:creationId xmlns:a16="http://schemas.microsoft.com/office/drawing/2014/main" id="{08075D4E-1738-4F97-A523-F0E6D269988D}"/>
              </a:ext>
            </a:extLst>
          </p:cNvPr>
          <p:cNvSpPr>
            <a:spLocks xmlns:a="http://schemas.openxmlformats.org/drawingml/2006/main" noGrp="1"/>
          </p:cNvSpPr>
          <p:nvPr/>
        </p:nvSpPr>
        <p:spPr>
          <a:xfrm xmlns:a="http://schemas.openxmlformats.org/drawingml/2006/main">
            <a:off x="514350" y="4410075"/>
            <a:ext cx="81153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defRPr sz="1350" b="1" i="0">
                <a:solidFill>
                  <a:srgbClr val="EEF2F7"/>
                </a:solidFill>
                <a:latin typeface="Arial"/>
                <a:ea typeface="Arial"/>
                <a:cs typeface="Arial"/>
              </a:defRPr>
            </a:pPr>
            <a:r>
              <a:rPr sz="1350" b="1" i="0">
                <a:solidFill>
                  <a:srgbClr val="EEF2F7"/>
                </a:solidFill>
                <a:latin typeface="Arial"/>
                <a:ea typeface="Arial"/>
                <a:cs typeface="Arial"/>
              </a:rPr>
              <a:t>If emotion concepts form directions, could </a:t>
            </a:r>
            <a:r>
              <a:rPr sz="1350" b="1" i="0">
                <a:solidFill>
                  <a:srgbClr val="E97C50"/>
                </a:solidFill>
                <a:latin typeface="Arial"/>
                <a:ea typeface="Arial"/>
                <a:cs typeface="Arial"/>
              </a:rPr>
              <a:t>warmth</a:t>
            </a:r>
            <a:r>
              <a:rPr sz="1350" b="1" i="0">
                <a:solidFill>
                  <a:srgbClr val="EEF2F7"/>
                </a:solidFill>
                <a:latin typeface="Arial"/>
                <a:ea typeface="Arial"/>
                <a:cs typeface="Arial"/>
              </a:rPr>
              <a:t> and </a:t>
            </a:r>
            <a:r>
              <a:rPr sz="1350" b="1" i="0">
                <a:solidFill>
                  <a:srgbClr val="5FB58E"/>
                </a:solidFill>
                <a:latin typeface="Arial"/>
                <a:ea typeface="Arial"/>
                <a:cs typeface="Arial"/>
              </a:rPr>
              <a:t>competence</a:t>
            </a:r>
            <a:r>
              <a:rPr sz="1350" b="1" i="0">
                <a:solidFill>
                  <a:srgbClr val="EEF2F7"/>
                </a:solidFill>
                <a:latin typeface="Arial"/>
                <a:ea typeface="Arial"/>
                <a:cs typeface="Arial"/>
              </a:rPr>
              <a:t> do the same?</a:t>
            </a:r>
          </a:p>
        </p:txBody>
      </p:sp>
      <p:sp>
        <p:nvSpPr>
          <p:cNvPr id="76" name="anthropic-citation">
            <a:extLst xmlns:a="http://schemas.openxmlformats.org/drawingml/2006/main">
              <a:ext uri="{FF2B5EF4-FFF2-40B4-BE49-F238E27FC236}">
                <a16:creationId xmlns:a16="http://schemas.microsoft.com/office/drawing/2014/main" id="{AAFEFA46-F92A-4570-B433-5357A9CAAF19}"/>
              </a:ext>
            </a:extLst>
          </p:cNvPr>
          <p:cNvSpPr>
            <a:spLocks xmlns:a="http://schemas.openxmlformats.org/drawingml/2006/main" noGrp="1"/>
          </p:cNvSpPr>
          <p:nvPr/>
        </p:nvSpPr>
        <p:spPr>
          <a:xfrm xmlns:a="http://schemas.openxmlformats.org/drawingml/2006/main">
            <a:off x="5715000" y="4819650"/>
            <a:ext cx="30099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825" b="0" i="0">
                <a:solidFill>
                  <a:srgbClr val="8FA5BB"/>
                </a:solidFill>
                <a:latin typeface="Arial"/>
                <a:ea typeface="Arial"/>
                <a:cs typeface="Arial"/>
              </a:defRPr>
            </a:pPr>
            <a:r>
              <a:rPr sz="825" b="0" i="0">
                <a:solidFill>
                  <a:srgbClr val="8FA5BB"/>
                </a:solidFill>
                <a:latin typeface="Arial"/>
                <a:ea typeface="Arial"/>
                <a:cs typeface="Arial"/>
              </a:rPr>
              <a:t>Concept adapted from Sofroniew, Lindsey et al. (2026)</a:t>
            </a:r>
          </a:p>
        </p:txBody>
      </p:sp>
    </p:spTree>
    <p:extLst>
      <p:ext uri="{BB962C8B-B14F-4D97-AF65-F5344CB8AC3E}">
        <p14:creationId xmlns:p14="http://schemas.microsoft.com/office/powerpoint/2010/main" val="5933194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946D8F7D-183B-497C-9959-83B38912DF6D}"/>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p:spPr>
      </p:sp>
      <p:sp>
        <p:nvSpPr>
          <p:cNvPr id="3" name="Text 1">
            <a:extLst xmlns:a="http://schemas.openxmlformats.org/drawingml/2006/main">
              <a:ext uri="{FF2B5EF4-FFF2-40B4-BE49-F238E27FC236}">
                <a16:creationId xmlns:a16="http://schemas.microsoft.com/office/drawing/2014/main" id="{A9D18465-F055-4EC5-9FA1-A6ADFC60AD8A}"/>
              </a:ext>
            </a:extLst>
          </p:cNvPr>
          <p:cNvSpPr>
            <a:spLocks xmlns:a="http://schemas.openxmlformats.org/drawingml/2006/main" noGrp="1"/>
          </p:cNvSpPr>
          <p:nvPr/>
        </p:nvSpPr>
        <p:spPr>
          <a:xfrm xmlns:a="http://schemas.openxmlformats.org/drawingml/2006/main">
            <a:off x="411480" y="256032"/>
            <a:ext cx="8321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300" b="1">
                <a:solidFill>
                  <a:srgbClr val="EEF2F7"/>
                </a:solidFill>
                <a:latin typeface="Cambria"/>
                <a:ea typeface="Cambria"/>
                <a:cs typeface="Cambria"/>
              </a:rPr>
              <a:t>What if social perception is encoded as geometry inside the model?</a:t>
            </a:r>
          </a:p>
        </p:txBody>
      </p:sp>
      <p:sp>
        <p:nvSpPr>
          <p:cNvPr id="4" name="Text 2">
            <a:extLst xmlns:a="http://schemas.openxmlformats.org/drawingml/2006/main">
              <a:ext uri="{FF2B5EF4-FFF2-40B4-BE49-F238E27FC236}">
                <a16:creationId xmlns:a16="http://schemas.microsoft.com/office/drawing/2014/main" id="{7B5F5A3E-367D-4F3B-82BB-C5565174E42E}"/>
              </a:ext>
            </a:extLst>
          </p:cNvPr>
          <p:cNvSpPr>
            <a:spLocks xmlns:a="http://schemas.openxmlformats.org/drawingml/2006/main" noGrp="1"/>
          </p:cNvSpPr>
          <p:nvPr/>
        </p:nvSpPr>
        <p:spPr>
          <a:xfrm xmlns:a="http://schemas.openxmlformats.org/drawingml/2006/main">
            <a:off x="411480" y="960120"/>
            <a:ext cx="40233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a:solidFill>
                  <a:srgbClr val="EEF2F7"/>
                </a:solidFill>
                <a:latin typeface="Calibri"/>
                <a:ea typeface="Calibri"/>
                <a:cs typeface="Calibri"/>
              </a:rPr>
              <a:t>200 short stories · nameless protagonist · 4 conditions:</a:t>
            </a:r>
          </a:p>
        </p:txBody>
      </p:sp>
      <p:sp>
        <p:nvSpPr>
          <p:cNvPr id="5" name="Shape 3">
            <a:extLst xmlns:a="http://schemas.openxmlformats.org/drawingml/2006/main">
              <a:ext uri="{FF2B5EF4-FFF2-40B4-BE49-F238E27FC236}">
                <a16:creationId xmlns:a16="http://schemas.microsoft.com/office/drawing/2014/main" id="{CE11AB0B-64AB-4729-BD84-ADBC11D6D619}"/>
              </a:ext>
            </a:extLst>
          </p:cNvPr>
          <p:cNvSpPr>
            <a:spLocks xmlns:a="http://schemas.openxmlformats.org/drawingml/2006/main" noGrp="1"/>
          </p:cNvSpPr>
          <p:nvPr/>
        </p:nvSpPr>
        <p:spPr>
          <a:xfrm xmlns:a="http://schemas.openxmlformats.org/drawingml/2006/main">
            <a:off x="411480" y="1389888"/>
            <a:ext cx="1828800" cy="301752"/>
          </a:xfrm>
          <a:prstGeom xmlns:a="http://schemas.openxmlformats.org/drawingml/2006/main" prst="roundRect">
            <a:avLst>
              <a:gd name="adj" fmla="val 21212"/>
            </a:avLst>
          </a:prstGeom>
          <a:solidFill xmlns:a="http://schemas.openxmlformats.org/drawingml/2006/main">
            <a:srgbClr val="E07B54"/>
          </a:solidFill>
        </p:spPr>
      </p:sp>
      <p:sp>
        <p:nvSpPr>
          <p:cNvPr id="6" name="Text 4">
            <a:extLst xmlns:a="http://schemas.openxmlformats.org/drawingml/2006/main">
              <a:ext uri="{FF2B5EF4-FFF2-40B4-BE49-F238E27FC236}">
                <a16:creationId xmlns:a16="http://schemas.microsoft.com/office/drawing/2014/main" id="{B13BAA3A-8D37-4469-A1A0-33129F1E1B47}"/>
              </a:ext>
            </a:extLst>
          </p:cNvPr>
          <p:cNvSpPr>
            <a:spLocks xmlns:a="http://schemas.openxmlformats.org/drawingml/2006/main" noGrp="1"/>
          </p:cNvSpPr>
          <p:nvPr/>
        </p:nvSpPr>
        <p:spPr>
          <a:xfrm xmlns:a="http://schemas.openxmlformats.org/drawingml/2006/main">
            <a:off x="411480" y="1389888"/>
            <a:ext cx="18288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High Warmth</a:t>
            </a:r>
          </a:p>
        </p:txBody>
      </p:sp>
      <p:sp>
        <p:nvSpPr>
          <p:cNvPr id="7" name="Shape 5">
            <a:extLst xmlns:a="http://schemas.openxmlformats.org/drawingml/2006/main">
              <a:ext uri="{FF2B5EF4-FFF2-40B4-BE49-F238E27FC236}">
                <a16:creationId xmlns:a16="http://schemas.microsoft.com/office/drawing/2014/main" id="{3D177C6A-DA7F-4C61-9C02-10C765C1052F}"/>
              </a:ext>
            </a:extLst>
          </p:cNvPr>
          <p:cNvSpPr>
            <a:spLocks xmlns:a="http://schemas.openxmlformats.org/drawingml/2006/main" noGrp="1"/>
          </p:cNvSpPr>
          <p:nvPr/>
        </p:nvSpPr>
        <p:spPr>
          <a:xfrm xmlns:a="http://schemas.openxmlformats.org/drawingml/2006/main">
            <a:off x="2468880" y="1389888"/>
            <a:ext cx="1828800" cy="301752"/>
          </a:xfrm>
          <a:prstGeom xmlns:a="http://schemas.openxmlformats.org/drawingml/2006/main" prst="roundRect">
            <a:avLst>
              <a:gd name="adj" fmla="val 21212"/>
            </a:avLst>
          </a:prstGeom>
          <a:solidFill xmlns:a="http://schemas.openxmlformats.org/drawingml/2006/main">
            <a:srgbClr val="4A9EBA"/>
          </a:solidFill>
        </p:spPr>
      </p:sp>
      <p:sp>
        <p:nvSpPr>
          <p:cNvPr id="8" name="Text 6">
            <a:extLst xmlns:a="http://schemas.openxmlformats.org/drawingml/2006/main">
              <a:ext uri="{FF2B5EF4-FFF2-40B4-BE49-F238E27FC236}">
                <a16:creationId xmlns:a16="http://schemas.microsoft.com/office/drawing/2014/main" id="{788B24B1-2836-4266-A7DE-277C84357A30}"/>
              </a:ext>
            </a:extLst>
          </p:cNvPr>
          <p:cNvSpPr>
            <a:spLocks xmlns:a="http://schemas.openxmlformats.org/drawingml/2006/main" noGrp="1"/>
          </p:cNvSpPr>
          <p:nvPr/>
        </p:nvSpPr>
        <p:spPr>
          <a:xfrm xmlns:a="http://schemas.openxmlformats.org/drawingml/2006/main">
            <a:off x="2468880" y="1389888"/>
            <a:ext cx="18288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Low Warmth</a:t>
            </a:r>
          </a:p>
        </p:txBody>
      </p:sp>
      <p:sp>
        <p:nvSpPr>
          <p:cNvPr id="9" name="Shape 7">
            <a:extLst xmlns:a="http://schemas.openxmlformats.org/drawingml/2006/main">
              <a:ext uri="{FF2B5EF4-FFF2-40B4-BE49-F238E27FC236}">
                <a16:creationId xmlns:a16="http://schemas.microsoft.com/office/drawing/2014/main" id="{6F61E352-47BF-45A9-BBA5-07ADFAC40931}"/>
              </a:ext>
            </a:extLst>
          </p:cNvPr>
          <p:cNvSpPr>
            <a:spLocks xmlns:a="http://schemas.openxmlformats.org/drawingml/2006/main" noGrp="1"/>
          </p:cNvSpPr>
          <p:nvPr/>
        </p:nvSpPr>
        <p:spPr>
          <a:xfrm xmlns:a="http://schemas.openxmlformats.org/drawingml/2006/main">
            <a:off x="411480" y="1792224"/>
            <a:ext cx="1828800" cy="301752"/>
          </a:xfrm>
          <a:prstGeom xmlns:a="http://schemas.openxmlformats.org/drawingml/2006/main" prst="roundRect">
            <a:avLst>
              <a:gd name="adj" fmla="val 21212"/>
            </a:avLst>
          </a:prstGeom>
          <a:solidFill xmlns:a="http://schemas.openxmlformats.org/drawingml/2006/main">
            <a:srgbClr val="5BAD8B"/>
          </a:solidFill>
        </p:spPr>
      </p:sp>
      <p:sp>
        <p:nvSpPr>
          <p:cNvPr id="10" name="Text 8">
            <a:extLst xmlns:a="http://schemas.openxmlformats.org/drawingml/2006/main">
              <a:ext uri="{FF2B5EF4-FFF2-40B4-BE49-F238E27FC236}">
                <a16:creationId xmlns:a16="http://schemas.microsoft.com/office/drawing/2014/main" id="{C9D825B0-3EB7-4F54-8032-B736E3D7758D}"/>
              </a:ext>
            </a:extLst>
          </p:cNvPr>
          <p:cNvSpPr>
            <a:spLocks xmlns:a="http://schemas.openxmlformats.org/drawingml/2006/main" noGrp="1"/>
          </p:cNvSpPr>
          <p:nvPr/>
        </p:nvSpPr>
        <p:spPr>
          <a:xfrm xmlns:a="http://schemas.openxmlformats.org/drawingml/2006/main">
            <a:off x="411480" y="1792224"/>
            <a:ext cx="18288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High Competence</a:t>
            </a:r>
          </a:p>
        </p:txBody>
      </p:sp>
      <p:sp>
        <p:nvSpPr>
          <p:cNvPr id="11" name="Shape 9">
            <a:extLst xmlns:a="http://schemas.openxmlformats.org/drawingml/2006/main">
              <a:ext uri="{FF2B5EF4-FFF2-40B4-BE49-F238E27FC236}">
                <a16:creationId xmlns:a16="http://schemas.microsoft.com/office/drawing/2014/main" id="{B0024E86-4288-4374-A06A-05184163B1B0}"/>
              </a:ext>
            </a:extLst>
          </p:cNvPr>
          <p:cNvSpPr>
            <a:spLocks xmlns:a="http://schemas.openxmlformats.org/drawingml/2006/main" noGrp="1"/>
          </p:cNvSpPr>
          <p:nvPr/>
        </p:nvSpPr>
        <p:spPr>
          <a:xfrm xmlns:a="http://schemas.openxmlformats.org/drawingml/2006/main">
            <a:off x="2468880" y="1792224"/>
            <a:ext cx="1828800" cy="301752"/>
          </a:xfrm>
          <a:prstGeom xmlns:a="http://schemas.openxmlformats.org/drawingml/2006/main" prst="roundRect">
            <a:avLst>
              <a:gd name="adj" fmla="val 21212"/>
            </a:avLst>
          </a:prstGeom>
          <a:solidFill xmlns:a="http://schemas.openxmlformats.org/drawingml/2006/main">
            <a:srgbClr val="8FA5BB"/>
          </a:solidFill>
        </p:spPr>
      </p:sp>
      <p:sp>
        <p:nvSpPr>
          <p:cNvPr id="12" name="Text 10">
            <a:extLst xmlns:a="http://schemas.openxmlformats.org/drawingml/2006/main">
              <a:ext uri="{FF2B5EF4-FFF2-40B4-BE49-F238E27FC236}">
                <a16:creationId xmlns:a16="http://schemas.microsoft.com/office/drawing/2014/main" id="{9BEAA537-C63A-4614-8BE3-331425FAD057}"/>
              </a:ext>
            </a:extLst>
          </p:cNvPr>
          <p:cNvSpPr>
            <a:spLocks xmlns:a="http://schemas.openxmlformats.org/drawingml/2006/main" noGrp="1"/>
          </p:cNvSpPr>
          <p:nvPr/>
        </p:nvSpPr>
        <p:spPr>
          <a:xfrm xmlns:a="http://schemas.openxmlformats.org/drawingml/2006/main">
            <a:off x="2468880" y="1792224"/>
            <a:ext cx="18288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Low Competence</a:t>
            </a:r>
          </a:p>
        </p:txBody>
      </p:sp>
      <p:sp>
        <p:nvSpPr>
          <p:cNvPr id="13" name="Text 11">
            <a:extLst xmlns:a="http://schemas.openxmlformats.org/drawingml/2006/main">
              <a:ext uri="{FF2B5EF4-FFF2-40B4-BE49-F238E27FC236}">
                <a16:creationId xmlns:a16="http://schemas.microsoft.com/office/drawing/2014/main" id="{149189E9-4F0B-42B3-B8D2-7AB79EEAF317}"/>
              </a:ext>
            </a:extLst>
          </p:cNvPr>
          <p:cNvSpPr>
            <a:spLocks xmlns:a="http://schemas.openxmlformats.org/drawingml/2006/main" noGrp="1"/>
          </p:cNvSpPr>
          <p:nvPr/>
        </p:nvSpPr>
        <p:spPr>
          <a:xfrm xmlns:a="http://schemas.openxmlformats.org/drawingml/2006/main">
            <a:off x="411480" y="2304288"/>
            <a:ext cx="402336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i="1">
                <a:solidFill>
                  <a:srgbClr val="8FA5BB"/>
                </a:solidFill>
                <a:latin typeface="Calibri"/>
                <a:ea typeface="Calibri"/>
                <a:cs typeface="Calibri"/>
              </a:rPr>
              <a:t>Nameless, gender-neutral protagonist in every story, so the vector encodes behaviour, not demographic identity.</a:t>
            </a:r>
          </a:p>
        </p:txBody>
      </p:sp>
      <p:sp>
        <p:nvSpPr>
          <p:cNvPr id="14" name="Text 12">
            <a:extLst xmlns:a="http://schemas.openxmlformats.org/drawingml/2006/main">
              <a:ext uri="{FF2B5EF4-FFF2-40B4-BE49-F238E27FC236}">
                <a16:creationId xmlns:a16="http://schemas.microsoft.com/office/drawing/2014/main" id="{0320A83F-C501-44A5-A5DD-F273C8955689}"/>
              </a:ext>
            </a:extLst>
          </p:cNvPr>
          <p:cNvSpPr>
            <a:spLocks xmlns:a="http://schemas.openxmlformats.org/drawingml/2006/main" noGrp="1"/>
          </p:cNvSpPr>
          <p:nvPr/>
        </p:nvSpPr>
        <p:spPr>
          <a:xfrm xmlns:a="http://schemas.openxmlformats.org/drawingml/2006/main">
            <a:off x="411480" y="2944368"/>
            <a:ext cx="4023360" cy="40233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300" b="1">
                <a:solidFill>
                  <a:srgbClr val="4A9EBA"/>
                </a:solidFill>
                <a:latin typeface="Calibri"/>
                <a:ea typeface="Calibri"/>
                <a:cs typeface="Calibri"/>
              </a:rPr>
              <a:t>Mean difference between high and low conditions gives the direction vector v</a:t>
            </a:r>
          </a:p>
        </p:txBody>
      </p:sp>
      <p:sp>
        <p:nvSpPr>
          <p:cNvPr id="15" name="Text 13">
            <a:extLst xmlns:a="http://schemas.openxmlformats.org/drawingml/2006/main">
              <a:ext uri="{FF2B5EF4-FFF2-40B4-BE49-F238E27FC236}">
                <a16:creationId xmlns:a16="http://schemas.microsoft.com/office/drawing/2014/main" id="{753D82F3-815D-4E36-8126-B1B5B5344F34}"/>
              </a:ext>
            </a:extLst>
          </p:cNvPr>
          <p:cNvSpPr>
            <a:spLocks xmlns:a="http://schemas.openxmlformats.org/drawingml/2006/main" noGrp="1"/>
          </p:cNvSpPr>
          <p:nvPr/>
        </p:nvSpPr>
        <p:spPr>
          <a:xfrm xmlns:a="http://schemas.openxmlformats.org/drawingml/2006/main">
            <a:off x="411480" y="3429000"/>
            <a:ext cx="4023360" cy="47548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If the direction generalizes to new topics never seen during training, the representation is not an artifact of the training stimuli.</a:t>
            </a:r>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1bf65f0a86b4426e"/>
          <a:stretch xmlns:a="http://schemas.openxmlformats.org/drawingml/2006/main">
            <a:fillRect l="0" t="0" r="0" b="0"/>
          </a:stretch>
        </p:blipFill>
        <p:spPr>
          <a:xfrm xmlns:a="http://schemas.openxmlformats.org/drawingml/2006/main">
            <a:off x="4572000" y="868680"/>
            <a:ext cx="4297680" cy="3485946"/>
          </a:xfrm>
          <a:prstGeom xmlns:a="http://schemas.openxmlformats.org/drawingml/2006/main" prst="rect">
            <a:avLst/>
          </a:prstGeom>
        </p:spPr>
      </p:pic>
      <p:sp>
        <p:nvSpPr>
          <p:cNvPr id="17" name="Text 14">
            <a:extLst xmlns:a="http://schemas.openxmlformats.org/drawingml/2006/main">
              <a:ext uri="{FF2B5EF4-FFF2-40B4-BE49-F238E27FC236}">
                <a16:creationId xmlns:a16="http://schemas.microsoft.com/office/drawing/2014/main" id="{941B7440-EAA7-4F32-A06A-F6F886A03652}"/>
              </a:ext>
            </a:extLst>
          </p:cNvPr>
          <p:cNvSpPr>
            <a:spLocks xmlns:a="http://schemas.openxmlformats.org/drawingml/2006/main" noGrp="1"/>
          </p:cNvSpPr>
          <p:nvPr/>
        </p:nvSpPr>
        <p:spPr>
          <a:xfrm xmlns:a="http://schemas.openxmlformats.org/drawingml/2006/main">
            <a:off x="4572000" y="4427778"/>
            <a:ext cx="4251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i="1">
                <a:solidFill>
                  <a:srgbClr val="8FA5BB"/>
                </a:solidFill>
                <a:latin typeface="Calibri"/>
                <a:ea typeface="Calibri"/>
                <a:cs typeface="Calibri"/>
              </a:rPr>
              <a:t>Fig: Concept direction geometry (schematic)</a:t>
            </a:r>
          </a:p>
        </p:txBody>
      </p:sp>
    </p:spTree>
    <p:extLst>
      <p:ext uri="{BB962C8B-B14F-4D97-AF65-F5344CB8AC3E}">
        <p14:creationId xmlns:p14="http://schemas.microsoft.com/office/powerpoint/2010/main" val="83545633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493B4D0-EA15-41F4-91E5-E0391C89954E}"/>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p:spPr>
      </p:sp>
      <p:sp>
        <p:nvSpPr>
          <p:cNvPr id="3" name="Text 1">
            <a:extLst xmlns:a="http://schemas.openxmlformats.org/drawingml/2006/main">
              <a:ext uri="{FF2B5EF4-FFF2-40B4-BE49-F238E27FC236}">
                <a16:creationId xmlns:a16="http://schemas.microsoft.com/office/drawing/2014/main" id="{28BD12B5-C575-4214-A92B-607949875CC2}"/>
              </a:ext>
            </a:extLst>
          </p:cNvPr>
          <p:cNvSpPr>
            <a:spLocks xmlns:a="http://schemas.openxmlformats.org/drawingml/2006/main" noGrp="1"/>
          </p:cNvSpPr>
          <p:nvPr/>
        </p:nvSpPr>
        <p:spPr>
          <a:xfrm xmlns:a="http://schemas.openxmlformats.org/drawingml/2006/main">
            <a:off x="411480" y="256032"/>
            <a:ext cx="8321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300" b="1">
                <a:solidFill>
                  <a:srgbClr val="EEF2F7"/>
                </a:solidFill>
                <a:latin typeface="Cambria"/>
                <a:ea typeface="Cambria"/>
                <a:cs typeface="Cambria"/>
              </a:rPr>
              <a:t>Finding 1: Warmth and competence are linearly encoded in all four models</a:t>
            </a:r>
          </a:p>
        </p:txBody>
      </p:sp>
      <p:sp>
        <p:nvSpPr>
          <p:cNvPr id="4" name="Shape 2">
            <a:extLst xmlns:a="http://schemas.openxmlformats.org/drawingml/2006/main">
              <a:ext uri="{FF2B5EF4-FFF2-40B4-BE49-F238E27FC236}">
                <a16:creationId xmlns:a16="http://schemas.microsoft.com/office/drawing/2014/main" id="{3E2F45F4-76FD-4AB0-89E7-4627B0FF8759}"/>
              </a:ext>
            </a:extLst>
          </p:cNvPr>
          <p:cNvSpPr>
            <a:spLocks xmlns:a="http://schemas.openxmlformats.org/drawingml/2006/main" noGrp="1"/>
          </p:cNvSpPr>
          <p:nvPr/>
        </p:nvSpPr>
        <p:spPr>
          <a:xfrm xmlns:a="http://schemas.openxmlformats.org/drawingml/2006/main">
            <a:off x="411480" y="960120"/>
            <a:ext cx="1920240" cy="1188720"/>
          </a:xfrm>
          <a:prstGeom xmlns:a="http://schemas.openxmlformats.org/drawingml/2006/main" prst="roundRect">
            <a:avLst>
              <a:gd name="adj" fmla="val 7692"/>
            </a:avLst>
          </a:prstGeom>
          <a:solidFill xmlns:a="http://schemas.openxmlformats.org/drawingml/2006/main">
            <a:srgbClr val="12161F"/>
          </a:solidFill>
        </p:spPr>
      </p:sp>
      <p:sp>
        <p:nvSpPr>
          <p:cNvPr id="5" name="Text 3">
            <a:extLst xmlns:a="http://schemas.openxmlformats.org/drawingml/2006/main">
              <a:ext uri="{FF2B5EF4-FFF2-40B4-BE49-F238E27FC236}">
                <a16:creationId xmlns:a16="http://schemas.microsoft.com/office/drawing/2014/main" id="{6A795AA3-993E-4F0E-B009-D29CBC97A4CF}"/>
              </a:ext>
            </a:extLst>
          </p:cNvPr>
          <p:cNvSpPr>
            <a:spLocks xmlns:a="http://schemas.openxmlformats.org/drawingml/2006/main" noGrp="1"/>
          </p:cNvSpPr>
          <p:nvPr/>
        </p:nvSpPr>
        <p:spPr>
          <a:xfrm xmlns:a="http://schemas.openxmlformats.org/drawingml/2006/main">
            <a:off x="411480" y="987552"/>
            <a:ext cx="19202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3200" b="1">
                <a:solidFill>
                  <a:srgbClr val="4A9EBA"/>
                </a:solidFill>
                <a:latin typeface="Cambria"/>
                <a:ea typeface="Cambria"/>
                <a:cs typeface="Cambria"/>
              </a:rPr>
              <a:t>100%</a:t>
            </a:r>
          </a:p>
        </p:txBody>
      </p:sp>
      <p:sp>
        <p:nvSpPr>
          <p:cNvPr id="6" name="Text 4">
            <a:extLst xmlns:a="http://schemas.openxmlformats.org/drawingml/2006/main">
              <a:ext uri="{FF2B5EF4-FFF2-40B4-BE49-F238E27FC236}">
                <a16:creationId xmlns:a16="http://schemas.microsoft.com/office/drawing/2014/main" id="{5E7773CC-D14A-4D60-8522-93D9B861F219}"/>
              </a:ext>
            </a:extLst>
          </p:cNvPr>
          <p:cNvSpPr>
            <a:spLocks xmlns:a="http://schemas.openxmlformats.org/drawingml/2006/main" noGrp="1"/>
          </p:cNvSpPr>
          <p:nvPr/>
        </p:nvSpPr>
        <p:spPr>
          <a:xfrm xmlns:a="http://schemas.openxmlformats.org/drawingml/2006/main">
            <a:off x="411480" y="1581912"/>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8FA5BB"/>
                </a:solidFill>
                <a:latin typeface="Calibri"/>
                <a:ea typeface="Calibri"/>
                <a:cs typeface="Calibri"/>
              </a:rPr>
              <a:t>accuracy, including on</a:t>
            </a:r>
          </a:p>
          <a:p xmlns:a="http://schemas.openxmlformats.org/drawingml/2006/main">
            <a:pPr marL="0" indent="0" algn="ctr">
              <a:buNone/>
            </a:pPr>
            <a:r>
              <a:rPr sz="1000">
                <a:solidFill>
                  <a:srgbClr val="8FA5BB"/>
                </a:solidFill>
                <a:latin typeface="Calibri"/>
                <a:ea typeface="Calibri"/>
                <a:cs typeface="Calibri"/>
              </a:rPr>
              <a:t>entirely new situations</a:t>
            </a:r>
          </a:p>
        </p:txBody>
      </p:sp>
      <p:sp>
        <p:nvSpPr>
          <p:cNvPr id="7" name="Shape 5">
            <a:extLst xmlns:a="http://schemas.openxmlformats.org/drawingml/2006/main">
              <a:ext uri="{FF2B5EF4-FFF2-40B4-BE49-F238E27FC236}">
                <a16:creationId xmlns:a16="http://schemas.microsoft.com/office/drawing/2014/main" id="{10F0BA26-762D-4FF0-A6AF-0EB7EDCDF78D}"/>
              </a:ext>
            </a:extLst>
          </p:cNvPr>
          <p:cNvSpPr>
            <a:spLocks xmlns:a="http://schemas.openxmlformats.org/drawingml/2006/main" noGrp="1"/>
          </p:cNvSpPr>
          <p:nvPr/>
        </p:nvSpPr>
        <p:spPr>
          <a:xfrm xmlns:a="http://schemas.openxmlformats.org/drawingml/2006/main">
            <a:off x="2468880" y="960120"/>
            <a:ext cx="1920240" cy="1188720"/>
          </a:xfrm>
          <a:prstGeom xmlns:a="http://schemas.openxmlformats.org/drawingml/2006/main" prst="roundRect">
            <a:avLst>
              <a:gd name="adj" fmla="val 7692"/>
            </a:avLst>
          </a:prstGeom>
          <a:solidFill xmlns:a="http://schemas.openxmlformats.org/drawingml/2006/main">
            <a:srgbClr val="12161F"/>
          </a:solidFill>
        </p:spPr>
      </p:sp>
      <p:sp>
        <p:nvSpPr>
          <p:cNvPr id="8" name="Text 6">
            <a:extLst xmlns:a="http://schemas.openxmlformats.org/drawingml/2006/main">
              <a:ext uri="{FF2B5EF4-FFF2-40B4-BE49-F238E27FC236}">
                <a16:creationId xmlns:a16="http://schemas.microsoft.com/office/drawing/2014/main" id="{38BF77D3-5F55-4A37-B61D-E2B3DB6CF8B0}"/>
              </a:ext>
            </a:extLst>
          </p:cNvPr>
          <p:cNvSpPr>
            <a:spLocks xmlns:a="http://schemas.openxmlformats.org/drawingml/2006/main" noGrp="1"/>
          </p:cNvSpPr>
          <p:nvPr/>
        </p:nvSpPr>
        <p:spPr>
          <a:xfrm xmlns:a="http://schemas.openxmlformats.org/drawingml/2006/main">
            <a:off x="2468880" y="987552"/>
            <a:ext cx="192024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2200" b="1">
                <a:solidFill>
                  <a:srgbClr val="4A9EBA"/>
                </a:solidFill>
                <a:latin typeface="Cambria"/>
                <a:ea typeface="Cambria"/>
                <a:cs typeface="Cambria"/>
              </a:rPr>
              <a:t>ρ 0.76–0.99</a:t>
            </a:r>
          </a:p>
        </p:txBody>
      </p:sp>
      <p:sp>
        <p:nvSpPr>
          <p:cNvPr id="9" name="Text 7">
            <a:extLst xmlns:a="http://schemas.openxmlformats.org/drawingml/2006/main">
              <a:ext uri="{FF2B5EF4-FFF2-40B4-BE49-F238E27FC236}">
                <a16:creationId xmlns:a16="http://schemas.microsoft.com/office/drawing/2014/main" id="{BEFAEB1A-FF20-441A-AF30-FE4984183182}"/>
              </a:ext>
            </a:extLst>
          </p:cNvPr>
          <p:cNvSpPr>
            <a:spLocks xmlns:a="http://schemas.openxmlformats.org/drawingml/2006/main" noGrp="1"/>
          </p:cNvSpPr>
          <p:nvPr/>
        </p:nvSpPr>
        <p:spPr>
          <a:xfrm xmlns:a="http://schemas.openxmlformats.org/drawingml/2006/main">
            <a:off x="2468880" y="1581912"/>
            <a:ext cx="19202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a:solidFill>
                  <a:srgbClr val="8FA5BB"/>
                </a:solidFill>
                <a:latin typeface="Calibri"/>
                <a:ea typeface="Calibri"/>
                <a:cs typeface="Calibri"/>
              </a:rPr>
              <a:t>cross-model story agreement</a:t>
            </a:r>
          </a:p>
          <a:p xmlns:a="http://schemas.openxmlformats.org/drawingml/2006/main">
            <a:pPr marL="0" indent="0" algn="ctr">
              <a:buNone/>
            </a:pPr>
            <a:r>
              <a:rPr sz="1000">
                <a:solidFill>
                  <a:srgbClr val="8FA5BB"/>
                </a:solidFill>
                <a:latin typeface="Calibri"/>
                <a:ea typeface="Calibri"/>
                <a:cs typeface="Calibri"/>
              </a:rPr>
              <a:t>(4 models, 3 companies)</a:t>
            </a:r>
          </a:p>
        </p:txBody>
      </p:sp>
      <p:sp>
        <p:nvSpPr>
          <p:cNvPr id="10" name="Shape 8">
            <a:extLst xmlns:a="http://schemas.openxmlformats.org/drawingml/2006/main">
              <a:ext uri="{FF2B5EF4-FFF2-40B4-BE49-F238E27FC236}">
                <a16:creationId xmlns:a16="http://schemas.microsoft.com/office/drawing/2014/main" id="{10016AE1-7E3F-42F0-B590-D5B5D0123D74}"/>
              </a:ext>
            </a:extLst>
          </p:cNvPr>
          <p:cNvSpPr>
            <a:spLocks xmlns:a="http://schemas.openxmlformats.org/drawingml/2006/main" noGrp="1"/>
          </p:cNvSpPr>
          <p:nvPr/>
        </p:nvSpPr>
        <p:spPr>
          <a:xfrm xmlns:a="http://schemas.openxmlformats.org/drawingml/2006/main">
            <a:off x="411480" y="2331720"/>
            <a:ext cx="1828800" cy="301752"/>
          </a:xfrm>
          <a:prstGeom xmlns:a="http://schemas.openxmlformats.org/drawingml/2006/main" prst="roundRect">
            <a:avLst>
              <a:gd name="adj" fmla="val 21212"/>
            </a:avLst>
          </a:prstGeom>
          <a:solidFill xmlns:a="http://schemas.openxmlformats.org/drawingml/2006/main">
            <a:srgbClr val="253650"/>
          </a:solidFill>
        </p:spPr>
      </p:sp>
      <p:sp>
        <p:nvSpPr>
          <p:cNvPr id="11" name="Text 9">
            <a:extLst xmlns:a="http://schemas.openxmlformats.org/drawingml/2006/main">
              <a:ext uri="{FF2B5EF4-FFF2-40B4-BE49-F238E27FC236}">
                <a16:creationId xmlns:a16="http://schemas.microsoft.com/office/drawing/2014/main" id="{EE287DAC-8541-40FE-8BAA-F3F7480EEAC0}"/>
              </a:ext>
            </a:extLst>
          </p:cNvPr>
          <p:cNvSpPr>
            <a:spLocks xmlns:a="http://schemas.openxmlformats.org/drawingml/2006/main" noGrp="1"/>
          </p:cNvSpPr>
          <p:nvPr/>
        </p:nvSpPr>
        <p:spPr>
          <a:xfrm xmlns:a="http://schemas.openxmlformats.org/drawingml/2006/main">
            <a:off x="411480" y="2331720"/>
            <a:ext cx="18288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Gemma-3-12B</a:t>
            </a:r>
          </a:p>
        </p:txBody>
      </p:sp>
      <p:sp>
        <p:nvSpPr>
          <p:cNvPr id="12" name="Shape 10">
            <a:extLst xmlns:a="http://schemas.openxmlformats.org/drawingml/2006/main">
              <a:ext uri="{FF2B5EF4-FFF2-40B4-BE49-F238E27FC236}">
                <a16:creationId xmlns:a16="http://schemas.microsoft.com/office/drawing/2014/main" id="{7FE61922-5C6C-4244-B072-F269E6DB2A2A}"/>
              </a:ext>
            </a:extLst>
          </p:cNvPr>
          <p:cNvSpPr>
            <a:spLocks xmlns:a="http://schemas.openxmlformats.org/drawingml/2006/main" noGrp="1"/>
          </p:cNvSpPr>
          <p:nvPr/>
        </p:nvSpPr>
        <p:spPr>
          <a:xfrm xmlns:a="http://schemas.openxmlformats.org/drawingml/2006/main">
            <a:off x="2560320" y="2331720"/>
            <a:ext cx="1828800" cy="301752"/>
          </a:xfrm>
          <a:prstGeom xmlns:a="http://schemas.openxmlformats.org/drawingml/2006/main" prst="roundRect">
            <a:avLst>
              <a:gd name="adj" fmla="val 21212"/>
            </a:avLst>
          </a:prstGeom>
          <a:solidFill xmlns:a="http://schemas.openxmlformats.org/drawingml/2006/main">
            <a:srgbClr val="253650"/>
          </a:solidFill>
        </p:spPr>
      </p:sp>
      <p:sp>
        <p:nvSpPr>
          <p:cNvPr id="13" name="Text 11">
            <a:extLst xmlns:a="http://schemas.openxmlformats.org/drawingml/2006/main">
              <a:ext uri="{FF2B5EF4-FFF2-40B4-BE49-F238E27FC236}">
                <a16:creationId xmlns:a16="http://schemas.microsoft.com/office/drawing/2014/main" id="{3C46DCB6-99AC-49E8-9BD0-E413AD6BE190}"/>
              </a:ext>
            </a:extLst>
          </p:cNvPr>
          <p:cNvSpPr>
            <a:spLocks xmlns:a="http://schemas.openxmlformats.org/drawingml/2006/main" noGrp="1"/>
          </p:cNvSpPr>
          <p:nvPr/>
        </p:nvSpPr>
        <p:spPr>
          <a:xfrm xmlns:a="http://schemas.openxmlformats.org/drawingml/2006/main">
            <a:off x="2560320" y="2331720"/>
            <a:ext cx="18288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Gemma-3-27B</a:t>
            </a:r>
          </a:p>
        </p:txBody>
      </p:sp>
      <p:sp>
        <p:nvSpPr>
          <p:cNvPr id="14" name="Shape 12">
            <a:extLst xmlns:a="http://schemas.openxmlformats.org/drawingml/2006/main">
              <a:ext uri="{FF2B5EF4-FFF2-40B4-BE49-F238E27FC236}">
                <a16:creationId xmlns:a16="http://schemas.microsoft.com/office/drawing/2014/main" id="{D72B60C0-1C32-4016-ADD9-6777F91CBE12}"/>
              </a:ext>
            </a:extLst>
          </p:cNvPr>
          <p:cNvSpPr>
            <a:spLocks xmlns:a="http://schemas.openxmlformats.org/drawingml/2006/main" noGrp="1"/>
          </p:cNvSpPr>
          <p:nvPr/>
        </p:nvSpPr>
        <p:spPr>
          <a:xfrm xmlns:a="http://schemas.openxmlformats.org/drawingml/2006/main">
            <a:off x="411480" y="2734056"/>
            <a:ext cx="1828800" cy="301752"/>
          </a:xfrm>
          <a:prstGeom xmlns:a="http://schemas.openxmlformats.org/drawingml/2006/main" prst="roundRect">
            <a:avLst>
              <a:gd name="adj" fmla="val 21212"/>
            </a:avLst>
          </a:prstGeom>
          <a:solidFill xmlns:a="http://schemas.openxmlformats.org/drawingml/2006/main">
            <a:srgbClr val="253650"/>
          </a:solidFill>
        </p:spPr>
      </p:sp>
      <p:sp>
        <p:nvSpPr>
          <p:cNvPr id="15" name="Text 13">
            <a:extLst xmlns:a="http://schemas.openxmlformats.org/drawingml/2006/main">
              <a:ext uri="{FF2B5EF4-FFF2-40B4-BE49-F238E27FC236}">
                <a16:creationId xmlns:a16="http://schemas.microsoft.com/office/drawing/2014/main" id="{F704A82C-8501-4B27-A800-B8F68505C587}"/>
              </a:ext>
            </a:extLst>
          </p:cNvPr>
          <p:cNvSpPr>
            <a:spLocks xmlns:a="http://schemas.openxmlformats.org/drawingml/2006/main" noGrp="1"/>
          </p:cNvSpPr>
          <p:nvPr/>
        </p:nvSpPr>
        <p:spPr>
          <a:xfrm xmlns:a="http://schemas.openxmlformats.org/drawingml/2006/main">
            <a:off x="411480" y="2734056"/>
            <a:ext cx="18288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Llama-3.1-8B</a:t>
            </a:r>
          </a:p>
        </p:txBody>
      </p:sp>
      <p:sp>
        <p:nvSpPr>
          <p:cNvPr id="16" name="Shape 14">
            <a:extLst xmlns:a="http://schemas.openxmlformats.org/drawingml/2006/main">
              <a:ext uri="{FF2B5EF4-FFF2-40B4-BE49-F238E27FC236}">
                <a16:creationId xmlns:a16="http://schemas.microsoft.com/office/drawing/2014/main" id="{716C3017-E233-425E-ADA1-B4E55FF1D6D9}"/>
              </a:ext>
            </a:extLst>
          </p:cNvPr>
          <p:cNvSpPr>
            <a:spLocks xmlns:a="http://schemas.openxmlformats.org/drawingml/2006/main" noGrp="1"/>
          </p:cNvSpPr>
          <p:nvPr/>
        </p:nvSpPr>
        <p:spPr>
          <a:xfrm xmlns:a="http://schemas.openxmlformats.org/drawingml/2006/main">
            <a:off x="2560320" y="2734056"/>
            <a:ext cx="1828800" cy="301752"/>
          </a:xfrm>
          <a:prstGeom xmlns:a="http://schemas.openxmlformats.org/drawingml/2006/main" prst="roundRect">
            <a:avLst>
              <a:gd name="adj" fmla="val 21212"/>
            </a:avLst>
          </a:prstGeom>
          <a:solidFill xmlns:a="http://schemas.openxmlformats.org/drawingml/2006/main">
            <a:srgbClr val="253650"/>
          </a:solidFill>
        </p:spPr>
      </p:sp>
      <p:sp>
        <p:nvSpPr>
          <p:cNvPr id="17" name="Text 15">
            <a:extLst xmlns:a="http://schemas.openxmlformats.org/drawingml/2006/main">
              <a:ext uri="{FF2B5EF4-FFF2-40B4-BE49-F238E27FC236}">
                <a16:creationId xmlns:a16="http://schemas.microsoft.com/office/drawing/2014/main" id="{A4CC5A17-9024-4775-901D-01749FD97C88}"/>
              </a:ext>
            </a:extLst>
          </p:cNvPr>
          <p:cNvSpPr>
            <a:spLocks xmlns:a="http://schemas.openxmlformats.org/drawingml/2006/main" noGrp="1"/>
          </p:cNvSpPr>
          <p:nvPr/>
        </p:nvSpPr>
        <p:spPr>
          <a:xfrm xmlns:a="http://schemas.openxmlformats.org/drawingml/2006/main">
            <a:off x="2560320" y="2734056"/>
            <a:ext cx="18288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Qwen3-14B</a:t>
            </a:r>
          </a:p>
        </p:txBody>
      </p:sp>
      <p:sp>
        <p:nvSpPr>
          <p:cNvPr id="18" name="Text 16">
            <a:extLst xmlns:a="http://schemas.openxmlformats.org/drawingml/2006/main">
              <a:ext uri="{FF2B5EF4-FFF2-40B4-BE49-F238E27FC236}">
                <a16:creationId xmlns:a16="http://schemas.microsoft.com/office/drawing/2014/main" id="{B0441FD6-FCEA-4F8A-BC4D-B30CC4B6D0F5}"/>
              </a:ext>
            </a:extLst>
          </p:cNvPr>
          <p:cNvSpPr>
            <a:spLocks xmlns:a="http://schemas.openxmlformats.org/drawingml/2006/main" noGrp="1"/>
          </p:cNvSpPr>
          <p:nvPr/>
        </p:nvSpPr>
        <p:spPr>
          <a:xfrm xmlns:a="http://schemas.openxmlformats.org/drawingml/2006/main">
            <a:off x="411480" y="3218688"/>
            <a:ext cx="411480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i="1">
                <a:solidFill>
                  <a:srgbClr val="8FA5BB"/>
                </a:solidFill>
                <a:latin typeface="Calibri"/>
                <a:ea typeface="Calibri"/>
                <a:cs typeface="Calibri"/>
              </a:rPr>
              <a:t>All four models, trained independently at three different organisations, converge on the same warmth/competence ordering of stories. That convergence is strong evidence this reflects the training data, not a quirk of one architecture.</a:t>
            </a:r>
          </a:p>
        </p:txBody>
      </p:sp>
      <p:pic>
        <p:nvPicPr>
          <p:cNvPr id="39" name="Image 0"/>
          <p:cNvPicPr>
            <a:picLocks xmlns:a="http://schemas.openxmlformats.org/drawingml/2006/main" noChangeAspect="1"/>
          </p:cNvPicPr>
          <p:nvPr/>
        </p:nvPicPr>
        <p:blipFill>
          <a:blip xmlns:r="http://schemas.openxmlformats.org/officeDocument/2006/relationships" xmlns:a="http://schemas.openxmlformats.org/drawingml/2006/main" r:embed="R7b0b9acf40814f06"/>
          <a:stretch xmlns:a="http://schemas.openxmlformats.org/drawingml/2006/main">
            <a:fillRect l="0" t="0" r="0" b="0"/>
          </a:stretch>
        </p:blipFill>
        <p:spPr>
          <a:xfrm xmlns:a="http://schemas.openxmlformats.org/drawingml/2006/main">
            <a:off x="4572000" y="868680"/>
            <a:ext cx="4343400" cy="1843879"/>
          </a:xfrm>
          <a:prstGeom xmlns:a="http://schemas.openxmlformats.org/drawingml/2006/main" prst="rect">
            <a:avLst/>
          </a:prstGeom>
        </p:spPr>
      </p:pic>
      <p:sp>
        <p:nvSpPr>
          <p:cNvPr id="20" name="Text 17">
            <a:extLst xmlns:a="http://schemas.openxmlformats.org/drawingml/2006/main">
              <a:ext uri="{FF2B5EF4-FFF2-40B4-BE49-F238E27FC236}">
                <a16:creationId xmlns:a16="http://schemas.microsoft.com/office/drawing/2014/main" id="{2537571A-1E34-490E-9B2E-EB564AD205D6}"/>
              </a:ext>
            </a:extLst>
          </p:cNvPr>
          <p:cNvSpPr>
            <a:spLocks xmlns:a="http://schemas.openxmlformats.org/drawingml/2006/main" noGrp="1"/>
          </p:cNvSpPr>
          <p:nvPr/>
        </p:nvSpPr>
        <p:spPr>
          <a:xfrm xmlns:a="http://schemas.openxmlformats.org/drawingml/2006/main">
            <a:off x="4572000" y="2785711"/>
            <a:ext cx="4251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i="1">
                <a:solidFill>
                  <a:srgbClr val="8FA5BB"/>
                </a:solidFill>
                <a:latin typeface="Calibri"/>
                <a:ea typeface="Calibri"/>
                <a:cs typeface="Calibri"/>
              </a:rPr>
              <a:t>Fig: Layer emergence, Cohen's d by depth</a:t>
            </a:r>
          </a:p>
        </p:txBody>
      </p:sp>
    </p:spTree>
    <p:extLst>
      <p:ext uri="{BB962C8B-B14F-4D97-AF65-F5344CB8AC3E}">
        <p14:creationId xmlns:p14="http://schemas.microsoft.com/office/powerpoint/2010/main" val="195104250"/>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D25F4084-C57C-4D0C-A375-D42D44189A6A}"/>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p:spPr>
      </p:sp>
      <p:sp>
        <p:nvSpPr>
          <p:cNvPr id="3" name="Text 1">
            <a:extLst xmlns:a="http://schemas.openxmlformats.org/drawingml/2006/main">
              <a:ext uri="{FF2B5EF4-FFF2-40B4-BE49-F238E27FC236}">
                <a16:creationId xmlns:a16="http://schemas.microsoft.com/office/drawing/2014/main" id="{C152EC01-C68C-4F2E-AAC6-D80D68A4C4D9}"/>
              </a:ext>
            </a:extLst>
          </p:cNvPr>
          <p:cNvSpPr>
            <a:spLocks xmlns:a="http://schemas.openxmlformats.org/drawingml/2006/main" noGrp="1"/>
          </p:cNvSpPr>
          <p:nvPr/>
        </p:nvSpPr>
        <p:spPr>
          <a:xfrm xmlns:a="http://schemas.openxmlformats.org/drawingml/2006/main">
            <a:off x="411480" y="256032"/>
            <a:ext cx="8321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300" b="1">
                <a:solidFill>
                  <a:srgbClr val="EEF2F7"/>
                </a:solidFill>
                <a:latin typeface="Cambria"/>
                <a:ea typeface="Cambria"/>
                <a:cs typeface="Cambria"/>
              </a:rPr>
              <a:t>Finding 2: We can steer these directions and flip hiring decisions</a:t>
            </a:r>
          </a:p>
        </p:txBody>
      </p:sp>
      <p:sp>
        <p:nvSpPr>
          <p:cNvPr id="4" name="Shape 2">
            <a:extLst xmlns:a="http://schemas.openxmlformats.org/drawingml/2006/main">
              <a:ext uri="{FF2B5EF4-FFF2-40B4-BE49-F238E27FC236}">
                <a16:creationId xmlns:a16="http://schemas.microsoft.com/office/drawing/2014/main" id="{3BDDD705-F5CB-4D22-90E9-C8078E1AE4A7}"/>
              </a:ext>
            </a:extLst>
          </p:cNvPr>
          <p:cNvSpPr>
            <a:spLocks xmlns:a="http://schemas.openxmlformats.org/drawingml/2006/main" noGrp="1"/>
          </p:cNvSpPr>
          <p:nvPr/>
        </p:nvSpPr>
        <p:spPr>
          <a:xfrm xmlns:a="http://schemas.openxmlformats.org/drawingml/2006/main">
            <a:off x="411480" y="960120"/>
            <a:ext cx="4114800" cy="841248"/>
          </a:xfrm>
          <a:prstGeom xmlns:a="http://schemas.openxmlformats.org/drawingml/2006/main" prst="roundRect">
            <a:avLst>
              <a:gd name="adj" fmla="val 10870"/>
            </a:avLst>
          </a:prstGeom>
          <a:solidFill xmlns:a="http://schemas.openxmlformats.org/drawingml/2006/main">
            <a:srgbClr val="12161F"/>
          </a:solidFill>
        </p:spPr>
      </p:sp>
      <p:sp>
        <p:nvSpPr>
          <p:cNvPr id="5" name="Text 3">
            <a:extLst xmlns:a="http://schemas.openxmlformats.org/drawingml/2006/main">
              <a:ext uri="{FF2B5EF4-FFF2-40B4-BE49-F238E27FC236}">
                <a16:creationId xmlns:a16="http://schemas.microsoft.com/office/drawing/2014/main" id="{128FD18B-1436-4CC0-A559-954A43EF84DB}"/>
              </a:ext>
            </a:extLst>
          </p:cNvPr>
          <p:cNvSpPr>
            <a:spLocks xmlns:a="http://schemas.openxmlformats.org/drawingml/2006/main" noGrp="1"/>
          </p:cNvSpPr>
          <p:nvPr/>
        </p:nvSpPr>
        <p:spPr>
          <a:xfrm xmlns:a="http://schemas.openxmlformats.org/drawingml/2006/main">
            <a:off x="502920" y="987552"/>
            <a:ext cx="3931920" cy="7863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Injecting the warmth direction during resume evaluation shifts the callback recommendation, crossing the Yes/No boundary for every name tested.</a:t>
            </a:r>
          </a:p>
        </p:txBody>
      </p:sp>
      <p:sp>
        <p:nvSpPr>
          <p:cNvPr id="6" name="Shape 4">
            <a:extLst xmlns:a="http://schemas.openxmlformats.org/drawingml/2006/main">
              <a:ext uri="{FF2B5EF4-FFF2-40B4-BE49-F238E27FC236}">
                <a16:creationId xmlns:a16="http://schemas.microsoft.com/office/drawing/2014/main" id="{8D1D1B49-34FC-421D-9B5F-7142137FAA70}"/>
              </a:ext>
            </a:extLst>
          </p:cNvPr>
          <p:cNvSpPr>
            <a:spLocks xmlns:a="http://schemas.openxmlformats.org/drawingml/2006/main" noGrp="1"/>
          </p:cNvSpPr>
          <p:nvPr/>
        </p:nvSpPr>
        <p:spPr>
          <a:xfrm xmlns:a="http://schemas.openxmlformats.org/drawingml/2006/main">
            <a:off x="411480" y="1920240"/>
            <a:ext cx="3200400" cy="301752"/>
          </a:xfrm>
          <a:prstGeom xmlns:a="http://schemas.openxmlformats.org/drawingml/2006/main" prst="roundRect">
            <a:avLst>
              <a:gd name="adj" fmla="val 21212"/>
            </a:avLst>
          </a:prstGeom>
          <a:solidFill xmlns:a="http://schemas.openxmlformats.org/drawingml/2006/main">
            <a:srgbClr val="E07B54"/>
          </a:solidFill>
        </p:spPr>
      </p:sp>
      <p:sp>
        <p:nvSpPr>
          <p:cNvPr id="7" name="Text 5">
            <a:extLst xmlns:a="http://schemas.openxmlformats.org/drawingml/2006/main">
              <a:ext uri="{FF2B5EF4-FFF2-40B4-BE49-F238E27FC236}">
                <a16:creationId xmlns:a16="http://schemas.microsoft.com/office/drawing/2014/main" id="{5BBDB6CB-B7CE-4C9F-A33C-0CF7A85AAAF4}"/>
              </a:ext>
            </a:extLst>
          </p:cNvPr>
          <p:cNvSpPr>
            <a:spLocks xmlns:a="http://schemas.openxmlformats.org/drawingml/2006/main" noGrp="1"/>
          </p:cNvSpPr>
          <p:nvPr/>
        </p:nvSpPr>
        <p:spPr>
          <a:xfrm xmlns:a="http://schemas.openxmlformats.org/drawingml/2006/main">
            <a:off x="411480" y="1920240"/>
            <a:ext cx="320040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b="1">
                <a:solidFill>
                  <a:srgbClr val="FFFFFF"/>
                </a:solidFill>
                <a:latin typeface="Calibri"/>
                <a:ea typeface="Calibri"/>
                <a:cs typeface="Calibri"/>
              </a:rPr>
              <a:t>Caveat: 12B measurement-limited (bf16)</a:t>
            </a:r>
          </a:p>
        </p:txBody>
      </p:sp>
      <p:sp>
        <p:nvSpPr>
          <p:cNvPr id="8" name="Shape 6">
            <a:extLst xmlns:a="http://schemas.openxmlformats.org/drawingml/2006/main">
              <a:ext uri="{FF2B5EF4-FFF2-40B4-BE49-F238E27FC236}">
                <a16:creationId xmlns:a16="http://schemas.microsoft.com/office/drawing/2014/main" id="{4CFC85AC-A508-4FE2-A946-8316352059AF}"/>
              </a:ext>
            </a:extLst>
          </p:cNvPr>
          <p:cNvSpPr>
            <a:spLocks xmlns:a="http://schemas.openxmlformats.org/drawingml/2006/main" noGrp="1"/>
          </p:cNvSpPr>
          <p:nvPr/>
        </p:nvSpPr>
        <p:spPr>
          <a:xfrm xmlns:a="http://schemas.openxmlformats.org/drawingml/2006/main">
            <a:off x="411480" y="2468880"/>
            <a:ext cx="146304" cy="146304"/>
          </a:xfrm>
          <a:prstGeom xmlns:a="http://schemas.openxmlformats.org/drawingml/2006/main" prst="ellipse">
            <a:avLst/>
          </a:prstGeom>
          <a:solidFill xmlns:a="http://schemas.openxmlformats.org/drawingml/2006/main">
            <a:srgbClr val="4A9EBA"/>
          </a:solidFill>
        </p:spPr>
      </p:sp>
      <p:sp>
        <p:nvSpPr>
          <p:cNvPr id="9" name="Text 7">
            <a:extLst xmlns:a="http://schemas.openxmlformats.org/drawingml/2006/main">
              <a:ext uri="{FF2B5EF4-FFF2-40B4-BE49-F238E27FC236}">
                <a16:creationId xmlns:a16="http://schemas.microsoft.com/office/drawing/2014/main" id="{A4099278-91F4-41B5-9760-A26CA8AA7D85}"/>
              </a:ext>
            </a:extLst>
          </p:cNvPr>
          <p:cNvSpPr>
            <a:spLocks xmlns:a="http://schemas.openxmlformats.org/drawingml/2006/main" noGrp="1"/>
          </p:cNvSpPr>
          <p:nvPr/>
        </p:nvSpPr>
        <p:spPr>
          <a:xfrm xmlns:a="http://schemas.openxmlformats.org/drawingml/2006/main">
            <a:off x="658368" y="2423160"/>
            <a:ext cx="38404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Baseline circle: where each name starts before steering</a:t>
            </a:r>
          </a:p>
        </p:txBody>
      </p:sp>
      <p:sp>
        <p:nvSpPr>
          <p:cNvPr id="10" name="Shape 8">
            <a:extLst xmlns:a="http://schemas.openxmlformats.org/drawingml/2006/main">
              <a:ext uri="{FF2B5EF4-FFF2-40B4-BE49-F238E27FC236}">
                <a16:creationId xmlns:a16="http://schemas.microsoft.com/office/drawing/2014/main" id="{B8DC839A-C5C9-4210-9FDE-54C5F23CB80B}"/>
              </a:ext>
            </a:extLst>
          </p:cNvPr>
          <p:cNvSpPr>
            <a:spLocks xmlns:a="http://schemas.openxmlformats.org/drawingml/2006/main" noGrp="1"/>
          </p:cNvSpPr>
          <p:nvPr/>
        </p:nvSpPr>
        <p:spPr>
          <a:xfrm xmlns:a="http://schemas.openxmlformats.org/drawingml/2006/main">
            <a:off x="411480" y="2944368"/>
            <a:ext cx="146304" cy="146304"/>
          </a:xfrm>
          <a:prstGeom xmlns:a="http://schemas.openxmlformats.org/drawingml/2006/main" prst="ellipse">
            <a:avLst/>
          </a:prstGeom>
          <a:solidFill xmlns:a="http://schemas.openxmlformats.org/drawingml/2006/main">
            <a:srgbClr val="4A9EBA"/>
          </a:solidFill>
        </p:spPr>
      </p:sp>
      <p:sp>
        <p:nvSpPr>
          <p:cNvPr id="11" name="Text 9">
            <a:extLst xmlns:a="http://schemas.openxmlformats.org/drawingml/2006/main">
              <a:ext uri="{FF2B5EF4-FFF2-40B4-BE49-F238E27FC236}">
                <a16:creationId xmlns:a16="http://schemas.microsoft.com/office/drawing/2014/main" id="{0993F8DB-788F-487E-A011-2494BEB86E8C}"/>
              </a:ext>
            </a:extLst>
          </p:cNvPr>
          <p:cNvSpPr>
            <a:spLocks xmlns:a="http://schemas.openxmlformats.org/drawingml/2006/main" noGrp="1"/>
          </p:cNvSpPr>
          <p:nvPr/>
        </p:nvSpPr>
        <p:spPr>
          <a:xfrm xmlns:a="http://schemas.openxmlformats.org/drawingml/2006/main">
            <a:off x="658368" y="2898648"/>
            <a:ext cx="38404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Arrow: how far the decision shifts with each push</a:t>
            </a:r>
          </a:p>
        </p:txBody>
      </p:sp>
      <p:sp>
        <p:nvSpPr>
          <p:cNvPr id="12" name="Shape 10">
            <a:extLst xmlns:a="http://schemas.openxmlformats.org/drawingml/2006/main">
              <a:ext uri="{FF2B5EF4-FFF2-40B4-BE49-F238E27FC236}">
                <a16:creationId xmlns:a16="http://schemas.microsoft.com/office/drawing/2014/main" id="{645F8EDC-7696-4D98-BA92-C94485E3EF2C}"/>
              </a:ext>
            </a:extLst>
          </p:cNvPr>
          <p:cNvSpPr>
            <a:spLocks xmlns:a="http://schemas.openxmlformats.org/drawingml/2006/main" noGrp="1"/>
          </p:cNvSpPr>
          <p:nvPr/>
        </p:nvSpPr>
        <p:spPr>
          <a:xfrm xmlns:a="http://schemas.openxmlformats.org/drawingml/2006/main">
            <a:off x="411480" y="3419856"/>
            <a:ext cx="146304" cy="146304"/>
          </a:xfrm>
          <a:prstGeom xmlns:a="http://schemas.openxmlformats.org/drawingml/2006/main" prst="ellipse">
            <a:avLst/>
          </a:prstGeom>
          <a:solidFill xmlns:a="http://schemas.openxmlformats.org/drawingml/2006/main">
            <a:srgbClr val="4A9EBA"/>
          </a:solidFill>
        </p:spPr>
      </p:sp>
      <p:sp>
        <p:nvSpPr>
          <p:cNvPr id="13" name="Text 11">
            <a:extLst xmlns:a="http://schemas.openxmlformats.org/drawingml/2006/main">
              <a:ext uri="{FF2B5EF4-FFF2-40B4-BE49-F238E27FC236}">
                <a16:creationId xmlns:a16="http://schemas.microsoft.com/office/drawing/2014/main" id="{403BEA1C-000B-4F7B-BC3E-BDF9D88392B1}"/>
              </a:ext>
            </a:extLst>
          </p:cNvPr>
          <p:cNvSpPr>
            <a:spLocks xmlns:a="http://schemas.openxmlformats.org/drawingml/2006/main" noGrp="1"/>
          </p:cNvSpPr>
          <p:nvPr/>
        </p:nvSpPr>
        <p:spPr>
          <a:xfrm xmlns:a="http://schemas.openxmlformats.org/drawingml/2006/main">
            <a:off x="658368" y="3374136"/>
            <a:ext cx="38404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Dashed line: the Yes / No decision boundary (x = 0)</a:t>
            </a:r>
          </a:p>
        </p:txBody>
      </p:sp>
      <p:sp>
        <p:nvSpPr>
          <p:cNvPr id="14" name="Shape 12">
            <a:extLst xmlns:a="http://schemas.openxmlformats.org/drawingml/2006/main">
              <a:ext uri="{FF2B5EF4-FFF2-40B4-BE49-F238E27FC236}">
                <a16:creationId xmlns:a16="http://schemas.microsoft.com/office/drawing/2014/main" id="{F5753DEC-8DDB-46AF-B19B-FDBEDD5F11F6}"/>
              </a:ext>
            </a:extLst>
          </p:cNvPr>
          <p:cNvSpPr>
            <a:spLocks xmlns:a="http://schemas.openxmlformats.org/drawingml/2006/main" noGrp="1"/>
          </p:cNvSpPr>
          <p:nvPr/>
        </p:nvSpPr>
        <p:spPr>
          <a:xfrm xmlns:a="http://schemas.openxmlformats.org/drawingml/2006/main">
            <a:off x="411480" y="3895344"/>
            <a:ext cx="146304" cy="146304"/>
          </a:xfrm>
          <a:prstGeom xmlns:a="http://schemas.openxmlformats.org/drawingml/2006/main" prst="ellipse">
            <a:avLst/>
          </a:prstGeom>
          <a:solidFill xmlns:a="http://schemas.openxmlformats.org/drawingml/2006/main">
            <a:srgbClr val="4A9EBA"/>
          </a:solidFill>
        </p:spPr>
      </p:sp>
      <p:sp>
        <p:nvSpPr>
          <p:cNvPr id="15" name="Text 13">
            <a:extLst xmlns:a="http://schemas.openxmlformats.org/drawingml/2006/main">
              <a:ext uri="{FF2B5EF4-FFF2-40B4-BE49-F238E27FC236}">
                <a16:creationId xmlns:a16="http://schemas.microsoft.com/office/drawing/2014/main" id="{C08A6B67-9D64-4DD0-9516-BA0E8187FEA3}"/>
              </a:ext>
            </a:extLst>
          </p:cNvPr>
          <p:cNvSpPr>
            <a:spLocks xmlns:a="http://schemas.openxmlformats.org/drawingml/2006/main" noGrp="1"/>
          </p:cNvSpPr>
          <p:nvPr/>
        </p:nvSpPr>
        <p:spPr>
          <a:xfrm xmlns:a="http://schemas.openxmlformats.org/drawingml/2006/main">
            <a:off x="658368" y="3849624"/>
            <a:ext cx="38404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27B: a small push works; a larger push reverses the effect, suggesting a narrow causal window</a:t>
            </a:r>
          </a:p>
        </p:txBody>
      </p:sp>
      <p:pic>
        <p:nvPicPr>
          <p:cNvPr id="33" name="Image 0"/>
          <p:cNvPicPr>
            <a:picLocks xmlns:a="http://schemas.openxmlformats.org/drawingml/2006/main" noChangeAspect="1"/>
          </p:cNvPicPr>
          <p:nvPr/>
        </p:nvPicPr>
        <p:blipFill>
          <a:blip xmlns:r="http://schemas.openxmlformats.org/officeDocument/2006/relationships" xmlns:a="http://schemas.openxmlformats.org/drawingml/2006/main" r:embed="Rddf77118d74a4727"/>
          <a:stretch xmlns:a="http://schemas.openxmlformats.org/drawingml/2006/main">
            <a:fillRect l="0" t="0" r="0" b="0"/>
          </a:stretch>
        </p:blipFill>
        <p:spPr>
          <a:xfrm xmlns:a="http://schemas.openxmlformats.org/drawingml/2006/main">
            <a:off x="4572000" y="868680"/>
            <a:ext cx="4343400" cy="1850545"/>
          </a:xfrm>
          <a:prstGeom xmlns:a="http://schemas.openxmlformats.org/drawingml/2006/main" prst="rect">
            <a:avLst/>
          </a:prstGeom>
        </p:spPr>
      </p:pic>
      <p:sp>
        <p:nvSpPr>
          <p:cNvPr id="17" name="Text 14">
            <a:extLst xmlns:a="http://schemas.openxmlformats.org/drawingml/2006/main">
              <a:ext uri="{FF2B5EF4-FFF2-40B4-BE49-F238E27FC236}">
                <a16:creationId xmlns:a16="http://schemas.microsoft.com/office/drawing/2014/main" id="{A4A06FBC-8767-47D5-A653-212107C8C0F1}"/>
              </a:ext>
            </a:extLst>
          </p:cNvPr>
          <p:cNvSpPr>
            <a:spLocks xmlns:a="http://schemas.openxmlformats.org/drawingml/2006/main" noGrp="1"/>
          </p:cNvSpPr>
          <p:nvPr/>
        </p:nvSpPr>
        <p:spPr>
          <a:xfrm xmlns:a="http://schemas.openxmlformats.org/drawingml/2006/main">
            <a:off x="4572000" y="2792377"/>
            <a:ext cx="4251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i="1">
                <a:solidFill>
                  <a:srgbClr val="8FA5BB"/>
                </a:solidFill>
                <a:latin typeface="Calibri"/>
                <a:ea typeface="Calibri"/>
                <a:cs typeface="Calibri"/>
              </a:rPr>
              <a:t>Fig: Diverging steering, Gemma-3-12B and 27B</a:t>
            </a:r>
          </a:p>
        </p:txBody>
      </p:sp>
    </p:spTree>
    <p:extLst>
      <p:ext uri="{BB962C8B-B14F-4D97-AF65-F5344CB8AC3E}">
        <p14:creationId xmlns:p14="http://schemas.microsoft.com/office/powerpoint/2010/main" val="37126258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A265E817-5B87-4897-9474-100990B06020}"/>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p:spPr>
      </p:sp>
      <p:sp>
        <p:nvSpPr>
          <p:cNvPr id="3" name="Text 1">
            <a:extLst xmlns:a="http://schemas.openxmlformats.org/drawingml/2006/main">
              <a:ext uri="{FF2B5EF4-FFF2-40B4-BE49-F238E27FC236}">
                <a16:creationId xmlns:a16="http://schemas.microsoft.com/office/drawing/2014/main" id="{210990B0-2C4B-49FF-AF73-0931937A1B83}"/>
              </a:ext>
            </a:extLst>
          </p:cNvPr>
          <p:cNvSpPr>
            <a:spLocks xmlns:a="http://schemas.openxmlformats.org/drawingml/2006/main" noGrp="1"/>
          </p:cNvSpPr>
          <p:nvPr/>
        </p:nvSpPr>
        <p:spPr>
          <a:xfrm xmlns:a="http://schemas.openxmlformats.org/drawingml/2006/main">
            <a:off x="411480" y="256032"/>
            <a:ext cx="8321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300" b="1">
                <a:solidFill>
                  <a:srgbClr val="EEF2F7"/>
                </a:solidFill>
                <a:latin typeface="Cambria"/>
                <a:ea typeface="Cambria"/>
                <a:cs typeface="Cambria"/>
              </a:rPr>
              <a:t>Finding 3: Model disparities run opposite to the human benchmark</a:t>
            </a:r>
          </a:p>
        </p:txBody>
      </p:sp>
      <p:sp>
        <p:nvSpPr>
          <p:cNvPr id="4" name="Shape 2">
            <a:extLst xmlns:a="http://schemas.openxmlformats.org/drawingml/2006/main">
              <a:ext uri="{FF2B5EF4-FFF2-40B4-BE49-F238E27FC236}">
                <a16:creationId xmlns:a16="http://schemas.microsoft.com/office/drawing/2014/main" id="{4D9AC85C-AE1B-4A80-AA80-2F915CA5BEA9}"/>
              </a:ext>
            </a:extLst>
          </p:cNvPr>
          <p:cNvSpPr>
            <a:spLocks xmlns:a="http://schemas.openxmlformats.org/drawingml/2006/main" noGrp="1"/>
          </p:cNvSpPr>
          <p:nvPr/>
        </p:nvSpPr>
        <p:spPr>
          <a:xfrm xmlns:a="http://schemas.openxmlformats.org/drawingml/2006/main">
            <a:off x="411480" y="960120"/>
            <a:ext cx="4114800" cy="841248"/>
          </a:xfrm>
          <a:prstGeom xmlns:a="http://schemas.openxmlformats.org/drawingml/2006/main" prst="roundRect">
            <a:avLst>
              <a:gd name="adj" fmla="val 10870"/>
            </a:avLst>
          </a:prstGeom>
          <a:solidFill xmlns:a="http://schemas.openxmlformats.org/drawingml/2006/main">
            <a:srgbClr val="1E2D45"/>
          </a:solidFill>
        </p:spPr>
      </p:sp>
      <p:sp>
        <p:nvSpPr>
          <p:cNvPr id="5" name="Text 3">
            <a:extLst xmlns:a="http://schemas.openxmlformats.org/drawingml/2006/main">
              <a:ext uri="{FF2B5EF4-FFF2-40B4-BE49-F238E27FC236}">
                <a16:creationId xmlns:a16="http://schemas.microsoft.com/office/drawing/2014/main" id="{12D0D784-8C7A-42FF-B653-2C62A27E0033}"/>
              </a:ext>
            </a:extLst>
          </p:cNvPr>
          <p:cNvSpPr>
            <a:spLocks xmlns:a="http://schemas.openxmlformats.org/drawingml/2006/main" noGrp="1"/>
          </p:cNvSpPr>
          <p:nvPr/>
        </p:nvSpPr>
        <p:spPr>
          <a:xfrm xmlns:a="http://schemas.openxmlformats.org/drawingml/2006/main">
            <a:off x="502920" y="978408"/>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a:solidFill>
                  <a:srgbClr val="4A9EBA"/>
                </a:solidFill>
                <a:latin typeface="Calibri"/>
                <a:ea typeface="Calibri"/>
                <a:cs typeface="Calibri"/>
              </a:rPr>
              <a:t>Human benchmark (Gallo &amp; Hausladen, 2024):</a:t>
            </a:r>
          </a:p>
        </p:txBody>
      </p:sp>
      <p:sp>
        <p:nvSpPr>
          <p:cNvPr id="6" name="Text 4">
            <a:extLst xmlns:a="http://schemas.openxmlformats.org/drawingml/2006/main">
              <a:ext uri="{FF2B5EF4-FFF2-40B4-BE49-F238E27FC236}">
                <a16:creationId xmlns:a16="http://schemas.microsoft.com/office/drawing/2014/main" id="{0BCB7F7E-FB35-4194-A405-5AFEB70AFBE2}"/>
              </a:ext>
            </a:extLst>
          </p:cNvPr>
          <p:cNvSpPr>
            <a:spLocks xmlns:a="http://schemas.openxmlformats.org/drawingml/2006/main" noGrp="1"/>
          </p:cNvSpPr>
          <p:nvPr/>
        </p:nvSpPr>
        <p:spPr>
          <a:xfrm xmlns:a="http://schemas.openxmlformats.org/drawingml/2006/main">
            <a:off x="502920" y="1261872"/>
            <a:ext cx="393192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White names receive more callbacks than Black names</a:t>
            </a:r>
          </a:p>
          <a:p xmlns:a="http://schemas.openxmlformats.org/drawingml/2006/main">
            <a:pPr marL="0" indent="0" algn="l">
              <a:buNone/>
            </a:pPr>
            <a:r>
              <a:rPr sz="1200">
                <a:solidFill>
                  <a:srgbClr val="EEF2F7"/>
                </a:solidFill>
                <a:latin typeface="Calibri"/>
                <a:ea typeface="Calibri"/>
                <a:cs typeface="Calibri"/>
              </a:rPr>
              <a:t>Males receive slightly more callbacks than females</a:t>
            </a:r>
          </a:p>
        </p:txBody>
      </p:sp>
      <p:sp>
        <p:nvSpPr>
          <p:cNvPr id="7" name="Shape 5">
            <a:extLst xmlns:a="http://schemas.openxmlformats.org/drawingml/2006/main">
              <a:ext uri="{FF2B5EF4-FFF2-40B4-BE49-F238E27FC236}">
                <a16:creationId xmlns:a16="http://schemas.microsoft.com/office/drawing/2014/main" id="{111C3E20-9767-4BB1-A373-A1A73E2C830A}"/>
              </a:ext>
            </a:extLst>
          </p:cNvPr>
          <p:cNvSpPr>
            <a:spLocks xmlns:a="http://schemas.openxmlformats.org/drawingml/2006/main" noGrp="1"/>
          </p:cNvSpPr>
          <p:nvPr/>
        </p:nvSpPr>
        <p:spPr>
          <a:xfrm xmlns:a="http://schemas.openxmlformats.org/drawingml/2006/main">
            <a:off x="411480" y="1920240"/>
            <a:ext cx="4114800" cy="1417320"/>
          </a:xfrm>
          <a:prstGeom xmlns:a="http://schemas.openxmlformats.org/drawingml/2006/main" prst="roundRect">
            <a:avLst>
              <a:gd name="adj" fmla="val 6452"/>
            </a:avLst>
          </a:prstGeom>
          <a:solidFill xmlns:a="http://schemas.openxmlformats.org/drawingml/2006/main">
            <a:srgbClr val="1E0F0F"/>
          </a:solidFill>
        </p:spPr>
      </p:sp>
      <p:sp>
        <p:nvSpPr>
          <p:cNvPr id="8" name="Text 6">
            <a:extLst xmlns:a="http://schemas.openxmlformats.org/drawingml/2006/main">
              <a:ext uri="{FF2B5EF4-FFF2-40B4-BE49-F238E27FC236}">
                <a16:creationId xmlns:a16="http://schemas.microsoft.com/office/drawing/2014/main" id="{37E347C2-05DE-4191-A432-1426B45508D1}"/>
              </a:ext>
            </a:extLst>
          </p:cNvPr>
          <p:cNvSpPr>
            <a:spLocks xmlns:a="http://schemas.openxmlformats.org/drawingml/2006/main" noGrp="1"/>
          </p:cNvSpPr>
          <p:nvPr/>
        </p:nvSpPr>
        <p:spPr>
          <a:xfrm xmlns:a="http://schemas.openxmlformats.org/drawingml/2006/main">
            <a:off x="502920" y="1947672"/>
            <a:ext cx="393192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b="1">
                <a:solidFill>
                  <a:srgbClr val="E07B54"/>
                </a:solidFill>
                <a:latin typeface="Calibri"/>
                <a:ea typeface="Calibri"/>
                <a:cs typeface="Calibri"/>
              </a:rPr>
              <a:t>What the models do:</a:t>
            </a:r>
          </a:p>
        </p:txBody>
      </p:sp>
      <p:sp>
        <p:nvSpPr>
          <p:cNvPr id="9" name="Shape 7">
            <a:extLst xmlns:a="http://schemas.openxmlformats.org/drawingml/2006/main">
              <a:ext uri="{FF2B5EF4-FFF2-40B4-BE49-F238E27FC236}">
                <a16:creationId xmlns:a16="http://schemas.microsoft.com/office/drawing/2014/main" id="{302556DE-4D40-44D2-8540-8BF4D3C055D7}"/>
              </a:ext>
            </a:extLst>
          </p:cNvPr>
          <p:cNvSpPr>
            <a:spLocks xmlns:a="http://schemas.openxmlformats.org/drawingml/2006/main" noGrp="1"/>
          </p:cNvSpPr>
          <p:nvPr/>
        </p:nvSpPr>
        <p:spPr>
          <a:xfrm xmlns:a="http://schemas.openxmlformats.org/drawingml/2006/main">
            <a:off x="502920" y="2304288"/>
            <a:ext cx="146304" cy="146304"/>
          </a:xfrm>
          <a:prstGeom xmlns:a="http://schemas.openxmlformats.org/drawingml/2006/main" prst="ellipse">
            <a:avLst/>
          </a:prstGeom>
          <a:solidFill xmlns:a="http://schemas.openxmlformats.org/drawingml/2006/main">
            <a:srgbClr val="E07B54"/>
          </a:solidFill>
        </p:spPr>
      </p:sp>
      <p:sp>
        <p:nvSpPr>
          <p:cNvPr id="10" name="Text 8">
            <a:extLst xmlns:a="http://schemas.openxmlformats.org/drawingml/2006/main">
              <a:ext uri="{FF2B5EF4-FFF2-40B4-BE49-F238E27FC236}">
                <a16:creationId xmlns:a16="http://schemas.microsoft.com/office/drawing/2014/main" id="{5DC9EED8-9BB9-4D26-A62D-43D6C9E813AB}"/>
              </a:ext>
            </a:extLst>
          </p:cNvPr>
          <p:cNvSpPr>
            <a:spLocks xmlns:a="http://schemas.openxmlformats.org/drawingml/2006/main" noGrp="1"/>
          </p:cNvSpPr>
          <p:nvPr/>
        </p:nvSpPr>
        <p:spPr>
          <a:xfrm xmlns:a="http://schemas.openxmlformats.org/drawingml/2006/main">
            <a:off x="713232" y="2258568"/>
            <a:ext cx="374904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EF2F7"/>
                </a:solidFill>
                <a:latin typeface="Calibri"/>
                <a:ea typeface="Calibri"/>
                <a:cs typeface="Calibri"/>
              </a:rPr>
              <a:t>All 3 models with reliable data favor Black-signalling names, opposite the human pattern</a:t>
            </a:r>
          </a:p>
        </p:txBody>
      </p:sp>
      <p:sp>
        <p:nvSpPr>
          <p:cNvPr id="11" name="Shape 9">
            <a:extLst xmlns:a="http://schemas.openxmlformats.org/drawingml/2006/main">
              <a:ext uri="{FF2B5EF4-FFF2-40B4-BE49-F238E27FC236}">
                <a16:creationId xmlns:a16="http://schemas.microsoft.com/office/drawing/2014/main" id="{8FCB928E-94E3-43A4-90BD-93F66D30DBC9}"/>
              </a:ext>
            </a:extLst>
          </p:cNvPr>
          <p:cNvSpPr>
            <a:spLocks xmlns:a="http://schemas.openxmlformats.org/drawingml/2006/main" noGrp="1"/>
          </p:cNvSpPr>
          <p:nvPr/>
        </p:nvSpPr>
        <p:spPr>
          <a:xfrm xmlns:a="http://schemas.openxmlformats.org/drawingml/2006/main">
            <a:off x="502920" y="2642616"/>
            <a:ext cx="146304" cy="146304"/>
          </a:xfrm>
          <a:prstGeom xmlns:a="http://schemas.openxmlformats.org/drawingml/2006/main" prst="ellipse">
            <a:avLst/>
          </a:prstGeom>
          <a:solidFill xmlns:a="http://schemas.openxmlformats.org/drawingml/2006/main">
            <a:srgbClr val="E07B54"/>
          </a:solidFill>
        </p:spPr>
      </p:sp>
      <p:sp>
        <p:nvSpPr>
          <p:cNvPr id="12" name="Text 10">
            <a:extLst xmlns:a="http://schemas.openxmlformats.org/drawingml/2006/main">
              <a:ext uri="{FF2B5EF4-FFF2-40B4-BE49-F238E27FC236}">
                <a16:creationId xmlns:a16="http://schemas.microsoft.com/office/drawing/2014/main" id="{1A2080E9-9032-4499-8814-8494487F820D}"/>
              </a:ext>
            </a:extLst>
          </p:cNvPr>
          <p:cNvSpPr>
            <a:spLocks xmlns:a="http://schemas.openxmlformats.org/drawingml/2006/main" noGrp="1"/>
          </p:cNvSpPr>
          <p:nvPr/>
        </p:nvSpPr>
        <p:spPr>
          <a:xfrm xmlns:a="http://schemas.openxmlformats.org/drawingml/2006/main">
            <a:off x="713232" y="2596896"/>
            <a:ext cx="374904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EF2F7"/>
                </a:solidFill>
                <a:latin typeface="Calibri"/>
                <a:ea typeface="Calibri"/>
                <a:cs typeface="Calibri"/>
              </a:rPr>
              <a:t>Gemma-27B: race gap +1.18 SD, more than 1 SD above White names</a:t>
            </a:r>
          </a:p>
        </p:txBody>
      </p:sp>
      <p:sp>
        <p:nvSpPr>
          <p:cNvPr id="13" name="Shape 11">
            <a:extLst xmlns:a="http://schemas.openxmlformats.org/drawingml/2006/main">
              <a:ext uri="{FF2B5EF4-FFF2-40B4-BE49-F238E27FC236}">
                <a16:creationId xmlns:a16="http://schemas.microsoft.com/office/drawing/2014/main" id="{1988332D-50EE-4D02-B1F7-A7CAEBD9E335}"/>
              </a:ext>
            </a:extLst>
          </p:cNvPr>
          <p:cNvSpPr>
            <a:spLocks xmlns:a="http://schemas.openxmlformats.org/drawingml/2006/main" noGrp="1"/>
          </p:cNvSpPr>
          <p:nvPr/>
        </p:nvSpPr>
        <p:spPr>
          <a:xfrm xmlns:a="http://schemas.openxmlformats.org/drawingml/2006/main">
            <a:off x="502920" y="2980944"/>
            <a:ext cx="146304" cy="146304"/>
          </a:xfrm>
          <a:prstGeom xmlns:a="http://schemas.openxmlformats.org/drawingml/2006/main" prst="ellipse">
            <a:avLst/>
          </a:prstGeom>
          <a:solidFill xmlns:a="http://schemas.openxmlformats.org/drawingml/2006/main">
            <a:srgbClr val="E07B54"/>
          </a:solidFill>
        </p:spPr>
      </p:sp>
      <p:sp>
        <p:nvSpPr>
          <p:cNvPr id="14" name="Text 12">
            <a:extLst xmlns:a="http://schemas.openxmlformats.org/drawingml/2006/main">
              <a:ext uri="{FF2B5EF4-FFF2-40B4-BE49-F238E27FC236}">
                <a16:creationId xmlns:a16="http://schemas.microsoft.com/office/drawing/2014/main" id="{58593375-2AE8-4F5C-B718-91B1C42071EC}"/>
              </a:ext>
            </a:extLst>
          </p:cNvPr>
          <p:cNvSpPr>
            <a:spLocks xmlns:a="http://schemas.openxmlformats.org/drawingml/2006/main" noGrp="1"/>
          </p:cNvSpPr>
          <p:nvPr/>
        </p:nvSpPr>
        <p:spPr>
          <a:xfrm xmlns:a="http://schemas.openxmlformats.org/drawingml/2006/main">
            <a:off x="713232" y="2935224"/>
            <a:ext cx="374904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a:solidFill>
                  <a:srgbClr val="EEF2F7"/>
                </a:solidFill>
                <a:latin typeface="Calibri"/>
                <a:ea typeface="Calibri"/>
                <a:cs typeface="Calibri"/>
              </a:rPr>
              <a:t>27B matches human gender direction; Llama and Qwen reverse it</a:t>
            </a:r>
          </a:p>
        </p:txBody>
      </p:sp>
      <p:sp>
        <p:nvSpPr>
          <p:cNvPr id="15" name="Shape 13">
            <a:extLst xmlns:a="http://schemas.openxmlformats.org/drawingml/2006/main">
              <a:ext uri="{FF2B5EF4-FFF2-40B4-BE49-F238E27FC236}">
                <a16:creationId xmlns:a16="http://schemas.microsoft.com/office/drawing/2014/main" id="{D249E1A9-048E-40F8-B7A0-9C341560BAA6}"/>
              </a:ext>
            </a:extLst>
          </p:cNvPr>
          <p:cNvSpPr>
            <a:spLocks xmlns:a="http://schemas.openxmlformats.org/drawingml/2006/main" noGrp="1"/>
          </p:cNvSpPr>
          <p:nvPr/>
        </p:nvSpPr>
        <p:spPr>
          <a:xfrm xmlns:a="http://schemas.openxmlformats.org/drawingml/2006/main">
            <a:off x="411480" y="3474720"/>
            <a:ext cx="4114800" cy="566928"/>
          </a:xfrm>
          <a:prstGeom xmlns:a="http://schemas.openxmlformats.org/drawingml/2006/main" prst="roundRect">
            <a:avLst>
              <a:gd name="adj" fmla="val 16129"/>
            </a:avLst>
          </a:prstGeom>
          <a:solidFill xmlns:a="http://schemas.openxmlformats.org/drawingml/2006/main">
            <a:srgbClr val="4A9EBA">
              <a:alpha val="22000"/>
            </a:srgbClr>
          </a:solidFill>
        </p:spPr>
      </p:sp>
      <p:sp>
        <p:nvSpPr>
          <p:cNvPr id="16" name="Text 14">
            <a:extLst xmlns:a="http://schemas.openxmlformats.org/drawingml/2006/main">
              <a:ext uri="{FF2B5EF4-FFF2-40B4-BE49-F238E27FC236}">
                <a16:creationId xmlns:a16="http://schemas.microsoft.com/office/drawing/2014/main" id="{75B43BAA-FB7F-45AC-A11E-80888A6FDC8E}"/>
              </a:ext>
            </a:extLst>
          </p:cNvPr>
          <p:cNvSpPr>
            <a:spLocks xmlns:a="http://schemas.openxmlformats.org/drawingml/2006/main" noGrp="1"/>
          </p:cNvSpPr>
          <p:nvPr/>
        </p:nvSpPr>
        <p:spPr>
          <a:xfrm xmlns:a="http://schemas.openxmlformats.org/drawingml/2006/main">
            <a:off x="502920" y="3502152"/>
            <a:ext cx="3931920" cy="5212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EEF2F7"/>
                </a:solidFill>
                <a:latin typeface="Calibri"/>
                <a:ea typeface="Calibri"/>
                <a:cs typeface="Calibri"/>
              </a:rPr>
              <a:t>One possible explanation: safety fine-tuning may have overcorrected for racial associations, reversing the gap rather than removing it.</a:t>
            </a:r>
          </a:p>
        </p:txBody>
      </p:sp>
      <p:pic>
        <p:nvPicPr>
          <p:cNvPr id="35" name="Image 0"/>
          <p:cNvPicPr>
            <a:picLocks xmlns:a="http://schemas.openxmlformats.org/drawingml/2006/main" noChangeAspect="1"/>
          </p:cNvPicPr>
          <p:nvPr/>
        </p:nvPicPr>
        <p:blipFill>
          <a:blip xmlns:r="http://schemas.openxmlformats.org/officeDocument/2006/relationships" xmlns:a="http://schemas.openxmlformats.org/drawingml/2006/main" r:embed="R79291529d29246a4"/>
          <a:stretch xmlns:a="http://schemas.openxmlformats.org/drawingml/2006/main">
            <a:fillRect l="0" t="0" r="0" b="0"/>
          </a:stretch>
        </p:blipFill>
        <p:spPr>
          <a:xfrm xmlns:a="http://schemas.openxmlformats.org/drawingml/2006/main">
            <a:off x="4572000" y="868680"/>
            <a:ext cx="4343400" cy="1543832"/>
          </a:xfrm>
          <a:prstGeom xmlns:a="http://schemas.openxmlformats.org/drawingml/2006/main" prst="rect">
            <a:avLst/>
          </a:prstGeom>
        </p:spPr>
      </p:pic>
      <p:sp>
        <p:nvSpPr>
          <p:cNvPr id="18" name="Text 15">
            <a:extLst xmlns:a="http://schemas.openxmlformats.org/drawingml/2006/main">
              <a:ext uri="{FF2B5EF4-FFF2-40B4-BE49-F238E27FC236}">
                <a16:creationId xmlns:a16="http://schemas.microsoft.com/office/drawing/2014/main" id="{DBA43EAB-C8A0-466E-9EDB-EC2631920ADC}"/>
              </a:ext>
            </a:extLst>
          </p:cNvPr>
          <p:cNvSpPr>
            <a:spLocks xmlns:a="http://schemas.openxmlformats.org/drawingml/2006/main" noGrp="1"/>
          </p:cNvSpPr>
          <p:nvPr/>
        </p:nvSpPr>
        <p:spPr>
          <a:xfrm xmlns:a="http://schemas.openxmlformats.org/drawingml/2006/main">
            <a:off x="4572000" y="2485664"/>
            <a:ext cx="4251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i="1">
                <a:solidFill>
                  <a:srgbClr val="8FA5BB"/>
                </a:solidFill>
                <a:latin typeface="Calibri"/>
                <a:ea typeface="Calibri"/>
                <a:cs typeface="Calibri"/>
              </a:rPr>
              <a:t>Fig: Model disparity vs human benchmark</a:t>
            </a:r>
          </a:p>
        </p:txBody>
      </p:sp>
    </p:spTree>
    <p:extLst>
      <p:ext uri="{BB962C8B-B14F-4D97-AF65-F5344CB8AC3E}">
        <p14:creationId xmlns:p14="http://schemas.microsoft.com/office/powerpoint/2010/main" val="125520857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8C21086E-D485-4FFB-97C7-B5FFEA4EA022}"/>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E2D45"/>
          </a:solidFill>
        </p:spPr>
      </p:sp>
      <p:sp>
        <p:nvSpPr>
          <p:cNvPr id="3" name="Text 1">
            <a:extLst xmlns:a="http://schemas.openxmlformats.org/drawingml/2006/main">
              <a:ext uri="{FF2B5EF4-FFF2-40B4-BE49-F238E27FC236}">
                <a16:creationId xmlns:a16="http://schemas.microsoft.com/office/drawing/2014/main" id="{5A168E49-6118-4721-9B5C-39602898245D}"/>
              </a:ext>
            </a:extLst>
          </p:cNvPr>
          <p:cNvSpPr>
            <a:spLocks xmlns:a="http://schemas.openxmlformats.org/drawingml/2006/main" noGrp="1"/>
          </p:cNvSpPr>
          <p:nvPr/>
        </p:nvSpPr>
        <p:spPr>
          <a:xfrm xmlns:a="http://schemas.openxmlformats.org/drawingml/2006/main">
            <a:off x="411480" y="256032"/>
            <a:ext cx="832104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300" b="1">
                <a:solidFill>
                  <a:srgbClr val="EEF2F7"/>
                </a:solidFill>
                <a:latin typeface="Cambria"/>
                <a:ea typeface="Cambria"/>
                <a:cs typeface="Cambria"/>
              </a:rPr>
              <a:t>The representation mediates the decision, but not where you would expect</a:t>
            </a:r>
          </a:p>
        </p:txBody>
      </p:sp>
      <p:sp>
        <p:nvSpPr>
          <p:cNvPr id="4" name="Shape 2">
            <a:extLst xmlns:a="http://schemas.openxmlformats.org/drawingml/2006/main">
              <a:ext uri="{FF2B5EF4-FFF2-40B4-BE49-F238E27FC236}">
                <a16:creationId xmlns:a16="http://schemas.microsoft.com/office/drawing/2014/main" id="{602843BC-2749-4B51-B17D-F66ED73F1283}"/>
              </a:ext>
            </a:extLst>
          </p:cNvPr>
          <p:cNvSpPr>
            <a:spLocks xmlns:a="http://schemas.openxmlformats.org/drawingml/2006/main" noGrp="1"/>
          </p:cNvSpPr>
          <p:nvPr/>
        </p:nvSpPr>
        <p:spPr>
          <a:xfrm xmlns:a="http://schemas.openxmlformats.org/drawingml/2006/main">
            <a:off x="411480" y="960120"/>
            <a:ext cx="4114800" cy="1234440"/>
          </a:xfrm>
          <a:prstGeom xmlns:a="http://schemas.openxmlformats.org/drawingml/2006/main" prst="roundRect">
            <a:avLst>
              <a:gd name="adj" fmla="val 7407"/>
            </a:avLst>
          </a:prstGeom>
          <a:solidFill xmlns:a="http://schemas.openxmlformats.org/drawingml/2006/main">
            <a:srgbClr val="12161F"/>
          </a:solidFill>
        </p:spPr>
      </p:sp>
      <p:sp>
        <p:nvSpPr>
          <p:cNvPr id="5" name="Text 3">
            <a:extLst xmlns:a="http://schemas.openxmlformats.org/drawingml/2006/main">
              <a:ext uri="{FF2B5EF4-FFF2-40B4-BE49-F238E27FC236}">
                <a16:creationId xmlns:a16="http://schemas.microsoft.com/office/drawing/2014/main" id="{A247F437-7B7D-40A3-9C03-537EA324392C}"/>
              </a:ext>
            </a:extLst>
          </p:cNvPr>
          <p:cNvSpPr>
            <a:spLocks xmlns:a="http://schemas.openxmlformats.org/drawingml/2006/main" noGrp="1"/>
          </p:cNvSpPr>
          <p:nvPr/>
        </p:nvSpPr>
        <p:spPr>
          <a:xfrm xmlns:a="http://schemas.openxmlformats.org/drawingml/2006/main">
            <a:off x="502920" y="987552"/>
            <a:ext cx="3931920" cy="5303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Does the warmth/competence probe score carry the name-group signal into the callback decision?</a:t>
            </a:r>
          </a:p>
        </p:txBody>
      </p:sp>
      <p:sp>
        <p:nvSpPr>
          <p:cNvPr id="6" name="Text 4">
            <a:extLst xmlns:a="http://schemas.openxmlformats.org/drawingml/2006/main">
              <a:ext uri="{FF2B5EF4-FFF2-40B4-BE49-F238E27FC236}">
                <a16:creationId xmlns:a16="http://schemas.microsoft.com/office/drawing/2014/main" id="{3381CF9C-3842-4126-B6C5-25BCD0E87ADA}"/>
              </a:ext>
            </a:extLst>
          </p:cNvPr>
          <p:cNvSpPr>
            <a:spLocks xmlns:a="http://schemas.openxmlformats.org/drawingml/2006/main" noGrp="1"/>
          </p:cNvSpPr>
          <p:nvPr/>
        </p:nvSpPr>
        <p:spPr>
          <a:xfrm xmlns:a="http://schemas.openxmlformats.org/drawingml/2006/main">
            <a:off x="502920" y="1536192"/>
            <a:ext cx="393192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00" b="1">
                <a:solidFill>
                  <a:srgbClr val="4A9EBA"/>
                </a:solidFill>
                <a:latin typeface="Calibri"/>
                <a:ea typeface="Calibri"/>
                <a:cs typeface="Calibri"/>
              </a:rPr>
              <a:t>name group  →  probe score  →  callback margin</a:t>
            </a:r>
          </a:p>
        </p:txBody>
      </p:sp>
      <p:sp>
        <p:nvSpPr>
          <p:cNvPr id="7" name="Text 5">
            <a:extLst xmlns:a="http://schemas.openxmlformats.org/drawingml/2006/main">
              <a:ext uri="{FF2B5EF4-FFF2-40B4-BE49-F238E27FC236}">
                <a16:creationId xmlns:a16="http://schemas.microsoft.com/office/drawing/2014/main" id="{1C4A0C0B-D6BA-4BFD-BECD-3B7FFD77733E}"/>
              </a:ext>
            </a:extLst>
          </p:cNvPr>
          <p:cNvSpPr>
            <a:spLocks xmlns:a="http://schemas.openxmlformats.org/drawingml/2006/main" noGrp="1"/>
          </p:cNvSpPr>
          <p:nvPr/>
        </p:nvSpPr>
        <p:spPr>
          <a:xfrm xmlns:a="http://schemas.openxmlformats.org/drawingml/2006/main">
            <a:off x="502920" y="1856232"/>
            <a:ext cx="3931920" cy="30175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8FA5BB"/>
                </a:solidFill>
                <a:latin typeface="Calibri"/>
                <a:ea typeface="Calibri"/>
                <a:cs typeface="Calibri"/>
              </a:rPr>
              <a:t>Significant for Llama (race × warmth). Not significant for Gemma.</a:t>
            </a:r>
          </a:p>
        </p:txBody>
      </p:sp>
      <p:sp>
        <p:nvSpPr>
          <p:cNvPr id="8" name="Shape 6">
            <a:extLst xmlns:a="http://schemas.openxmlformats.org/drawingml/2006/main">
              <a:ext uri="{FF2B5EF4-FFF2-40B4-BE49-F238E27FC236}">
                <a16:creationId xmlns:a16="http://schemas.microsoft.com/office/drawing/2014/main" id="{8BDAF820-17B9-404E-BCC6-FC4FB9CF2C02}"/>
              </a:ext>
            </a:extLst>
          </p:cNvPr>
          <p:cNvSpPr>
            <a:spLocks xmlns:a="http://schemas.openxmlformats.org/drawingml/2006/main" noGrp="1"/>
          </p:cNvSpPr>
          <p:nvPr/>
        </p:nvSpPr>
        <p:spPr>
          <a:xfrm xmlns:a="http://schemas.openxmlformats.org/drawingml/2006/main">
            <a:off x="411480" y="2286000"/>
            <a:ext cx="4114800" cy="1417320"/>
          </a:xfrm>
          <a:prstGeom xmlns:a="http://schemas.openxmlformats.org/drawingml/2006/main" prst="roundRect">
            <a:avLst>
              <a:gd name="adj" fmla="val 6452"/>
            </a:avLst>
          </a:prstGeom>
          <a:solidFill xmlns:a="http://schemas.openxmlformats.org/drawingml/2006/main">
            <a:srgbClr val="150D22"/>
          </a:solidFill>
        </p:spPr>
      </p:sp>
      <p:sp>
        <p:nvSpPr>
          <p:cNvPr id="9" name="Text 7">
            <a:extLst xmlns:a="http://schemas.openxmlformats.org/drawingml/2006/main">
              <a:ext uri="{FF2B5EF4-FFF2-40B4-BE49-F238E27FC236}">
                <a16:creationId xmlns:a16="http://schemas.microsoft.com/office/drawing/2014/main" id="{2F9E4E21-455E-4301-BC65-B81DAC4EF98B}"/>
              </a:ext>
            </a:extLst>
          </p:cNvPr>
          <p:cNvSpPr>
            <a:spLocks xmlns:a="http://schemas.openxmlformats.org/drawingml/2006/main" noGrp="1"/>
          </p:cNvSpPr>
          <p:nvPr/>
        </p:nvSpPr>
        <p:spPr>
          <a:xfrm xmlns:a="http://schemas.openxmlformats.org/drawingml/2006/main">
            <a:off x="502920" y="2313432"/>
            <a:ext cx="39319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E07B54"/>
                </a:solidFill>
                <a:latin typeface="Cambria"/>
                <a:ea typeface="Cambria"/>
                <a:cs typeface="Cambria"/>
              </a:rPr>
              <a:t>Steerability Paradox</a:t>
            </a:r>
          </a:p>
        </p:txBody>
      </p:sp>
      <p:sp>
        <p:nvSpPr>
          <p:cNvPr id="10" name="Text 8">
            <a:extLst xmlns:a="http://schemas.openxmlformats.org/drawingml/2006/main">
              <a:ext uri="{FF2B5EF4-FFF2-40B4-BE49-F238E27FC236}">
                <a16:creationId xmlns:a16="http://schemas.microsoft.com/office/drawing/2014/main" id="{F839E434-5BE0-4A10-9AB8-8FCBAD5D966E}"/>
              </a:ext>
            </a:extLst>
          </p:cNvPr>
          <p:cNvSpPr>
            <a:spLocks xmlns:a="http://schemas.openxmlformats.org/drawingml/2006/main" noGrp="1"/>
          </p:cNvSpPr>
          <p:nvPr/>
        </p:nvSpPr>
        <p:spPr>
          <a:xfrm xmlns:a="http://schemas.openxmlformats.org/drawingml/2006/main">
            <a:off x="502920" y="2651760"/>
            <a:ext cx="393192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EEF2F7"/>
                </a:solidFill>
                <a:latin typeface="Calibri"/>
                <a:ea typeface="Calibri"/>
                <a:cs typeface="Calibri"/>
              </a:rPr>
              <a:t>Gemma-12B: easiest to steer externally  →  no significant mediation</a:t>
            </a:r>
          </a:p>
          <a:p xmlns:a="http://schemas.openxmlformats.org/drawingml/2006/main">
            <a:pPr marL="0" indent="0" algn="l">
              <a:buNone/>
            </a:pPr>
            <a:r>
              <a:rPr sz="1200">
                <a:solidFill>
                  <a:srgbClr val="EEF2F7"/>
                </a:solidFill>
                <a:latin typeface="Calibri"/>
                <a:ea typeface="Calibri"/>
                <a:cs typeface="Calibri"/>
              </a:rPr>
              <a:t>Llama-8B: hardest to steer externally  →  strongest mediation effect</a:t>
            </a:r>
          </a:p>
        </p:txBody>
      </p:sp>
      <p:sp>
        <p:nvSpPr>
          <p:cNvPr id="11" name="Text 9">
            <a:extLst xmlns:a="http://schemas.openxmlformats.org/drawingml/2006/main">
              <a:ext uri="{FF2B5EF4-FFF2-40B4-BE49-F238E27FC236}">
                <a16:creationId xmlns:a16="http://schemas.microsoft.com/office/drawing/2014/main" id="{CCBC2373-5CEB-40FA-B187-863603768A65}"/>
              </a:ext>
            </a:extLst>
          </p:cNvPr>
          <p:cNvSpPr>
            <a:spLocks xmlns:a="http://schemas.openxmlformats.org/drawingml/2006/main" noGrp="1"/>
          </p:cNvSpPr>
          <p:nvPr/>
        </p:nvSpPr>
        <p:spPr>
          <a:xfrm xmlns:a="http://schemas.openxmlformats.org/drawingml/2006/main">
            <a:off x="411480" y="3794760"/>
            <a:ext cx="41148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100" i="1">
                <a:solidFill>
                  <a:srgbClr val="8FA5BB"/>
                </a:solidFill>
                <a:latin typeface="Calibri"/>
                <a:ea typeface="Calibri"/>
                <a:cs typeface="Calibri"/>
              </a:rPr>
              <a:t>Concept-level steerability and natural causal mediation measure different things.</a:t>
            </a:r>
          </a:p>
        </p:txBody>
      </p:sp>
      <p:pic>
        <p:nvPicPr>
          <p:cNvPr id="25" name="Image 0"/>
          <p:cNvPicPr>
            <a:picLocks xmlns:a="http://schemas.openxmlformats.org/drawingml/2006/main" noChangeAspect="1"/>
          </p:cNvPicPr>
          <p:nvPr/>
        </p:nvPicPr>
        <p:blipFill>
          <a:blip xmlns:r="http://schemas.openxmlformats.org/officeDocument/2006/relationships" xmlns:a="http://schemas.openxmlformats.org/drawingml/2006/main" r:embed="Rf811c5a94f11453c"/>
          <a:stretch xmlns:a="http://schemas.openxmlformats.org/drawingml/2006/main">
            <a:fillRect l="0" t="0" r="0" b="0"/>
          </a:stretch>
        </p:blipFill>
        <p:spPr>
          <a:xfrm xmlns:a="http://schemas.openxmlformats.org/drawingml/2006/main">
            <a:off x="4800600" y="822960"/>
            <a:ext cx="3749039" cy="3678329"/>
          </a:xfrm>
          <a:prstGeom xmlns:a="http://schemas.openxmlformats.org/drawingml/2006/main" prst="rect">
            <a:avLst/>
          </a:prstGeom>
        </p:spPr>
      </p:pic>
      <p:sp>
        <p:nvSpPr>
          <p:cNvPr id="13" name="Text 10">
            <a:extLst xmlns:a="http://schemas.openxmlformats.org/drawingml/2006/main">
              <a:ext uri="{FF2B5EF4-FFF2-40B4-BE49-F238E27FC236}">
                <a16:creationId xmlns:a16="http://schemas.microsoft.com/office/drawing/2014/main" id="{3F1951E5-682B-4445-BF3B-7D5796EF819D}"/>
              </a:ext>
            </a:extLst>
          </p:cNvPr>
          <p:cNvSpPr>
            <a:spLocks xmlns:a="http://schemas.openxmlformats.org/drawingml/2006/main" noGrp="1"/>
          </p:cNvSpPr>
          <p:nvPr/>
        </p:nvSpPr>
        <p:spPr>
          <a:xfrm xmlns:a="http://schemas.openxmlformats.org/drawingml/2006/main">
            <a:off x="4800600" y="4574441"/>
            <a:ext cx="42519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000" i="1">
                <a:solidFill>
                  <a:srgbClr val="8FA5BB"/>
                </a:solidFill>
                <a:latin typeface="Calibri"/>
                <a:ea typeface="Calibri"/>
                <a:cs typeface="Calibri"/>
              </a:rPr>
              <a:t>Fig: Bootstrap mediation forest plot, indirect effects with 95% CI</a:t>
            </a:r>
          </a:p>
        </p:txBody>
      </p:sp>
    </p:spTree>
    <p:extLst>
      <p:ext uri="{BB962C8B-B14F-4D97-AF65-F5344CB8AC3E}">
        <p14:creationId xmlns:p14="http://schemas.microsoft.com/office/powerpoint/2010/main" val="1692552543"/>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03ECA423-FA67-476D-B65F-E52F5B84F2EE}"/>
              </a:ext>
            </a:extLst>
          </p:cNvPr>
          <p:cNvSpPr>
            <a:spLocks xmlns:a="http://schemas.openxmlformats.org/drawingml/2006/main" noGrp="1"/>
          </p:cNvSpPr>
          <p:nvPr/>
        </p:nvSpPr>
        <p:spPr>
          <a:xfrm xmlns:a="http://schemas.openxmlformats.org/drawingml/2006/main">
            <a:off x="0" y="0"/>
            <a:ext cx="9144000" cy="5143500"/>
          </a:xfrm>
          <a:prstGeom xmlns:a="http://schemas.openxmlformats.org/drawingml/2006/main" prst="rect">
            <a:avLst/>
          </a:prstGeom>
          <a:solidFill xmlns:a="http://schemas.openxmlformats.org/drawingml/2006/main">
            <a:srgbClr val="12161F"/>
          </a:solidFill>
        </p:spPr>
      </p:sp>
      <p:sp>
        <p:nvSpPr>
          <p:cNvPr id="3" name="Shape 1">
            <a:extLst xmlns:a="http://schemas.openxmlformats.org/drawingml/2006/main">
              <a:ext uri="{FF2B5EF4-FFF2-40B4-BE49-F238E27FC236}">
                <a16:creationId xmlns:a16="http://schemas.microsoft.com/office/drawing/2014/main" id="{12FCF1BD-B9DC-4597-8528-B7482E7DC27D}"/>
              </a:ext>
            </a:extLst>
          </p:cNvPr>
          <p:cNvSpPr>
            <a:spLocks xmlns:a="http://schemas.openxmlformats.org/drawingml/2006/main" noGrp="1"/>
          </p:cNvSpPr>
          <p:nvPr/>
        </p:nvSpPr>
        <p:spPr>
          <a:xfrm xmlns:a="http://schemas.openxmlformats.org/drawingml/2006/main">
            <a:off x="-1188720" y="3108960"/>
            <a:ext cx="5029200" cy="5029200"/>
          </a:xfrm>
          <a:prstGeom xmlns:a="http://schemas.openxmlformats.org/drawingml/2006/main" prst="ellipse">
            <a:avLst/>
          </a:prstGeom>
          <a:solidFill xmlns:a="http://schemas.openxmlformats.org/drawingml/2006/main">
            <a:srgbClr val="4A9EBA">
              <a:alpha val="12000"/>
            </a:srgbClr>
          </a:solidFill>
        </p:spPr>
      </p:sp>
      <p:sp>
        <p:nvSpPr>
          <p:cNvPr id="4" name="Text 2">
            <a:extLst xmlns:a="http://schemas.openxmlformats.org/drawingml/2006/main">
              <a:ext uri="{FF2B5EF4-FFF2-40B4-BE49-F238E27FC236}">
                <a16:creationId xmlns:a16="http://schemas.microsoft.com/office/drawing/2014/main" id="{43720C5C-0006-499E-A4E8-CD83544FFD02}"/>
              </a:ext>
            </a:extLst>
          </p:cNvPr>
          <p:cNvSpPr>
            <a:spLocks xmlns:a="http://schemas.openxmlformats.org/drawingml/2006/main" noGrp="1"/>
          </p:cNvSpPr>
          <p:nvPr/>
        </p:nvSpPr>
        <p:spPr>
          <a:xfrm xmlns:a="http://schemas.openxmlformats.org/drawingml/2006/main">
            <a:off x="502920" y="292608"/>
            <a:ext cx="8138160" cy="56692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800" b="1">
                <a:solidFill>
                  <a:srgbClr val="EEF2F7"/>
                </a:solidFill>
                <a:latin typeface="Cambria"/>
                <a:ea typeface="Cambria"/>
                <a:cs typeface="Cambria"/>
              </a:rPr>
              <a:t>What this means</a:t>
            </a:r>
          </a:p>
        </p:txBody>
      </p:sp>
      <p:sp>
        <p:nvSpPr>
          <p:cNvPr id="5" name="Shape 3">
            <a:extLst xmlns:a="http://schemas.openxmlformats.org/drawingml/2006/main">
              <a:ext uri="{FF2B5EF4-FFF2-40B4-BE49-F238E27FC236}">
                <a16:creationId xmlns:a16="http://schemas.microsoft.com/office/drawing/2014/main" id="{FB55D405-15EB-40FC-BEB3-BDF449BD0F5A}"/>
              </a:ext>
            </a:extLst>
          </p:cNvPr>
          <p:cNvSpPr>
            <a:spLocks xmlns:a="http://schemas.openxmlformats.org/drawingml/2006/main" noGrp="1"/>
          </p:cNvSpPr>
          <p:nvPr/>
        </p:nvSpPr>
        <p:spPr>
          <a:xfrm xmlns:a="http://schemas.openxmlformats.org/drawingml/2006/main">
            <a:off x="502920" y="877824"/>
            <a:ext cx="822960" cy="36576"/>
          </a:xfrm>
          <a:prstGeom xmlns:a="http://schemas.openxmlformats.org/drawingml/2006/main" prst="rect">
            <a:avLst/>
          </a:prstGeom>
          <a:solidFill xmlns:a="http://schemas.openxmlformats.org/drawingml/2006/main">
            <a:srgbClr val="4A9EBA"/>
          </a:solidFill>
        </p:spPr>
      </p:sp>
      <p:sp>
        <p:nvSpPr>
          <p:cNvPr id="6" name="Shape 4">
            <a:extLst xmlns:a="http://schemas.openxmlformats.org/drawingml/2006/main">
              <a:ext uri="{FF2B5EF4-FFF2-40B4-BE49-F238E27FC236}">
                <a16:creationId xmlns:a16="http://schemas.microsoft.com/office/drawing/2014/main" id="{8047A6B6-E8D1-41B1-9D30-D77DFB7D75DC}"/>
              </a:ext>
            </a:extLst>
          </p:cNvPr>
          <p:cNvSpPr>
            <a:spLocks xmlns:a="http://schemas.openxmlformats.org/drawingml/2006/main" noGrp="1"/>
          </p:cNvSpPr>
          <p:nvPr/>
        </p:nvSpPr>
        <p:spPr>
          <a:xfrm xmlns:a="http://schemas.openxmlformats.org/drawingml/2006/main">
            <a:off x="502920" y="1005840"/>
            <a:ext cx="8229600" cy="1115568"/>
          </a:xfrm>
          <a:prstGeom xmlns:a="http://schemas.openxmlformats.org/drawingml/2006/main" prst="roundRect">
            <a:avLst>
              <a:gd name="adj" fmla="val 8197"/>
            </a:avLst>
          </a:prstGeom>
          <a:solidFill xmlns:a="http://schemas.openxmlformats.org/drawingml/2006/main">
            <a:srgbClr val="1E2D45"/>
          </a:solidFill>
        </p:spPr>
      </p:sp>
      <p:sp>
        <p:nvSpPr>
          <p:cNvPr id="7" name="Shape 5">
            <a:extLst xmlns:a="http://schemas.openxmlformats.org/drawingml/2006/main">
              <a:ext uri="{FF2B5EF4-FFF2-40B4-BE49-F238E27FC236}">
                <a16:creationId xmlns:a16="http://schemas.microsoft.com/office/drawing/2014/main" id="{C303D1C9-8362-45AE-9A1F-1CD5A91FC67E}"/>
              </a:ext>
            </a:extLst>
          </p:cNvPr>
          <p:cNvSpPr>
            <a:spLocks xmlns:a="http://schemas.openxmlformats.org/drawingml/2006/main" noGrp="1"/>
          </p:cNvSpPr>
          <p:nvPr/>
        </p:nvSpPr>
        <p:spPr>
          <a:xfrm xmlns:a="http://schemas.openxmlformats.org/drawingml/2006/main">
            <a:off x="502920" y="1005840"/>
            <a:ext cx="457200" cy="1115568"/>
          </a:xfrm>
          <a:prstGeom xmlns:a="http://schemas.openxmlformats.org/drawingml/2006/main" prst="roundRect">
            <a:avLst>
              <a:gd name="adj" fmla="val 20000"/>
            </a:avLst>
          </a:prstGeom>
          <a:solidFill xmlns:a="http://schemas.openxmlformats.org/drawingml/2006/main">
            <a:srgbClr val="4A9EBA"/>
          </a:solidFill>
        </p:spPr>
      </p:sp>
      <p:sp>
        <p:nvSpPr>
          <p:cNvPr id="8" name="Text 6">
            <a:extLst xmlns:a="http://schemas.openxmlformats.org/drawingml/2006/main">
              <a:ext uri="{FF2B5EF4-FFF2-40B4-BE49-F238E27FC236}">
                <a16:creationId xmlns:a16="http://schemas.microsoft.com/office/drawing/2014/main" id="{C8956C7D-A175-4B50-8BC1-8E8B462016EA}"/>
              </a:ext>
            </a:extLst>
          </p:cNvPr>
          <p:cNvSpPr>
            <a:spLocks xmlns:a="http://schemas.openxmlformats.org/drawingml/2006/main" noGrp="1"/>
          </p:cNvSpPr>
          <p:nvPr/>
        </p:nvSpPr>
        <p:spPr>
          <a:xfrm xmlns:a="http://schemas.openxmlformats.org/drawingml/2006/main">
            <a:off x="502920" y="1005840"/>
            <a:ext cx="45720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01</a:t>
            </a:r>
          </a:p>
        </p:txBody>
      </p:sp>
      <p:sp>
        <p:nvSpPr>
          <p:cNvPr id="9" name="Text 7">
            <a:extLst xmlns:a="http://schemas.openxmlformats.org/drawingml/2006/main">
              <a:ext uri="{FF2B5EF4-FFF2-40B4-BE49-F238E27FC236}">
                <a16:creationId xmlns:a16="http://schemas.microsoft.com/office/drawing/2014/main" id="{28150E24-BCED-4A5D-85C0-98D868336B85}"/>
              </a:ext>
            </a:extLst>
          </p:cNvPr>
          <p:cNvSpPr>
            <a:spLocks xmlns:a="http://schemas.openxmlformats.org/drawingml/2006/main" noGrp="1"/>
          </p:cNvSpPr>
          <p:nvPr/>
        </p:nvSpPr>
        <p:spPr>
          <a:xfrm xmlns:a="http://schemas.openxmlformats.org/drawingml/2006/main">
            <a:off x="1042416" y="1097280"/>
            <a:ext cx="7589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EEF2F7"/>
                </a:solidFill>
                <a:latin typeface="Cambria"/>
                <a:ea typeface="Cambria"/>
                <a:cs typeface="Cambria"/>
              </a:rPr>
              <a:t>The representations are real</a:t>
            </a:r>
          </a:p>
        </p:txBody>
      </p:sp>
      <p:sp>
        <p:nvSpPr>
          <p:cNvPr id="10" name="Text 8">
            <a:extLst xmlns:a="http://schemas.openxmlformats.org/drawingml/2006/main">
              <a:ext uri="{FF2B5EF4-FFF2-40B4-BE49-F238E27FC236}">
                <a16:creationId xmlns:a16="http://schemas.microsoft.com/office/drawing/2014/main" id="{552B7A39-22EC-43DD-B1EF-CA78A9AFC1D0}"/>
              </a:ext>
            </a:extLst>
          </p:cNvPr>
          <p:cNvSpPr>
            <a:spLocks xmlns:a="http://schemas.openxmlformats.org/drawingml/2006/main" noGrp="1"/>
          </p:cNvSpPr>
          <p:nvPr/>
        </p:nvSpPr>
        <p:spPr>
          <a:xfrm xmlns:a="http://schemas.openxmlformats.org/drawingml/2006/main">
            <a:off x="1042416" y="1463040"/>
            <a:ext cx="75895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8FA5BB"/>
                </a:solidFill>
                <a:latin typeface="Calibri"/>
                <a:ea typeface="Calibri"/>
                <a:cs typeface="Calibri"/>
              </a:rPr>
              <a:t>LLMs encode warmth and competence in a structure consistent with human social perception: linearly separable, causally functional, and consistent across four architectures.</a:t>
            </a:r>
          </a:p>
        </p:txBody>
      </p:sp>
      <p:sp>
        <p:nvSpPr>
          <p:cNvPr id="11" name="Shape 9">
            <a:extLst xmlns:a="http://schemas.openxmlformats.org/drawingml/2006/main">
              <a:ext uri="{FF2B5EF4-FFF2-40B4-BE49-F238E27FC236}">
                <a16:creationId xmlns:a16="http://schemas.microsoft.com/office/drawing/2014/main" id="{A6451C2B-EFAA-4FCB-9119-554891A3BFC3}"/>
              </a:ext>
            </a:extLst>
          </p:cNvPr>
          <p:cNvSpPr>
            <a:spLocks xmlns:a="http://schemas.openxmlformats.org/drawingml/2006/main" noGrp="1"/>
          </p:cNvSpPr>
          <p:nvPr/>
        </p:nvSpPr>
        <p:spPr>
          <a:xfrm xmlns:a="http://schemas.openxmlformats.org/drawingml/2006/main">
            <a:off x="502920" y="2240280"/>
            <a:ext cx="8229600" cy="1115568"/>
          </a:xfrm>
          <a:prstGeom xmlns:a="http://schemas.openxmlformats.org/drawingml/2006/main" prst="roundRect">
            <a:avLst>
              <a:gd name="adj" fmla="val 8197"/>
            </a:avLst>
          </a:prstGeom>
          <a:solidFill xmlns:a="http://schemas.openxmlformats.org/drawingml/2006/main">
            <a:srgbClr val="1E2D45"/>
          </a:solidFill>
        </p:spPr>
      </p:sp>
      <p:sp>
        <p:nvSpPr>
          <p:cNvPr id="12" name="Shape 10">
            <a:extLst xmlns:a="http://schemas.openxmlformats.org/drawingml/2006/main">
              <a:ext uri="{FF2B5EF4-FFF2-40B4-BE49-F238E27FC236}">
                <a16:creationId xmlns:a16="http://schemas.microsoft.com/office/drawing/2014/main" id="{A7F1A521-BE5A-486B-AEFE-1115E1619F64}"/>
              </a:ext>
            </a:extLst>
          </p:cNvPr>
          <p:cNvSpPr>
            <a:spLocks xmlns:a="http://schemas.openxmlformats.org/drawingml/2006/main" noGrp="1"/>
          </p:cNvSpPr>
          <p:nvPr/>
        </p:nvSpPr>
        <p:spPr>
          <a:xfrm xmlns:a="http://schemas.openxmlformats.org/drawingml/2006/main">
            <a:off x="502920" y="2240280"/>
            <a:ext cx="457200" cy="1115568"/>
          </a:xfrm>
          <a:prstGeom xmlns:a="http://schemas.openxmlformats.org/drawingml/2006/main" prst="roundRect">
            <a:avLst>
              <a:gd name="adj" fmla="val 20000"/>
            </a:avLst>
          </a:prstGeom>
          <a:solidFill xmlns:a="http://schemas.openxmlformats.org/drawingml/2006/main">
            <a:srgbClr val="E07B54"/>
          </a:solidFill>
        </p:spPr>
      </p:sp>
      <p:sp>
        <p:nvSpPr>
          <p:cNvPr id="13" name="Text 11">
            <a:extLst xmlns:a="http://schemas.openxmlformats.org/drawingml/2006/main">
              <a:ext uri="{FF2B5EF4-FFF2-40B4-BE49-F238E27FC236}">
                <a16:creationId xmlns:a16="http://schemas.microsoft.com/office/drawing/2014/main" id="{ED9B8F0A-1819-408E-93CC-2F899D7D1247}"/>
              </a:ext>
            </a:extLst>
          </p:cNvPr>
          <p:cNvSpPr>
            <a:spLocks xmlns:a="http://schemas.openxmlformats.org/drawingml/2006/main" noGrp="1"/>
          </p:cNvSpPr>
          <p:nvPr/>
        </p:nvSpPr>
        <p:spPr>
          <a:xfrm xmlns:a="http://schemas.openxmlformats.org/drawingml/2006/main">
            <a:off x="502920" y="2240280"/>
            <a:ext cx="45720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02</a:t>
            </a:r>
          </a:p>
        </p:txBody>
      </p:sp>
      <p:sp>
        <p:nvSpPr>
          <p:cNvPr id="14" name="Text 12">
            <a:extLst xmlns:a="http://schemas.openxmlformats.org/drawingml/2006/main">
              <a:ext uri="{FF2B5EF4-FFF2-40B4-BE49-F238E27FC236}">
                <a16:creationId xmlns:a16="http://schemas.microsoft.com/office/drawing/2014/main" id="{0A9BC45A-DE6E-47D1-827B-8BDE40C7D0E0}"/>
              </a:ext>
            </a:extLst>
          </p:cNvPr>
          <p:cNvSpPr>
            <a:spLocks xmlns:a="http://schemas.openxmlformats.org/drawingml/2006/main" noGrp="1"/>
          </p:cNvSpPr>
          <p:nvPr/>
        </p:nvSpPr>
        <p:spPr>
          <a:xfrm xmlns:a="http://schemas.openxmlformats.org/drawingml/2006/main">
            <a:off x="1042416" y="2331720"/>
            <a:ext cx="7589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EEF2F7"/>
                </a:solidFill>
                <a:latin typeface="Cambria"/>
                <a:ea typeface="Cambria"/>
                <a:cs typeface="Cambria"/>
              </a:rPr>
              <a:t>Disparities persist, but point in the opposite direction</a:t>
            </a:r>
          </a:p>
        </p:txBody>
      </p:sp>
      <p:sp>
        <p:nvSpPr>
          <p:cNvPr id="15" name="Text 13">
            <a:extLst xmlns:a="http://schemas.openxmlformats.org/drawingml/2006/main">
              <a:ext uri="{FF2B5EF4-FFF2-40B4-BE49-F238E27FC236}">
                <a16:creationId xmlns:a16="http://schemas.microsoft.com/office/drawing/2014/main" id="{81A8DBEE-885F-4B54-AA9C-CE9433D217CB}"/>
              </a:ext>
            </a:extLst>
          </p:cNvPr>
          <p:cNvSpPr>
            <a:spLocks xmlns:a="http://schemas.openxmlformats.org/drawingml/2006/main" noGrp="1"/>
          </p:cNvSpPr>
          <p:nvPr/>
        </p:nvSpPr>
        <p:spPr>
          <a:xfrm xmlns:a="http://schemas.openxmlformats.org/drawingml/2006/main">
            <a:off x="1042416" y="2697480"/>
            <a:ext cx="75895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8FA5BB"/>
                </a:solidFill>
                <a:latin typeface="Calibri"/>
                <a:ea typeface="Calibri"/>
                <a:cs typeface="Calibri"/>
              </a:rPr>
              <a:t>Name-driven hiring disparities remain. Across the models with reliable data, the racial gap reversed direction compared to the human baseline and grew in magnitude.</a:t>
            </a:r>
          </a:p>
        </p:txBody>
      </p:sp>
      <p:sp>
        <p:nvSpPr>
          <p:cNvPr id="16" name="Shape 14">
            <a:extLst xmlns:a="http://schemas.openxmlformats.org/drawingml/2006/main">
              <a:ext uri="{FF2B5EF4-FFF2-40B4-BE49-F238E27FC236}">
                <a16:creationId xmlns:a16="http://schemas.microsoft.com/office/drawing/2014/main" id="{BEE282CF-6F12-4C5F-8BED-1DB552C529E0}"/>
              </a:ext>
            </a:extLst>
          </p:cNvPr>
          <p:cNvSpPr>
            <a:spLocks xmlns:a="http://schemas.openxmlformats.org/drawingml/2006/main" noGrp="1"/>
          </p:cNvSpPr>
          <p:nvPr/>
        </p:nvSpPr>
        <p:spPr>
          <a:xfrm xmlns:a="http://schemas.openxmlformats.org/drawingml/2006/main">
            <a:off x="502920" y="3474720"/>
            <a:ext cx="8229600" cy="1115568"/>
          </a:xfrm>
          <a:prstGeom xmlns:a="http://schemas.openxmlformats.org/drawingml/2006/main" prst="roundRect">
            <a:avLst>
              <a:gd name="adj" fmla="val 8197"/>
            </a:avLst>
          </a:prstGeom>
          <a:solidFill xmlns:a="http://schemas.openxmlformats.org/drawingml/2006/main">
            <a:srgbClr val="1E2D45"/>
          </a:solidFill>
        </p:spPr>
      </p:sp>
      <p:sp>
        <p:nvSpPr>
          <p:cNvPr id="17" name="Shape 15">
            <a:extLst xmlns:a="http://schemas.openxmlformats.org/drawingml/2006/main">
              <a:ext uri="{FF2B5EF4-FFF2-40B4-BE49-F238E27FC236}">
                <a16:creationId xmlns:a16="http://schemas.microsoft.com/office/drawing/2014/main" id="{91F87B70-93B1-452E-AB9F-2A809B3F02B6}"/>
              </a:ext>
            </a:extLst>
          </p:cNvPr>
          <p:cNvSpPr>
            <a:spLocks xmlns:a="http://schemas.openxmlformats.org/drawingml/2006/main" noGrp="1"/>
          </p:cNvSpPr>
          <p:nvPr/>
        </p:nvSpPr>
        <p:spPr>
          <a:xfrm xmlns:a="http://schemas.openxmlformats.org/drawingml/2006/main">
            <a:off x="502920" y="3474720"/>
            <a:ext cx="457200" cy="1115568"/>
          </a:xfrm>
          <a:prstGeom xmlns:a="http://schemas.openxmlformats.org/drawingml/2006/main" prst="roundRect">
            <a:avLst>
              <a:gd name="adj" fmla="val 20000"/>
            </a:avLst>
          </a:prstGeom>
          <a:solidFill xmlns:a="http://schemas.openxmlformats.org/drawingml/2006/main">
            <a:srgbClr val="5BAD8B"/>
          </a:solidFill>
        </p:spPr>
      </p:sp>
      <p:sp>
        <p:nvSpPr>
          <p:cNvPr id="18" name="Text 16">
            <a:extLst xmlns:a="http://schemas.openxmlformats.org/drawingml/2006/main">
              <a:ext uri="{FF2B5EF4-FFF2-40B4-BE49-F238E27FC236}">
                <a16:creationId xmlns:a16="http://schemas.microsoft.com/office/drawing/2014/main" id="{C00812C1-CF31-44AD-BD1F-47339545629D}"/>
              </a:ext>
            </a:extLst>
          </p:cNvPr>
          <p:cNvSpPr>
            <a:spLocks xmlns:a="http://schemas.openxmlformats.org/drawingml/2006/main" noGrp="1"/>
          </p:cNvSpPr>
          <p:nvPr/>
        </p:nvSpPr>
        <p:spPr>
          <a:xfrm xmlns:a="http://schemas.openxmlformats.org/drawingml/2006/main">
            <a:off x="502920" y="3474720"/>
            <a:ext cx="457200" cy="111556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700" b="1">
                <a:solidFill>
                  <a:srgbClr val="FFFFFF"/>
                </a:solidFill>
                <a:latin typeface="Cambria"/>
                <a:ea typeface="Cambria"/>
                <a:cs typeface="Cambria"/>
              </a:rPr>
              <a:t>03</a:t>
            </a:r>
          </a:p>
        </p:txBody>
      </p:sp>
      <p:sp>
        <p:nvSpPr>
          <p:cNvPr id="19" name="Text 17">
            <a:extLst xmlns:a="http://schemas.openxmlformats.org/drawingml/2006/main">
              <a:ext uri="{FF2B5EF4-FFF2-40B4-BE49-F238E27FC236}">
                <a16:creationId xmlns:a16="http://schemas.microsoft.com/office/drawing/2014/main" id="{0EB0CBB6-2253-42E0-A533-860571745286}"/>
              </a:ext>
            </a:extLst>
          </p:cNvPr>
          <p:cNvSpPr>
            <a:spLocks xmlns:a="http://schemas.openxmlformats.org/drawingml/2006/main" noGrp="1"/>
          </p:cNvSpPr>
          <p:nvPr/>
        </p:nvSpPr>
        <p:spPr>
          <a:xfrm xmlns:a="http://schemas.openxmlformats.org/drawingml/2006/main">
            <a:off x="1042416" y="3566160"/>
            <a:ext cx="758952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400" b="1">
                <a:solidFill>
                  <a:srgbClr val="EEF2F7"/>
                </a:solidFill>
                <a:latin typeface="Cambria"/>
                <a:ea typeface="Cambria"/>
                <a:cs typeface="Cambria"/>
              </a:rPr>
              <a:t>You need both probing and behavioral audits</a:t>
            </a:r>
          </a:p>
        </p:txBody>
      </p:sp>
      <p:sp>
        <p:nvSpPr>
          <p:cNvPr id="20" name="Text 18">
            <a:extLst xmlns:a="http://schemas.openxmlformats.org/drawingml/2006/main">
              <a:ext uri="{FF2B5EF4-FFF2-40B4-BE49-F238E27FC236}">
                <a16:creationId xmlns:a16="http://schemas.microsoft.com/office/drawing/2014/main" id="{A30329BB-A569-44CD-A198-B91A0B81595D}"/>
              </a:ext>
            </a:extLst>
          </p:cNvPr>
          <p:cNvSpPr>
            <a:spLocks xmlns:a="http://schemas.openxmlformats.org/drawingml/2006/main" noGrp="1"/>
          </p:cNvSpPr>
          <p:nvPr/>
        </p:nvSpPr>
        <p:spPr>
          <a:xfrm xmlns:a="http://schemas.openxmlformats.org/drawingml/2006/main">
            <a:off x="1042416" y="3931920"/>
            <a:ext cx="75895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1200">
                <a:solidFill>
                  <a:srgbClr val="8FA5BB"/>
                </a:solidFill>
                <a:latin typeface="Calibri"/>
                <a:ea typeface="Calibri"/>
                <a:cs typeface="Calibri"/>
              </a:rPr>
              <a:t>Internal representation probing and output-level disparity measurement capture different things. Neither alone is sufficient.</a:t>
            </a:r>
          </a:p>
        </p:txBody>
      </p:sp>
      <p:sp>
        <p:nvSpPr>
          <p:cNvPr id="21" name="Text 19">
            <a:extLst xmlns:a="http://schemas.openxmlformats.org/drawingml/2006/main">
              <a:ext uri="{FF2B5EF4-FFF2-40B4-BE49-F238E27FC236}">
                <a16:creationId xmlns:a16="http://schemas.microsoft.com/office/drawing/2014/main" id="{77BED666-84A0-4167-83B7-B7A21D9AF013}"/>
              </a:ext>
            </a:extLst>
          </p:cNvPr>
          <p:cNvSpPr>
            <a:spLocks xmlns:a="http://schemas.openxmlformats.org/drawingml/2006/main" noGrp="1"/>
          </p:cNvSpPr>
          <p:nvPr/>
        </p:nvSpPr>
        <p:spPr>
          <a:xfrm xmlns:a="http://schemas.openxmlformats.org/drawingml/2006/main">
            <a:off x="502920" y="4754880"/>
            <a:ext cx="813816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8FA5BB"/>
                </a:solidFill>
                <a:latin typeface="Calibri"/>
                <a:ea typeface="Calibri"/>
                <a:cs typeface="Calibri"/>
              </a:rPr>
              <a:t>Ulu · Lastra Cerda · University of Konstanz</a:t>
            </a:r>
          </a:p>
        </p:txBody>
      </p:sp>
    </p:spTree>
    <p:extLst>
      <p:ext uri="{BB962C8B-B14F-4D97-AF65-F5344CB8AC3E}">
        <p14:creationId xmlns:p14="http://schemas.microsoft.com/office/powerpoint/2010/main" val="957489477"/>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2026-07-15T10:00:04.7700000Z</dcterms:created>
  <dcterms:modified xsi:type="dcterms:W3CDTF">2026-07-15T10:00:04.7700000Z</dcterms:modified>
</coreProperties>
</file>